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8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9" r:id="rId3"/>
    <p:sldMasterId id="2147483712" r:id="rId4"/>
    <p:sldMasterId id="2147483735" r:id="rId5"/>
    <p:sldMasterId id="2147483758" r:id="rId6"/>
  </p:sldMasterIdLst>
  <p:notesMasterIdLst>
    <p:notesMasterId r:id="rId48"/>
  </p:notesMasterIdLst>
  <p:sldIdLst>
    <p:sldId id="256" r:id="rId7"/>
    <p:sldId id="297" r:id="rId8"/>
    <p:sldId id="298" r:id="rId9"/>
    <p:sldId id="257" r:id="rId10"/>
    <p:sldId id="258" r:id="rId11"/>
    <p:sldId id="259" r:id="rId12"/>
    <p:sldId id="260" r:id="rId13"/>
    <p:sldId id="299" r:id="rId14"/>
    <p:sldId id="300" r:id="rId15"/>
    <p:sldId id="301" r:id="rId16"/>
    <p:sldId id="302" r:id="rId17"/>
    <p:sldId id="309" r:id="rId18"/>
    <p:sldId id="310" r:id="rId19"/>
    <p:sldId id="311" r:id="rId20"/>
    <p:sldId id="312" r:id="rId21"/>
    <p:sldId id="272" r:id="rId22"/>
    <p:sldId id="273" r:id="rId23"/>
    <p:sldId id="274" r:id="rId24"/>
    <p:sldId id="313" r:id="rId25"/>
    <p:sldId id="314" r:id="rId26"/>
    <p:sldId id="315" r:id="rId27"/>
    <p:sldId id="275" r:id="rId28"/>
    <p:sldId id="276" r:id="rId29"/>
    <p:sldId id="277" r:id="rId30"/>
    <p:sldId id="278" r:id="rId31"/>
    <p:sldId id="316" r:id="rId32"/>
    <p:sldId id="317" r:id="rId33"/>
    <p:sldId id="319" r:id="rId34"/>
    <p:sldId id="320" r:id="rId35"/>
    <p:sldId id="394" r:id="rId36"/>
    <p:sldId id="303" r:id="rId37"/>
    <p:sldId id="304" r:id="rId38"/>
    <p:sldId id="305" r:id="rId39"/>
    <p:sldId id="306" r:id="rId40"/>
    <p:sldId id="307" r:id="rId41"/>
    <p:sldId id="308" r:id="rId42"/>
    <p:sldId id="292" r:id="rId43"/>
    <p:sldId id="293" r:id="rId44"/>
    <p:sldId id="295" r:id="rId45"/>
    <p:sldId id="392" r:id="rId46"/>
    <p:sldId id="393" r:id="rId4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E4329-8B53-4AFD-A979-9FC5B18F0AF2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E4517-7F6E-41F0-9E7C-5B5A0822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208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218DCB-E81B-45EB-A302-6249DC07C3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7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09263D-CFE2-1309-1A7C-0A2D111F9BD5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FDDE32AF-8EAF-9C99-4AFF-0B8CE2B5F3BB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335342-8EF3-481B-8282-E5F28AA97C18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E072998-72AC-CBFA-4380-687DAFF8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CE62695-0E26-42FF-FA9C-62E19471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1788E2-79BB-2B02-1088-ACFB24F4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7CE6AC-C39E-4B48-AF53-2026AAA7B3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26589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E5AF2-2351-53C6-BDFC-5D006916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B81AD-33E9-4A57-1B56-DF9A4BBE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BF1E-B11F-6E4D-E4BA-122FD4E6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8B0CC-8302-427C-8587-6C1FA2882A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39895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C015CE-6DB2-51ED-56B0-109F9A7C051C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8D26737A-39DB-3D2B-CA87-33EE32B8E3CC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FF9A4F-AB0D-8549-C5F2-810E1F406D86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58629AB-3E92-719C-43C5-4894F5A8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18CFD0F-4261-6007-2DAC-55A46B27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22123A-7116-40EF-3F4A-BCF39736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CA71E8-F994-4B36-89D4-8C238EA34A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95261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C989D0-6208-DE33-D008-5AAA64EC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0C1A66-55E3-695C-634E-83F0B925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6CF722-BF0A-32F3-C678-1643C7BE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41D30-8096-4B2E-A6C3-A065DF0C7D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7249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23AC123-2239-8E53-3C58-3ABA4FA6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58B8C94-8AD9-A488-3AF3-B0A6BCBC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C8F255-9C0D-F356-4B7B-8A859688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946DC-40A7-417B-857C-829FD04EFF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04914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70291E9-9C84-BFD8-BA65-FAD56C2D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8D46E6-72F2-9BB6-B07B-43F02569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D36402-FF80-B9BE-83F5-F84ECCC0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71A8A-1254-4647-A982-1ADE108209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44541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F521B-AAAA-84ED-35C9-6E041E738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568CA-C529-05CF-D8CC-0B3A7EFE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E00CB-19FD-8CAF-2E24-A492567A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1DFB13-9CC2-46EA-98B4-42BCFD5475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79092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D31E4C0-3F49-EFF4-C429-371DFDC4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A693F-3714-B804-D5D3-3C50E25C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1AC27-D4B7-0665-C188-50C1AE6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65569-151B-40A6-AB17-92CD87B308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35266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D56F1B-4021-8739-8FAF-502EFA7A10FD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19B348A-C197-ABCC-479A-317BE522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881996B-EDD3-4BD9-373B-4BED4844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DC6AD28-8698-FA46-0257-3BDC059D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602B47-1B18-40F3-8665-0435E5AC30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628661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4335-CE9D-90DB-2D2B-60ADF05E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94534-695E-0ACC-61D4-A6754C9F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4CDE3-68D1-B2F3-BE4D-E7928E03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5FDFE-2B84-4758-A88C-8149F7907F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55919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6F1C13-A8F2-C805-7A72-CAB6F7FADFC7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B4B847-D4A6-9C7A-A715-39A06CDC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0473C72-6417-150C-E35F-813E522C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7F088E-9B34-B960-C045-73833A5C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9080BC-78BB-4E73-A967-475489D3E1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78877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888126-72A9-5410-E69E-A9AC70571F82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481EA-30A3-D1DF-3D87-EC2EA11AA261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434BE-20B8-7CDC-59E6-A7C9694DB6D9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3C7AC3-B14B-0ADF-DF88-3A69BBE516BC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F5C6B12D-B3A4-E36F-9C72-88F8CDCF3E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FC72AE-7413-FD44-41BB-F465F3385AF2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19CAB-AE34-4010-D7E8-F6976E3158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601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EAF430-237A-EE38-1A54-B602FB592AD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D2F28684-3188-DA8E-268E-FF61F2888D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30C8FD-4E63-D8DA-B6ED-19369214C28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6C1369-ED54-C1C8-B4FA-63C95CB55A2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7E8927-E998-BB16-3397-3E2A10D0C45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C5333E20-B648-D383-7243-EECCA4129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B9913320-5DEC-0248-BD7B-CE99A4F396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3FC4DC8-E234-A244-EBFD-5A9F4FA77F7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549588-1E5C-A6F6-E9A8-949108CCEF6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359F70-9F5D-1813-6760-8448600653C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A17B9D4E-E8CD-8FAE-AAD5-63DA85ABDC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D119BBD-697C-8C8F-6BDE-580E757067D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888114-AB8E-5B31-ED20-9BA5A1E8F4C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33BABE-C92D-BCE7-CA34-850E9F935B9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893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87511-E0E6-803F-F3F9-4D1B8215D2B0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217B3-2E38-C1D8-4931-E6BFA4C4231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2DF01-42CD-F0AF-057B-1C0065292C39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A1939-47CE-6DC2-CEA3-52D596D8968B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2C189CB8-84AC-38F3-200D-8C02FD3523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356B3F-59A6-667B-511C-AC844630756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58D67-B01D-B2C4-E9B8-576D829447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784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9CDBD017-042E-77CE-0B23-8A71AA8E40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659E2E-4BE1-1757-2345-FE2ED64D01F3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B9C35291-110F-F610-01A9-931BE31E0D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C3243C-60B6-6800-2DBC-523F09CCD03C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59EEF6-85CF-C9D1-EDC6-B4FEBD6810CE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03918-300A-B748-860F-40207AB77817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F76FD-55DF-FBD4-8591-A50EABCB15E7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E9FC1-D6BC-359C-C999-196464757B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17437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53425BBD-F74E-15DD-5C31-D2FDD12BFE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CB542EF0-44E0-E3F6-19F9-1A0297886C7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21B2B6-9E38-D385-F1BF-C16FC3212D8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025E08-AA24-F9D4-031E-1F42137A408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A5F9A4-3FF7-F893-F7B2-DE885DB592F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C87C554B-07DD-2011-4687-ED838E0C106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B0633F-1F11-0ACB-7DE5-76B84D17E54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3FB4FF-9BBA-347D-3C44-19C6B293B2F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3E1789-02DC-E556-F7EE-5AF68C42933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21F1465-0D22-2A09-F3FA-AD60F85F3F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2676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66DD779E-BF3B-E6A9-D1B0-C7BEF2BDFC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AC07B-ECFA-68B1-68CD-CED5914931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5602B0-13FB-8233-45BA-6A358BE52C1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C1EBFA-3039-1A37-73CF-E45D05634D2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B8EDE94-C59B-3086-76B8-6E25C1A0CA3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50F71B-359B-A5D1-B9EF-E5953A1356D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684B8B-55D9-17AB-95A4-A39F6F54824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151C95A-D377-696C-674C-F503C9B5260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1264BB09-8598-00DD-8979-868332A2AB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A7E84F-B5AE-7BA2-191E-9FCD14E4CF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7067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762FD225-0DC8-B01E-FABE-5FB70C2BD68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910773-0104-2AE0-F131-EF36E024796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0D3FE2-75CE-D55D-DE08-64AFD254C4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386EB7-9693-C224-76DD-401C5638147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A2EC2EB8-34C3-4AC6-0472-87CBC793C52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10C75A-3F4F-BFD6-9A3B-F8B3C49224C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37F07A-DD4C-344A-577D-B7938BEBFC0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125915F-3A43-8087-1AAC-362667FBCDD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C2B4513C-6308-0D5B-D339-C8A7AE409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6A1AFB-3A71-580E-0B54-E97B03FB8B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5091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D50B6DC1-B49F-C36C-DFB5-5F5C3256D11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AFEA66-8220-DDBB-163D-7FCB50F1EB0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F701D0-E03B-786E-1C33-BFEFB44E261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A45C58-FAF7-B068-7EE3-7BE20EE9DE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6D4DC878-1872-1468-3055-B9F34B0C1FA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2DA742-A44D-8C4B-3AF7-D081748241A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A7B159-F36A-4E41-27A0-70EC76729D9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55F718-CD00-D9CE-85E8-1943328D2B9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37A8B521-3AC4-9899-5988-DE31705A9A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274D31-C279-B754-36D7-217E97E768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21152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4C590379-8953-C98C-D866-299A17411A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F96F1B-17C1-B874-6704-302AD7FE94F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2B0CC5-15FE-2166-C8BE-0C971B5867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FFED89-C06A-8F1A-CB33-971C55E02F4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1507CF0C-1BB0-21A5-6040-0E0099095D5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7E25C0-4F3F-4859-B024-29004BBC076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8797F2-C083-7CB2-2D6F-5B1F75EBDBE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4E0FC7-6E91-E1D7-608F-FB995F462AF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8940B10F-F1A8-6A56-35E5-1516F70CA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401C8CE-05EE-67BC-62FF-11C36C958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2699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929BE19-5CC1-8DDD-CFC8-E1CE180518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7E1D839-845A-08B9-5A61-87F267EE041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C373FA-EC25-780A-402F-B9E7E0294B4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877AC3-1FD7-252B-C2B2-F5A7BFE41C0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B022724D-840C-5AA8-FD7F-BD951B6378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258DDC-D6C2-13DD-C200-499D12007CA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139FA3-D235-1159-2C38-8C5B42EC596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BACB52-747B-2859-D19A-45EA49A4151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538E2B83-21FD-D52C-3F77-D03DFEA063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5A3C0B-5554-0FA0-74DD-C4ECBB99B4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36507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63E8EE5E-7C64-D590-DC04-6C187662955A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1F64E8-4B02-F5E3-AB5E-0176F24E7E04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57AD32-0618-04CE-DFEC-0A4064E0D497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787DFC-8150-E89E-6A62-C6497661103B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90FC9E4-8196-7FC6-A33C-848067570F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C993DF-7C1D-2B31-8CDF-7CCABF9FEB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7544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6FC180-52B0-C36A-8AD0-7DDCA3E579D1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382D318E-0781-ACB3-41E7-E016BF584D30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B64941-70E9-670B-E42C-E7AE310D40C9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8D0E22C-9D40-115F-86C5-C4FA3003F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E95661-AA02-B0F8-762D-BCCB3E30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067ABB-BC17-908A-6276-040E9C45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2041D0-9949-4AE6-93D2-7CE6FDC26C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8927457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613E0-7E07-CAE4-351D-FCE5A824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48CE6-A105-821B-B7DF-9654E300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D963-1264-34C3-9E4A-FB3A31C7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7E36E-33A2-4A3B-A6F2-D7D5DF6230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062003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760F14-3A9E-0C36-C0E9-98DB07BCEEAE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CADB4FED-132E-5A8E-8D0C-5139404E30D7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1CAE42-A884-51FF-46D4-7B96A8635B00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04C484-2628-1D50-0BDB-3E59B09F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68C8CE-40D4-BDA6-C810-146BEFF9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DB73B18-DA76-22EA-59C1-1D8D2F14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0388AF-091B-4C72-B212-7111A38C2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36317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EABADA-2D39-FFFE-2FEA-3055D7F8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BAF49C-A031-52E9-5765-0FEDA6BF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167CBF-EA1F-5EE5-B9BA-57825386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ED226-891E-4438-A956-0C0BFB303F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071536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8E0290B-4A02-96D2-3066-D8CCF0B2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5C11BB-34BC-8F6F-3571-F93DC2BD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B40352-7B7D-6C51-8493-1CA54594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C7574-DE02-4717-861D-6BDE10F5A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430430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01CC618-5AC9-3E13-4C8E-F30DA863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F0CDDA-E8CB-0C24-BD86-0C2B437B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275915D-0F1A-DCB6-5776-CF4140A7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7E0F3-E764-4D54-B572-BA466B4EDB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5139369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E441A-9C12-3564-F25C-FF34E315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0332C-88E2-6044-98EE-89C31FCC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16BA4-9411-581B-C114-DE795B56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1A0EA8-DF0D-4EF2-A2F5-988CDCF598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96978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45371C1-FCEF-59D6-F723-B1E3BFEE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FC24-306B-4B6A-1F78-9E0A5852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7A218-6AC5-CCD0-F0A8-9135586B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25AD4-9B01-4714-8564-C2E8947FDB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746329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27380B-87EB-6BE9-7836-6201B6EA2491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CFAEABD-2193-9DFE-0761-7862729D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44B645-38AD-8B54-87FA-77E3ECB7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693DFA3-934C-D045-7B42-71E09038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6FA515-B811-4515-9A87-E4A5A70ACA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399125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6F801-6C64-0A44-ECD7-A734B465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CDE5E-8183-48C5-31A9-7E00C3B4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885C2-FFAC-B43A-2B20-A9B15456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4225E-829A-40A7-AD6F-07E82D3F95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631294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61DE40-C003-F4EC-874D-597C1F62E4FE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EA0A90A-D6FB-4D84-019D-43B7599C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8F9DC0-958F-3D82-FEC4-9AEEA30C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CA83D7-4305-49CA-51CF-BE25EFCC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677695-CEB7-432F-8513-4A273BD9AF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811008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AE8035-CD1A-7911-8615-9B0651F9730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41AFA-4CE3-87FB-7447-5C6F2DFE2CEF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0D24BD-95D0-E648-3623-7CD3D3C344C1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2214BC-68D3-5A3A-BB05-880D6E6C56D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5C6C1A36-813A-A2B8-B5D4-C54AEFEDBE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F88C2C-7068-5678-E0AC-D23BE27C5904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07E78-DEE7-F83D-BA4F-512409E5CB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151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8CD25-9605-5027-DA29-19FEE058DF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8AB62128-A60C-6015-DCE3-9CB9B0032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E02824-E247-55AD-448D-951D61FCFD5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E8518F-ABE0-E098-97B7-7BC7A467226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E62B8B-93B2-AB1C-57E4-731EB4D9DF5D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728AD692-F367-F8DC-98FF-054B2A1CEA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A1CA66AC-44A9-DB91-3D2E-C194D7B9FB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FB39BA-9C45-DC0B-EE49-A1CDD868A9B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2D6394-1C4C-F150-8BDE-E3D81A13F7C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2854F8-C81B-E6C4-C6B6-E27894240DD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4B94FAE4-4C3D-C476-67C5-C6476127E0F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AE55FD-61CE-2E53-BA40-D3BF4C85081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2F3B104-3873-6037-8845-64C793B9705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7DDCB7-5CEC-2A34-B0D5-5E346D9C272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8312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E59E82-3DE9-B7E7-6264-D6B01CC9FBEF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2769-9B37-B7AA-A8A9-050FA52EEA41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1924A6-3B7A-D123-7596-B3851D4E828A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F4E0D7-99A8-450C-E595-5FCD71685E85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C3B8DD4F-4664-DDFE-D0FE-212D95018F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0DE9B6-3DEB-525B-2CD3-D24FCF5B58D6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BF76A-DDA0-B455-65AB-3D55089569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832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7CF8ABB8-00D9-0DF0-959D-A621D74144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EDFF4D-79F2-EE51-79B4-A4D4857627D8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3B23A4CF-51CE-02EB-CA77-A4DA53EEF9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5A70CB-D477-8DC1-43C9-DE6315A70F69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768B0-E102-3809-A217-7CE1D49B58BE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15EA4B-1380-8255-43D9-66B4E0E53A70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C22112-490A-E981-9B94-5BE718BBD2AC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03846-41F4-EB49-1098-C1BB32A537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354458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9C43A86C-A2DD-735D-5E95-D5D205CCF2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D3D3458B-0A17-9AA3-AC97-C281E2CE64A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EBB1610-5453-9B2E-533B-CF45C90C13D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775356-D16A-C932-05C2-9E27811E4E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060FA5-C44B-5A03-5632-DC6EC9297B4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29C8DA4B-78A5-0CA8-8BA4-667308A1D5F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1F630C-9044-4A44-379A-7A3F79CB8F8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F7540D-E539-106F-4616-2F5E463A1BC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74DF6B-088F-AA52-F1F8-68F1ECBF373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D0E261-3A31-DBAF-C020-8191791F26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3541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641BF37-CDD2-A949-F3DB-09426AB7B6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2EA003-8CF2-9F80-BBE0-17911972EF2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221EA4-D9BF-AD3E-D5DB-DC9CF1969D4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C8B661-EACC-ED3E-9736-E67C34FB91C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6BCBAD5-73A4-057D-F024-912326B5EC9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45D91E-F78B-F6F1-29B9-B3D7CF3220B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5A8C3C-05D5-E549-80BF-D5AAB926018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4FCE5B-7183-3B7B-B62E-62ACF64CFB9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51FE4DCC-8B6A-1214-F782-44DF8C47E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066C39-07CC-92E7-47F4-3FFF355E59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01871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93270473-806B-9672-4394-84D053DE68B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386D613-9FF2-03A7-E401-64510A6FC49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7744670-1328-8C78-563D-5A0D8EEADAF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9E5666-B774-2156-783F-5C2C2F56E9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1E69B01C-1E49-7228-C30E-6A8FC80EDF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85C711-9CDC-D3E7-C565-FE7E71607C7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4E89CD-FB2E-3981-74DC-5C45C17C19C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F98803-5769-8020-CF50-93A55718BD3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2179125F-6B55-5394-11FC-81F3A44B4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0CBA37-C947-74DF-61B3-FDDFC2BFC1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10436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0D0BA90A-7220-FE27-D2AA-08E26A5EF78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250B90-3D1B-EB1D-D5D8-F338FC97589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8F1222-4A7E-5776-7885-D081F1FEEE7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2F2AE5-F4DD-C073-510D-A277B8965F1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99072A36-490B-845E-8B4A-A5F59FE117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8F639-700E-8697-ADFC-26E15ABA889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BF8ECD7-1426-1CB0-F8F8-A475C35A541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FABACD-4D4A-06CC-4E63-DA51428185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04C68174-D9EA-E76E-2A05-FEFE443039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C9E8C7-D596-C6B3-00B4-D9041E8FF3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8229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F266D403-F437-E048-AC92-5E3062E3B83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FC5D5A-D1CF-BC28-68F6-E46E38CA58A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728DDC-8BA3-1882-73F6-7B317138CE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BA1E9A-4444-291E-EDED-E6CEDBAABEB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AA8B7AEE-6F11-F4F1-D316-CE715542F1B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7E20C3-FD53-B439-507F-095A5642D0B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B4ED20-79BB-2C45-5DBC-71E2F53E93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4A52C7-859A-A29F-5E58-2737EE2A7BC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62DFD921-1E37-44F7-62B0-424903C7C8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1D2AED-F4F8-13C9-538A-7AFE553823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55068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9E12A7C7-4F3C-3D58-AF56-02B62ABE88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98244EA-1752-E841-763C-4F91C278158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2993594-A695-91BF-AF84-4CBC683D2F8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D3C992-CBAC-9DCD-E6EF-C565D69A8A7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88B33A65-607F-A77F-6DA3-885DEA7CFDD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DB4164-3F10-CC75-74A9-67F1F80FB39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5F9CAE-2919-F077-3FC2-13753C90171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D39B8B-FA21-2CA1-1F59-5FCC2D7D1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0CB0485C-477F-B04C-2EDE-B73C949E00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724E9C-4A16-4982-9BC0-0F4FD18CF2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00604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5C9CEB4C-AF94-E8F6-ACC8-4716D4E65308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DAAFB5-7E4E-A8F3-BE10-04697E0BDB21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9C1DFD-207F-EC49-3648-E3F3801A3F88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B9C46C-3D14-8F0A-2A1C-9B8967200A3F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D7379C7E-DEE4-79EF-B669-4B0AE9069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69329-F852-B7DB-EE8E-99B2C298B0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1989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A19ACB-852D-0752-2816-CB88698B53D3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21679A2-ECB2-027E-3333-032836BE3B38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B5D63B-B618-5D31-5D1C-D7119BD6BE74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010350E-947F-5B8A-E4BE-B3940A16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9A3FC58-9CF5-44B0-3A0F-4880D9D3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759F055-48B8-419B-3A31-78178FD6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AAF6E3-4176-4C13-AF6F-A21E59F17A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615542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EED2F-8C06-5E21-FEB0-83CAE671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0712C-CC16-CFD1-3CAB-66DE49A6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F0AF2-0071-EE44-2008-7DC85935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E6E84-BA87-493A-BB5A-AB730B792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0647502"/>
      </p:ext>
    </p:extLst>
  </p:cSld>
  <p:clrMapOvr>
    <a:masterClrMapping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FD30B9-698C-D4BD-9681-3C3E49C9D110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BE44C0AB-041D-EE13-AA45-7D827C76B787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47E870-F873-02D7-C16B-6DEC0B5CFE83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5B2BE-E95F-52C5-8110-2358E24D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5FBEA0-479C-CAF7-C426-EE14DB7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A093C54-EB5F-D998-AA4E-701CAA8B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9205AA-5555-4164-8D8D-08482B1966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443383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BFA3A-784B-ECCB-130B-8CC98788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A48FDC-6544-F4B7-C242-2EA3D031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7A56EF-9328-1584-932D-5D95163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98192-5C16-4094-8DED-300FB4A496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31281"/>
      </p:ext>
    </p:extLst>
  </p:cSld>
  <p:clrMapOvr>
    <a:masterClrMapping/>
  </p:clrMapOvr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DF2FB0C-F601-7D91-7B94-C3F2A99C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A0329C-2AE6-C310-6CE4-277A3C93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58409B-A22B-F0C2-8E7E-C2F1441D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38228-E9B6-45CF-90D1-5196C2078C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454971"/>
      </p:ext>
    </p:extLst>
  </p:cSld>
  <p:clrMapOvr>
    <a:masterClrMapping/>
  </p:clrMapOvr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7ED2EF-9EEA-D565-2E45-4B1CC550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583B4B-5138-1B6E-7312-931C38A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91B6BB-21B1-C637-DBB9-48B20BF0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336A7-1702-4A84-BAA8-E8B02ED408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986441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1DC0B-0A4E-C445-EE1D-1E60C034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FAF70-66C9-40E8-691E-06FFBB4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FF80D-DEB7-9DF9-8418-B0939696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21BCC1-AFF3-4BE3-B45E-2A5280F428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569555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F802BE0-F8B5-9C47-ADF5-8DB1F4EBB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2E84A-39CF-4E19-31CD-573FFFF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81FDA-98C1-38F5-4595-FA15EFAD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2ED6C-5488-4EA3-9B5D-633A5C0B2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45651"/>
      </p:ext>
    </p:extLst>
  </p:cSld>
  <p:clrMapOvr>
    <a:masterClrMapping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42CCF8-44E0-03CF-413E-53D74A99D42B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4BECE25-E657-E42E-18B3-EF0D5EB1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F6D24DD-DDC2-7710-FD5A-6F75BBDB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EF8892D-8DAA-0252-7720-4F253B3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83632A-D5F5-4677-87DC-B62D23D099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328183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3536-C5E4-9EA7-2CD1-3F1C88D0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DD49-2DA3-1611-1106-66586080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4FC64-2724-2A07-4C5C-B045BE12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250E9-502C-477B-B27A-7261B2FB26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612263"/>
      </p:ext>
    </p:extLst>
  </p:cSld>
  <p:clrMapOvr>
    <a:masterClrMapping/>
  </p:clrMapOvr>
  <p:hf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513662-062D-DBAB-91B2-185C5010E2CB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B37233-21EF-78D0-7B4D-18250CC6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3F8E66-9E57-8B8C-0F3D-BE25916A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786456-3B35-F056-14C1-BA795498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D901F6-D67F-4D68-B4F3-BF83E9BB59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365014"/>
      </p:ext>
    </p:extLst>
  </p:cSld>
  <p:clrMapOvr>
    <a:masterClrMapping/>
  </p:clrMapOvr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B37E7C-1A56-9FDE-FF17-1CFBBE85F3AB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2D2F5-FC03-F8A3-D190-AD98887B280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A9D4A-BE6C-F9CD-F432-00E303B6EB44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1FFB1-BD06-9F45-5028-65EF638D98ED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4C7A88BC-158B-AF76-D619-58A998DAFA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BDEC2B-A570-E879-595E-F0C3196F5170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6E6D0-055C-0E5C-4EF8-CCC9DF02A9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8672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A77D5-7592-CC1A-5170-C52985DFE7A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9832606F-F685-0130-BAD9-4512836F843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7CF4A4-6538-4C37-9FE6-C16534995B7F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3EE16E-F868-A0C6-F6DD-9B6CDDF695D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80430D-7EE8-50DA-A606-ADD1CB67E147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40991CFE-CB45-5F64-1EAB-F01CA6E24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E6632F47-D851-CE7D-3660-DC5F9B388CC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BC1B2D-BB1C-653C-DC4F-7641A3590A4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F8828B-98C7-1FE6-B32A-36658B5F09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BF15DC-D413-4861-B175-1D3C699F2F7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E8889923-43DA-E44B-5CC4-BBB9C554D4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C106D4-70BF-41BA-5B50-30BAB6E821D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28508DB-BFD9-FCF4-F73A-09B7127293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4C3FAB-3821-C54D-D13B-BB5848935DF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9253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BC497-A1FE-4043-9209-103928BB170B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6F88D-08BC-D381-3677-85CFAD48257C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2F7F5-6028-3A79-6E9E-4E854CA961DA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3783A-EAC7-24E1-4277-44FB54870412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2D06E967-C00F-F256-7E86-C390BFD5D1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55AA42-336A-A040-07C6-F43353503CD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21F4E-4580-ED1C-2F38-A648C63D00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077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2402B275-7331-4A71-5DC7-97ACA22036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9CA690-C1CC-FB71-4A86-7D1ECB1FEAD8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24DC167C-B597-05C8-6BDE-C0F083B645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8FA94D-D977-AB61-D994-12AF9B2827C8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CD799-90B0-5887-181B-5EEC99058F7D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ECDB8-FA8C-96D2-FBE9-9DB88A2137A1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C3716-B996-5F53-F929-F83344E8611A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16E23-9B05-AC31-B0DA-B710464EA4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39426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0957314E-32C6-A6BC-0B1C-6701730015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C2DBCC42-424F-929C-A648-4A3675DDF4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93F4B8-60D2-39D3-4895-103ACC35F4E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8CE08C-4828-318E-65E2-1255C6480E1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721A08-1CC7-D9F8-842D-5358811E3A9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15565312-25CA-2F66-5E9A-E638FE86F19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E19115-AA0B-4A56-CBF9-2753F55EAAC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AB512A-377D-DB7D-72FD-C3DC0B4FCD3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83A65A-34A5-F13A-52AA-6E5C3BF648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FC9300E-0CC7-35BA-4D13-64FA5089F2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2356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F93BEC7-04EA-C775-CD0C-A4FEF0A4DB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52A5C0-668C-B34C-7029-E5D68D46D26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039341-D7DE-D656-3F2D-F0B335E576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2623B-B399-87CF-5D0B-1C53F9301C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0D4E0C3-E400-B9D9-4FD0-3CF00E6B56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5978DB-A6D9-FC62-33D1-BF7FC9C1A4E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2C4BC6-3CA5-0664-B1A9-D5F76E158A7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E80DA4-51C0-D084-04C2-FA968028EE2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7990531F-B3E1-470A-B208-01B19F0C13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7E1C65-06B6-F1C3-95DF-604BC0C651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93957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0FC86F09-236A-E530-CD8D-B314480BAE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01EDF08-38EF-A0BB-F9D9-EFFFC4AED9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5E5C26-DAA5-52FE-3970-1838540DF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69DB94-3EC9-B3A5-E3CA-1DA45896D67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343CF266-522E-5E8F-B919-2A0B7A03B9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FFD903-1798-0E66-2D1D-90A54D1A5B6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BC9C25-14A4-06BC-1352-746E790A83C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363999-69D7-632C-B8C5-117C8FF11A6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CD07F0B5-2A65-2C7E-9B68-8BE1A2B6DD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899925-26AC-CD9A-D78D-7F76CDA0A2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9004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822CA5CE-A416-BC31-7950-48620C1BFB7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09BBC8-414A-3057-118A-CB3AC31704B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509528-E14E-B363-3AFD-C7D15B8875E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ED8042-4C0A-EA9B-B76D-927C0863149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D9FD612D-5E68-C308-3D85-967AA0DA604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8F5065-4F74-269E-F5AD-F67950391A5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1EEF9-1833-E701-8896-CE3AF755ECB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C1DDA8-E218-0B6A-22AD-18BBBA66877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8DCEE838-C464-B62F-8CB9-0E1E42F630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5571B4-3124-E3CA-FAB3-473FC96935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3763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0CBA4BC4-1C02-3D01-73DF-39F2AF28435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51AF1A-7E7E-44DF-E905-609753491B9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CACC2B-90CF-2B6C-99A7-9B10E4B045E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6E4532-093A-3D39-C09B-FE52AE5B307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32C87178-9907-C398-6632-70909A38B73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CF42ED-968F-4D4C-B883-89DDA7BC042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75B08A-6D29-B44E-48A8-9F8146316F8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BCCA24-F13E-7446-65B3-7B98FD7715E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4358017B-B7D0-2028-9611-303B931472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686564-4268-1987-AABD-7405A2BA7F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05479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B4FE2C9-99C8-3FBF-4462-C3FC42A8326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B40B9D-BFD6-3BCA-F557-F9A0A3DE71F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7D9004-3936-E502-6A81-0917BD48DF0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06200C-4843-3001-7365-F9575501F75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0A217B71-3DC0-C336-A653-821FDB4DAC3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0A6925-97A4-D1CE-02C9-44C3018BE0D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681DC7-4F47-DD03-46D5-316EA5F027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F19ACA-79B3-5BB8-B75C-217126505DF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505CF736-DA10-9DD7-07B4-7B08B7ED00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227DCD-D667-FCF3-F084-7BC2510073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20992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97B1E1C-1BE5-3291-BB70-FBD16FBBCA7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500278-AFCA-C2B7-5523-C736920D4CB8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0A86700-8AF8-B362-C104-4D58131A5C79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2BC061-D46B-2EB4-A4CA-E5A4C62D3DF2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CD3DBD25-1C4E-1464-31A0-CA4786D5AE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055846-74A3-1FB0-B57C-0B74033C6F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850000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F1246F-5B55-3551-888F-82C3FE932CEB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5954F831-8A05-2E0E-907C-B1DF52727DC1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31E78D-3182-FFE1-28D1-DE78C0A94833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F8EBE21-F704-C238-45A5-0CCDA632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9C9F359-7BB2-348F-6506-25092940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D03377E-43BF-780C-7B9F-86CC9B4C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11F753-475E-4F15-83FD-780C89EAED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161836"/>
      </p:ext>
    </p:extLst>
  </p:cSld>
  <p:clrMapOvr>
    <a:masterClrMapping/>
  </p:clrMapOvr>
  <p:hf hdr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8ADAD-EC2D-6899-2D87-95ADE4DB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C8278-6A5E-B803-78BD-B9ED6380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81FC4-E078-3F00-7DCA-85766415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48748-900B-4C86-AC10-9219D70096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762179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5C6249-D991-676F-113C-A6373F965567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4FCFD41A-F425-0D9D-50C4-22DCCADB7374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3F314E-8AF3-615B-DD9D-D1EB10DA8154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727A82F-72EE-90FA-B96B-31D6E270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2752337-9236-8ED2-2C6A-C44709E9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2937E3-EB4F-8039-E561-D38E759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7E399E6-107C-4F26-935A-42557983D1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8815344"/>
      </p:ext>
    </p:extLst>
  </p:cSld>
  <p:clrMapOvr>
    <a:masterClrMapping/>
  </p:clrMapOvr>
  <p:hf hd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3DF80C-2631-355D-2527-1323950B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CCF4CD-A412-B00A-89B7-3B868DDA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D47C17-25EE-671C-5856-8838E3F9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36EEA-5A33-4202-8771-5CFF44FFB9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610951"/>
      </p:ext>
    </p:extLst>
  </p:cSld>
  <p:clrMapOvr>
    <a:masterClrMapping/>
  </p:clrMapOvr>
  <p:hf hdr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72DDFB1-015E-8F34-77C4-137A5AE9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7001070-E7F4-B078-BD75-D9F25C00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8B7E0AF-CB7E-28A6-8614-FCFC1E53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BE64F-2C18-41AB-98F2-D629E53EAA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043869"/>
      </p:ext>
    </p:extLst>
  </p:cSld>
  <p:clrMapOvr>
    <a:masterClrMapping/>
  </p:clrMapOvr>
  <p:hf hdr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1039CE3-4B67-8EE8-4CA6-2CAAE156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C6D927A-A715-9BD1-7D6A-CA7B63FA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F55E93-5F6A-568A-0942-90827A1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B27C5-2CB5-44E7-AF76-62C48DC264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542101"/>
      </p:ext>
    </p:extLst>
  </p:cSld>
  <p:clrMapOvr>
    <a:masterClrMapping/>
  </p:clrMapOvr>
  <p:hf hd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AF125-D960-D981-66FC-610EF3DF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038AF-4D14-083B-028C-6BD129E6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95592-CB15-5356-E0C6-E244A4CE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3C5604-81E4-4AB1-B741-86B603BF95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7344014"/>
      </p:ext>
    </p:extLst>
  </p:cSld>
  <p:clrMapOvr>
    <a:masterClrMapping/>
  </p:clrMapOvr>
  <p:hf hd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B4FBAB4-4655-7D0F-BD94-168A1B86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C3D00-9726-A024-F590-A23E0281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E417D-C300-0B62-BCC9-508440C4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A1FEC-4512-410A-9443-F8A13011A0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257608"/>
      </p:ext>
    </p:extLst>
  </p:cSld>
  <p:clrMapOvr>
    <a:masterClrMapping/>
  </p:clrMapOvr>
  <p:hf hd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447E8A-C4DD-8C30-4C84-A39122E3E3A6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2936752-5497-5BAB-378C-9DED1ACD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9DF64C3-5903-3D99-14EE-92BBBB6D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2EA6951-0366-435D-2C69-3A29AEFA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036E4F-B934-417D-9C27-831E7F2A09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414852"/>
      </p:ext>
    </p:extLst>
  </p:cSld>
  <p:clrMapOvr>
    <a:masterClrMapping/>
  </p:clrMapOvr>
  <p:hf hd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F7ED-AD4F-2747-0C58-6B720102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2669C-C19C-E9F2-7D35-B6165C67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CB352-A53B-5CFF-FFDC-8137E3C4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74B33-3F23-4286-B73A-9260034BB1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451726"/>
      </p:ext>
    </p:extLst>
  </p:cSld>
  <p:clrMapOvr>
    <a:masterClrMapping/>
  </p:clrMapOvr>
  <p:hf hd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4AA313-D6DF-FD55-262A-B5AFA47A0C8D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908B880-15E9-9512-9F2E-AD685D41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97541E-5E95-1185-382F-AE87FB9C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016C364-841C-8B8C-2F4C-549369DC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77DB26-DD1A-47AE-B3EE-114232D0A0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643579"/>
      </p:ext>
    </p:extLst>
  </p:cSld>
  <p:clrMapOvr>
    <a:masterClrMapping/>
  </p:clrMapOvr>
  <p:hf hdr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DCDD08-5C77-8BCF-1726-7F1703117EF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C71FD2-EF68-5F6A-ED94-3E97F69557B0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E66A8-F8A2-8CE9-5C73-071ADDD90970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5CEBE-A4EA-5C68-6551-96710625E97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id="{179E5207-88DB-433A-AC0B-243D7011A6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1BBC82-6F47-6AA7-5C4E-4F1989680ED2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3A932-E574-EB77-3B55-7CC3FDB569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773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AD44B-14AF-BBC5-D239-2A16E969D7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5F27DD9-09D0-70E3-1585-EC7DBE41F17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A3A693-6A65-F212-509F-D2F6D791A1A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49C7E1-9F80-D7EC-4E33-D3EBE6E765D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BA3EC6-D382-4FA1-1C17-7F58F827CA0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id="{F32785DC-0F1B-08B5-73CE-EE62F2C6E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56B4CD79-1D93-FE8A-18B3-5D37F356743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F4F866-79E0-9035-D413-1B0CF24705D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4421FE-3014-4315-D520-7FF0B439CB2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88B43C-B14F-F39D-B9FB-B9C95D0E36D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75A18F6E-B5C5-CD1C-A95E-9B3932D9DB0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4F4E903-5C64-3DE7-6A17-029809B7A53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49D79F-E9EC-7031-407C-0910EBAB930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A8262F6-97B6-7B03-AA5A-14A6E1E35FC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333023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E9F67-8C87-66B4-1A0C-753515EF2A5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D6C4E-3F83-500E-087B-B2628C1EAA87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4123DB-01E0-616E-8B2A-1B5798B7C9B1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E697D-C9B9-A7A1-04E8-78D4C7AC742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id="{BE15CED9-A22F-454C-A808-CA5B82FE9B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F1CD09-5E53-4365-58A8-A0E167409D54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5DA76-C728-76FA-C7A4-8568DC6209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3964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id="{3A2B0F69-7715-33DF-B977-629DEBD73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5EC35A-8CC7-AC17-1F94-098CD5AE38D3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id="{E81D979D-7141-F9F5-F05C-D528EDC4BB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1D4B9F-D694-D048-110D-7424DCC80F56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5056AA-50C9-7B37-1E19-2C043A17D452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0D8A4-2868-FB9D-C91B-72A57DAFFA75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5BA51-FC2A-8DDC-4779-99221B1D5C32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E40D5-16E7-44C9-4108-607B9A529E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732007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id="{BD12DC2B-2C7E-B888-D8CD-2B75F0C63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id="{4C125482-9C44-486F-47C7-86ED881FCE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EB4A59-4FE9-3E17-8401-9BA62AEA91E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B0A761-9C99-D05E-AFE5-81F1065A285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65CB57-6E31-A58D-8E92-A4631C27B5C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72624E10-F576-065E-3497-4CB244A4679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7C414C-EE88-15E7-DB95-4B8D9A8F465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F5DEC6-799D-DD66-4C2B-B1A35CFC22C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5B93B2-A3E0-E76F-631C-7408BAA39D9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E84C5D8-652A-5A82-8871-B74349FB75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79115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E698C1A8-4B9E-30D4-ACAE-39E48113F7C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A271F6-744D-CFC5-A033-67D5CE2C63E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C7CC5B-F2A2-E4AB-80F1-BCEAEFC8D83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CFD1C74-0364-698B-E4D9-003E20D972A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78B051-1698-30E5-F64E-05C5DE8BF8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F07694-3362-DD7D-7518-FA86D8159E7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843426-90A0-061E-9055-C9C50E7585D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3FCD60-C8D4-3AFF-BDC2-B972D66864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id="{60D50BC5-ECA4-64A5-8202-2A1D07F27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0BB87C-7FBF-51C6-3D21-04298D828CB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529361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AF6FBAD8-599A-92C0-B6EA-90B3D9BE746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0A1D449-B4A9-52CE-5B52-CF229D2BFFC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9A5E7E-2C82-57F0-08C6-F4CF9C6B52B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CC886C-67BF-443C-461C-AC0BF23C084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77910C58-A87D-5ECE-75EB-C9CA35CB690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D436C0-CEF7-69A0-29BC-232C596353C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836EB6-05F5-6A95-46DF-6F313CCAED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25B8B9-53FC-CE1A-C4A3-17A23FB93C1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C6DBCDAE-7224-877D-A515-9F09AE659B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FD37AA-14A4-D0D9-CBEB-3D3A796D16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164167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515B8A8-ED24-C0F2-23DA-0EF53A9DB1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08395D-C015-935F-18CB-EE91EB0D2AE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059884-9A2F-AC88-1DBA-A872F990A86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E68559-56CF-1E9D-1716-5E01B9ED0C0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BBE23228-C0D2-6704-FC61-58EE7BBF8B9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D4061C-61CE-ADEA-ACA1-34B49C6B9DE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2C36FD6-118A-4E73-E5BF-76FA4529980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BCD757-6BED-8DFB-0030-CC3F3A350A0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id="{87FBAA7F-76F3-6A85-EA8E-511D7D174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CFEC66-692F-3FD0-82A4-71C61E0575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074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id="{78B60B65-97FA-9BD4-228C-F8F3052BA6F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33307D-B798-6B1C-33D8-454FD78879B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08731F-20AA-AF08-423D-C7D7F72229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BF388C-19C7-A64C-F592-03CD13F942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1F771128-8E2D-7941-F27B-FF23BA4A821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B5CC25-600D-5964-D538-9DCC015948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048F104-AFD1-783E-B0E0-BB2DF71D78B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20D7B4-458E-F29B-E0F6-46450309003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id="{AEB1ACBC-1C34-122E-D5CF-21A4ABB8C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00A244-6707-2167-1CC2-E48A1CB834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422012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F83B9BF-300B-A25E-0597-54D5FDD8BD4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9205B5-BF90-EABE-2225-5B9B09E23C5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10B9E1-36CA-4DE7-72ED-2C395B7EB1C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861373-4F3E-4AC8-D458-4E817018D71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id="{DB4AFADF-795B-2ED6-3C3F-784E84922EE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06DA47-AEEF-C9BB-822E-ED82DDE922C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85BBEA-04E1-B793-ACE8-B149D70CD7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095560-1DD1-E5FB-4800-CF2A3F54B21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id="{0F913282-3A8A-88DC-68C8-E287B91B34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BFC226-EA62-F454-8A79-F8BE8248BE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421971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69E1C24-E62B-6FFC-441F-9FC2EC249A33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5D6CE2-42F8-319A-70F8-DCC9A9D9A1BD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36E9D8-EE45-37C8-72D9-D232EE4A4D36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51F654-C649-394C-BA75-57CF0DCBA10F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C8DB8C1A-E4E2-553F-F244-FEE918CEE4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5E9B2F-B8F3-D098-A9A8-7B12FD9E7E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150683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873516"/>
      </p:ext>
    </p:extLst>
  </p:cSld>
  <p:clrMapOvr>
    <a:masterClrMapping/>
  </p:clrMapOvr>
  <p:hf hdr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8924"/>
      </p:ext>
    </p:extLst>
  </p:cSld>
  <p:clrMapOvr>
    <a:masterClrMapping/>
  </p:clrMapOvr>
  <p:hf hdr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2763"/>
      </p:ext>
    </p:extLst>
  </p:cSld>
  <p:clrMapOvr>
    <a:masterClrMapping/>
  </p:clrMapOvr>
  <p:hf hdr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15236"/>
      </p:ext>
    </p:extLst>
  </p:cSld>
  <p:clrMapOvr>
    <a:masterClrMapping/>
  </p:clrMapOvr>
  <p:hf hdr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marL="0" lvl="0" indent="0" algn="l" defTabSz="461040" rtl="0" eaLnBrk="1" latinLnBrk="0" hangingPunct="1">
              <a:lnSpc>
                <a:spcPct val="90000"/>
              </a:lnSpc>
              <a:spcBef>
                <a:spcPts val="908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94985"/>
      </p:ext>
    </p:extLst>
  </p:cSld>
  <p:clrMapOvr>
    <a:masterClrMapping/>
  </p:clrMapOvr>
  <p:hf hdr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96402"/>
      </p:ext>
    </p:extLst>
  </p:cSld>
  <p:clrMapOvr>
    <a:masterClrMapping/>
  </p:clrMapOvr>
  <p:hf hdr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4013"/>
      </p:ext>
    </p:extLst>
  </p:cSld>
  <p:clrMapOvr>
    <a:masterClrMapping/>
  </p:clrMapOvr>
  <p:hf hdr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22008"/>
      </p:ext>
    </p:extLst>
  </p:cSld>
  <p:clrMapOvr>
    <a:masterClrMapping/>
  </p:clrMapOvr>
  <p:hf hdr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916823"/>
      </p:ext>
    </p:extLst>
  </p:cSld>
  <p:clrMapOvr>
    <a:masterClrMapping/>
  </p:clrMapOvr>
  <p:hf hdr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57484"/>
      </p:ext>
    </p:extLst>
  </p:cSld>
  <p:clrMapOvr>
    <a:masterClrMapping/>
  </p:clrMapOvr>
  <p:hf hdr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803333" y="87744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95908"/>
      </p:ext>
    </p:extLst>
  </p:cSld>
  <p:clrMapOvr>
    <a:masterClrMapping/>
  </p:clrMapOvr>
  <p:hf hdr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719247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409670929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1236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27131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57042167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79821331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54379995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28735491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4297790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8369765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 dirty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Campus</a:t>
            </a:r>
          </a:p>
        </p:txBody>
      </p:sp>
    </p:spTree>
    <p:extLst>
      <p:ext uri="{BB962C8B-B14F-4D97-AF65-F5344CB8AC3E}">
        <p14:creationId xmlns:p14="http://schemas.microsoft.com/office/powerpoint/2010/main" val="122172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92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91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90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96.xml"/><Relationship Id="rId21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109.xml"/><Relationship Id="rId20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834782"/>
            <a:ext cx="3864610" cy="181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78C6A6-0636-58AE-3FD8-F850D3FB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0754172-5682-0D82-A0B0-1EDEE380B4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88043-438D-D02C-8BE5-373A232A9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ADA30-33CA-6AE2-9825-DA017533C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29CC4-15B2-3FAD-A194-EBB8E4487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77EE9870-6A96-4190-A1B5-E00516DD3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E54301-1BBE-B94B-E673-A92414896D59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84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6B246-9B42-0BDA-1740-14C0CAAD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DCEA3CB9-DF53-A9B2-3240-6F41A2D49A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CA911-6481-62C0-1AC4-091FDC677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C2F98-D9FB-0B33-5E71-7289DDEED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263F-1A6D-23A7-93D8-1850040BC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74F6695C-1B15-4B6F-83D6-6EEF8A7F1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D1D298-F8EB-1FFB-BDA4-EF8C3F2472EA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26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5616D8-4A90-33E4-B39E-3534A597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DBE20483-C022-0F5B-C7C5-A34C761F69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666AA-05A7-2D7A-ABAC-745480F18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53C9-CC1F-47EC-CBAD-31C8F5A89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848AD-91E1-CD64-500F-3ACEF3E5E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EE1A5170-E369-40B9-8C26-C3FD0F40A3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FB58B7-C90F-FBDE-2DC9-840C7AF3C0EC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71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9F03E-AA18-853F-A61B-10347135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123" name="Text Placeholder 2">
            <a:extLst>
              <a:ext uri="{FF2B5EF4-FFF2-40B4-BE49-F238E27FC236}">
                <a16:creationId xmlns:a16="http://schemas.microsoft.com/office/drawing/2014/main" id="{E5ED1137-66B3-F3AE-1132-13EFAF04B9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C7F45-D9E8-A39E-83ED-B922CC4FA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2FA8-BF8E-9DB7-3A10-67916DB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3E174-F9AC-A541-2C49-90CB22A6D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B92DF25F-80ED-4825-A7A5-E0D43379BB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6220E4-589E-81DA-4CC4-DF8CB665F82E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89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7249" y="3265309"/>
            <a:ext cx="814535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88131" y="416988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62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</p:sldLayoutIdLst>
  <p:hf hdr="0"/>
  <p:txStyles>
    <p:titleStyle>
      <a:lvl1pPr algn="l" defTabSz="461040" rtl="0" eaLnBrk="1" latinLnBrk="0" hangingPunct="1">
        <a:lnSpc>
          <a:spcPct val="80000"/>
        </a:lnSpc>
        <a:spcBef>
          <a:spcPct val="0"/>
        </a:spcBef>
        <a:buNone/>
        <a:defRPr sz="2218" kern="1200" cap="all" spc="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702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91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676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8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8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8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8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8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8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0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0268D-23AC-DC54-C674-75E4C1FD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Course Over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DA55C-7AB0-0B79-CAD9-266C5B6B0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" y="815976"/>
            <a:ext cx="4191317" cy="1523494"/>
          </a:xfrm>
        </p:spPr>
        <p:txBody>
          <a:bodyPr/>
          <a:lstStyle/>
          <a:p>
            <a:r>
              <a:rPr lang="en-IN" dirty="0"/>
              <a:t>Modules:</a:t>
            </a:r>
          </a:p>
          <a:p>
            <a:pPr marL="228600" indent="-228600">
              <a:buAutoNum type="arabicPeriod"/>
            </a:pPr>
            <a:r>
              <a:rPr lang="en-IN" dirty="0"/>
              <a:t>Matrices and Solving System of Linear Equations</a:t>
            </a:r>
          </a:p>
          <a:p>
            <a:pPr marL="228600" indent="-228600">
              <a:buAutoNum type="arabicPeriod"/>
            </a:pPr>
            <a:r>
              <a:rPr lang="en-IN" dirty="0"/>
              <a:t>Vectors, Distance and Angle between vectors, Linear Independence and Dependence</a:t>
            </a:r>
          </a:p>
          <a:p>
            <a:pPr marL="228600" indent="-228600">
              <a:buAutoNum type="arabicPeriod"/>
            </a:pPr>
            <a:r>
              <a:rPr lang="en-IN" dirty="0"/>
              <a:t>Matrix Decompositions</a:t>
            </a:r>
          </a:p>
          <a:p>
            <a:pPr marL="228600" indent="-228600">
              <a:buAutoNum type="arabicPeriod"/>
            </a:pPr>
            <a:r>
              <a:rPr lang="en-IN" dirty="0"/>
              <a:t>Vector Calculus</a:t>
            </a:r>
          </a:p>
          <a:p>
            <a:pPr marL="228600" indent="-228600">
              <a:buAutoNum type="arabicPeriod"/>
            </a:pPr>
            <a:r>
              <a:rPr lang="en-IN" dirty="0"/>
              <a:t>Gradient Descent Algorithms, Challenges in optimization in ML</a:t>
            </a:r>
          </a:p>
          <a:p>
            <a:pPr marL="228600" indent="-228600">
              <a:buAutoNum type="arabicPeriod"/>
            </a:pPr>
            <a:r>
              <a:rPr lang="en-IN" dirty="0"/>
              <a:t>Optimization in Machine Learning (PCA, SVM)</a:t>
            </a:r>
          </a:p>
          <a:p>
            <a:pPr marL="228600" indent="-2286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83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2E48-282A-B91E-9308-05DEC00B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Why do we study Vectors and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49DC-3C1C-61B8-82C0-25133142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739775"/>
            <a:ext cx="4191267" cy="3170099"/>
          </a:xfrm>
        </p:spPr>
        <p:txBody>
          <a:bodyPr/>
          <a:lstStyle/>
          <a:p>
            <a:r>
              <a:rPr lang="en-US" sz="900" dirty="0">
                <a:latin typeface="+mj-lt"/>
              </a:rPr>
              <a:t>Vectors are fundamental in machine learning (ML) and are used throughout the entire workflow, from data representation to model training and prediction. Here's a breakdown of how vectors are used in ML:</a:t>
            </a:r>
          </a:p>
          <a:p>
            <a:pPr marL="228600" indent="-228600">
              <a:buAutoNum type="arabicPeriod"/>
            </a:pPr>
            <a:r>
              <a:rPr lang="en-US" sz="900" b="1" dirty="0">
                <a:latin typeface="+mj-lt"/>
              </a:rPr>
              <a:t>Data Representation: </a:t>
            </a:r>
          </a:p>
          <a:p>
            <a:r>
              <a:rPr lang="en-US" sz="900" b="1" dirty="0">
                <a:latin typeface="+mj-lt"/>
              </a:rPr>
              <a:t> </a:t>
            </a:r>
            <a:r>
              <a:rPr lang="en-US" sz="900" dirty="0">
                <a:latin typeface="+mj-lt"/>
              </a:rPr>
              <a:t>(a)</a:t>
            </a:r>
            <a:r>
              <a:rPr lang="en-US" sz="900" b="1" dirty="0">
                <a:latin typeface="+mj-lt"/>
              </a:rPr>
              <a:t> </a:t>
            </a:r>
            <a:r>
              <a:rPr lang="en-US" sz="900" dirty="0">
                <a:latin typeface="+mj-lt"/>
              </a:rPr>
              <a:t>Feature representation(A house can be described by the features:(House number, No of Bed rooms, Area in square feet) = (133, 4, 2200)</a:t>
            </a:r>
          </a:p>
          <a:p>
            <a:r>
              <a:rPr lang="en-US" sz="900" dirty="0">
                <a:latin typeface="+mj-lt"/>
              </a:rPr>
              <a:t>(b) Text  as Vectors: In ML texts are represented as vectors. There are techniques such as Word2Vec, BERT embeddings, </a:t>
            </a:r>
            <a:r>
              <a:rPr lang="en-US" sz="900" dirty="0" err="1">
                <a:latin typeface="+mj-lt"/>
              </a:rPr>
              <a:t>etc</a:t>
            </a:r>
            <a:r>
              <a:rPr lang="en-US" sz="900" dirty="0">
                <a:latin typeface="+mj-lt"/>
              </a:rPr>
              <a:t> that convert words or text into vectors.</a:t>
            </a:r>
          </a:p>
          <a:p>
            <a:endParaRPr lang="en-US" sz="900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2. Distance and Similarity:</a:t>
            </a:r>
          </a:p>
          <a:p>
            <a:r>
              <a:rPr lang="en-US" sz="900" dirty="0">
                <a:latin typeface="+mj-lt"/>
              </a:rPr>
              <a:t>The distance between vectors is defined using inner product (also known as dot product) and this notion is used to study the similarity of the data.</a:t>
            </a:r>
          </a:p>
          <a:p>
            <a:endParaRPr lang="en-US" sz="900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3. Linear dependency and Data Redundancy: </a:t>
            </a:r>
            <a:r>
              <a:rPr lang="en-US" sz="900" dirty="0">
                <a:latin typeface="+mj-lt"/>
              </a:rPr>
              <a:t>We study linear independent and linear dependent vectors. If two vectors are linearly dependent then we conclude that one of the data is redundant of the another.</a:t>
            </a:r>
            <a:endParaRPr lang="en-US" sz="900" b="1" dirty="0">
              <a:latin typeface="+mj-lt"/>
            </a:endParaRPr>
          </a:p>
          <a:p>
            <a:r>
              <a:rPr lang="en-US" sz="900" dirty="0">
                <a:latin typeface="+mj-lt"/>
              </a:rPr>
              <a:t>         </a:t>
            </a:r>
          </a:p>
          <a:p>
            <a:r>
              <a:rPr lang="en-US" sz="900" dirty="0">
                <a:latin typeface="+mj-lt"/>
              </a:rPr>
              <a:t>                                           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18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35" dirty="0"/>
              <a:t>linear </a:t>
            </a:r>
            <a:r>
              <a:rPr spc="-50" dirty="0"/>
              <a:t>algebra?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83476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60960" lvl="0" indent="-177165" defTabSz="914400" eaLnBrk="1" fontAlgn="auto" latinLnBrk="0" hangingPunct="1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Linear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algebra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study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and rules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manipulate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4629" marR="30480" lvl="0" indent="-177165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are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not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only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familiar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geometric vectors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from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high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school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(points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2D/3D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space)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but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any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special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objects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which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added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together and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multiplied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by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scalar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values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produce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another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object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same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kind.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example,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polynomials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treated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5265" marR="0" lvl="0" indent="-177165" defTabSz="914400" eaLnBrk="1" fontAlgn="auto" latinLnBrk="0" hangingPunct="1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526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shall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deal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with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</a:t>
            </a:r>
            <a:r>
              <a:rPr kumimoji="0" sz="1200" b="0" i="1" u="none" strike="noStrike" kern="0" cap="none" spc="-37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1200" b="0" i="0" u="none" strike="noStrike" kern="0" cap="none" spc="0" normalizeH="0" baseline="27777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957083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Systems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35" dirty="0"/>
              <a:t>linear</a:t>
            </a:r>
            <a:r>
              <a:rPr spc="-55" dirty="0"/>
              <a:t> </a:t>
            </a:r>
            <a:r>
              <a:rPr spc="-45" dirty="0"/>
              <a:t>equations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8284" rIns="0" bIns="0" rtlCol="0">
            <a:spAutoFit/>
          </a:bodyPr>
          <a:lstStyle/>
          <a:p>
            <a:pPr marL="214629" marR="41084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Systems </a:t>
            </a:r>
            <a:r>
              <a:rPr sz="1100" dirty="0"/>
              <a:t>of</a:t>
            </a:r>
            <a:r>
              <a:rPr sz="1100" spc="-30" dirty="0"/>
              <a:t> linear</a:t>
            </a:r>
            <a:r>
              <a:rPr sz="1100" spc="-35" dirty="0"/>
              <a:t> </a:t>
            </a:r>
            <a:r>
              <a:rPr sz="1100" spc="-40" dirty="0"/>
              <a:t>equations</a:t>
            </a:r>
            <a:r>
              <a:rPr sz="1100" spc="-35" dirty="0"/>
              <a:t> </a:t>
            </a:r>
            <a:r>
              <a:rPr sz="1100" spc="-40" dirty="0"/>
              <a:t>form</a:t>
            </a:r>
            <a:r>
              <a:rPr sz="1100" spc="-30" dirty="0"/>
              <a:t> </a:t>
            </a:r>
            <a:r>
              <a:rPr sz="1100" dirty="0"/>
              <a:t>a</a:t>
            </a:r>
            <a:r>
              <a:rPr sz="1100" spc="-35" dirty="0"/>
              <a:t> </a:t>
            </a:r>
            <a:r>
              <a:rPr sz="1100" spc="-25" dirty="0"/>
              <a:t>central</a:t>
            </a:r>
            <a:r>
              <a:rPr sz="1100" spc="-30" dirty="0"/>
              <a:t> </a:t>
            </a:r>
            <a:r>
              <a:rPr sz="1100" spc="-20" dirty="0"/>
              <a:t>part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0" dirty="0"/>
              <a:t> </a:t>
            </a:r>
            <a:r>
              <a:rPr sz="1100" spc="-40" dirty="0"/>
              <a:t>linear </a:t>
            </a:r>
            <a:r>
              <a:rPr sz="1100" spc="-10" dirty="0"/>
              <a:t>algebra.</a:t>
            </a:r>
            <a:endParaRPr sz="1100"/>
          </a:p>
          <a:p>
            <a:pPr marL="214629" marR="492759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Many</a:t>
            </a:r>
            <a:r>
              <a:rPr sz="1100" spc="-45" dirty="0"/>
              <a:t> </a:t>
            </a:r>
            <a:r>
              <a:rPr sz="1100" spc="-50" dirty="0"/>
              <a:t>problems</a:t>
            </a:r>
            <a:r>
              <a:rPr sz="1100" spc="-35" dirty="0"/>
              <a:t> </a:t>
            </a:r>
            <a:r>
              <a:rPr sz="1100" spc="-20" dirty="0"/>
              <a:t>can</a:t>
            </a:r>
            <a:r>
              <a:rPr sz="1100" spc="-35" dirty="0"/>
              <a:t> </a:t>
            </a:r>
            <a:r>
              <a:rPr sz="1100" spc="-10" dirty="0"/>
              <a:t>be</a:t>
            </a:r>
            <a:r>
              <a:rPr sz="1100" spc="-40" dirty="0"/>
              <a:t> formulated</a:t>
            </a:r>
            <a:r>
              <a:rPr sz="1100" spc="-35" dirty="0"/>
              <a:t> </a:t>
            </a:r>
            <a:r>
              <a:rPr sz="1100" spc="-30" dirty="0"/>
              <a:t>as</a:t>
            </a:r>
            <a:r>
              <a:rPr sz="1100" spc="-40" dirty="0"/>
              <a:t> </a:t>
            </a:r>
            <a:r>
              <a:rPr sz="1100" spc="-50" dirty="0"/>
              <a:t>systems</a:t>
            </a:r>
            <a:r>
              <a:rPr sz="1100" spc="-35" dirty="0"/>
              <a:t> </a:t>
            </a:r>
            <a:r>
              <a:rPr sz="1100" dirty="0"/>
              <a:t>of</a:t>
            </a:r>
            <a:r>
              <a:rPr sz="1100" spc="-40" dirty="0"/>
              <a:t> linear </a:t>
            </a:r>
            <a:r>
              <a:rPr sz="1100" spc="-10" dirty="0"/>
              <a:t>equations.</a:t>
            </a:r>
            <a:endParaRPr sz="1100"/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/>
              <a:t>Tools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0" dirty="0"/>
              <a:t> linear </a:t>
            </a:r>
            <a:r>
              <a:rPr sz="1100" spc="-55" dirty="0"/>
              <a:t>algebra</a:t>
            </a:r>
            <a:r>
              <a:rPr sz="1100" spc="-35" dirty="0"/>
              <a:t> </a:t>
            </a:r>
            <a:r>
              <a:rPr sz="1100" spc="-20" dirty="0"/>
              <a:t>can</a:t>
            </a:r>
            <a:r>
              <a:rPr sz="1100" spc="-30" dirty="0"/>
              <a:t> </a:t>
            </a:r>
            <a:r>
              <a:rPr sz="1100" spc="-10" dirty="0"/>
              <a:t>be</a:t>
            </a:r>
            <a:r>
              <a:rPr sz="1100" spc="-35" dirty="0"/>
              <a:t> </a:t>
            </a:r>
            <a:r>
              <a:rPr sz="1100" spc="-60" dirty="0"/>
              <a:t>used</a:t>
            </a:r>
            <a:r>
              <a:rPr sz="1100" spc="-25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spc="-50" dirty="0"/>
              <a:t>solve</a:t>
            </a:r>
            <a:r>
              <a:rPr sz="1100" spc="-35" dirty="0"/>
              <a:t> </a:t>
            </a:r>
            <a:r>
              <a:rPr sz="1100" spc="-45" dirty="0"/>
              <a:t>such</a:t>
            </a:r>
            <a:r>
              <a:rPr sz="1100" spc="-30" dirty="0"/>
              <a:t> </a:t>
            </a:r>
            <a:r>
              <a:rPr sz="1100" spc="-10" dirty="0"/>
              <a:t>problems.</a:t>
            </a:r>
            <a:endParaRPr sz="1100"/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We</a:t>
            </a:r>
            <a:r>
              <a:rPr sz="1100" spc="-40" dirty="0"/>
              <a:t> </a:t>
            </a:r>
            <a:r>
              <a:rPr sz="1100" spc="-45" dirty="0"/>
              <a:t>would</a:t>
            </a:r>
            <a:r>
              <a:rPr sz="1100" spc="-25" dirty="0"/>
              <a:t> </a:t>
            </a:r>
            <a:r>
              <a:rPr sz="1100" spc="-65" dirty="0"/>
              <a:t>use</a:t>
            </a:r>
            <a:r>
              <a:rPr sz="1100" spc="-25" dirty="0"/>
              <a:t> </a:t>
            </a:r>
            <a:r>
              <a:rPr sz="1100" spc="-20" dirty="0"/>
              <a:t>analytical</a:t>
            </a:r>
            <a:r>
              <a:rPr sz="1100" spc="-30" dirty="0"/>
              <a:t> </a:t>
            </a:r>
            <a:r>
              <a:rPr sz="1100" spc="-45" dirty="0"/>
              <a:t>techniques</a:t>
            </a:r>
            <a:r>
              <a:rPr sz="1100" spc="-30" dirty="0"/>
              <a:t> </a:t>
            </a:r>
            <a:r>
              <a:rPr sz="1100" spc="-35" dirty="0"/>
              <a:t>and</a:t>
            </a:r>
            <a:r>
              <a:rPr sz="1100" spc="-30" dirty="0"/>
              <a:t> </a:t>
            </a:r>
            <a:r>
              <a:rPr sz="1100" spc="-35" dirty="0"/>
              <a:t>numerical</a:t>
            </a:r>
            <a:r>
              <a:rPr sz="1100" spc="-30" dirty="0"/>
              <a:t> </a:t>
            </a:r>
            <a:r>
              <a:rPr sz="1100" spc="-40" dirty="0"/>
              <a:t>methods</a:t>
            </a:r>
            <a:r>
              <a:rPr sz="1100" spc="-30" dirty="0"/>
              <a:t> </a:t>
            </a:r>
            <a:r>
              <a:rPr sz="1100" spc="-25" dirty="0"/>
              <a:t>to </a:t>
            </a:r>
            <a:r>
              <a:rPr sz="1100" spc="-50" dirty="0"/>
              <a:t>solve</a:t>
            </a:r>
            <a:r>
              <a:rPr sz="1100" spc="-40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50" dirty="0"/>
              <a:t>systems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5" dirty="0"/>
              <a:t> </a:t>
            </a:r>
            <a:r>
              <a:rPr sz="1100" spc="-30" dirty="0"/>
              <a:t>linear</a:t>
            </a:r>
            <a:r>
              <a:rPr sz="1100" spc="-40" dirty="0"/>
              <a:t> </a:t>
            </a:r>
            <a:r>
              <a:rPr sz="1100" spc="-10" dirty="0"/>
              <a:t>equations.</a:t>
            </a:r>
            <a:endParaRPr sz="110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249929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Motivating</a:t>
            </a:r>
            <a:r>
              <a:rPr spc="-100" dirty="0"/>
              <a:t> </a:t>
            </a:r>
            <a:r>
              <a:rPr spc="-50" dirty="0"/>
              <a:t>problem</a:t>
            </a:r>
            <a:r>
              <a:rPr lang="en-IN" spc="-50" dirty="0"/>
              <a:t> for studying Linear System of Equations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1894" y="1074825"/>
            <a:ext cx="3921125" cy="1224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problem.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company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produces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92" baseline="-10416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resources </a:t>
            </a:r>
            <a:r>
              <a:rPr sz="1100" i="1" spc="-20" dirty="0">
                <a:latin typeface="Arial"/>
                <a:cs typeface="Arial"/>
              </a:rPr>
              <a:t>R</a:t>
            </a:r>
            <a:r>
              <a:rPr sz="1200" spc="-30" baseline="-10416" dirty="0">
                <a:latin typeface="Trebuchet MS"/>
                <a:cs typeface="Trebuchet MS"/>
              </a:rPr>
              <a:t>1</a:t>
            </a:r>
            <a:r>
              <a:rPr sz="1100" i="1" spc="-2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Arial"/>
                <a:cs typeface="Arial"/>
              </a:rPr>
              <a:t>R</a:t>
            </a:r>
            <a:r>
              <a:rPr sz="1200" spc="-30" baseline="-10416" dirty="0">
                <a:latin typeface="Trebuchet MS"/>
                <a:cs typeface="Trebuchet MS"/>
              </a:rPr>
              <a:t>2</a:t>
            </a:r>
            <a:r>
              <a:rPr sz="1100" i="1" spc="-2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172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required.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-10416" dirty="0">
                <a:latin typeface="Arial"/>
                <a:cs typeface="Arial"/>
              </a:rPr>
              <a:t>ij</a:t>
            </a:r>
            <a:r>
              <a:rPr sz="1200" i="1" spc="-15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45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needed,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n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Find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optimal </a:t>
            </a:r>
            <a:r>
              <a:rPr sz="1100" spc="-35" dirty="0">
                <a:latin typeface="Tahoma"/>
                <a:cs typeface="Tahoma"/>
              </a:rPr>
              <a:t>production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15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15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50" dirty="0">
                <a:latin typeface="Tahoma"/>
                <a:cs typeface="Tahoma"/>
              </a:rPr>
              <a:t>produced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30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 </a:t>
            </a:r>
            <a:r>
              <a:rPr sz="1100" spc="-55" dirty="0">
                <a:latin typeface="Tahoma"/>
                <a:cs typeface="Tahoma"/>
              </a:rPr>
              <a:t>resources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left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over.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Formulation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794" y="670888"/>
            <a:ext cx="3909695" cy="1642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685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-37" baseline="-10416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we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5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200" i="1" spc="-52" baseline="-10416" dirty="0">
                <a:latin typeface="Arial"/>
                <a:cs typeface="Arial"/>
              </a:rPr>
              <a:t>ni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70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dirty="0">
                <a:latin typeface="Tahoma"/>
                <a:cs typeface="Tahoma"/>
              </a:rPr>
              <a:t> of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R</a:t>
            </a:r>
            <a:r>
              <a:rPr sz="1200" i="1" spc="-52" baseline="-10416" dirty="0">
                <a:latin typeface="Arial"/>
                <a:cs typeface="Arial"/>
              </a:rPr>
              <a:t>j</a:t>
            </a:r>
            <a:r>
              <a:rPr sz="1200" i="1" spc="-150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-90" dirty="0">
                <a:latin typeface="Tahoma"/>
                <a:cs typeface="Tahoma"/>
              </a:rPr>
              <a:t> 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equation:</a:t>
            </a:r>
            <a:endParaRPr sz="1100">
              <a:latin typeface="Tahoma"/>
              <a:cs typeface="Tahoma"/>
            </a:endParaRPr>
          </a:p>
          <a:p>
            <a:pPr marR="981075" algn="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104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11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200" i="1" spc="-52" baseline="-10416" dirty="0">
                <a:latin typeface="Arial"/>
                <a:cs typeface="Arial"/>
              </a:rPr>
              <a:t>ni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similarly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unknowns,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2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R="995044" algn="r">
              <a:lnSpc>
                <a:spcPct val="100000"/>
              </a:lnSpc>
              <a:spcBef>
                <a:spcPts val="1130"/>
              </a:spcBef>
            </a:pP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rebuchet MS"/>
                <a:cs typeface="Trebuchet MS"/>
              </a:rPr>
              <a:t>11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1</a:t>
            </a:r>
            <a:r>
              <a:rPr sz="1200" spc="15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rebuchet MS"/>
                <a:cs typeface="Trebuchet MS"/>
              </a:rPr>
              <a:t>21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2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1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45205" y="2330334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457" y="2337166"/>
            <a:ext cx="211455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37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75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nm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i="1" spc="-37" baseline="-10416" dirty="0">
                <a:latin typeface="Arial"/>
                <a:cs typeface="Arial"/>
              </a:rPr>
              <a:t>m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902228"/>
            <a:ext cx="33261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linear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zero,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infinitely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solutions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D135-126A-170B-C2F5-F7496AD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43D3-7475-FF91-2E08-BF7407A2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A System of Linear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631CA-0558-57A1-C72A-00CE8FF63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9E182-74C2-6E8A-BDBF-08EFBBC3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667"/>
            <a:ext cx="4610100" cy="263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56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053A4-9BC0-8C24-C456-AEF52C9C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F484-559E-3B45-A9AE-F6A1A610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System Of Linear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E2DC8-FB1A-7C09-C376-B8B9817CC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17683-D3F5-6F82-D1F5-89BCE64F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6" y="511175"/>
            <a:ext cx="4234101" cy="234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94543-22B7-B2D4-079E-7BDBD2B7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9AFD-8FDB-25C4-D548-B10D8F0F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Augmented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B7B3D-3782-757A-787B-662EBB1A0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6544B-B812-644C-EC4F-C6148D68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0" y="566844"/>
            <a:ext cx="4092843" cy="241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8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6804-828A-3601-6FEE-BC36D7A8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CD11-312F-9D97-3684-2BB2B6932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Solving System of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AAF53-D65D-D199-91E4-45739B2A8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85C93-927E-7E15-5ECB-8456A057D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6" y="434975"/>
            <a:ext cx="4286567" cy="284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3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Content Placeholder 4">
            <a:extLst>
              <a:ext uri="{FF2B5EF4-FFF2-40B4-BE49-F238E27FC236}">
                <a16:creationId xmlns:a16="http://schemas.microsoft.com/office/drawing/2014/main" id="{B67A9F40-7570-1FC8-4F85-807264DD76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" y="769937"/>
            <a:ext cx="4491646" cy="218979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DBE9-DA34-14A1-1FFF-7417DB07F2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62500" lnSpcReduction="20000"/>
          </a:bodyPr>
          <a:lstStyle/>
          <a:p>
            <a:pPr indent="-46104" eaLnBrk="1" fontAlgn="auto" hangingPunct="1">
              <a:defRPr/>
            </a:pPr>
            <a:r>
              <a:rPr lang="en-US" dirty="0"/>
              <a:t>Solving system of linear </a:t>
            </a:r>
            <a:r>
              <a:rPr lang="en-US" dirty="0" err="1"/>
              <a:t>equationswith</a:t>
            </a:r>
            <a:r>
              <a:rPr lang="en-US" dirty="0"/>
              <a:t> two variables and their geometrical interpretation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54612C-5873-4896-7B22-6BF33E54E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>
              <a:defRPr/>
            </a:pPr>
            <a:r>
              <a:rPr lang="en-US" dirty="0"/>
              <a:t>A system of linear equations has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no solution, or </a:t>
            </a:r>
          </a:p>
          <a:p>
            <a:pPr marL="0" indent="0">
              <a:defRPr/>
            </a:pPr>
            <a:r>
              <a:rPr lang="en-US" dirty="0"/>
              <a:t>2. exactly one solution, or </a:t>
            </a:r>
          </a:p>
          <a:p>
            <a:pPr marL="0" indent="0">
              <a:defRPr/>
            </a:pPr>
            <a:r>
              <a:rPr lang="en-US" dirty="0"/>
              <a:t>3. infinitely many solutions. </a:t>
            </a:r>
          </a:p>
          <a:p>
            <a:pPr marL="0" indent="0"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A system of linear equations is said to be consistent if it has either one solution or infinitely many solutions; a system is inconsistent if it has no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4FC5A-DEA8-B66B-7825-B9D33C4E7B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Three Possibilities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Content Placeholder 3">
            <a:extLst>
              <a:ext uri="{FF2B5EF4-FFF2-40B4-BE49-F238E27FC236}">
                <a16:creationId xmlns:a16="http://schemas.microsoft.com/office/drawing/2014/main" id="{018CF29F-25B8-EFF2-45C6-4E7055925C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5721" y="754731"/>
            <a:ext cx="3924988" cy="228183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E3D13-3BA2-7461-DCCC-1367D05EC5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Matrices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Content Placeholder 3">
            <a:extLst>
              <a:ext uri="{FF2B5EF4-FFF2-40B4-BE49-F238E27FC236}">
                <a16:creationId xmlns:a16="http://schemas.microsoft.com/office/drawing/2014/main" id="{1F43F55C-7280-DBE9-A1E8-91A579AD94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910" y="885190"/>
            <a:ext cx="3908180" cy="78915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C8D18-7D36-13B8-25DA-523D531B0A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How to represent a system of equations in Matrix 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5FCE5-B46E-F054-9C3F-E0208506A81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2593" y="1999297"/>
            <a:ext cx="3716534" cy="799808"/>
          </a:xfrm>
          <a:prstGeom prst="rect">
            <a:avLst/>
          </a:prstGeom>
          <a:blipFill>
            <a:blip r:embed="rId3"/>
            <a:stretch>
              <a:fillRect l="-744"/>
            </a:stretch>
          </a:blipFill>
        </p:spPr>
        <p:txBody>
          <a:bodyPr/>
          <a:lstStyle/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908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91141" name="Picture 5">
            <a:extLst>
              <a:ext uri="{FF2B5EF4-FFF2-40B4-BE49-F238E27FC236}">
                <a16:creationId xmlns:a16="http://schemas.microsoft.com/office/drawing/2014/main" id="{0F06B6F2-5717-B1C8-0A46-8A8A66B4626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33" y="1909657"/>
            <a:ext cx="603475" cy="364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Content Placeholder 1">
            <a:extLst>
              <a:ext uri="{FF2B5EF4-FFF2-40B4-BE49-F238E27FC236}">
                <a16:creationId xmlns:a16="http://schemas.microsoft.com/office/drawing/2014/main" id="{C890A21D-A79B-3FD2-2C15-F51F8D06E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3" y="789947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Solve the system of equations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C3897-F0E4-83F3-AC2D-B4865A2137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</a:t>
            </a:r>
            <a:endParaRPr lang="en-IN" dirty="0"/>
          </a:p>
        </p:txBody>
      </p:sp>
      <p:pic>
        <p:nvPicPr>
          <p:cNvPr id="92164" name="Picture 3">
            <a:extLst>
              <a:ext uri="{FF2B5EF4-FFF2-40B4-BE49-F238E27FC236}">
                <a16:creationId xmlns:a16="http://schemas.microsoft.com/office/drawing/2014/main" id="{D7C64364-9378-53B0-C6DB-7BB1AF42A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2" y="1038860"/>
            <a:ext cx="1037273" cy="55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4">
            <a:extLst>
              <a:ext uri="{FF2B5EF4-FFF2-40B4-BE49-F238E27FC236}">
                <a16:creationId xmlns:a16="http://schemas.microsoft.com/office/drawing/2014/main" id="{C27B34D0-BB4A-0A9A-6AF1-6474FD3778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56" y="1730375"/>
            <a:ext cx="1790415" cy="400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6" name="TextBox 5">
            <a:extLst>
              <a:ext uri="{FF2B5EF4-FFF2-40B4-BE49-F238E27FC236}">
                <a16:creationId xmlns:a16="http://schemas.microsoft.com/office/drawing/2014/main" id="{0A80EC3F-B02B-A9A8-DB0B-1D0E650DE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720" y="1845628"/>
            <a:ext cx="138303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8" kern="1200">
                <a:solidFill>
                  <a:prstClr val="black"/>
                </a:solidFill>
                <a:ea typeface="+mn-ea"/>
              </a:rPr>
              <a:t>Augmented Matrix</a:t>
            </a:r>
            <a:endParaRPr lang="en-IN" altLang="en-US" sz="908" kern="1200">
              <a:solidFill>
                <a:prstClr val="black"/>
              </a:solidFill>
              <a:ea typeface="+mn-ea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A4B0FD-CDEB-C7DD-3BBD-8FA1C234DAF7}"/>
              </a:ext>
            </a:extLst>
          </p:cNvPr>
          <p:cNvCxnSpPr/>
          <p:nvPr/>
        </p:nvCxnSpPr>
        <p:spPr>
          <a:xfrm>
            <a:off x="2055336" y="1930466"/>
            <a:ext cx="345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68" name="Picture 8">
            <a:extLst>
              <a:ext uri="{FF2B5EF4-FFF2-40B4-BE49-F238E27FC236}">
                <a16:creationId xmlns:a16="http://schemas.microsoft.com/office/drawing/2014/main" id="{105BC59E-D3D9-E031-E618-F90537AF9B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3" y="2426692"/>
            <a:ext cx="1740793" cy="396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9" name="Picture 9">
            <a:extLst>
              <a:ext uri="{FF2B5EF4-FFF2-40B4-BE49-F238E27FC236}">
                <a16:creationId xmlns:a16="http://schemas.microsoft.com/office/drawing/2014/main" id="{D0B3E563-3035-09A0-8D3E-5C38FD6BD42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720" y="2426692"/>
            <a:ext cx="1856046" cy="35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Content Placeholder 3">
            <a:extLst>
              <a:ext uri="{FF2B5EF4-FFF2-40B4-BE49-F238E27FC236}">
                <a16:creationId xmlns:a16="http://schemas.microsoft.com/office/drawing/2014/main" id="{A5310BC7-7BF6-D375-8974-0E08DB3AA7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" y="808355"/>
            <a:ext cx="1856046" cy="388177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7FF6-2D6D-16EC-6B65-C32630703E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endParaRPr lang="en-IN"/>
          </a:p>
        </p:txBody>
      </p:sp>
      <p:pic>
        <p:nvPicPr>
          <p:cNvPr id="93188" name="Picture 4">
            <a:extLst>
              <a:ext uri="{FF2B5EF4-FFF2-40B4-BE49-F238E27FC236}">
                <a16:creationId xmlns:a16="http://schemas.microsoft.com/office/drawing/2014/main" id="{D576BF14-3284-A877-CAB6-3BD48B13502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00" y="1384618"/>
            <a:ext cx="1527096" cy="39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>
            <a:extLst>
              <a:ext uri="{FF2B5EF4-FFF2-40B4-BE49-F238E27FC236}">
                <a16:creationId xmlns:a16="http://schemas.microsoft.com/office/drawing/2014/main" id="{165E2A31-9E8C-96BB-165F-A8C53E196C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146" y="1350202"/>
            <a:ext cx="1773608" cy="388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6">
            <a:extLst>
              <a:ext uri="{FF2B5EF4-FFF2-40B4-BE49-F238E27FC236}">
                <a16:creationId xmlns:a16="http://schemas.microsoft.com/office/drawing/2014/main" id="{3DB6BA2F-1760-53BC-ECF9-5BDD4202CEE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23" y="1926465"/>
            <a:ext cx="1642348" cy="37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1" name="Picture 14">
            <a:extLst>
              <a:ext uri="{FF2B5EF4-FFF2-40B4-BE49-F238E27FC236}">
                <a16:creationId xmlns:a16="http://schemas.microsoft.com/office/drawing/2014/main" id="{62252510-D941-11E5-D163-76D732FAC5B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" y="2300235"/>
            <a:ext cx="2791672" cy="4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Content Placeholder 3">
            <a:extLst>
              <a:ext uri="{FF2B5EF4-FFF2-40B4-BE49-F238E27FC236}">
                <a16:creationId xmlns:a16="http://schemas.microsoft.com/office/drawing/2014/main" id="{C03CD2AF-D332-BBC5-85CC-1C8532F43F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845" y="769937"/>
            <a:ext cx="1478274" cy="396981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90E96-2E84-6F26-075A-E3C8920A184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endParaRPr lang="en-IN"/>
          </a:p>
        </p:txBody>
      </p:sp>
      <p:pic>
        <p:nvPicPr>
          <p:cNvPr id="94212" name="Picture 4">
            <a:extLst>
              <a:ext uri="{FF2B5EF4-FFF2-40B4-BE49-F238E27FC236}">
                <a16:creationId xmlns:a16="http://schemas.microsoft.com/office/drawing/2014/main" id="{60A055AA-0818-E8E4-D03C-9D2A99826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" y="1384618"/>
            <a:ext cx="1511088" cy="351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B3DA49-F5B0-2092-0786-688AF6BAE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>
              <a:defRPr/>
            </a:pPr>
            <a:r>
              <a:rPr lang="en-US" dirty="0"/>
              <a:t>    A rectangular matrix is in echelon form (or row echelon form) if it has the following three properties: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All nonzero rows are above any rows of all zeros.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Each leading entry of a row is in a column to the right of the leading entry of the row above it.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All entries in a column below a leading entry are zeros. </a:t>
            </a:r>
          </a:p>
          <a:p>
            <a:pPr marL="0" indent="0"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If a matrix in echelon form satisfies the following additional conditions, then it is in reduced echelon form (or reduced row echelon form): </a:t>
            </a:r>
          </a:p>
          <a:p>
            <a:pPr marL="0" indent="0">
              <a:defRPr/>
            </a:pPr>
            <a:r>
              <a:rPr lang="en-US" dirty="0"/>
              <a:t>4. The leading entry in each nonzero row is 1. </a:t>
            </a:r>
          </a:p>
          <a:p>
            <a:pPr marL="0" indent="0">
              <a:defRPr/>
            </a:pPr>
            <a:r>
              <a:rPr lang="en-US" dirty="0"/>
              <a:t>5. Each leading 1 is the only nonzero entry in its column.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E70EB-58DE-5727-76EB-2F23AEAD2C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671" y="76905"/>
            <a:ext cx="3141980" cy="510470"/>
          </a:xfrm>
        </p:spPr>
        <p:txBody>
          <a:bodyPr>
            <a:normAutofit fontScale="55000" lnSpcReduction="20000"/>
          </a:bodyPr>
          <a:lstStyle/>
          <a:p>
            <a:pPr marL="0" marR="0" lvl="0" indent="-45624" algn="l" defTabSz="914400" rtl="0" eaLnBrk="0" fontAlgn="base" latinLnBrk="0" hangingPunct="0">
              <a:lnSpc>
                <a:spcPts val="1815"/>
              </a:lnSpc>
              <a:spcBef>
                <a:spcPts val="0"/>
              </a:spcBef>
              <a:spcAft>
                <a:spcPts val="101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None/>
              <a:tabLst/>
              <a:defRPr/>
            </a:pPr>
            <a:r>
              <a:rPr kumimoji="0" lang="en-IN" sz="2200" b="1" i="0" u="none" strike="noStrike" kern="1200" cap="none" spc="-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Echelon Form and Reduced Row Echelon Form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Content Placeholder 3">
            <a:extLst>
              <a:ext uri="{FF2B5EF4-FFF2-40B4-BE49-F238E27FC236}">
                <a16:creationId xmlns:a16="http://schemas.microsoft.com/office/drawing/2014/main" id="{794C8E39-49B2-4BF8-C23F-7990306923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15" r="-565" b="6897"/>
          <a:stretch>
            <a:fillRect/>
          </a:stretch>
        </p:blipFill>
        <p:spPr>
          <a:xfrm>
            <a:off x="0" y="801152"/>
            <a:ext cx="2573973" cy="119814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452CA-D314-4C28-637B-58D84B92AD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Elementary Row operations</a:t>
            </a:r>
          </a:p>
        </p:txBody>
      </p:sp>
      <p:pic>
        <p:nvPicPr>
          <p:cNvPr id="96260" name="Picture 4">
            <a:extLst>
              <a:ext uri="{FF2B5EF4-FFF2-40B4-BE49-F238E27FC236}">
                <a16:creationId xmlns:a16="http://schemas.microsoft.com/office/drawing/2014/main" id="{F0A24F1D-2D91-AE32-D2D6-D96D4AA51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72" y="2145765"/>
            <a:ext cx="4225925" cy="42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0321B-BFEB-5E95-C216-A3435E0F2C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Reduced Echelon Form</a:t>
            </a:r>
          </a:p>
        </p:txBody>
      </p:sp>
      <p:pic>
        <p:nvPicPr>
          <p:cNvPr id="97283" name="Picture 4">
            <a:extLst>
              <a:ext uri="{FF2B5EF4-FFF2-40B4-BE49-F238E27FC236}">
                <a16:creationId xmlns:a16="http://schemas.microsoft.com/office/drawing/2014/main" id="{06911FF1-918A-E259-2900-911C4C292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63" y="837380"/>
            <a:ext cx="1389433" cy="533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Picture 6">
            <a:extLst>
              <a:ext uri="{FF2B5EF4-FFF2-40B4-BE49-F238E27FC236}">
                <a16:creationId xmlns:a16="http://schemas.microsoft.com/office/drawing/2014/main" id="{103CC756-C6E5-5E18-1F70-00554C32E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7" t="4286" r="45920"/>
          <a:stretch/>
        </p:blipFill>
        <p:spPr bwMode="auto">
          <a:xfrm>
            <a:off x="529404" y="1624001"/>
            <a:ext cx="725268" cy="39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1E3864-8FD2-2D94-7934-606C9B6012A1}"/>
              </a:ext>
            </a:extLst>
          </p:cNvPr>
          <p:cNvSpPr txBox="1"/>
          <p:nvPr/>
        </p:nvSpPr>
        <p:spPr>
          <a:xfrm>
            <a:off x="2182225" y="2427239"/>
            <a:ext cx="1728788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These matrices are not in  echelon form. Why?</a:t>
            </a:r>
          </a:p>
        </p:txBody>
      </p:sp>
      <p:sp>
        <p:nvSpPr>
          <p:cNvPr id="97287" name="Content Placeholder 1">
            <a:extLst>
              <a:ext uri="{FF2B5EF4-FFF2-40B4-BE49-F238E27FC236}">
                <a16:creationId xmlns:a16="http://schemas.microsoft.com/office/drawing/2014/main" id="{58275751-8BC3-9231-ADF7-243A1930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2"/>
            <a:ext cx="3903980" cy="74704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D0AF6-2B32-F0EB-D1AC-0B980AB47261}"/>
              </a:ext>
            </a:extLst>
          </p:cNvPr>
          <p:cNvSpPr txBox="1"/>
          <p:nvPr/>
        </p:nvSpPr>
        <p:spPr>
          <a:xfrm>
            <a:off x="1695450" y="867340"/>
            <a:ext cx="24384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These matrices are in Reduced Echelon form. Verify.</a:t>
            </a:r>
          </a:p>
          <a:p>
            <a:r>
              <a:rPr lang="en-IN" sz="900" dirty="0"/>
              <a:t>Which rows have pivot elements?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BDADDB-2ABD-7798-047B-43DE6129E5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49" t="-200" r="23262"/>
          <a:stretch/>
        </p:blipFill>
        <p:spPr>
          <a:xfrm>
            <a:off x="1543050" y="2458471"/>
            <a:ext cx="609600" cy="415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02126D-B5A8-1DD4-4A5F-2DFA6FC476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142" r="74689" b="-1"/>
          <a:stretch/>
        </p:blipFill>
        <p:spPr>
          <a:xfrm>
            <a:off x="817397" y="2427239"/>
            <a:ext cx="624947" cy="435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F1F07F-6628-C5E1-96CC-C73E8EC1A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991" t="-27458" b="-1"/>
          <a:stretch/>
        </p:blipFill>
        <p:spPr>
          <a:xfrm>
            <a:off x="1254672" y="1531735"/>
            <a:ext cx="609601" cy="517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0EB597-1CB1-D512-517E-ED0B3274E66C}"/>
              </a:ext>
            </a:extLst>
          </p:cNvPr>
          <p:cNvSpPr txBox="1"/>
          <p:nvPr/>
        </p:nvSpPr>
        <p:spPr>
          <a:xfrm>
            <a:off x="2076450" y="1649820"/>
            <a:ext cx="220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These matrices are in echelon form but not in reduced echelon form. Why?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Content Placeholder 3">
            <a:extLst>
              <a:ext uri="{FF2B5EF4-FFF2-40B4-BE49-F238E27FC236}">
                <a16:creationId xmlns:a16="http://schemas.microsoft.com/office/drawing/2014/main" id="{FF57B302-AD23-32F4-5404-B50191D1CC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175" y="769938"/>
            <a:ext cx="3841750" cy="240429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E381-B41E-C555-F426-AF5F0A354F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Gauss-Jordan Elimination Method 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C2A323-06D7-D285-6074-3A9A1C17C47E}"/>
              </a:ext>
            </a:extLst>
          </p:cNvPr>
          <p:cNvSpPr txBox="1"/>
          <p:nvPr/>
        </p:nvSpPr>
        <p:spPr>
          <a:xfrm>
            <a:off x="153670" y="769938"/>
            <a:ext cx="1459865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Content Placeholder 3">
            <a:extLst>
              <a:ext uri="{FF2B5EF4-FFF2-40B4-BE49-F238E27FC236}">
                <a16:creationId xmlns:a16="http://schemas.microsoft.com/office/drawing/2014/main" id="{4DDB5E93-828F-0A4D-8966-E84D6ECF4C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9" b="4082"/>
          <a:stretch>
            <a:fillRect/>
          </a:stretch>
        </p:blipFill>
        <p:spPr>
          <a:xfrm>
            <a:off x="136863" y="846772"/>
            <a:ext cx="4178703" cy="195929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6902-133B-0FBE-1435-D05B186637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 </a:t>
            </a:r>
            <a:r>
              <a:rPr lang="en-US" dirty="0" err="1"/>
              <a:t>Ctd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Content Placeholder 3">
            <a:extLst>
              <a:ext uri="{FF2B5EF4-FFF2-40B4-BE49-F238E27FC236}">
                <a16:creationId xmlns:a16="http://schemas.microsoft.com/office/drawing/2014/main" id="{F11B38C8-0D92-C355-1A35-65B7A5FEE9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" y="769938"/>
            <a:ext cx="3580031" cy="11525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9282-A567-8E56-9E98-7E5EFC717E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 </a:t>
            </a:r>
            <a:r>
              <a:rPr lang="en-US" dirty="0" err="1"/>
              <a:t>Ctd</a:t>
            </a:r>
            <a:endParaRPr lang="en-US" dirty="0"/>
          </a:p>
        </p:txBody>
      </p:sp>
      <p:pic>
        <p:nvPicPr>
          <p:cNvPr id="100356" name="Picture 4">
            <a:extLst>
              <a:ext uri="{FF2B5EF4-FFF2-40B4-BE49-F238E27FC236}">
                <a16:creationId xmlns:a16="http://schemas.microsoft.com/office/drawing/2014/main" id="{149B63E9-CED4-1592-B84D-A570005260A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8" y="1922463"/>
            <a:ext cx="3380740" cy="118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Content Placeholder 3">
            <a:extLst>
              <a:ext uri="{FF2B5EF4-FFF2-40B4-BE49-F238E27FC236}">
                <a16:creationId xmlns:a16="http://schemas.microsoft.com/office/drawing/2014/main" id="{A6CC8CDB-966F-CC86-81B4-33DA0A8287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" t="12074" r="1189" b="4919"/>
          <a:stretch>
            <a:fillRect/>
          </a:stretch>
        </p:blipFill>
        <p:spPr>
          <a:xfrm>
            <a:off x="1075690" y="769937"/>
            <a:ext cx="3111818" cy="211296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0075F-3956-0992-2CBF-121815F61D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System of Equations with no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5401E-21A3-254A-56F0-DE30A2E1314D}"/>
              </a:ext>
            </a:extLst>
          </p:cNvPr>
          <p:cNvSpPr txBox="1"/>
          <p:nvPr/>
        </p:nvSpPr>
        <p:spPr>
          <a:xfrm>
            <a:off x="153670" y="858778"/>
            <a:ext cx="845185" cy="6512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 if possible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Content Placeholder 3">
            <a:extLst>
              <a:ext uri="{FF2B5EF4-FFF2-40B4-BE49-F238E27FC236}">
                <a16:creationId xmlns:a16="http://schemas.microsoft.com/office/drawing/2014/main" id="{6FA4A8AF-656D-292D-DBA4-E121F9FDCE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9957" y="792348"/>
            <a:ext cx="1682366" cy="41458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3525-A5F9-0E4A-42D2-48975B0ABB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System of Equations with Infinite Number of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CCA00-4B76-E056-4FB6-014B384118CB}"/>
              </a:ext>
            </a:extLst>
          </p:cNvPr>
          <p:cNvSpPr txBox="1"/>
          <p:nvPr/>
        </p:nvSpPr>
        <p:spPr>
          <a:xfrm>
            <a:off x="238509" y="792348"/>
            <a:ext cx="1517491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 </a:t>
            </a:r>
          </a:p>
        </p:txBody>
      </p:sp>
      <p:pic>
        <p:nvPicPr>
          <p:cNvPr id="102405" name="Picture 5">
            <a:extLst>
              <a:ext uri="{FF2B5EF4-FFF2-40B4-BE49-F238E27FC236}">
                <a16:creationId xmlns:a16="http://schemas.microsoft.com/office/drawing/2014/main" id="{D36D0091-1DF0-44C8-B599-064A1B48142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73" y="1214140"/>
            <a:ext cx="2770062" cy="101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DE1D02-9E3D-1057-0540-5134B989282D}"/>
              </a:ext>
            </a:extLst>
          </p:cNvPr>
          <p:cNvSpPr txBox="1"/>
          <p:nvPr/>
        </p:nvSpPr>
        <p:spPr>
          <a:xfrm>
            <a:off x="380173" y="2383473"/>
            <a:ext cx="3538412" cy="7909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Note that in the final matrix which is reduced echelon form 2</a:t>
            </a:r>
            <a:r>
              <a:rPr lang="en-US" sz="908" kern="1200" baseline="30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nd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and 3</a:t>
            </a:r>
            <a:r>
              <a:rPr lang="en-US" sz="908" kern="1200" baseline="30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rd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column do not have pivot elements. Those columns correspond to the independent variables. That is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and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are independent variables.</a:t>
            </a:r>
          </a:p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Hence the solutions are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4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2,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r, 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s and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-2 -2x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+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where r and s are any real numbers.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603D11-8748-136F-B8A0-9E59085ED7F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53670" y="754731"/>
            <a:ext cx="4264343" cy="2473927"/>
          </a:xfrm>
          <a:blipFill>
            <a:blip r:embed="rId2"/>
            <a:stretch>
              <a:fillRect l="-1657" t="-870"/>
            </a:stretch>
          </a:blipFill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9AE09-B14D-E9C7-8AC6-1CF725E0FAC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Homogenous System</a:t>
            </a: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E3AB8E62-3C76-B419-22C5-C6BA9D726560}"/>
              </a:ext>
            </a:extLst>
          </p:cNvPr>
          <p:cNvSpPr/>
          <p:nvPr/>
        </p:nvSpPr>
        <p:spPr>
          <a:xfrm>
            <a:off x="1459865" y="1423035"/>
            <a:ext cx="192088" cy="57626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94020055-EEE6-E456-39B2-451C72A6F21E}"/>
              </a:ext>
            </a:extLst>
          </p:cNvPr>
          <p:cNvSpPr/>
          <p:nvPr/>
        </p:nvSpPr>
        <p:spPr>
          <a:xfrm>
            <a:off x="2573972" y="1307783"/>
            <a:ext cx="192088" cy="69151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24752014-39F0-BAFA-8C3F-2EC2E5A1FD49}"/>
              </a:ext>
            </a:extLst>
          </p:cNvPr>
          <p:cNvSpPr/>
          <p:nvPr/>
        </p:nvSpPr>
        <p:spPr>
          <a:xfrm>
            <a:off x="845185" y="2191385"/>
            <a:ext cx="76835" cy="65309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17DEE143-5231-AC66-B511-BF058FC1AC25}"/>
              </a:ext>
            </a:extLst>
          </p:cNvPr>
          <p:cNvSpPr/>
          <p:nvPr/>
        </p:nvSpPr>
        <p:spPr>
          <a:xfrm>
            <a:off x="1651952" y="2191385"/>
            <a:ext cx="96044" cy="65309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2616B0-2CF2-6A67-870E-67AFEAAF1454}"/>
              </a:ext>
            </a:extLst>
          </p:cNvPr>
          <p:cNvCxnSpPr/>
          <p:nvPr/>
        </p:nvCxnSpPr>
        <p:spPr>
          <a:xfrm>
            <a:off x="1543050" y="2263775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2FB69B-44AC-4174-A123-62A514076ACC}"/>
              </a:ext>
            </a:extLst>
          </p:cNvPr>
          <p:cNvCxnSpPr/>
          <p:nvPr/>
        </p:nvCxnSpPr>
        <p:spPr>
          <a:xfrm>
            <a:off x="2573972" y="1423035"/>
            <a:ext cx="0" cy="459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Content Placeholder 1">
            <a:extLst>
              <a:ext uri="{FF2B5EF4-FFF2-40B4-BE49-F238E27FC236}">
                <a16:creationId xmlns:a16="http://schemas.microsoft.com/office/drawing/2014/main" id="{1D652E71-E476-4B43-AFD1-F851049B8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    The augmented matrix of a linear system has been reduced  by row operations to the form shown. In each case, continue the appropriate row operations and describe the solution set of the original system.</a:t>
            </a:r>
            <a:endParaRPr lang="en-IN" altLang="en-US"/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7319-1EAA-E26C-C967-09BC934BEB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Practice Problems</a:t>
            </a:r>
            <a:endParaRPr lang="en-IN" dirty="0"/>
          </a:p>
        </p:txBody>
      </p:sp>
      <p:pic>
        <p:nvPicPr>
          <p:cNvPr id="105476" name="Picture 3">
            <a:extLst>
              <a:ext uri="{FF2B5EF4-FFF2-40B4-BE49-F238E27FC236}">
                <a16:creationId xmlns:a16="http://schemas.microsoft.com/office/drawing/2014/main" id="{8203DDA8-7AAB-3D81-9923-E37E1DD92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1691957"/>
            <a:ext cx="2074545" cy="14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Content Placeholder 3">
            <a:extLst>
              <a:ext uri="{FF2B5EF4-FFF2-40B4-BE49-F238E27FC236}">
                <a16:creationId xmlns:a16="http://schemas.microsoft.com/office/drawing/2014/main" id="{CFDC5CA1-C8F4-CD7E-D74B-A985C076F6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757" y="808355"/>
            <a:ext cx="2804478" cy="84438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5A14-DBA3-C987-BF9B-7F89CD0749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Practice Problems</a:t>
            </a:r>
            <a:endParaRPr lang="en-IN" dirty="0"/>
          </a:p>
        </p:txBody>
      </p:sp>
      <p:pic>
        <p:nvPicPr>
          <p:cNvPr id="106500" name="Picture 5">
            <a:extLst>
              <a:ext uri="{FF2B5EF4-FFF2-40B4-BE49-F238E27FC236}">
                <a16:creationId xmlns:a16="http://schemas.microsoft.com/office/drawing/2014/main" id="{19780EAA-22C9-DFCA-EDE2-180219180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3" y="1999297"/>
            <a:ext cx="2852499" cy="49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3461B-232F-A92F-748A-0415D844C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don’t have to compute Reduced Echelon form to solve the system of linear equations. Instead it is enough to find the Echelon form. </a:t>
            </a:r>
          </a:p>
          <a:p>
            <a:r>
              <a:rPr lang="en-IN" dirty="0"/>
              <a:t>The following example explains this method. This method is called Gaussian Elimination method.</a:t>
            </a:r>
          </a:p>
          <a:p>
            <a:r>
              <a:rPr lang="en-IN" dirty="0"/>
              <a:t>HW: Follow this method for the previous examples to solve the system of </a:t>
            </a:r>
            <a:r>
              <a:rPr lang="en-IN"/>
              <a:t>linear equations.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CDE1-4512-135D-66B4-E8D64CB2C2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392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C4D7-0C6B-9808-A7AF-90636FD9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One more Example: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128D5-6EDD-19FE-10F7-9DA203C75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47B69-1D6E-1819-577F-F589FB71F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38" y="783500"/>
            <a:ext cx="4135465" cy="189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58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E3A4-E9D9-A766-91CD-D5F28A9F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42815-81C0-B400-48EF-5E832E1CB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2698B-624A-8179-3BD6-705FC180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" y="892175"/>
            <a:ext cx="3976687" cy="184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9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3420-0FDE-9653-C002-9C3A416A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BE4AB-511C-A938-6E90-85B404F10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17A77-2108-76A4-E5B2-25781D683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7" y="434975"/>
            <a:ext cx="4133850" cy="265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95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F15A-59ED-D003-88DC-4E8FA87F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8A794-2746-2D95-6D05-179CC889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DC8DB-E1D3-84BD-09A9-5A8013B7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4" y="772273"/>
            <a:ext cx="4188143" cy="239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632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30D5-BDAB-2AD5-BA4D-D2EE31CD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EF74C-F501-1A26-FC81-40B7A0FEC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D94ED-BAAF-664C-595D-8C711D751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6" y="617489"/>
            <a:ext cx="3946081" cy="233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00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DC8D-73EC-7AE5-FC25-0BC6BC30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A9898-C916-0701-748D-132DFCBC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7E782-4362-5143-1B72-B9074EC9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844974"/>
            <a:ext cx="3828449" cy="194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50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Gaussian</a:t>
            </a:r>
            <a:r>
              <a:rPr spc="-50" dirty="0"/>
              <a:t> </a:t>
            </a:r>
            <a:r>
              <a:rPr spc="-30" dirty="0"/>
              <a:t>elimination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45" dirty="0"/>
              <a:t> </a:t>
            </a:r>
            <a:r>
              <a:rPr spc="-50" dirty="0"/>
              <a:t>Gauss</a:t>
            </a:r>
            <a:r>
              <a:rPr spc="-45" dirty="0"/>
              <a:t> </a:t>
            </a:r>
            <a:r>
              <a:rPr spc="-20" dirty="0"/>
              <a:t>Jordan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15186"/>
            <a:ext cx="3851910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Repeated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elementary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convert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upper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triangular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30" dirty="0">
                <a:latin typeface="Tahoma"/>
                <a:cs typeface="Tahoma"/>
              </a:rPr>
              <a:t> elimination.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Ax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invertible,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−</a:t>
            </a:r>
            <a:r>
              <a:rPr sz="1200" spc="82" baseline="27777" dirty="0">
                <a:latin typeface="Trebuchet MS"/>
                <a:cs typeface="Trebuchet MS"/>
              </a:rPr>
              <a:t>1</a:t>
            </a:r>
            <a:r>
              <a:rPr sz="1200" spc="195" baseline="27777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exists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AA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aseline="27777" dirty="0">
                <a:latin typeface="Trebuchet MS"/>
                <a:cs typeface="Trebuchet MS"/>
              </a:rPr>
              <a:t>1</a:t>
            </a:r>
            <a:r>
              <a:rPr sz="1200" spc="262" baseline="27777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200" i="1" spc="75" baseline="27777" dirty="0">
                <a:latin typeface="Arial"/>
                <a:cs typeface="Arial"/>
              </a:rPr>
              <a:t>−</a:t>
            </a:r>
            <a:r>
              <a:rPr sz="1200" spc="75" baseline="27777" dirty="0">
                <a:latin typeface="Trebuchet MS"/>
                <a:cs typeface="Trebuchet MS"/>
              </a:rPr>
              <a:t>1</a:t>
            </a:r>
            <a:r>
              <a:rPr sz="1100" i="1" spc="50" dirty="0">
                <a:latin typeface="Arial"/>
                <a:cs typeface="Arial"/>
              </a:rPr>
              <a:t>A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I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  <a:p>
            <a:pPr marL="214629" marR="254635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row-</a:t>
            </a:r>
            <a:r>
              <a:rPr sz="1100" spc="-50" dirty="0">
                <a:latin typeface="Tahoma"/>
                <a:cs typeface="Tahoma"/>
              </a:rPr>
              <a:t>reduced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echelon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i.e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column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pivot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pivot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214629" marR="3124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converting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4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discussed </a:t>
            </a:r>
            <a:r>
              <a:rPr sz="1100" spc="-45" dirty="0">
                <a:latin typeface="Tahoma"/>
                <a:cs typeface="Tahoma"/>
              </a:rPr>
              <a:t>above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Gauss-</a:t>
            </a:r>
            <a:r>
              <a:rPr sz="1100" spc="-40" dirty="0">
                <a:latin typeface="Tahoma"/>
                <a:cs typeface="Tahoma"/>
              </a:rPr>
              <a:t>Jordan </a:t>
            </a:r>
            <a:r>
              <a:rPr sz="1100" spc="-10" dirty="0">
                <a:latin typeface="Tahoma"/>
                <a:cs typeface="Tahoma"/>
              </a:rPr>
              <a:t>method.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Gaussian</a:t>
            </a:r>
            <a:r>
              <a:rPr spc="-50" dirty="0"/>
              <a:t> </a:t>
            </a:r>
            <a:r>
              <a:rPr spc="-30" dirty="0"/>
              <a:t>elimination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45" dirty="0"/>
              <a:t> </a:t>
            </a:r>
            <a:r>
              <a:rPr spc="-50" dirty="0"/>
              <a:t>Gauss</a:t>
            </a:r>
            <a:r>
              <a:rPr spc="-45" dirty="0"/>
              <a:t> </a:t>
            </a:r>
            <a:r>
              <a:rPr spc="-20" dirty="0"/>
              <a:t>Jordan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92707"/>
            <a:ext cx="3865245" cy="2198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8415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Elimination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multiples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entries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below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row.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eliminate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entries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column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below</a:t>
            </a:r>
            <a:r>
              <a:rPr sz="1100" spc="-30" dirty="0">
                <a:latin typeface="Tahoma"/>
                <a:cs typeface="Tahoma"/>
              </a:rPr>
              <a:t> 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second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until</a:t>
            </a:r>
            <a:r>
              <a:rPr sz="1100" spc="-35" dirty="0">
                <a:latin typeface="Tahoma"/>
                <a:cs typeface="Tahoma"/>
              </a:rPr>
              <a:t> we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upper-</a:t>
            </a:r>
            <a:r>
              <a:rPr sz="1100" spc="-35" dirty="0">
                <a:latin typeface="Tahoma"/>
                <a:cs typeface="Tahoma"/>
              </a:rPr>
              <a:t>triangular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14629" marR="27622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Gauss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Jordan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diagramatically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next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slide.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20" dirty="0">
                <a:latin typeface="Tahoma"/>
                <a:cs typeface="Tahoma"/>
              </a:rPr>
              <a:t>zero </a:t>
            </a:r>
            <a:r>
              <a:rPr sz="1100" spc="-35" dirty="0">
                <a:latin typeface="Tahoma"/>
                <a:cs typeface="Tahoma"/>
              </a:rPr>
              <a:t>entries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entry, followed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 multiples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35" dirty="0">
                <a:latin typeface="Tahoma"/>
                <a:cs typeface="Tahoma"/>
              </a:rPr>
              <a:t>zero </a:t>
            </a:r>
            <a:r>
              <a:rPr sz="1100" spc="-25" dirty="0">
                <a:latin typeface="Tahoma"/>
                <a:cs typeface="Tahoma"/>
              </a:rPr>
              <a:t>entries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column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on.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gives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diagonal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Calculating </a:t>
            </a:r>
            <a:r>
              <a:rPr spc="-55" dirty="0"/>
              <a:t>inverse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268605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Can</a:t>
            </a:r>
            <a:r>
              <a:rPr sz="1100" spc="-30" dirty="0"/>
              <a:t>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50" dirty="0"/>
              <a:t>Gauss</a:t>
            </a:r>
            <a:r>
              <a:rPr sz="1100" spc="-30" dirty="0"/>
              <a:t> Jordan</a:t>
            </a:r>
            <a:r>
              <a:rPr sz="1100" spc="-25" dirty="0"/>
              <a:t> </a:t>
            </a:r>
            <a:r>
              <a:rPr sz="1100" spc="-60" dirty="0"/>
              <a:t>procedure</a:t>
            </a:r>
            <a:r>
              <a:rPr sz="1100" spc="-25" dirty="0"/>
              <a:t> calculate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55" dirty="0"/>
              <a:t>inverse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50" dirty="0"/>
              <a:t>a </a:t>
            </a:r>
            <a:r>
              <a:rPr sz="1100" spc="-10" dirty="0"/>
              <a:t>matrix?</a:t>
            </a:r>
            <a:endParaRPr sz="1100"/>
          </a:p>
          <a:p>
            <a:pPr marL="214629" marR="361315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For</a:t>
            </a:r>
            <a:r>
              <a:rPr sz="1100" spc="20" dirty="0"/>
              <a:t> </a:t>
            </a:r>
            <a:r>
              <a:rPr sz="1100" spc="-55" dirty="0"/>
              <a:t>example,</a:t>
            </a:r>
            <a:r>
              <a:rPr sz="1100" spc="20" dirty="0"/>
              <a:t> </a:t>
            </a:r>
            <a:r>
              <a:rPr sz="1100" spc="-20" dirty="0"/>
              <a:t>let</a:t>
            </a:r>
            <a:r>
              <a:rPr sz="1100" spc="15" dirty="0"/>
              <a:t> </a:t>
            </a:r>
            <a:r>
              <a:rPr sz="1100" i="1" spc="-15" dirty="0">
                <a:latin typeface="Arial"/>
                <a:cs typeface="Arial"/>
              </a:rPr>
              <a:t>A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60" dirty="0"/>
              <a:t>be</a:t>
            </a:r>
            <a:r>
              <a:rPr sz="1100" spc="20" dirty="0"/>
              <a:t> </a:t>
            </a:r>
            <a:r>
              <a:rPr sz="1100" spc="-55" dirty="0"/>
              <a:t>a</a:t>
            </a:r>
            <a:r>
              <a:rPr sz="1100" spc="20" dirty="0"/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30" dirty="0"/>
              <a:t>matrix</a:t>
            </a:r>
            <a:r>
              <a:rPr sz="1100" spc="15" dirty="0"/>
              <a:t> </a:t>
            </a:r>
            <a:r>
              <a:rPr sz="1100" spc="-70" dirty="0"/>
              <a:t>whose</a:t>
            </a:r>
            <a:r>
              <a:rPr sz="1100" spc="20" dirty="0"/>
              <a:t> </a:t>
            </a:r>
            <a:r>
              <a:rPr sz="1100" spc="-55" dirty="0"/>
              <a:t>inverse</a:t>
            </a:r>
            <a:r>
              <a:rPr sz="1100" spc="20" dirty="0"/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−</a:t>
            </a:r>
            <a:r>
              <a:rPr sz="1200" spc="82" baseline="27777" dirty="0">
                <a:latin typeface="Trebuchet MS"/>
                <a:cs typeface="Trebuchet MS"/>
              </a:rPr>
              <a:t>1</a:t>
            </a:r>
            <a:r>
              <a:rPr sz="1200" spc="-7" baseline="27777" dirty="0">
                <a:latin typeface="Trebuchet MS"/>
                <a:cs typeface="Trebuchet MS"/>
              </a:rPr>
              <a:t> </a:t>
            </a:r>
            <a:r>
              <a:rPr sz="1100" spc="-40" dirty="0"/>
              <a:t>exists.</a:t>
            </a:r>
            <a:r>
              <a:rPr sz="1100" spc="140" dirty="0"/>
              <a:t> </a:t>
            </a:r>
            <a:r>
              <a:rPr sz="1100" spc="-45" dirty="0"/>
              <a:t>We</a:t>
            </a:r>
            <a:r>
              <a:rPr sz="1100" spc="20" dirty="0"/>
              <a:t> </a:t>
            </a:r>
            <a:r>
              <a:rPr sz="1100" spc="-55" dirty="0"/>
              <a:t>would</a:t>
            </a:r>
            <a:r>
              <a:rPr sz="1100" spc="20" dirty="0"/>
              <a:t> </a:t>
            </a:r>
            <a:r>
              <a:rPr sz="1100" spc="-35" dirty="0"/>
              <a:t>like</a:t>
            </a:r>
            <a:r>
              <a:rPr sz="1100" spc="20" dirty="0"/>
              <a:t> </a:t>
            </a:r>
            <a:r>
              <a:rPr sz="1100" spc="-15" dirty="0"/>
              <a:t>to</a:t>
            </a:r>
            <a:r>
              <a:rPr sz="1100" spc="20" dirty="0"/>
              <a:t> </a:t>
            </a:r>
            <a:r>
              <a:rPr sz="1100" spc="-50" dirty="0"/>
              <a:t>compute</a:t>
            </a:r>
            <a:r>
              <a:rPr sz="1100" spc="20" dirty="0"/>
              <a:t> </a:t>
            </a:r>
            <a:r>
              <a:rPr sz="1100" spc="-15" dirty="0"/>
              <a:t>its</a:t>
            </a:r>
            <a:r>
              <a:rPr sz="1100" spc="15" dirty="0"/>
              <a:t> </a:t>
            </a:r>
            <a:r>
              <a:rPr sz="1100" spc="-55" dirty="0"/>
              <a:t>inverse</a:t>
            </a:r>
            <a:r>
              <a:rPr sz="1100" spc="20" dirty="0"/>
              <a:t> </a:t>
            </a:r>
            <a:r>
              <a:rPr sz="1100" spc="-50" dirty="0"/>
              <a:t>using</a:t>
            </a:r>
            <a:r>
              <a:rPr sz="1100" spc="15" dirty="0"/>
              <a:t> </a:t>
            </a:r>
            <a:r>
              <a:rPr sz="1100" spc="-55" dirty="0"/>
              <a:t>Gauss</a:t>
            </a:r>
            <a:r>
              <a:rPr sz="1100" spc="-35" dirty="0"/>
              <a:t> </a:t>
            </a:r>
            <a:r>
              <a:rPr sz="1100" spc="-45" dirty="0"/>
              <a:t>Jordan</a:t>
            </a:r>
            <a:r>
              <a:rPr sz="1100" spc="20" dirty="0"/>
              <a:t> </a:t>
            </a:r>
            <a:r>
              <a:rPr sz="1100" spc="-55" dirty="0"/>
              <a:t>procedure.</a:t>
            </a:r>
            <a:r>
              <a:rPr sz="1100" spc="140" dirty="0"/>
              <a:t> </a:t>
            </a:r>
            <a:r>
              <a:rPr sz="1100" spc="-90" dirty="0"/>
              <a:t>Is</a:t>
            </a:r>
            <a:r>
              <a:rPr sz="1100" spc="15" dirty="0"/>
              <a:t> </a:t>
            </a:r>
            <a:r>
              <a:rPr sz="1100" spc="-25" dirty="0"/>
              <a:t>this</a:t>
            </a:r>
            <a:r>
              <a:rPr sz="1100" spc="15" dirty="0"/>
              <a:t> </a:t>
            </a:r>
            <a:r>
              <a:rPr sz="1100" spc="-45" dirty="0"/>
              <a:t>possible?</a:t>
            </a:r>
            <a:endParaRPr sz="1100">
              <a:latin typeface="Trebuchet MS"/>
              <a:cs typeface="Trebuchet MS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Yes</a:t>
            </a:r>
            <a:r>
              <a:rPr sz="1100" spc="-50" dirty="0"/>
              <a:t> </a:t>
            </a:r>
            <a:r>
              <a:rPr sz="1100" spc="-95" dirty="0"/>
              <a:t>we</a:t>
            </a:r>
            <a:r>
              <a:rPr sz="1100" spc="10" dirty="0"/>
              <a:t> </a:t>
            </a:r>
            <a:r>
              <a:rPr sz="1100" spc="-20" dirty="0"/>
              <a:t>can</a:t>
            </a:r>
            <a:r>
              <a:rPr sz="1100" spc="-70" dirty="0"/>
              <a:t> </a:t>
            </a:r>
            <a:r>
              <a:rPr sz="1100" spc="-40" dirty="0"/>
              <a:t>compute</a:t>
            </a:r>
            <a:r>
              <a:rPr sz="1100" spc="-45" dirty="0"/>
              <a:t> </a:t>
            </a:r>
            <a:r>
              <a:rPr sz="1100" spc="-10" dirty="0"/>
              <a:t>the</a:t>
            </a:r>
            <a:r>
              <a:rPr sz="1100" spc="-45" dirty="0"/>
              <a:t> </a:t>
            </a:r>
            <a:r>
              <a:rPr sz="1100" spc="-55" dirty="0"/>
              <a:t>inverse</a:t>
            </a:r>
            <a:r>
              <a:rPr sz="1100" spc="-35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35" dirty="0"/>
              <a:t>following</a:t>
            </a:r>
            <a:r>
              <a:rPr sz="1100" spc="-40" dirty="0"/>
              <a:t> </a:t>
            </a:r>
            <a:r>
              <a:rPr sz="1100" spc="-45" dirty="0"/>
              <a:t>way:</a:t>
            </a:r>
            <a:r>
              <a:rPr sz="1100" spc="60" dirty="0"/>
              <a:t> </a:t>
            </a:r>
            <a:r>
              <a:rPr sz="1100" spc="-25" dirty="0"/>
              <a:t>we simply</a:t>
            </a:r>
            <a:r>
              <a:rPr sz="1100" spc="-65" dirty="0"/>
              <a:t> </a:t>
            </a:r>
            <a:r>
              <a:rPr sz="1100" spc="-20" dirty="0"/>
              <a:t>set</a:t>
            </a:r>
            <a:r>
              <a:rPr sz="1100" spc="-30" dirty="0"/>
              <a:t> </a:t>
            </a:r>
            <a:r>
              <a:rPr sz="1100" spc="-10" dirty="0"/>
              <a:t>up</a:t>
            </a:r>
            <a:r>
              <a:rPr sz="1100" spc="-25" dirty="0"/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30" dirty="0"/>
              <a:t>linear</a:t>
            </a:r>
            <a:r>
              <a:rPr sz="1100" spc="-25" dirty="0"/>
              <a:t> </a:t>
            </a:r>
            <a:r>
              <a:rPr sz="1100" spc="-55" dirty="0"/>
              <a:t>systems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40" dirty="0"/>
              <a:t>form</a:t>
            </a:r>
            <a:r>
              <a:rPr sz="1100" spc="-30" dirty="0"/>
              <a:t> </a:t>
            </a:r>
            <a:r>
              <a:rPr sz="1100" b="1" spc="-10" dirty="0">
                <a:latin typeface="Arial"/>
                <a:cs typeface="Arial"/>
              </a:rPr>
              <a:t>Ax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80" dirty="0"/>
              <a:t> 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200" b="1" baseline="-13888" dirty="0">
                <a:latin typeface="Arial"/>
                <a:cs typeface="Arial"/>
              </a:rPr>
              <a:t>i</a:t>
            </a:r>
            <a:r>
              <a:rPr sz="1100" dirty="0"/>
              <a:t>,</a:t>
            </a:r>
            <a:r>
              <a:rPr sz="1100" spc="-25" dirty="0"/>
              <a:t> </a:t>
            </a:r>
            <a:r>
              <a:rPr sz="1100" spc="-60" dirty="0"/>
              <a:t>1</a:t>
            </a:r>
            <a:r>
              <a:rPr sz="1100" spc="-45" dirty="0"/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 </a:t>
            </a:r>
            <a:r>
              <a:rPr sz="1100" spc="-60" dirty="0"/>
              <a:t>where</a:t>
            </a:r>
            <a:r>
              <a:rPr sz="1100" spc="-30" dirty="0"/>
              <a:t> 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200" b="1" baseline="-13888" dirty="0">
                <a:latin typeface="Arial"/>
                <a:cs typeface="Arial"/>
              </a:rPr>
              <a:t>i</a:t>
            </a:r>
            <a:r>
              <a:rPr sz="1200" b="1" spc="150" baseline="-13888" dirty="0">
                <a:latin typeface="Arial"/>
                <a:cs typeface="Arial"/>
              </a:rPr>
              <a:t> </a:t>
            </a:r>
            <a:r>
              <a:rPr sz="1100" dirty="0"/>
              <a:t>is</a:t>
            </a:r>
            <a:r>
              <a:rPr sz="1100" spc="-45" dirty="0"/>
              <a:t> </a:t>
            </a:r>
            <a:r>
              <a:rPr sz="1100" spc="-10" dirty="0"/>
              <a:t>the</a:t>
            </a:r>
            <a:r>
              <a:rPr sz="1100" spc="-35" dirty="0"/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/>
              <a:t>th</a:t>
            </a:r>
            <a:r>
              <a:rPr sz="1100" spc="-40" dirty="0"/>
              <a:t> </a:t>
            </a:r>
            <a:r>
              <a:rPr sz="1100" spc="-30" dirty="0"/>
              <a:t>canonical</a:t>
            </a:r>
            <a:r>
              <a:rPr sz="1100" spc="-35" dirty="0"/>
              <a:t> basis</a:t>
            </a:r>
            <a:r>
              <a:rPr sz="1100" spc="-45" dirty="0"/>
              <a:t> </a:t>
            </a:r>
            <a:r>
              <a:rPr sz="1100" spc="-35" dirty="0"/>
              <a:t>vector and</a:t>
            </a:r>
            <a:r>
              <a:rPr sz="1100" spc="-40" dirty="0"/>
              <a:t> </a:t>
            </a:r>
            <a:r>
              <a:rPr sz="1100" spc="-10" dirty="0"/>
              <a:t>find</a:t>
            </a:r>
            <a:r>
              <a:rPr sz="1100" spc="-35" dirty="0"/>
              <a:t> </a:t>
            </a:r>
            <a:r>
              <a:rPr sz="1100" spc="-10" dirty="0"/>
              <a:t>their </a:t>
            </a:r>
            <a:r>
              <a:rPr sz="1100" spc="-30" dirty="0"/>
              <a:t>solutions</a:t>
            </a:r>
            <a:r>
              <a:rPr sz="1100" spc="-40" dirty="0"/>
              <a:t> 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/>
              <a:t>.</a:t>
            </a:r>
            <a:r>
              <a:rPr sz="1100" spc="70" dirty="0"/>
              <a:t> </a:t>
            </a:r>
            <a:r>
              <a:rPr sz="1100" spc="-10" dirty="0"/>
              <a:t>Each</a:t>
            </a:r>
            <a:r>
              <a:rPr sz="1100" spc="-35" dirty="0"/>
              <a:t> </a:t>
            </a:r>
            <a:r>
              <a:rPr sz="1100" spc="-30" dirty="0"/>
              <a:t>solution</a:t>
            </a:r>
            <a:r>
              <a:rPr sz="1100" spc="-35" dirty="0"/>
              <a:t> vector</a:t>
            </a:r>
            <a:r>
              <a:rPr sz="1100" spc="-40" dirty="0"/>
              <a:t> </a:t>
            </a:r>
            <a:r>
              <a:rPr sz="1100" spc="-25" dirty="0"/>
              <a:t>constitutes</a:t>
            </a:r>
            <a:r>
              <a:rPr sz="1100" spc="-35" dirty="0"/>
              <a:t> </a:t>
            </a:r>
            <a:r>
              <a:rPr sz="1100" dirty="0"/>
              <a:t>a</a:t>
            </a:r>
            <a:r>
              <a:rPr sz="1100" spc="-35" dirty="0"/>
              <a:t> </a:t>
            </a:r>
            <a:r>
              <a:rPr sz="1100" spc="-30" dirty="0"/>
              <a:t>column</a:t>
            </a:r>
            <a:r>
              <a:rPr sz="1100" spc="-40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200" i="1" spc="-30" baseline="27777" dirty="0">
                <a:latin typeface="Arial"/>
                <a:cs typeface="Arial"/>
              </a:rPr>
              <a:t>−</a:t>
            </a:r>
            <a:r>
              <a:rPr sz="1200" spc="-30" baseline="27777" dirty="0">
                <a:latin typeface="Trebuchet MS"/>
                <a:cs typeface="Trebuchet MS"/>
              </a:rPr>
              <a:t>1</a:t>
            </a:r>
            <a:r>
              <a:rPr sz="1100" spc="-20" dirty="0"/>
              <a:t>. </a:t>
            </a:r>
            <a:r>
              <a:rPr sz="1100" dirty="0"/>
              <a:t>Why</a:t>
            </a:r>
            <a:r>
              <a:rPr sz="1100" spc="-60" dirty="0"/>
              <a:t> </a:t>
            </a:r>
            <a:r>
              <a:rPr sz="1100" dirty="0"/>
              <a:t>is</a:t>
            </a:r>
            <a:r>
              <a:rPr sz="1100" spc="-50" dirty="0"/>
              <a:t> </a:t>
            </a:r>
            <a:r>
              <a:rPr sz="1100" dirty="0"/>
              <a:t>this</a:t>
            </a:r>
            <a:r>
              <a:rPr sz="1100" spc="-60" dirty="0"/>
              <a:t> </a:t>
            </a:r>
            <a:r>
              <a:rPr sz="1100" spc="-10" dirty="0"/>
              <a:t>true?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183666" y="853254"/>
            <a:ext cx="3196047" cy="215280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7650" y="653697"/>
            <a:ext cx="3555683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inverse of A is exists.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D17F3F-812A-3E85-07D9-8A9E468CF37E}"/>
                  </a:ext>
                </a:extLst>
              </p:cNvPr>
              <p:cNvSpPr txBox="1"/>
              <p:nvPr/>
            </p:nvSpPr>
            <p:spPr>
              <a:xfrm>
                <a:off x="3342323" y="2256197"/>
                <a:ext cx="1172527" cy="550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Hence inverse of 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D17F3F-812A-3E85-07D9-8A9E468CF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323" y="2256197"/>
                <a:ext cx="1172527" cy="5508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964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422593" y="1384618"/>
            <a:ext cx="2852128" cy="141395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2592" y="885190"/>
            <a:ext cx="3726498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inverse of A if exists.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14145E-2C95-FF84-4CA6-E6250A0B83E5}"/>
              </a:ext>
            </a:extLst>
          </p:cNvPr>
          <p:cNvSpPr txBox="1"/>
          <p:nvPr/>
        </p:nvSpPr>
        <p:spPr>
          <a:xfrm>
            <a:off x="247650" y="2873375"/>
            <a:ext cx="403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Since the LHS 3x3 matrix can not be brought to I</a:t>
            </a:r>
            <a:r>
              <a:rPr lang="en-IN" sz="800" baseline="-25000" dirty="0"/>
              <a:t>3 </a:t>
            </a:r>
            <a:r>
              <a:rPr lang="en-IN" sz="800" dirty="0"/>
              <a:t> Inverse of A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391814023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4.xml><?xml version="1.0" encoding="utf-8"?>
<a:theme xmlns:a="http://schemas.openxmlformats.org/drawingml/2006/main" name="2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5.xml><?xml version="1.0" encoding="utf-8"?>
<a:theme xmlns:a="http://schemas.openxmlformats.org/drawingml/2006/main" name="3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6.xml><?xml version="1.0" encoding="utf-8"?>
<a:theme xmlns:a="http://schemas.openxmlformats.org/drawingml/2006/main" name="4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5606E74F-0D8D-4BA9-9947-0CE6EA9FEA82}"/>
</file>

<file path=customXml/itemProps2.xml><?xml version="1.0" encoding="utf-8"?>
<ds:datastoreItem xmlns:ds="http://schemas.openxmlformats.org/officeDocument/2006/customXml" ds:itemID="{34E0BD64-01E4-45DA-981B-38FDF4ADDA78}"/>
</file>

<file path=customXml/itemProps3.xml><?xml version="1.0" encoding="utf-8"?>
<ds:datastoreItem xmlns:ds="http://schemas.openxmlformats.org/officeDocument/2006/customXml" ds:itemID="{F65AC5DB-A164-4354-B264-6EA1AE13F68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1467</Words>
  <Application>Microsoft Office PowerPoint</Application>
  <PresentationFormat>Custom</PresentationFormat>
  <Paragraphs>125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41</vt:i4>
      </vt:variant>
    </vt:vector>
  </HeadingPairs>
  <TitlesOfParts>
    <vt:vector size="57" baseType="lpstr">
      <vt:lpstr>Arial</vt:lpstr>
      <vt:lpstr>Arial MT</vt:lpstr>
      <vt:lpstr>Calibri</vt:lpstr>
      <vt:lpstr>Cambria Math</vt:lpstr>
      <vt:lpstr>Lucida Sans Unicode</vt:lpstr>
      <vt:lpstr>Tahoma</vt:lpstr>
      <vt:lpstr>Trebuchet MS</vt:lpstr>
      <vt:lpstr>Tw Cen MT</vt:lpstr>
      <vt:lpstr>Tw Cen MT Condensed</vt:lpstr>
      <vt:lpstr>Wingdings 3</vt:lpstr>
      <vt:lpstr>Office Theme</vt:lpstr>
      <vt:lpstr>Integral</vt:lpstr>
      <vt:lpstr>1_Integral</vt:lpstr>
      <vt:lpstr>2_Integral</vt:lpstr>
      <vt:lpstr>3_Integral</vt:lpstr>
      <vt:lpstr>4_Integral</vt:lpstr>
      <vt:lpstr>PowerPoint Presentation</vt:lpstr>
      <vt:lpstr>Course Over View</vt:lpstr>
      <vt:lpstr>Why do we study Vectors and Matrices</vt:lpstr>
      <vt:lpstr>What is linear algebra?</vt:lpstr>
      <vt:lpstr>Systems of linear equations</vt:lpstr>
      <vt:lpstr>Motivating problem for studying Linear System of Equations</vt:lpstr>
      <vt:lpstr>Formulation</vt:lpstr>
      <vt:lpstr>A System of Linear Equations</vt:lpstr>
      <vt:lpstr>System Of Linear Equations</vt:lpstr>
      <vt:lpstr>Augmented Matrix</vt:lpstr>
      <vt:lpstr>Solving System of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 more Example: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elimination and Gauss Jordan</vt:lpstr>
      <vt:lpstr>Gaussian elimination and Gauss Jordan</vt:lpstr>
      <vt:lpstr>Calculating inverse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1</dc:title>
  <dc:creator>white Math Foundations Team</dc:creator>
  <cp:lastModifiedBy>Michael Alphonse</cp:lastModifiedBy>
  <cp:revision>6</cp:revision>
  <dcterms:created xsi:type="dcterms:W3CDTF">2025-04-30T06:34:44Z</dcterms:created>
  <dcterms:modified xsi:type="dcterms:W3CDTF">2025-09-04T13:08:08Z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2025-04-30T00:00:00Z</vt:filetime>
  </property>
  <property fmtid="{D5CDD505-2E9C-101B-9397-08002B2CF9AE}" pid="5" name="PTEX.Fullbanner">
    <vt:lpwstr>This is MiKTeX-pdfTeX 4.11.0 (1.40.24)</vt:lpwstr>
  </property>
  <property fmtid="{D5CDD505-2E9C-101B-9397-08002B2CF9AE}" pid="6" name="Producer">
    <vt:lpwstr>MiKTeX pdfTeX-1.40.24</vt:lpwstr>
  </property>
  <property fmtid="{D5CDD505-2E9C-101B-9397-08002B2CF9AE}" pid="7" name="ContentTypeId">
    <vt:lpwstr>0x0101000A75E3588147654284604D4E812B6D70</vt:lpwstr>
  </property>
</Properties>
</file>