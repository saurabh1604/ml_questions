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5" r:id="rId4"/>
    <p:sldId id="286" r:id="rId5"/>
    <p:sldId id="287" r:id="rId6"/>
    <p:sldId id="28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28"/>
    <p:sldId id="278" r:id="rId29"/>
    <p:sldId id="280" r:id="rId30"/>
    <p:sldId id="281" r:id="rId31"/>
    <p:sldId id="282" r:id="rId3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31T07:53:37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900" y="72527"/>
            <a:ext cx="36798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9194" y="1452993"/>
            <a:ext cx="3893820" cy="847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78559" y="1772688"/>
            <a:ext cx="1450975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12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Math</a:t>
            </a:r>
            <a:r>
              <a:rPr sz="1100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Foundations</a:t>
            </a:r>
            <a:r>
              <a:rPr sz="11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92707"/>
            <a:ext cx="3865245" cy="2198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30175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look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components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analysis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lang="en-IN" sz="1100" spc="-45" dirty="0">
                <a:latin typeface="Tahoma"/>
                <a:cs typeface="Tahoma"/>
              </a:rPr>
              <a:t>(PCA)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dimension </a:t>
            </a:r>
            <a:r>
              <a:rPr sz="1100" spc="-30" dirty="0">
                <a:latin typeface="Tahoma"/>
                <a:cs typeface="Tahoma"/>
              </a:rPr>
              <a:t>reduction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lecture.</a:t>
            </a:r>
            <a:endParaRPr sz="1100" dirty="0">
              <a:latin typeface="Tahoma"/>
              <a:cs typeface="Tahoma"/>
            </a:endParaRPr>
          </a:p>
          <a:p>
            <a:pPr marL="214629" marR="311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5" dirty="0">
                <a:latin typeface="Tahoma"/>
                <a:cs typeface="Tahoma"/>
              </a:rPr>
              <a:t>High-</a:t>
            </a:r>
            <a:r>
              <a:rPr sz="1100" spc="-35" dirty="0">
                <a:latin typeface="Tahoma"/>
                <a:cs typeface="Tahoma"/>
              </a:rPr>
              <a:t>dimensional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hard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visulaize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interpret,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can </a:t>
            </a:r>
            <a:r>
              <a:rPr sz="1100" spc="-105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project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lower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dimensions</a:t>
            </a:r>
            <a:r>
              <a:rPr sz="1100" spc="-30" dirty="0">
                <a:latin typeface="Tahoma"/>
                <a:cs typeface="Tahoma"/>
              </a:rPr>
              <a:t> while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preserving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semantics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draw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same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conclusions </a:t>
            </a:r>
            <a:r>
              <a:rPr sz="1100" spc="-35" dirty="0">
                <a:latin typeface="Tahoma"/>
                <a:cs typeface="Tahoma"/>
              </a:rPr>
              <a:t>as </a:t>
            </a:r>
            <a:r>
              <a:rPr sz="1100" spc="-25" dirty="0">
                <a:latin typeface="Tahoma"/>
                <a:cs typeface="Tahoma"/>
              </a:rPr>
              <a:t>if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interpreted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higher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data?</a:t>
            </a:r>
            <a:endParaRPr sz="1100" dirty="0">
              <a:latin typeface="Tahoma"/>
              <a:cs typeface="Tahoma"/>
            </a:endParaRPr>
          </a:p>
          <a:p>
            <a:pPr marL="214629" marR="1454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Higher</a:t>
            </a:r>
            <a:r>
              <a:rPr sz="1100" spc="-40" dirty="0">
                <a:latin typeface="Tahoma"/>
                <a:cs typeface="Tahoma"/>
              </a:rPr>
              <a:t> dimensional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often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overcomplete,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there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redundant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dimensions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explained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30" dirty="0">
                <a:latin typeface="Tahoma"/>
                <a:cs typeface="Tahoma"/>
              </a:rPr>
              <a:t>combination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other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dimensions.</a:t>
            </a:r>
            <a:endParaRPr sz="110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5" dirty="0">
                <a:latin typeface="Tahoma"/>
                <a:cs typeface="Tahoma"/>
              </a:rPr>
              <a:t>Dimensions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higher-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might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correlated,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actual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may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intrinsic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lower-</a:t>
            </a:r>
            <a:r>
              <a:rPr sz="1100" spc="-10" dirty="0">
                <a:latin typeface="Tahoma"/>
                <a:cs typeface="Tahoma"/>
              </a:rPr>
              <a:t>dimensional structure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1A2B1-D3B2-68F4-9653-50C8A565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0" y="72527"/>
            <a:ext cx="3679825" cy="215444"/>
          </a:xfrm>
        </p:spPr>
        <p:txBody>
          <a:bodyPr/>
          <a:lstStyle/>
          <a:p>
            <a:r>
              <a:rPr lang="en-IN" dirty="0"/>
              <a:t>Example for Motivation -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A6718-5720-1447-8CE8-D0783745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00" y="815975"/>
            <a:ext cx="4133114" cy="846386"/>
          </a:xfrm>
        </p:spPr>
        <p:txBody>
          <a:bodyPr/>
          <a:lstStyle/>
          <a:p>
            <a:r>
              <a:rPr lang="en-IN" dirty="0"/>
              <a:t>Consider the following data of students:</a:t>
            </a:r>
          </a:p>
          <a:p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C7EFFAB-76F7-3664-6767-AC12FDBC799F}"/>
                  </a:ext>
                </a:extLst>
              </p14:cNvPr>
              <p14:cNvContentPartPr/>
              <p14:nvPr/>
            </p14:nvContentPartPr>
            <p14:xfrm>
              <a:off x="-762949" y="838561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C7EFFAB-76F7-3664-6767-AC12FDBC79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67269" y="834241"/>
                <a:ext cx="9000" cy="9000"/>
              </a:xfrm>
              <a:prstGeom prst="rect">
                <a:avLst/>
              </a:prstGeom>
            </p:spPr>
          </p:pic>
        </mc:Fallback>
      </mc:AlternateContent>
      <p:pic>
        <p:nvPicPr>
          <p:cNvPr id="35" name="Picture 34">
            <a:extLst>
              <a:ext uri="{FF2B5EF4-FFF2-40B4-BE49-F238E27FC236}">
                <a16:creationId xmlns:a16="http://schemas.microsoft.com/office/drawing/2014/main" id="{9421F0B1-6A54-C411-1B32-CE0476473C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69" r="156"/>
          <a:stretch>
            <a:fillRect/>
          </a:stretch>
        </p:blipFill>
        <p:spPr>
          <a:xfrm>
            <a:off x="323850" y="1120775"/>
            <a:ext cx="3823051" cy="173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53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E877-468D-FB0F-E0A2-D19D1110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0" y="72527"/>
            <a:ext cx="3679825" cy="215444"/>
          </a:xfrm>
        </p:spPr>
        <p:txBody>
          <a:bodyPr/>
          <a:lstStyle/>
          <a:p>
            <a:r>
              <a:rPr lang="en-IN" dirty="0"/>
              <a:t>Motivation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F81D4-62D3-E545-B169-0A8F53A85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" y="815975"/>
            <a:ext cx="3893820" cy="1415772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900" dirty="0"/>
              <a:t>We ask the question: </a:t>
            </a:r>
            <a:r>
              <a:rPr lang="en-US" sz="900" dirty="0"/>
              <a:t>“These three features are correlated — can we reduce this to a smaller number of dimensions and still get a sense of the variation between people?”</a:t>
            </a:r>
          </a:p>
          <a:p>
            <a:r>
              <a:rPr lang="en-US" sz="900" dirty="0"/>
              <a:t>That is we want dimensionality reduction with minimal information loss (maximum variance).</a:t>
            </a:r>
          </a:p>
          <a:p>
            <a:endParaRPr lang="en-US" sz="900" dirty="0"/>
          </a:p>
          <a:p>
            <a:r>
              <a:rPr lang="en-US" sz="900" dirty="0"/>
              <a:t>If we plot these points in 3-dimension space we get </a:t>
            </a:r>
          </a:p>
          <a:p>
            <a:endParaRPr lang="en-US" sz="900" dirty="0"/>
          </a:p>
          <a:p>
            <a:endParaRPr lang="en-US" sz="900" dirty="0"/>
          </a:p>
          <a:p>
            <a:endParaRPr lang="en-IN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37F73-B8C3-EAAB-663D-AF1733C4F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90" y="1882775"/>
            <a:ext cx="1621625" cy="121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10E6BA-2DEF-3A8E-13B3-2F097C9D7781}"/>
              </a:ext>
            </a:extLst>
          </p:cNvPr>
          <p:cNvSpPr txBox="1"/>
          <p:nvPr/>
        </p:nvSpPr>
        <p:spPr>
          <a:xfrm>
            <a:off x="2058754" y="1882775"/>
            <a:ext cx="21512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 the next slides we give 2-dim PCA projections on the first two principal components.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We are going to see the theory behind this.</a:t>
            </a:r>
          </a:p>
        </p:txBody>
      </p:sp>
    </p:spTree>
    <p:extLst>
      <p:ext uri="{BB962C8B-B14F-4D97-AF65-F5344CB8AC3E}">
        <p14:creationId xmlns:p14="http://schemas.microsoft.com/office/powerpoint/2010/main" val="262734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DF6B-9082-508F-C604-CEA63788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0" y="72527"/>
            <a:ext cx="3679825" cy="215444"/>
          </a:xfrm>
        </p:spPr>
        <p:txBody>
          <a:bodyPr/>
          <a:lstStyle/>
          <a:p>
            <a:r>
              <a:rPr lang="en-IN" dirty="0"/>
              <a:t>2-dim PCA Projection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44720-884C-DAE7-6D83-07F669EAF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450" y="815975"/>
            <a:ext cx="3893820" cy="84708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7E8B8-7469-4C7E-3816-C1DBC08F2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815975"/>
            <a:ext cx="3829050" cy="231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84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E50E-566C-CB67-B964-4D076A822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0" y="72527"/>
            <a:ext cx="3679825" cy="215444"/>
          </a:xfrm>
        </p:spPr>
        <p:txBody>
          <a:bodyPr/>
          <a:lstStyle/>
          <a:p>
            <a:r>
              <a:rPr lang="en-IN" dirty="0"/>
              <a:t>2-dim PCA Projection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F03DB-7106-038C-5360-6EF661B08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73" t="4261" r="3557" b="-339"/>
          <a:stretch>
            <a:fillRect/>
          </a:stretch>
        </p:blipFill>
        <p:spPr>
          <a:xfrm>
            <a:off x="85161" y="815975"/>
            <a:ext cx="3439089" cy="213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DB456A-E06A-D1F8-8DFB-8000121854A7}"/>
              </a:ext>
            </a:extLst>
          </p:cNvPr>
          <p:cNvSpPr txBox="1"/>
          <p:nvPr/>
        </p:nvSpPr>
        <p:spPr>
          <a:xfrm>
            <a:off x="2609850" y="2748140"/>
            <a:ext cx="1791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Direction along the Maximum Variance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A1AF01-92FB-3769-5F2D-E632B5EE1040}"/>
              </a:ext>
            </a:extLst>
          </p:cNvPr>
          <p:cNvCxnSpPr/>
          <p:nvPr/>
        </p:nvCxnSpPr>
        <p:spPr>
          <a:xfrm flipV="1">
            <a:off x="171450" y="233997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6D1EE9-C1A8-40FA-4CDE-A857ECE3DAF6}"/>
              </a:ext>
            </a:extLst>
          </p:cNvPr>
          <p:cNvCxnSpPr>
            <a:endCxn id="6" idx="2"/>
          </p:cNvCxnSpPr>
          <p:nvPr/>
        </p:nvCxnSpPr>
        <p:spPr>
          <a:xfrm>
            <a:off x="2990850" y="3086694"/>
            <a:ext cx="5149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73891DD-AFEB-6AB3-09A9-F9746EA56BF8}"/>
              </a:ext>
            </a:extLst>
          </p:cNvPr>
          <p:cNvSpPr txBox="1"/>
          <p:nvPr/>
        </p:nvSpPr>
        <p:spPr>
          <a:xfrm>
            <a:off x="69900" y="2808172"/>
            <a:ext cx="11683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Direction along the 2</a:t>
            </a:r>
            <a:r>
              <a:rPr kumimoji="0" lang="en-IN" sz="800" b="0" i="0" u="none" strike="noStrike" kern="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nd</a:t>
            </a:r>
            <a:r>
              <a:rPr kumimoji="0" lang="en-IN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Max variance</a:t>
            </a:r>
          </a:p>
        </p:txBody>
      </p:sp>
    </p:spTree>
    <p:extLst>
      <p:ext uri="{BB962C8B-B14F-4D97-AF65-F5344CB8AC3E}">
        <p14:creationId xmlns:p14="http://schemas.microsoft.com/office/powerpoint/2010/main" val="3335948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900" y="72527"/>
            <a:ext cx="36798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Principle</a:t>
            </a:r>
            <a:r>
              <a:rPr spc="-45" dirty="0"/>
              <a:t> components analysis</a:t>
            </a:r>
            <a:r>
              <a:rPr lang="en-IN" spc="-45" dirty="0"/>
              <a:t>(PCA)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434657" y="739774"/>
            <a:ext cx="3775393" cy="51546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177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01930" algn="l"/>
              </a:tabLst>
            </a:pP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technique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dimensionality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reduction.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was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proposed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 </a:t>
            </a:r>
            <a:r>
              <a:rPr sz="1100" spc="-40" dirty="0">
                <a:latin typeface="Tahoma"/>
                <a:cs typeface="Tahoma"/>
              </a:rPr>
              <a:t>Pearson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1900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</a:t>
            </a:r>
            <a:r>
              <a:rPr sz="1100" spc="-75" dirty="0">
                <a:latin typeface="Tahoma"/>
                <a:cs typeface="Tahoma"/>
              </a:rPr>
              <a:t>was</a:t>
            </a:r>
            <a:r>
              <a:rPr sz="1100" spc="-10" dirty="0">
                <a:latin typeface="Tahoma"/>
                <a:cs typeface="Tahoma"/>
              </a:rPr>
              <a:t> independently </a:t>
            </a:r>
            <a:r>
              <a:rPr sz="1100" spc="-55" dirty="0">
                <a:latin typeface="Tahoma"/>
                <a:cs typeface="Tahoma"/>
              </a:rPr>
              <a:t>rediscovered</a:t>
            </a:r>
            <a:r>
              <a:rPr sz="1100" spc="-35" dirty="0">
                <a:latin typeface="Tahoma"/>
                <a:cs typeface="Tahoma"/>
              </a:rPr>
              <a:t> by </a:t>
            </a:r>
            <a:r>
              <a:rPr sz="1100" spc="-10" dirty="0">
                <a:latin typeface="Tahoma"/>
                <a:cs typeface="Tahoma"/>
              </a:rPr>
              <a:t>Hotelling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1933.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306" y="1425574"/>
            <a:ext cx="2771419" cy="148306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12014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35" dirty="0"/>
              <a:t> </a:t>
            </a:r>
            <a:r>
              <a:rPr spc="-30" dirty="0"/>
              <a:t>setting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6" y="729855"/>
            <a:ext cx="3652519" cy="34374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b="1" spc="-35" dirty="0">
                <a:latin typeface="Arial"/>
                <a:cs typeface="Arial"/>
              </a:rPr>
              <a:t>Given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1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0" dirty="0">
                <a:latin typeface="SimSun-ExtB"/>
                <a:cs typeface="SimSun-ExtB"/>
              </a:rPr>
              <a:t>{</a:t>
            </a:r>
            <a:r>
              <a:rPr sz="1100" b="1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spc="-35" dirty="0">
                <a:latin typeface="Arial"/>
                <a:cs typeface="Arial"/>
              </a:rPr>
              <a:t>x</a:t>
            </a:r>
            <a:r>
              <a:rPr sz="1200" i="1" spc="-52" baseline="-13888" dirty="0">
                <a:latin typeface="Arial"/>
                <a:cs typeface="Arial"/>
              </a:rPr>
              <a:t>N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SimSun-ExtB"/>
                <a:cs typeface="SimSun-ExtB"/>
              </a:rPr>
              <a:t>}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lang="en-IN" sz="1100" i="1" spc="-70" dirty="0">
                <a:latin typeface="Calibri"/>
                <a:cs typeface="Calibri"/>
              </a:rPr>
              <a:t>each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lang="en-IN" sz="1200" b="1" i="1" baseline="-10416" dirty="0" err="1">
                <a:latin typeface="Arial"/>
                <a:cs typeface="Arial"/>
              </a:rPr>
              <a:t>i</a:t>
            </a:r>
            <a:r>
              <a:rPr sz="1200" i="1" spc="209" baseline="-10416" dirty="0">
                <a:latin typeface="Arial"/>
                <a:cs typeface="Arial"/>
              </a:rPr>
              <a:t> </a:t>
            </a:r>
            <a:r>
              <a:rPr sz="1100" spc="-375" dirty="0">
                <a:latin typeface="SimSun-ExtB"/>
                <a:cs typeface="SimSun-ExtB"/>
              </a:rPr>
              <a:t>∈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lang="en-IN" sz="1100" spc="-250" dirty="0">
                <a:latin typeface="SimSun-ExtB"/>
                <a:cs typeface="SimSun-ExtB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D</a:t>
            </a:r>
            <a:r>
              <a:rPr sz="1200" i="1" spc="359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independent, </a:t>
            </a:r>
            <a:r>
              <a:rPr sz="1100" spc="-25" dirty="0">
                <a:latin typeface="Tahoma"/>
                <a:cs typeface="Tahoma"/>
              </a:rPr>
              <a:t>identically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distributed</a:t>
            </a:r>
            <a:r>
              <a:rPr sz="1100" spc="-30" dirty="0">
                <a:latin typeface="Tahoma"/>
                <a:cs typeface="Tahoma"/>
              </a:rPr>
              <a:t> dataset,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mean</a:t>
            </a:r>
            <a:r>
              <a:rPr lang="en-IN" sz="1100" spc="-55" dirty="0">
                <a:latin typeface="Tahoma"/>
                <a:cs typeface="Tahoma"/>
              </a:rPr>
              <a:t> 0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357" y="109614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395" y="1111960"/>
            <a:ext cx="223647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dirty="0">
                <a:latin typeface="Tahoma"/>
                <a:cs typeface="Tahoma"/>
              </a:rPr>
              <a:t>T</a:t>
            </a:r>
            <a:r>
              <a:rPr sz="1100" dirty="0" err="1">
                <a:latin typeface="Tahoma"/>
                <a:cs typeface="Tahoma"/>
              </a:rPr>
              <a:t>hus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7733" y="1149919"/>
            <a:ext cx="1356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8983" y="1094738"/>
            <a:ext cx="51117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  <a:tabLst>
                <a:tab pos="280670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r>
              <a:rPr sz="1200" spc="-37" baseline="3472" dirty="0">
                <a:latin typeface="Tahoma"/>
                <a:cs typeface="Tahoma"/>
              </a:rPr>
              <a:t>=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endParaRPr sz="1200" baseline="3472">
              <a:latin typeface="Arial"/>
              <a:cs typeface="Arial"/>
            </a:endParaRPr>
          </a:p>
          <a:p>
            <a:pPr marL="12700">
              <a:lnSpc>
                <a:spcPts val="885"/>
              </a:lnSpc>
              <a:tabLst>
                <a:tab pos="280670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r>
              <a:rPr sz="1200" spc="-37" baseline="3472" dirty="0">
                <a:latin typeface="Tahoma"/>
                <a:cs typeface="Tahoma"/>
              </a:rPr>
              <a:t>=1</a:t>
            </a:r>
            <a:endParaRPr sz="1200" baseline="3472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81070" y="1170075"/>
            <a:ext cx="84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2949" y="1099018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19931" y="1183537"/>
            <a:ext cx="84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11791" y="1111960"/>
            <a:ext cx="378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180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434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957" y="1321992"/>
            <a:ext cx="3477895" cy="10902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5715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b="1" dirty="0">
                <a:latin typeface="Arial"/>
                <a:cs typeface="Arial"/>
              </a:rPr>
              <a:t>Aim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1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find </a:t>
            </a:r>
            <a:r>
              <a:rPr sz="1100" spc="-40" dirty="0">
                <a:latin typeface="Tahoma"/>
                <a:cs typeface="Tahoma"/>
              </a:rPr>
              <a:t>projections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b="1" i="1" spc="-235" dirty="0">
                <a:latin typeface="Arial"/>
                <a:cs typeface="Arial"/>
              </a:rPr>
              <a:t>x</a:t>
            </a:r>
            <a:r>
              <a:rPr sz="1100" spc="-235" dirty="0">
                <a:latin typeface="Tahoma"/>
                <a:cs typeface="Tahoma"/>
              </a:rPr>
              <a:t>˜</a:t>
            </a:r>
            <a:r>
              <a:rPr sz="1200" i="1" spc="-352" baseline="-10416" dirty="0">
                <a:latin typeface="Arial"/>
                <a:cs typeface="Arial"/>
              </a:rPr>
              <a:t>n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spc="-375" dirty="0">
                <a:latin typeface="SimSun-ExtB"/>
                <a:cs typeface="SimSun-ExtB"/>
              </a:rPr>
              <a:t>∈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sz="1100" i="1" dirty="0">
                <a:latin typeface="Arial"/>
                <a:cs typeface="Arial"/>
              </a:rPr>
              <a:t>U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⊆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D</a:t>
            </a:r>
            <a:r>
              <a:rPr sz="1200" i="1" spc="32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datapoints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04" baseline="-10416" dirty="0">
                <a:latin typeface="Arial"/>
                <a:cs typeface="Arial"/>
              </a:rPr>
              <a:t> </a:t>
            </a:r>
            <a:r>
              <a:rPr sz="1100" spc="-375" dirty="0">
                <a:latin typeface="SimSun-ExtB"/>
                <a:cs typeface="SimSun-ExtB"/>
              </a:rPr>
              <a:t>∈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D</a:t>
            </a:r>
            <a:r>
              <a:rPr sz="1200" i="1" spc="300" baseline="27777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similar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original </a:t>
            </a:r>
            <a:r>
              <a:rPr sz="1100" spc="-25" dirty="0">
                <a:latin typeface="Tahoma"/>
                <a:cs typeface="Tahoma"/>
              </a:rPr>
              <a:t>datapoints</a:t>
            </a:r>
            <a:r>
              <a:rPr sz="1100" dirty="0">
                <a:latin typeface="Tahoma"/>
                <a:cs typeface="Tahoma"/>
              </a:rPr>
              <a:t> but </a:t>
            </a:r>
            <a:r>
              <a:rPr sz="1100" spc="-10" dirty="0">
                <a:latin typeface="Tahoma"/>
                <a:cs typeface="Tahoma"/>
              </a:rPr>
              <a:t>dim(</a:t>
            </a:r>
            <a:r>
              <a:rPr sz="1100" i="1" spc="-10" dirty="0">
                <a:latin typeface="Arial"/>
                <a:cs typeface="Arial"/>
              </a:rPr>
              <a:t>U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i="1" spc="295" dirty="0">
                <a:latin typeface="Calibri"/>
                <a:cs typeface="Calibri"/>
              </a:rPr>
              <a:t>&lt;</a:t>
            </a:r>
            <a:r>
              <a:rPr sz="1100" i="1" spc="45" dirty="0">
                <a:latin typeface="Calibri"/>
                <a:cs typeface="Calibri"/>
              </a:rPr>
              <a:t> </a:t>
            </a:r>
            <a:r>
              <a:rPr sz="1100" i="1" spc="-25" dirty="0">
                <a:latin typeface="Arial"/>
                <a:cs typeface="Arial"/>
              </a:rPr>
              <a:t>D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looking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lower-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compressed </a:t>
            </a:r>
            <a:r>
              <a:rPr sz="1100" spc="-45" dirty="0">
                <a:latin typeface="Tahoma"/>
                <a:cs typeface="Tahoma"/>
              </a:rPr>
              <a:t>representation </a:t>
            </a:r>
            <a:r>
              <a:rPr sz="1100" b="1" i="1" dirty="0">
                <a:latin typeface="Arial"/>
                <a:cs typeface="Arial"/>
              </a:rPr>
              <a:t>z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4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40" baseline="-10416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z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6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i="1" spc="80" dirty="0">
                <a:latin typeface="Arial"/>
                <a:cs typeface="Arial"/>
              </a:rPr>
              <a:t>B</a:t>
            </a:r>
            <a:r>
              <a:rPr sz="1200" i="1" spc="120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40" baseline="-10416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the projection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[</a:t>
            </a:r>
            <a:r>
              <a:rPr sz="1100" b="1" i="1" spc="-40" dirty="0">
                <a:latin typeface="Arial"/>
                <a:cs typeface="Arial"/>
              </a:rPr>
              <a:t>b</a:t>
            </a:r>
            <a:r>
              <a:rPr sz="1200" spc="-60" baseline="-10416" dirty="0">
                <a:latin typeface="Tahoma"/>
                <a:cs typeface="Tahoma"/>
              </a:rPr>
              <a:t>1</a:t>
            </a:r>
            <a:r>
              <a:rPr sz="1100" i="1" spc="-40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b="1" i="1" spc="-40" dirty="0">
                <a:latin typeface="Arial"/>
                <a:cs typeface="Arial"/>
              </a:rPr>
              <a:t>b</a:t>
            </a:r>
            <a:r>
              <a:rPr sz="1200" i="1" spc="-60" baseline="-10416" dirty="0">
                <a:latin typeface="Arial"/>
                <a:cs typeface="Arial"/>
              </a:rPr>
              <a:t>m</a:t>
            </a:r>
            <a:r>
              <a:rPr sz="1100" spc="-40" dirty="0">
                <a:latin typeface="Tahoma"/>
                <a:cs typeface="Tahoma"/>
              </a:rPr>
              <a:t>]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75" dirty="0">
                <a:latin typeface="SimSun-ExtB"/>
                <a:cs typeface="SimSun-ExtB"/>
              </a:rPr>
              <a:t>∈</a:t>
            </a:r>
            <a:r>
              <a:rPr sz="1100" spc="-240" dirty="0">
                <a:latin typeface="SimSun-ExtB"/>
                <a:cs typeface="SimSun-ExtB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R</a:t>
            </a:r>
            <a:r>
              <a:rPr sz="1200" i="1" spc="75" baseline="27777" dirty="0">
                <a:latin typeface="Arial"/>
                <a:cs typeface="Arial"/>
              </a:rPr>
              <a:t>D</a:t>
            </a:r>
            <a:r>
              <a:rPr sz="1200" i="1" spc="75" baseline="27777" dirty="0">
                <a:latin typeface="Verdana"/>
                <a:cs typeface="Verdana"/>
              </a:rPr>
              <a:t>×</a:t>
            </a:r>
            <a:r>
              <a:rPr sz="1200" i="1" spc="75" baseline="27777" dirty="0">
                <a:latin typeface="Arial"/>
                <a:cs typeface="Arial"/>
              </a:rPr>
              <a:t>M</a:t>
            </a:r>
            <a:r>
              <a:rPr sz="1200" i="1" spc="-157" baseline="27777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9561" y="2508934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957" y="2430359"/>
            <a:ext cx="3652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orthonormal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j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0743" y="2681019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8995" y="2602432"/>
            <a:ext cx="15932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1095" dirty="0">
                <a:latin typeface="SimSun-ExtB"/>
                <a:cs typeface="SimSun-ExtB"/>
              </a:rPr>
              <a:t≯</a:t>
            </a:r>
            <a:r>
              <a:rPr sz="1100" spc="2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12014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35" dirty="0"/>
              <a:t> </a:t>
            </a:r>
            <a:r>
              <a:rPr spc="-30" dirty="0"/>
              <a:t>setting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250" y="796847"/>
            <a:ext cx="3582986" cy="69185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figure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below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shows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z</a:t>
            </a:r>
            <a:r>
              <a:rPr sz="1100" b="1" i="1" spc="105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represents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endParaRPr sz="1100" dirty="0">
              <a:latin typeface="Tahoma"/>
              <a:cs typeface="Tahoma"/>
            </a:endParaRPr>
          </a:p>
          <a:p>
            <a:pPr marL="201930" marR="17780">
              <a:lnSpc>
                <a:spcPct val="102600"/>
              </a:lnSpc>
            </a:pPr>
            <a:r>
              <a:rPr sz="1100" spc="-65" dirty="0">
                <a:latin typeface="Tahoma"/>
                <a:cs typeface="Tahoma"/>
              </a:rPr>
              <a:t>lower-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representation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compressed</a:t>
            </a:r>
            <a:r>
              <a:rPr sz="1100" spc="-10" dirty="0">
                <a:latin typeface="Tahoma"/>
                <a:cs typeface="Tahoma"/>
              </a:rPr>
              <a:t> 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i="1" spc="-575" dirty="0">
                <a:latin typeface="Arial"/>
                <a:cs typeface="Arial"/>
              </a:rPr>
              <a:t>x</a:t>
            </a:r>
            <a:r>
              <a:rPr sz="1100" spc="-60" dirty="0">
                <a:latin typeface="Tahoma"/>
                <a:cs typeface="Tahoma"/>
              </a:rPr>
              <a:t>˜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plays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role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bottleneck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controls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flow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11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i="1" spc="-370" dirty="0">
                <a:latin typeface="Arial"/>
                <a:cs typeface="Arial"/>
              </a:rPr>
              <a:t>x</a:t>
            </a:r>
            <a:r>
              <a:rPr sz="1100" spc="150" dirty="0">
                <a:latin typeface="Tahoma"/>
                <a:cs typeface="Tahoma"/>
              </a:rPr>
              <a:t>˜</a:t>
            </a:r>
            <a:r>
              <a:rPr sz="1100" spc="14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l="1" t="6080" r="-599" b="11926"/>
          <a:stretch>
            <a:fillRect/>
          </a:stretch>
        </p:blipFill>
        <p:spPr>
          <a:xfrm>
            <a:off x="1162050" y="1542912"/>
            <a:ext cx="1600200" cy="8512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1957" y="2439859"/>
            <a:ext cx="380492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exists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 relationship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original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i="1" spc="-75" dirty="0">
                <a:latin typeface="Arial"/>
                <a:cs typeface="Arial"/>
              </a:rPr>
              <a:t>x</a:t>
            </a:r>
            <a:r>
              <a:rPr sz="1100" b="1" i="1" spc="-204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,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low-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z</a:t>
            </a:r>
            <a:r>
              <a:rPr sz="1100" b="1" i="1" spc="10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compressed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i="1" spc="-370" dirty="0">
                <a:latin typeface="Arial"/>
                <a:cs typeface="Arial"/>
              </a:rPr>
              <a:t>x</a:t>
            </a:r>
            <a:r>
              <a:rPr sz="1100" spc="150" dirty="0">
                <a:latin typeface="Tahoma"/>
                <a:cs typeface="Tahoma"/>
              </a:rPr>
              <a:t>˜</a:t>
            </a:r>
            <a:r>
              <a:rPr sz="1100" spc="145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b="1" i="1" dirty="0">
                <a:latin typeface="Arial"/>
                <a:cs typeface="Arial"/>
              </a:rPr>
              <a:t>z</a:t>
            </a:r>
            <a:r>
              <a:rPr sz="1100" b="1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i="1" spc="80" dirty="0">
                <a:latin typeface="Arial"/>
                <a:cs typeface="Arial"/>
              </a:rPr>
              <a:t>B</a:t>
            </a:r>
            <a:r>
              <a:rPr sz="1200" i="1" spc="120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spc="-75" dirty="0">
                <a:latin typeface="Arial"/>
                <a:cs typeface="Arial"/>
              </a:rPr>
              <a:t>x</a:t>
            </a:r>
            <a:r>
              <a:rPr sz="1100" b="1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i="1" spc="-550" dirty="0">
                <a:latin typeface="Arial"/>
                <a:cs typeface="Arial"/>
              </a:rPr>
              <a:t>x</a:t>
            </a:r>
            <a:r>
              <a:rPr sz="1100" spc="-35" dirty="0">
                <a:latin typeface="Tahoma"/>
                <a:cs typeface="Tahoma"/>
              </a:rPr>
              <a:t>˜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Bz</a:t>
            </a:r>
            <a:r>
              <a:rPr sz="1100" b="1" i="1" spc="110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suitable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 </a:t>
            </a:r>
            <a:r>
              <a:rPr sz="1100" b="1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Maximum</a:t>
            </a:r>
            <a:r>
              <a:rPr spc="-60" dirty="0"/>
              <a:t> </a:t>
            </a:r>
            <a:r>
              <a:rPr spc="-50" dirty="0"/>
              <a:t>variance</a:t>
            </a:r>
            <a:r>
              <a:rPr spc="-60" dirty="0"/>
              <a:t> </a:t>
            </a:r>
            <a:r>
              <a:rPr spc="-45" dirty="0"/>
              <a:t>perspective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681938"/>
            <a:ext cx="3806190" cy="21983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5143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interpret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information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content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how </a:t>
            </a:r>
            <a:r>
              <a:rPr sz="1100" spc="-30" dirty="0">
                <a:latin typeface="Tahoma"/>
                <a:cs typeface="Tahoma"/>
              </a:rPr>
              <a:t>”space-</a:t>
            </a:r>
            <a:r>
              <a:rPr sz="1100" spc="-10" dirty="0">
                <a:latin typeface="Tahoma"/>
                <a:cs typeface="Tahoma"/>
              </a:rPr>
              <a:t>filling”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describe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contained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looking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spread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  <a:p>
            <a:pPr marL="214629" marR="34480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capture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spread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concept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variance.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then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viewed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dimensionality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reduction </a:t>
            </a:r>
            <a:r>
              <a:rPr sz="1100" spc="-30" dirty="0">
                <a:latin typeface="Tahoma"/>
                <a:cs typeface="Tahoma"/>
              </a:rPr>
              <a:t>algorithm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maximizes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low-</a:t>
            </a:r>
            <a:r>
              <a:rPr sz="1100" spc="-40" dirty="0">
                <a:latin typeface="Tahoma"/>
                <a:cs typeface="Tahoma"/>
              </a:rPr>
              <a:t>dimensional </a:t>
            </a:r>
            <a:r>
              <a:rPr sz="1100" spc="-45" dirty="0">
                <a:latin typeface="Tahoma"/>
                <a:cs typeface="Tahoma"/>
              </a:rPr>
              <a:t>representation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retain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much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 </a:t>
            </a:r>
            <a:r>
              <a:rPr sz="1100" spc="-25" dirty="0">
                <a:latin typeface="Tahoma"/>
                <a:cs typeface="Tahoma"/>
              </a:rPr>
              <a:t>as </a:t>
            </a:r>
            <a:r>
              <a:rPr sz="1100" spc="-10" dirty="0">
                <a:latin typeface="Tahoma"/>
                <a:cs typeface="Tahoma"/>
              </a:rPr>
              <a:t>possible.</a:t>
            </a:r>
            <a:endParaRPr sz="1100">
              <a:latin typeface="Tahoma"/>
              <a:cs typeface="Tahoma"/>
            </a:endParaRPr>
          </a:p>
          <a:p>
            <a:pPr marL="214629" marR="34290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Mathematically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aim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7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can </a:t>
            </a:r>
            <a:r>
              <a:rPr sz="1100" spc="-20" dirty="0">
                <a:latin typeface="Tahoma"/>
                <a:cs typeface="Tahoma"/>
              </a:rPr>
              <a:t>retain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much information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</a:t>
            </a:r>
            <a:r>
              <a:rPr sz="1100" spc="-35" dirty="0">
                <a:latin typeface="Tahoma"/>
                <a:cs typeface="Tahoma"/>
              </a:rPr>
              <a:t> by</a:t>
            </a:r>
            <a:r>
              <a:rPr sz="1100" spc="-40" dirty="0">
                <a:latin typeface="Tahoma"/>
                <a:cs typeface="Tahoma"/>
              </a:rPr>
              <a:t> projecting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3888" dirty="0">
                <a:latin typeface="Arial"/>
                <a:cs typeface="Arial"/>
              </a:rPr>
              <a:t>M</a:t>
            </a:r>
            <a:r>
              <a:rPr sz="1200" i="1" spc="322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the matrix.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9925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Centred</a:t>
            </a:r>
            <a:r>
              <a:rPr spc="-50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727251"/>
            <a:ext cx="3738879" cy="1854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3906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i="1" dirty="0">
                <a:latin typeface="Verdana"/>
                <a:cs typeface="Verdana"/>
              </a:rPr>
              <a:t>µ</a:t>
            </a:r>
            <a:r>
              <a:rPr sz="1100" b="1" i="1" spc="-9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Centred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we </a:t>
            </a:r>
            <a:r>
              <a:rPr sz="1100" spc="-55" dirty="0">
                <a:latin typeface="Tahoma"/>
                <a:cs typeface="Tahoma"/>
              </a:rPr>
              <a:t>work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-25" dirty="0">
                <a:latin typeface="Arial"/>
                <a:cs typeface="Arial"/>
              </a:rPr>
              <a:t> </a:t>
            </a:r>
            <a:r>
              <a:rPr sz="1100" b="1" i="1" spc="330" dirty="0">
                <a:latin typeface="Arial"/>
                <a:cs typeface="Arial"/>
              </a:rPr>
              <a:t>−</a:t>
            </a:r>
            <a:r>
              <a:rPr sz="1100" b="1" i="1" spc="-75" dirty="0">
                <a:latin typeface="Arial"/>
                <a:cs typeface="Arial"/>
              </a:rPr>
              <a:t> </a:t>
            </a:r>
            <a:r>
              <a:rPr sz="1100" b="1" i="1" dirty="0">
                <a:latin typeface="Verdana"/>
                <a:cs typeface="Verdana"/>
              </a:rPr>
              <a:t>µ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rather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original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b="1" i="1" spc="-75" dirty="0">
                <a:latin typeface="Arial"/>
                <a:cs typeface="Arial"/>
              </a:rPr>
              <a:t>x</a:t>
            </a:r>
            <a:r>
              <a:rPr sz="1100" b="1" i="1" spc="-204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Note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</a:t>
            </a:r>
            <a:endParaRPr sz="1100" dirty="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spc="-20" dirty="0">
                <a:latin typeface="Times New Roman"/>
                <a:cs typeface="Times New Roman"/>
              </a:rPr>
              <a:t>V</a:t>
            </a:r>
            <a:r>
              <a:rPr sz="1200" b="1" i="1" spc="-30" baseline="-10416" dirty="0">
                <a:latin typeface="Arial"/>
                <a:cs typeface="Arial"/>
              </a:rPr>
              <a:t>z</a:t>
            </a:r>
            <a:r>
              <a:rPr sz="1200" b="1" i="1" spc="-150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b="1" i="1" spc="-25" dirty="0">
                <a:latin typeface="Arial"/>
                <a:cs typeface="Arial"/>
              </a:rPr>
              <a:t>z</a:t>
            </a:r>
            <a:r>
              <a:rPr sz="1100" b="1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imes New Roman"/>
                <a:cs typeface="Times New Roman"/>
              </a:rPr>
              <a:t>V</a:t>
            </a:r>
            <a:r>
              <a:rPr sz="1200" b="1" i="1" spc="-52" baseline="-10416" dirty="0">
                <a:latin typeface="Arial"/>
                <a:cs typeface="Arial"/>
              </a:rPr>
              <a:t>x</a:t>
            </a:r>
            <a:r>
              <a:rPr sz="1200" b="1" i="1" spc="-150" baseline="-10416" dirty="0">
                <a:latin typeface="Arial"/>
                <a:cs typeface="Arial"/>
              </a:rPr>
              <a:t> 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b="1" i="1" spc="50" dirty="0">
                <a:latin typeface="Arial"/>
                <a:cs typeface="Arial"/>
              </a:rPr>
              <a:t>B</a:t>
            </a:r>
            <a:r>
              <a:rPr sz="1200" i="1" spc="75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40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Verdana"/>
                <a:cs typeface="Verdana"/>
              </a:rPr>
              <a:t>µ</a:t>
            </a:r>
            <a:r>
              <a:rPr sz="1100" dirty="0">
                <a:latin typeface="Tahoma"/>
                <a:cs typeface="Tahoma"/>
              </a:rPr>
              <a:t>))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imes New Roman"/>
                <a:cs typeface="Times New Roman"/>
              </a:rPr>
              <a:t>V</a:t>
            </a:r>
            <a:r>
              <a:rPr sz="1200" b="1" i="1" spc="-52" baseline="-10416" dirty="0">
                <a:latin typeface="Arial"/>
                <a:cs typeface="Arial"/>
              </a:rPr>
              <a:t>x</a:t>
            </a:r>
            <a:r>
              <a:rPr sz="1200" b="1" i="1" spc="-150" baseline="-10416" dirty="0">
                <a:latin typeface="Arial"/>
                <a:cs typeface="Arial"/>
              </a:rPr>
              <a:t> 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b="1" i="1" spc="50" dirty="0">
                <a:latin typeface="Arial"/>
                <a:cs typeface="Arial"/>
              </a:rPr>
              <a:t>B</a:t>
            </a:r>
            <a:r>
              <a:rPr sz="1200" i="1" spc="75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3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spc="80" dirty="0">
                <a:latin typeface="Arial"/>
                <a:cs typeface="Arial"/>
              </a:rPr>
              <a:t>B</a:t>
            </a:r>
            <a:r>
              <a:rPr sz="1200" i="1" spc="120" baseline="27777" dirty="0">
                <a:latin typeface="Arial"/>
                <a:cs typeface="Arial"/>
              </a:rPr>
              <a:t>T</a:t>
            </a:r>
            <a:r>
              <a:rPr sz="1200" i="1" spc="-97" baseline="27777" dirty="0">
                <a:latin typeface="Arial"/>
                <a:cs typeface="Arial"/>
              </a:rPr>
              <a:t> </a:t>
            </a:r>
            <a:r>
              <a:rPr sz="1100" b="1" i="1" dirty="0">
                <a:latin typeface="Verdana"/>
                <a:cs typeface="Verdana"/>
              </a:rPr>
              <a:t>µ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imes New Roman"/>
                <a:cs typeface="Times New Roman"/>
              </a:rPr>
              <a:t>V</a:t>
            </a:r>
            <a:r>
              <a:rPr sz="1200" b="1" i="1" spc="-52" baseline="-10416" dirty="0">
                <a:latin typeface="Arial"/>
                <a:cs typeface="Arial"/>
              </a:rPr>
              <a:t>x</a:t>
            </a:r>
            <a:r>
              <a:rPr sz="1200" b="1" i="1" spc="-150" baseline="-10416" dirty="0">
                <a:latin typeface="Arial"/>
                <a:cs typeface="Arial"/>
              </a:rPr>
              <a:t> 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b="1" i="1" spc="50" dirty="0">
                <a:latin typeface="Arial"/>
                <a:cs typeface="Arial"/>
              </a:rPr>
              <a:t>B</a:t>
            </a:r>
            <a:r>
              <a:rPr sz="1200" i="1" spc="75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spc="-75" dirty="0">
                <a:latin typeface="Arial"/>
                <a:cs typeface="Arial"/>
              </a:rPr>
              <a:t>x</a:t>
            </a:r>
            <a:r>
              <a:rPr sz="1100" b="1" i="1" spc="-204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  <a:p>
            <a:pPr marL="214629" marR="457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Thus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considering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-10" dirty="0">
                <a:latin typeface="Arial"/>
                <a:cs typeface="Arial"/>
              </a:rPr>
              <a:t> </a:t>
            </a:r>
            <a:r>
              <a:rPr sz="1100" b="1" i="1" spc="330" dirty="0">
                <a:latin typeface="Arial"/>
                <a:cs typeface="Arial"/>
              </a:rPr>
              <a:t>−</a:t>
            </a:r>
            <a:r>
              <a:rPr sz="1100" b="1" i="1" spc="-75" dirty="0">
                <a:latin typeface="Arial"/>
                <a:cs typeface="Arial"/>
              </a:rPr>
              <a:t> </a:t>
            </a:r>
            <a:r>
              <a:rPr sz="1100" b="1" i="1" dirty="0">
                <a:latin typeface="Verdana"/>
                <a:cs typeface="Verdana"/>
              </a:rPr>
              <a:t>µ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does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change. </a:t>
            </a:r>
            <a:r>
              <a:rPr sz="1100" spc="-45" dirty="0">
                <a:latin typeface="Tahoma"/>
                <a:cs typeface="Tahoma"/>
              </a:rPr>
              <a:t>Therefore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assume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0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this </a:t>
            </a:r>
            <a:r>
              <a:rPr sz="1100" spc="-10" dirty="0">
                <a:latin typeface="Tahoma"/>
                <a:cs typeface="Tahoma"/>
              </a:rPr>
              <a:t>lecture.</a:t>
            </a:r>
            <a:endParaRPr sz="1100" dirty="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Letting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200" b="1" i="1" baseline="-10416" dirty="0">
                <a:latin typeface="Arial"/>
                <a:cs typeface="Arial"/>
              </a:rPr>
              <a:t>x</a:t>
            </a:r>
            <a:r>
              <a:rPr sz="1200" b="1" i="1" spc="-150" baseline="-10416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(</a:t>
            </a:r>
            <a:r>
              <a:rPr sz="1100" b="1" i="1" spc="-45" dirty="0">
                <a:latin typeface="Arial"/>
                <a:cs typeface="Arial"/>
              </a:rPr>
              <a:t>x</a:t>
            </a:r>
            <a:r>
              <a:rPr sz="1100" b="1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dirty="0">
                <a:latin typeface="Arial"/>
                <a:cs typeface="Arial"/>
              </a:rPr>
              <a:t>0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means</a:t>
            </a:r>
            <a:endParaRPr sz="1100" dirty="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200" b="1" i="1" baseline="-10416" dirty="0">
                <a:latin typeface="Arial"/>
                <a:cs typeface="Arial"/>
              </a:rPr>
              <a:t>z</a:t>
            </a:r>
            <a:r>
              <a:rPr sz="1200" b="1" i="1" spc="-142" baseline="-10416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b="1" i="1" spc="-25" dirty="0">
                <a:latin typeface="Arial"/>
                <a:cs typeface="Arial"/>
              </a:rPr>
              <a:t>z</a:t>
            </a:r>
            <a:r>
              <a:rPr sz="1100" b="1" i="1" spc="-2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200" b="1" i="1" baseline="-10416" dirty="0">
                <a:latin typeface="Arial"/>
                <a:cs typeface="Arial"/>
              </a:rPr>
              <a:t>x</a:t>
            </a:r>
            <a:r>
              <a:rPr sz="1200" b="1" i="1" spc="-135" baseline="-10416" dirty="0">
                <a:latin typeface="Arial"/>
                <a:cs typeface="Arial"/>
              </a:rPr>
              <a:t> </a:t>
            </a:r>
            <a:r>
              <a:rPr sz="1100" spc="50" dirty="0">
                <a:latin typeface="Tahoma"/>
                <a:cs typeface="Tahoma"/>
              </a:rPr>
              <a:t>(</a:t>
            </a:r>
            <a:r>
              <a:rPr sz="1100" b="1" i="1" spc="50" dirty="0">
                <a:latin typeface="Arial"/>
                <a:cs typeface="Arial"/>
              </a:rPr>
              <a:t>B</a:t>
            </a:r>
            <a:r>
              <a:rPr sz="1200" i="1" spc="75" baseline="27777" dirty="0">
                <a:latin typeface="Arial"/>
                <a:cs typeface="Arial"/>
              </a:rPr>
              <a:t>T</a:t>
            </a:r>
            <a:r>
              <a:rPr sz="1200" i="1" spc="-89" baseline="27777" dirty="0">
                <a:latin typeface="Arial"/>
                <a:cs typeface="Arial"/>
              </a:rPr>
              <a:t> </a:t>
            </a:r>
            <a:r>
              <a:rPr sz="1100" b="1" i="1" spc="-75" dirty="0">
                <a:latin typeface="Arial"/>
                <a:cs typeface="Arial"/>
              </a:rPr>
              <a:t>x</a:t>
            </a:r>
            <a:r>
              <a:rPr sz="1100" b="1" i="1" spc="-1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i="1" spc="80" dirty="0">
                <a:latin typeface="Arial"/>
                <a:cs typeface="Arial"/>
              </a:rPr>
              <a:t>B</a:t>
            </a:r>
            <a:r>
              <a:rPr sz="1200" i="1" spc="120" baseline="27777" dirty="0">
                <a:latin typeface="Arial"/>
                <a:cs typeface="Arial"/>
              </a:rPr>
              <a:t>T</a:t>
            </a:r>
            <a:r>
              <a:rPr sz="1200" i="1" spc="-82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</a:t>
            </a:r>
            <a:r>
              <a:rPr sz="1200" b="1" i="1" baseline="-10416" dirty="0">
                <a:latin typeface="Arial"/>
                <a:cs typeface="Arial"/>
              </a:rPr>
              <a:t>x</a:t>
            </a:r>
            <a:r>
              <a:rPr sz="1200" b="1" i="1" spc="-142" baseline="-10416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(</a:t>
            </a:r>
            <a:r>
              <a:rPr sz="1100" b="1" i="1" spc="-45" dirty="0">
                <a:latin typeface="Arial"/>
                <a:cs typeface="Arial"/>
              </a:rPr>
              <a:t>x</a:t>
            </a:r>
            <a:r>
              <a:rPr sz="1100" b="1" i="1" spc="-1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Arial"/>
                <a:cs typeface="Arial"/>
              </a:rPr>
              <a:t>0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357" y="2584017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4395" y="2599828"/>
            <a:ext cx="21431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And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1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4210" y="2641967"/>
            <a:ext cx="13562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5460" y="2582607"/>
            <a:ext cx="51117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  <a:tabLst>
                <a:tab pos="280670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r>
              <a:rPr sz="1200" spc="-37" baseline="3472" dirty="0">
                <a:latin typeface="Tahoma"/>
                <a:cs typeface="Tahoma"/>
              </a:rPr>
              <a:t>=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endParaRPr sz="1200" baseline="3472">
              <a:latin typeface="Arial"/>
              <a:cs typeface="Arial"/>
            </a:endParaRPr>
          </a:p>
          <a:p>
            <a:pPr marL="12700">
              <a:lnSpc>
                <a:spcPts val="885"/>
              </a:lnSpc>
              <a:tabLst>
                <a:tab pos="280670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r>
              <a:rPr sz="1200" spc="-37" baseline="3472" dirty="0">
                <a:latin typeface="Tahoma"/>
                <a:cs typeface="Tahoma"/>
              </a:rPr>
              <a:t>=1</a:t>
            </a:r>
            <a:endParaRPr sz="1200" baseline="3472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7547" y="2657930"/>
            <a:ext cx="84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9426" y="2586874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6409" y="2671405"/>
            <a:ext cx="844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18268" y="2599828"/>
            <a:ext cx="3784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180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434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Direction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30" dirty="0"/>
              <a:t>maximal</a:t>
            </a:r>
            <a:r>
              <a:rPr spc="-50" dirty="0"/>
              <a:t> </a:t>
            </a:r>
            <a:r>
              <a:rPr spc="-45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88427"/>
            <a:ext cx="377761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9748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maximize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low-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by </a:t>
            </a:r>
            <a:r>
              <a:rPr sz="1100" spc="-35" dirty="0">
                <a:latin typeface="Tahoma"/>
                <a:cs typeface="Tahoma"/>
              </a:rPr>
              <a:t>following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sequential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approach.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b="1" dirty="0">
                <a:latin typeface="Arial"/>
                <a:cs typeface="Arial"/>
              </a:rPr>
              <a:t>Aim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1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:</a:t>
            </a:r>
            <a:r>
              <a:rPr sz="1100" b="1" spc="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maximize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50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coordinate</a:t>
            </a:r>
            <a:endParaRPr sz="1100">
              <a:latin typeface="Tahoma"/>
              <a:cs typeface="Tahoma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z</a:t>
            </a:r>
            <a:r>
              <a:rPr sz="1100" b="1" i="1" spc="35" dirty="0">
                <a:latin typeface="Arial"/>
                <a:cs typeface="Arial"/>
              </a:rPr>
              <a:t> </a:t>
            </a:r>
            <a:r>
              <a:rPr sz="1100" spc="-375" dirty="0">
                <a:latin typeface="SimSun-ExtB"/>
                <a:cs typeface="SimSun-ExtB"/>
              </a:rPr>
              <a:t>∈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sz="1100" i="1" spc="-25" dirty="0">
                <a:latin typeface="Arial"/>
                <a:cs typeface="Arial"/>
              </a:rPr>
              <a:t>R</a:t>
            </a:r>
            <a:r>
              <a:rPr sz="1200" i="1" spc="-37" baseline="27777" dirty="0">
                <a:latin typeface="Arial"/>
                <a:cs typeface="Arial"/>
              </a:rPr>
              <a:t>M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357" y="163682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5386" y="1710752"/>
            <a:ext cx="5384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71170" algn="l"/>
              </a:tabLst>
            </a:pPr>
            <a:r>
              <a:rPr sz="800" spc="-50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95" y="1652637"/>
            <a:ext cx="1765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i.e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maximize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100" i="1" spc="4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7020" y="1690495"/>
            <a:ext cx="135611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13430" y="163968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18270" y="1635416"/>
            <a:ext cx="718185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  <a:tabLst>
                <a:tab pos="280670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r>
              <a:rPr sz="1200" spc="-37" baseline="3472" dirty="0">
                <a:latin typeface="Tahoma"/>
                <a:cs typeface="Tahoma"/>
              </a:rPr>
              <a:t>=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endParaRPr sz="1200" baseline="3472">
              <a:latin typeface="Arial"/>
              <a:cs typeface="Arial"/>
            </a:endParaRPr>
          </a:p>
          <a:p>
            <a:pPr marL="12700">
              <a:lnSpc>
                <a:spcPts val="885"/>
              </a:lnSpc>
              <a:tabLst>
                <a:tab pos="280670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1200" i="1" baseline="3472" dirty="0">
                <a:latin typeface="Arial"/>
                <a:cs typeface="Arial"/>
              </a:rPr>
              <a:t>n</a:t>
            </a:r>
            <a:r>
              <a:rPr sz="1200" baseline="3472" dirty="0">
                <a:latin typeface="Tahoma"/>
                <a:cs typeface="Tahoma"/>
              </a:rPr>
              <a:t>=1</a:t>
            </a:r>
            <a:r>
              <a:rPr sz="1200" spc="359" baseline="3472" dirty="0">
                <a:latin typeface="Tahoma"/>
                <a:cs typeface="Tahoma"/>
              </a:rPr>
              <a:t>  </a:t>
            </a:r>
            <a:r>
              <a:rPr sz="1200" spc="-37" baseline="3472" dirty="0">
                <a:latin typeface="Tahoma"/>
                <a:cs typeface="Tahoma"/>
              </a:rPr>
              <a:t>1</a:t>
            </a:r>
            <a:r>
              <a:rPr sz="1200" i="1" spc="-37" baseline="3472" dirty="0">
                <a:latin typeface="Arial"/>
                <a:cs typeface="Arial"/>
              </a:rPr>
              <a:t>n</a:t>
            </a:r>
            <a:endParaRPr sz="1200" baseline="3472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1078" y="1652637"/>
            <a:ext cx="13195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5585" algn="l"/>
              </a:tabLst>
            </a:pP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45" dirty="0">
                <a:latin typeface="Tahoma"/>
                <a:cs typeface="Tahoma"/>
              </a:rPr>
              <a:t>since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8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4395" y="1824709"/>
            <a:ext cx="765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independent.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957" y="2034742"/>
            <a:ext cx="3435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20" dirty="0">
                <a:latin typeface="Tahoma"/>
                <a:cs typeface="Tahoma"/>
              </a:rPr>
              <a:t>Now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3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viewed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orthogonal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995" y="2110383"/>
            <a:ext cx="3557904" cy="460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2320">
              <a:lnSpc>
                <a:spcPts val="855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  <a:p>
            <a:pPr marL="38100">
              <a:lnSpc>
                <a:spcPts val="1215"/>
              </a:lnSpc>
            </a:pPr>
            <a:r>
              <a:rPr sz="1100" spc="-35" dirty="0">
                <a:latin typeface="Tahoma"/>
                <a:cs typeface="Tahoma"/>
              </a:rPr>
              <a:t>projection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02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onto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one-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subspace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spanned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ahoma"/>
                <a:cs typeface="Tahoma"/>
              </a:rPr>
              <a:t>1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Direction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30" dirty="0"/>
              <a:t>maximal</a:t>
            </a:r>
            <a:r>
              <a:rPr spc="-50" dirty="0"/>
              <a:t> </a:t>
            </a:r>
            <a:r>
              <a:rPr spc="-45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689" y="98230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4729" y="924203"/>
            <a:ext cx="1266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144905" algn="l"/>
              </a:tabLst>
            </a:pPr>
            <a:r>
              <a:rPr sz="1100" dirty="0">
                <a:latin typeface="Tahoma"/>
                <a:cs typeface="Tahoma"/>
              </a:rPr>
              <a:t>Then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V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4406" y="788338"/>
            <a:ext cx="242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</a:t>
            </a:r>
            <a:r>
              <a:rPr sz="800" i="1" spc="-2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8312" y="938630"/>
            <a:ext cx="174524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9519" y="1127238"/>
            <a:ext cx="220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00870" y="99578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67951" y="98230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9272" y="924203"/>
            <a:ext cx="4419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365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13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05442" y="904315"/>
            <a:ext cx="3594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2100" algn="l"/>
              </a:tabLst>
            </a:pPr>
            <a:r>
              <a:rPr sz="800" i="1" spc="35" dirty="0">
                <a:latin typeface="Arial"/>
                <a:cs typeface="Arial"/>
              </a:rPr>
              <a:t>T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spc="-5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47315" y="141170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6781" y="807971"/>
            <a:ext cx="123825" cy="8909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1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u="sng" spc="-1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4406" y="1275853"/>
            <a:ext cx="242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</a:t>
            </a:r>
            <a:r>
              <a:rPr sz="800" i="1" spc="-2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16859" y="1456562"/>
            <a:ext cx="22606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9519" y="1614753"/>
            <a:ext cx="220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4657" y="1391829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70085" y="148328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83000" y="1391829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92361" y="1411705"/>
            <a:ext cx="587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375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135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434" dirty="0">
                <a:latin typeface="Arial"/>
                <a:cs typeface="Arial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11766" y="1469820"/>
            <a:ext cx="4470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54330" algn="l"/>
              </a:tabLst>
            </a:pPr>
            <a:r>
              <a:rPr sz="800" i="1" dirty="0">
                <a:latin typeface="Arial"/>
                <a:cs typeface="Arial"/>
              </a:rPr>
              <a:t>n</a:t>
            </a:r>
            <a:r>
              <a:rPr sz="800" i="1" spc="375" dirty="0">
                <a:latin typeface="Arial"/>
                <a:cs typeface="Arial"/>
              </a:rPr>
              <a:t> </a:t>
            </a:r>
            <a:r>
              <a:rPr sz="1200" i="1" spc="-75" baseline="-6944" dirty="0">
                <a:latin typeface="Arial"/>
                <a:cs typeface="Arial"/>
              </a:rPr>
              <a:t>n</a:t>
            </a:r>
            <a:r>
              <a:rPr sz="1200" i="1" baseline="-6944" dirty="0">
                <a:latin typeface="Arial"/>
                <a:cs typeface="Arial"/>
              </a:rPr>
              <a:t>	</a:t>
            </a: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47315" y="1899220"/>
            <a:ext cx="3378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75" dirty="0">
                <a:latin typeface="Tahoma"/>
                <a:cs typeface="Tahoma"/>
              </a:rPr>
              <a:t>  </a:t>
            </a:r>
            <a:r>
              <a:rPr sz="1100" b="1" i="1" spc="-6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63888" y="1879344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9316" y="197079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25"/>
              <p:cNvSpPr txBox="1"/>
              <p:nvPr/>
            </p:nvSpPr>
            <p:spPr>
              <a:xfrm>
                <a:off x="2687928" y="1867620"/>
                <a:ext cx="137541" cy="25051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ar-AE" sz="1100" i="1" smtClean="0">
                            <a:latin typeface="Cambria Math" panose="02040503050406030204" pitchFamily="18" charset="0"/>
                            <a:cs typeface="Lucida Sans Unicode"/>
                          </a:rPr>
                        </m:ctrlPr>
                      </m:fPr>
                      <m:num>
                        <m:r>
                          <a:rPr lang="ar-AE" sz="1100" b="0" i="1" smtClean="0">
                            <a:latin typeface="Cambria Math" panose="02040503050406030204" pitchFamily="18" charset="0"/>
                            <a:cs typeface="Lucida Sans Unicode"/>
                          </a:rPr>
                          <m:t>1</m:t>
                        </m:r>
                      </m:num>
                      <m:den>
                        <m:r>
                          <a:rPr lang="en-IN" sz="1100" b="0" i="1" smtClean="0">
                            <a:latin typeface="Cambria Math" panose="02040503050406030204" pitchFamily="18" charset="0"/>
                            <a:cs typeface="Lucida Sans Unicode"/>
                          </a:rPr>
                          <m:t>𝑁</m:t>
                        </m:r>
                      </m:den>
                    </m:f>
                  </m:oMath>
                </a14:m>
                <a:r>
                  <a:rPr lang="ar-AE" sz="1100" dirty="0">
                    <a:latin typeface="Lucida Sans Unicode"/>
                    <a:cs typeface="Lucida Sans Unicode"/>
                  </a:rPr>
                  <a:t> </a:t>
                </a:r>
                <a:endParaRPr sz="1100" dirty="0">
                  <a:latin typeface="Lucida Sans Unicode"/>
                  <a:cs typeface="Lucida Sans Unicode"/>
                </a:endParaRPr>
              </a:p>
            </p:txBody>
          </p:sp>
        </mc:Choice>
        <mc:Fallback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928" y="1867620"/>
                <a:ext cx="137541" cy="250518"/>
              </a:xfrm>
              <a:prstGeom prst="rect">
                <a:avLst/>
              </a:prstGeom>
              <a:blipFill>
                <a:blip r:embed="rId2"/>
                <a:stretch>
                  <a:fillRect l="-18182" r="-63636" b="-268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 txBox="1"/>
          <p:nvPr/>
        </p:nvSpPr>
        <p:spPr>
          <a:xfrm>
            <a:off x="2743707" y="1763368"/>
            <a:ext cx="242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</a:t>
            </a:r>
            <a:r>
              <a:rPr sz="800" i="1" spc="-25" dirty="0">
                <a:latin typeface="Arial"/>
                <a:cs typeface="Arial"/>
              </a:rPr>
              <a:t>N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6778" y="1913647"/>
            <a:ext cx="155372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58820" y="2102267"/>
            <a:ext cx="220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60941" y="1957322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06788" y="1879344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93757" y="1970797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00018" y="1787003"/>
            <a:ext cx="88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91675" y="1899220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4175" algn="l"/>
              </a:tabLst>
            </a:pP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114" dirty="0">
                <a:latin typeface="Arial"/>
                <a:cs typeface="Arial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x</a:t>
            </a:r>
            <a:r>
              <a:rPr sz="1100" b="1" i="1" dirty="0">
                <a:latin typeface="Arial"/>
                <a:cs typeface="Arial"/>
              </a:rPr>
              <a:t>	</a:t>
            </a:r>
            <a:r>
              <a:rPr sz="1100" b="1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41242" y="195732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59316" y="232848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21915" y="2256903"/>
            <a:ext cx="760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95" dirty="0">
                <a:latin typeface="Tahoma"/>
                <a:cs typeface="Tahoma"/>
              </a:rPr>
              <a:t> 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-75" baseline="31250" dirty="0">
                <a:latin typeface="Arial"/>
                <a:cs typeface="Arial"/>
              </a:rPr>
              <a:t> </a:t>
            </a:r>
            <a:r>
              <a:rPr sz="1100" b="1" i="1" spc="-20" dirty="0">
                <a:latin typeface="Arial"/>
                <a:cs typeface="Arial"/>
              </a:rPr>
              <a:t>Sb</a:t>
            </a:r>
            <a:r>
              <a:rPr sz="1200" spc="-30" baseline="-10416" dirty="0">
                <a:latin typeface="Tahoma"/>
                <a:cs typeface="Tahoma"/>
              </a:rPr>
              <a:t>1</a:t>
            </a:r>
            <a:r>
              <a:rPr sz="1100" i="1" spc="-2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881" y="2958769"/>
            <a:ext cx="34925" cy="13970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968" y="2958769"/>
            <a:ext cx="34925" cy="139700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21894" y="2568154"/>
            <a:ext cx="4040556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 indent="-635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Tahoma"/>
                <a:cs typeface="Tahoma"/>
              </a:rPr>
              <a:t>Arbitrarily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increasing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magnitude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27" baseline="-10416" dirty="0">
                <a:latin typeface="Tahoma"/>
                <a:cs typeface="Tahoma"/>
              </a:rPr>
              <a:t> </a:t>
            </a:r>
            <a:r>
              <a:rPr sz="1100" dirty="0" err="1">
                <a:latin typeface="Tahoma"/>
                <a:cs typeface="Tahoma"/>
              </a:rPr>
              <a:t>wil</a:t>
            </a:r>
            <a:r>
              <a:rPr lang="en-IN" sz="1100" dirty="0">
                <a:latin typeface="Tahoma"/>
                <a:cs typeface="Tahoma"/>
              </a:rPr>
              <a:t>l</a:t>
            </a:r>
            <a:r>
              <a:rPr sz="1100" spc="-45" dirty="0">
                <a:latin typeface="Tahoma"/>
                <a:cs typeface="Tahoma"/>
              </a:rPr>
              <a:t> increase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seek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maximize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subject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 dirty="0">
              <a:latin typeface="Tahoma"/>
              <a:cs typeface="Tahoma"/>
            </a:endParaRPr>
          </a:p>
          <a:p>
            <a:pPr marL="107314">
              <a:lnSpc>
                <a:spcPct val="100000"/>
              </a:lnSpc>
              <a:spcBef>
                <a:spcPts val="35"/>
              </a:spcBef>
            </a:pPr>
            <a:r>
              <a:rPr sz="1100" b="1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270" baseline="-10416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Direction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30" dirty="0"/>
              <a:t>maximal</a:t>
            </a:r>
            <a:r>
              <a:rPr spc="-50" dirty="0"/>
              <a:t> </a:t>
            </a:r>
            <a:r>
              <a:rPr spc="-45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09394"/>
            <a:ext cx="386397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5" dirty="0">
                <a:latin typeface="Tahoma"/>
                <a:cs typeface="Tahoma"/>
              </a:rPr>
              <a:t>Therefore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direction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50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maximizes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can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constrained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optimization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3277" y="156429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3438" y="1492718"/>
            <a:ext cx="137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max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Sb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200" spc="165" baseline="-10416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subject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004" y="1749221"/>
            <a:ext cx="34925" cy="139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3103" y="1749221"/>
            <a:ext cx="34925" cy="1397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257" y="1702751"/>
            <a:ext cx="3030220" cy="8263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440690" algn="r">
              <a:lnSpc>
                <a:spcPct val="100000"/>
              </a:lnSpc>
              <a:spcBef>
                <a:spcPts val="90"/>
              </a:spcBef>
            </a:pPr>
            <a:r>
              <a:rPr sz="1100" b="1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270" baseline="-10416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1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11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solve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 err="1">
                <a:latin typeface="Tahoma"/>
                <a:cs typeface="Tahoma"/>
              </a:rPr>
              <a:t>Lagrangian</a:t>
            </a:r>
            <a:endParaRPr sz="1100" dirty="0">
              <a:latin typeface="Tahoma"/>
              <a:cs typeface="Tahoma"/>
            </a:endParaRPr>
          </a:p>
          <a:p>
            <a:pPr marL="227329">
              <a:lnSpc>
                <a:spcPts val="960"/>
              </a:lnSpc>
              <a:spcBef>
                <a:spcPts val="35"/>
              </a:spcBef>
            </a:pPr>
            <a:endParaRPr lang="en-IN" sz="1100" dirty="0">
              <a:latin typeface="Arial MT"/>
              <a:cs typeface="Arial MT"/>
            </a:endParaRPr>
          </a:p>
          <a:p>
            <a:pPr marL="227329">
              <a:lnSpc>
                <a:spcPts val="960"/>
              </a:lnSpc>
              <a:spcBef>
                <a:spcPts val="35"/>
              </a:spcBef>
            </a:pPr>
            <a:r>
              <a:rPr lang="en-IN" sz="1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-195" dirty="0">
                <a:latin typeface="Arial"/>
                <a:cs typeface="Arial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50" dirty="0">
                <a:latin typeface="Calibri"/>
                <a:cs typeface="Calibri"/>
              </a:rPr>
              <a:t> </a:t>
            </a:r>
            <a:r>
              <a:rPr sz="1100" i="1" spc="55" dirty="0">
                <a:latin typeface="Calibri"/>
                <a:cs typeface="Calibri"/>
              </a:rPr>
              <a:t>λ</a:t>
            </a:r>
            <a:r>
              <a:rPr sz="1100" spc="55" dirty="0">
                <a:latin typeface="Tahoma"/>
                <a:cs typeface="Tahoma"/>
              </a:rPr>
              <a:t>)</a:t>
            </a:r>
            <a:r>
              <a:rPr sz="1100" dirty="0">
                <a:latin typeface="Tahoma"/>
                <a:cs typeface="Tahoma"/>
              </a:rPr>
              <a:t> 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75" baseline="27777" dirty="0">
                <a:latin typeface="Arial"/>
                <a:cs typeface="Arial"/>
              </a:rPr>
              <a:t> </a:t>
            </a:r>
            <a:r>
              <a:rPr sz="1100" b="1" i="1" spc="-35" dirty="0">
                <a:latin typeface="Arial"/>
                <a:cs typeface="Arial"/>
              </a:rPr>
              <a:t>Sb</a:t>
            </a:r>
            <a:r>
              <a:rPr sz="1200" spc="-52" baseline="-10416" dirty="0">
                <a:latin typeface="Tahoma"/>
                <a:cs typeface="Tahoma"/>
              </a:rPr>
              <a:t>1</a:t>
            </a:r>
            <a:r>
              <a:rPr sz="1200" spc="11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λ</a:t>
            </a:r>
            <a:r>
              <a:rPr sz="1100" dirty="0">
                <a:latin typeface="Tahoma"/>
                <a:cs typeface="Tahoma"/>
              </a:rPr>
              <a:t>(1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280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lang="en-IN" sz="1100" b="1" i="1" baseline="-25000" dirty="0">
                <a:latin typeface="Arial"/>
                <a:cs typeface="Arial"/>
              </a:rPr>
              <a:t>1</a:t>
            </a:r>
            <a:r>
              <a:rPr lang="en-IN" sz="1100" b="1" i="1" dirty="0">
                <a:latin typeface="Arial"/>
                <a:cs typeface="Arial"/>
              </a:rPr>
              <a:t> </a:t>
            </a:r>
            <a:r>
              <a:rPr lang="en-IN" sz="1200" b="1" i="1" baseline="30000" dirty="0">
                <a:latin typeface="Arial"/>
                <a:cs typeface="Arial"/>
              </a:rPr>
              <a:t>T</a:t>
            </a:r>
            <a:r>
              <a:rPr sz="1200" i="1" spc="-75" baseline="27777" dirty="0">
                <a:latin typeface="Arial"/>
                <a:cs typeface="Arial"/>
              </a:rPr>
              <a:t> </a:t>
            </a:r>
            <a:r>
              <a:rPr sz="1100" b="1" i="1" spc="-20" dirty="0">
                <a:latin typeface="Arial"/>
                <a:cs typeface="Arial"/>
              </a:rPr>
              <a:t>b</a:t>
            </a:r>
            <a:r>
              <a:rPr sz="1200" spc="-30" baseline="-10416" dirty="0">
                <a:latin typeface="Tahoma"/>
                <a:cs typeface="Tahoma"/>
              </a:rPr>
              <a:t>1</a:t>
            </a:r>
            <a:r>
              <a:rPr sz="1100" spc="-20" dirty="0">
                <a:latin typeface="Tahoma"/>
                <a:cs typeface="Tahoma"/>
              </a:rPr>
              <a:t>).</a:t>
            </a:r>
            <a:endParaRPr sz="1100" dirty="0">
              <a:latin typeface="Tahoma"/>
              <a:cs typeface="Tahoma"/>
            </a:endParaRPr>
          </a:p>
          <a:p>
            <a:pPr marL="914400">
              <a:lnSpc>
                <a:spcPts val="600"/>
              </a:lnSpc>
              <a:tabLst>
                <a:tab pos="1855470" algn="l"/>
              </a:tabLst>
            </a:pPr>
            <a:r>
              <a:rPr sz="800" spc="-50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Solving</a:t>
            </a:r>
            <a:r>
              <a:rPr spc="-8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40" dirty="0"/>
              <a:t>Lagrangian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810754"/>
            <a:ext cx="3185795" cy="4019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665" indent="-177165">
              <a:lnSpc>
                <a:spcPts val="1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40665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solve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Lagrangian,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let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200" i="1" u="sng" spc="75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200" u="sng" spc="75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1200" spc="277" baseline="31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and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200" i="1" u="sng" spc="-75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i="1" u="sng" spc="75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1200" u="sng" spc="75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1200" spc="480" baseline="31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924685">
              <a:lnSpc>
                <a:spcPts val="640"/>
              </a:lnSpc>
              <a:tabLst>
                <a:tab pos="2639060" algn="l"/>
              </a:tabLst>
            </a:pPr>
            <a:r>
              <a:rPr sz="800" i="1" spc="60" dirty="0">
                <a:latin typeface="Calibri"/>
                <a:cs typeface="Calibri"/>
              </a:rPr>
              <a:t>∂λ</a:t>
            </a:r>
            <a:r>
              <a:rPr sz="800" i="1" dirty="0">
                <a:latin typeface="Calibri"/>
                <a:cs typeface="Calibri"/>
              </a:rPr>
              <a:t>	</a:t>
            </a:r>
            <a:r>
              <a:rPr sz="800" i="1" spc="-25" dirty="0">
                <a:latin typeface="Calibri"/>
                <a:cs typeface="Calibri"/>
              </a:rPr>
              <a:t>∂</a:t>
            </a:r>
            <a:r>
              <a:rPr sz="800" b="1" i="1" spc="-25" dirty="0">
                <a:latin typeface="Arial"/>
                <a:cs typeface="Arial"/>
              </a:rPr>
              <a:t>b</a:t>
            </a:r>
            <a:r>
              <a:rPr sz="900" spc="-37" baseline="-9259" dirty="0">
                <a:latin typeface="Tahoma"/>
                <a:cs typeface="Tahoma"/>
              </a:rPr>
              <a:t>1</a:t>
            </a:r>
            <a:endParaRPr sz="900" baseline="-9259">
              <a:latin typeface="Tahoma"/>
              <a:cs typeface="Tahoma"/>
            </a:endParaRPr>
          </a:p>
          <a:p>
            <a:pPr marL="240029" indent="-177165">
              <a:lnSpc>
                <a:spcPct val="100000"/>
              </a:lnSpc>
              <a:spcBef>
                <a:spcPts val="1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spc="-10" dirty="0">
                <a:latin typeface="Tahoma"/>
                <a:cs typeface="Tahoma"/>
              </a:rPr>
              <a:t>So,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2904" y="1506105"/>
            <a:ext cx="173990" cy="0"/>
          </a:xfrm>
          <a:custGeom>
            <a:avLst/>
            <a:gdLst/>
            <a:ahLst/>
            <a:cxnLst/>
            <a:rect l="l" t="t" r="r" b="b"/>
            <a:pathLst>
              <a:path w="173989">
                <a:moveTo>
                  <a:pt x="0" y="0"/>
                </a:moveTo>
                <a:lnTo>
                  <a:pt x="17360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06141" y="146107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81668" y="144760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30133" y="1389493"/>
            <a:ext cx="1116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70" dirty="0">
                <a:latin typeface="Tahoma"/>
                <a:cs typeface="Tahoma"/>
              </a:rPr>
              <a:t> 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05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4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07451" y="1841690"/>
            <a:ext cx="219075" cy="0"/>
          </a:xfrm>
          <a:custGeom>
            <a:avLst/>
            <a:gdLst/>
            <a:ahLst/>
            <a:cxnLst/>
            <a:rect l="l" t="t" r="r" b="b"/>
            <a:pathLst>
              <a:path w="219075">
                <a:moveTo>
                  <a:pt x="0" y="0"/>
                </a:moveTo>
                <a:lnTo>
                  <a:pt x="21907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69351" y="1273261"/>
            <a:ext cx="295275" cy="7385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265"/>
              </a:spcBef>
            </a:pP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spc="-25" dirty="0">
                <a:latin typeface="Times New Roman"/>
                <a:cs typeface="Times New Roman"/>
              </a:rPr>
              <a:t>L</a:t>
            </a:r>
            <a:endParaRPr sz="1100">
              <a:latin typeface="Times New Roman"/>
              <a:cs typeface="Times New Roman"/>
            </a:endParaRPr>
          </a:p>
          <a:p>
            <a:pPr marL="88900">
              <a:lnSpc>
                <a:spcPts val="1240"/>
              </a:lnSpc>
              <a:spcBef>
                <a:spcPts val="170"/>
              </a:spcBef>
            </a:pPr>
            <a:r>
              <a:rPr sz="1100" i="1" spc="60" dirty="0">
                <a:latin typeface="Calibri"/>
                <a:cs typeface="Calibri"/>
              </a:rPr>
              <a:t>∂λ</a:t>
            </a:r>
            <a:endParaRPr sz="1100">
              <a:latin typeface="Calibri"/>
              <a:cs typeface="Calibri"/>
            </a:endParaRPr>
          </a:p>
          <a:p>
            <a:pPr marL="60325">
              <a:lnSpc>
                <a:spcPts val="1240"/>
              </a:lnSpc>
            </a:pP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spc="-25" dirty="0">
                <a:latin typeface="Times New Roman"/>
                <a:cs typeface="Times New Roman"/>
              </a:rPr>
              <a:t>L</a:t>
            </a:r>
            <a:endParaRPr sz="1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5"/>
              </a:spcBef>
            </a:pPr>
            <a:r>
              <a:rPr sz="1100" i="1" spc="-25" dirty="0">
                <a:latin typeface="Calibri"/>
                <a:cs typeface="Calibri"/>
              </a:rPr>
              <a:t>∂</a:t>
            </a:r>
            <a:r>
              <a:rPr sz="1100" b="1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Tahoma"/>
                <a:cs typeface="Tahoma"/>
              </a:rPr>
              <a:t>1</a:t>
            </a:r>
            <a:endParaRPr sz="1200" baseline="-10416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7433" y="1725077"/>
            <a:ext cx="1426845" cy="2184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ts val="944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85" dirty="0">
                <a:latin typeface="Tahoma"/>
                <a:cs typeface="Tahoma"/>
              </a:rPr>
              <a:t>  </a:t>
            </a:r>
            <a:r>
              <a:rPr sz="1100" spc="-10" dirty="0">
                <a:latin typeface="Tahoma"/>
                <a:cs typeface="Tahoma"/>
              </a:rPr>
              <a:t>2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spc="-15" baseline="31250" dirty="0">
                <a:latin typeface="Arial"/>
                <a:cs typeface="Arial"/>
              </a:rPr>
              <a:t>T</a:t>
            </a:r>
            <a:r>
              <a:rPr sz="1200" i="1" spc="-89" baseline="31250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50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295" dirty="0">
                <a:latin typeface="SimSun-ExtB"/>
                <a:cs typeface="SimSun-ExtB"/>
              </a:rPr>
              <a:t> </a:t>
            </a:r>
            <a:r>
              <a:rPr sz="1100" dirty="0">
                <a:latin typeface="Tahoma"/>
                <a:cs typeface="Tahoma"/>
              </a:rPr>
              <a:t>2</a:t>
            </a:r>
            <a:r>
              <a:rPr sz="1100" i="1" dirty="0">
                <a:latin typeface="Calibri"/>
                <a:cs typeface="Calibri"/>
              </a:rPr>
              <a:t>λ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390" baseline="312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431800">
              <a:lnSpc>
                <a:spcPts val="585"/>
              </a:lnSpc>
              <a:tabLst>
                <a:tab pos="1022985" algn="l"/>
              </a:tabLst>
            </a:pPr>
            <a:r>
              <a:rPr sz="800" spc="-50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957" y="2113291"/>
            <a:ext cx="363569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On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simplification,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b="1" i="1" spc="-20" dirty="0">
                <a:latin typeface="Arial"/>
                <a:cs typeface="Arial"/>
              </a:rPr>
              <a:t>Sb</a:t>
            </a:r>
            <a:r>
              <a:rPr sz="1200" spc="-30" baseline="-10416" dirty="0">
                <a:latin typeface="Tahoma"/>
                <a:cs typeface="Tahoma"/>
              </a:rPr>
              <a:t>1</a:t>
            </a:r>
            <a:r>
              <a:rPr sz="1200" spc="127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λ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209" baseline="-10416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b="1" i="1" dirty="0" err="1">
                <a:latin typeface="Arial"/>
                <a:cs typeface="Arial"/>
              </a:rPr>
              <a:t>b</a:t>
            </a:r>
            <a:r>
              <a:rPr sz="1200" i="1" baseline="27777" dirty="0" err="1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lang="en-IN" sz="1100" b="1" i="1" baseline="-25000" dirty="0">
                <a:latin typeface="Arial"/>
                <a:cs typeface="Arial"/>
              </a:rPr>
              <a:t>1</a:t>
            </a:r>
            <a:r>
              <a:rPr sz="1100" b="1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957" y="2179488"/>
            <a:ext cx="3863975" cy="50800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R="1008380" algn="r">
              <a:lnSpc>
                <a:spcPct val="100000"/>
              </a:lnSpc>
              <a:spcBef>
                <a:spcPts val="170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  <a:p>
            <a:pPr marL="214629" marR="3048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Thus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we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find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direction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42" baseline="-10416" dirty="0">
                <a:latin typeface="Tahoma"/>
                <a:cs typeface="Tahoma"/>
              </a:rPr>
              <a:t> </a:t>
            </a:r>
            <a:r>
              <a:rPr sz="1100" spc="-110" dirty="0">
                <a:latin typeface="Tahoma"/>
                <a:cs typeface="Tahoma"/>
              </a:rPr>
              <a:t>we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seek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9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λ</a:t>
            </a:r>
            <a:r>
              <a:rPr sz="1100" i="1" spc="70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corresponding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/>
              <a:t>First </a:t>
            </a:r>
            <a:r>
              <a:rPr spc="-30" dirty="0"/>
              <a:t>principal</a:t>
            </a:r>
            <a:r>
              <a:rPr spc="5" dirty="0"/>
              <a:t> </a:t>
            </a:r>
            <a:r>
              <a:rPr spc="-40" dirty="0"/>
              <a:t>component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" y="899196"/>
            <a:ext cx="3884295" cy="16827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0029" marR="355600" indent="-177165">
              <a:lnSpc>
                <a:spcPts val="1350"/>
              </a:lnSpc>
              <a:spcBef>
                <a:spcPts val="11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Putting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result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previous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slide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objective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constrained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optimization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ie.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max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Sb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200" spc="232" baseline="-10416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spc="-20" dirty="0">
                <a:latin typeface="Arial"/>
                <a:cs typeface="Arial"/>
              </a:rPr>
              <a:t>Sb</a:t>
            </a:r>
            <a:r>
              <a:rPr sz="1200" spc="-30" baseline="-10416" dirty="0">
                <a:latin typeface="Tahoma"/>
                <a:cs typeface="Tahoma"/>
              </a:rPr>
              <a:t>1</a:t>
            </a:r>
            <a:r>
              <a:rPr sz="1200" spc="14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Calibri"/>
                <a:cs typeface="Calibri"/>
              </a:rPr>
              <a:t>λ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42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Calibri"/>
                <a:cs typeface="Calibri"/>
              </a:rPr>
              <a:t>λ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604520">
              <a:lnSpc>
                <a:spcPts val="200"/>
              </a:lnSpc>
              <a:tabLst>
                <a:tab pos="1557020" algn="l"/>
                <a:tab pos="2139950" algn="l"/>
              </a:tabLst>
            </a:pPr>
            <a:r>
              <a:rPr sz="800" spc="-50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1</a:t>
            </a:r>
            <a:endParaRPr sz="800" dirty="0">
              <a:latin typeface="Tahoma"/>
              <a:cs typeface="Tahoma"/>
            </a:endParaRPr>
          </a:p>
          <a:p>
            <a:pPr marL="240029" marR="558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Our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objective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boils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maximizing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120" dirty="0">
                <a:latin typeface="Calibri"/>
                <a:cs typeface="Calibri"/>
              </a:rPr>
              <a:t>λ</a:t>
            </a:r>
            <a:r>
              <a:rPr sz="1100" i="1" spc="75" dirty="0">
                <a:latin typeface="Calibri"/>
                <a:cs typeface="Calibri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we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looking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eigenvector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8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corresponds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its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eigenvalue.</a:t>
            </a:r>
            <a:endParaRPr sz="1100" dirty="0">
              <a:latin typeface="Tahoma"/>
              <a:cs typeface="Tahoma"/>
            </a:endParaRPr>
          </a:p>
          <a:p>
            <a:pPr marL="2406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40665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principal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component.</a:t>
            </a:r>
            <a:endParaRPr sz="1100" dirty="0">
              <a:latin typeface="Tahoma"/>
              <a:cs typeface="Tahoma"/>
            </a:endParaRPr>
          </a:p>
          <a:p>
            <a:pPr marL="240029" marR="3105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40029" algn="l"/>
              </a:tabLst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examine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inner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workings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Lagrangian </a:t>
            </a:r>
            <a:r>
              <a:rPr sz="1100" spc="-10" dirty="0">
                <a:latin typeface="Tahoma"/>
                <a:cs typeface="Tahoma"/>
              </a:rPr>
              <a:t>method.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50" dirty="0">
                <a:latin typeface="Verdana"/>
                <a:cs typeface="Verdana"/>
              </a:rPr>
              <a:t>M</a:t>
            </a:r>
            <a:r>
              <a:rPr spc="50" dirty="0"/>
              <a:t>-</a:t>
            </a:r>
            <a:r>
              <a:rPr spc="-50" dirty="0"/>
              <a:t>dimensional</a:t>
            </a:r>
            <a:r>
              <a:rPr spc="-30" dirty="0"/>
              <a:t> </a:t>
            </a:r>
            <a:r>
              <a:rPr spc="-70" dirty="0"/>
              <a:t>subspace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40" dirty="0"/>
              <a:t>maximum</a:t>
            </a:r>
            <a:r>
              <a:rPr spc="-25" dirty="0"/>
              <a:t> </a:t>
            </a:r>
            <a:r>
              <a:rPr spc="-40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34782"/>
            <a:ext cx="3823970" cy="18167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563245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50" dirty="0">
                <a:latin typeface="Tahoma"/>
                <a:cs typeface="Tahoma"/>
              </a:rPr>
              <a:t>Assume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that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we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found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first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principal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components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135" dirty="0">
                <a:latin typeface="Arial"/>
                <a:cs typeface="Arial"/>
              </a:rPr>
              <a:t>S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15" dirty="0">
                <a:latin typeface="Tahoma"/>
                <a:cs typeface="Tahoma"/>
              </a:rPr>
              <a:t>that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associated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largest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eigenvalues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135" dirty="0">
                <a:latin typeface="Arial"/>
                <a:cs typeface="Arial"/>
              </a:rPr>
              <a:t>S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214629" marR="77470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>
                <a:latin typeface="Tahoma"/>
                <a:cs typeface="Tahoma"/>
              </a:rPr>
              <a:t>Since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135" dirty="0">
                <a:latin typeface="Arial"/>
                <a:cs typeface="Arial"/>
              </a:rPr>
              <a:t>S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symmetric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5" dirty="0">
                <a:latin typeface="Tahoma"/>
                <a:cs typeface="Tahoma"/>
              </a:rPr>
              <a:t>we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use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spectral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theorem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use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construct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orthonormal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basis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spc="-40" dirty="0">
                <a:latin typeface="Tahoma"/>
                <a:cs typeface="Tahoma"/>
              </a:rPr>
              <a:t>1-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basis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lang="en-IN" sz="1100" spc="15" dirty="0">
                <a:latin typeface="Tahoma"/>
                <a:cs typeface="Tahoma"/>
              </a:rPr>
              <a:t>a subspace of </a:t>
            </a:r>
            <a:r>
              <a:rPr sz="1100" spc="35" dirty="0">
                <a:latin typeface="Times New Roman"/>
                <a:cs typeface="Times New Roman"/>
              </a:rPr>
              <a:t>R</a:t>
            </a:r>
            <a:r>
              <a:rPr sz="1200" i="1" spc="52" baseline="27777" dirty="0">
                <a:latin typeface="Arial"/>
                <a:cs typeface="Arial"/>
              </a:rPr>
              <a:t>D</a:t>
            </a:r>
            <a:r>
              <a:rPr sz="1200" i="1" spc="-172" baseline="27777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principal</a:t>
            </a:r>
            <a:r>
              <a:rPr sz="1100" spc="-40" dirty="0">
                <a:latin typeface="Tahoma"/>
                <a:cs typeface="Tahoma"/>
              </a:rPr>
              <a:t> component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found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subtracting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contribution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components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Essentially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trying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principal </a:t>
            </a:r>
            <a:r>
              <a:rPr sz="1100" spc="-45" dirty="0">
                <a:latin typeface="Tahoma"/>
                <a:cs typeface="Tahoma"/>
              </a:rPr>
              <a:t>components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compress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remainder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information.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50" dirty="0">
                <a:latin typeface="Verdana"/>
                <a:cs typeface="Verdana"/>
              </a:rPr>
              <a:t>M</a:t>
            </a:r>
            <a:r>
              <a:rPr spc="50" dirty="0"/>
              <a:t>-</a:t>
            </a:r>
            <a:r>
              <a:rPr spc="-50" dirty="0"/>
              <a:t>dimensional</a:t>
            </a:r>
            <a:r>
              <a:rPr spc="-30" dirty="0"/>
              <a:t> </a:t>
            </a:r>
            <a:r>
              <a:rPr spc="-70" dirty="0"/>
              <a:t>subspace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40" dirty="0"/>
              <a:t>maximum</a:t>
            </a:r>
            <a:r>
              <a:rPr spc="-25" dirty="0"/>
              <a:t> </a:t>
            </a:r>
            <a:r>
              <a:rPr spc="-40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32090"/>
            <a:ext cx="3754754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b="1" i="1" spc="55" dirty="0">
                <a:latin typeface="Arial"/>
                <a:cs typeface="Arial"/>
              </a:rPr>
              <a:t>X</a:t>
            </a:r>
            <a:r>
              <a:rPr sz="1100" b="1" i="1" spc="1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[</a:t>
            </a:r>
            <a:r>
              <a:rPr sz="1100" b="1" i="1" spc="-40" dirty="0">
                <a:latin typeface="Arial"/>
                <a:cs typeface="Arial"/>
              </a:rPr>
              <a:t>x</a:t>
            </a:r>
            <a:r>
              <a:rPr sz="1200" spc="-60" baseline="-10416" dirty="0">
                <a:latin typeface="Tahoma"/>
                <a:cs typeface="Tahoma"/>
              </a:rPr>
              <a:t>1</a:t>
            </a:r>
            <a:r>
              <a:rPr sz="1100" i="1" spc="-40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x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b="1" i="1" spc="-35" dirty="0">
                <a:latin typeface="Arial"/>
                <a:cs typeface="Arial"/>
              </a:rPr>
              <a:t>x</a:t>
            </a:r>
            <a:r>
              <a:rPr sz="1200" i="1" spc="-52" baseline="-13888" dirty="0">
                <a:latin typeface="Arial"/>
                <a:cs typeface="Arial"/>
              </a:rPr>
              <a:t>N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spc="-120" dirty="0">
                <a:latin typeface="Tahoma"/>
                <a:cs typeface="Tahoma"/>
              </a:rPr>
              <a:t>]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75" dirty="0">
                <a:latin typeface="SimSun-ExtB"/>
                <a:cs typeface="SimSun-ExtB"/>
              </a:rPr>
              <a:t>∈</a:t>
            </a:r>
            <a:r>
              <a:rPr sz="1100" spc="-245" dirty="0">
                <a:latin typeface="SimSun-ExtB"/>
                <a:cs typeface="SimSun-ExtB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D</a:t>
            </a:r>
            <a:r>
              <a:rPr sz="1200" i="1" baseline="27777" dirty="0">
                <a:latin typeface="Verdana"/>
                <a:cs typeface="Verdana"/>
              </a:rPr>
              <a:t>×</a:t>
            </a:r>
            <a:r>
              <a:rPr sz="1200" i="1" baseline="27777" dirty="0">
                <a:latin typeface="Arial"/>
                <a:cs typeface="Arial"/>
              </a:rPr>
              <a:t>N</a:t>
            </a:r>
            <a:r>
              <a:rPr sz="1200" i="1" spc="390" baseline="27777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contains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k</a:t>
            </a:r>
            <a:r>
              <a:rPr sz="1200" i="1" spc="397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as </a:t>
            </a:r>
            <a:r>
              <a:rPr sz="1100" spc="-30" dirty="0">
                <a:latin typeface="Tahoma"/>
                <a:cs typeface="Tahoma"/>
              </a:rPr>
              <a:t>column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vectors.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10" dirty="0">
                <a:latin typeface="Tahoma"/>
                <a:cs typeface="Tahoma"/>
              </a:rPr>
              <a:t>Then,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new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i="1" spc="-520" dirty="0">
                <a:latin typeface="Arial"/>
                <a:cs typeface="Arial"/>
              </a:rPr>
              <a:t>X</a:t>
            </a:r>
            <a:r>
              <a:rPr sz="1650" spc="-30" baseline="12626" dirty="0">
                <a:latin typeface="Tahoma"/>
                <a:cs typeface="Tahoma"/>
              </a:rPr>
              <a:t>ˆ</a:t>
            </a:r>
            <a:r>
              <a:rPr sz="1650" spc="225" baseline="1262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given </a:t>
            </a:r>
            <a:r>
              <a:rPr sz="1100" spc="-25" dirty="0">
                <a:latin typeface="Tahoma"/>
                <a:cs typeface="Tahoma"/>
              </a:rPr>
              <a:t>by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198" y="1611857"/>
            <a:ext cx="1790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1" i="1" spc="-825" baseline="-12626" dirty="0">
                <a:latin typeface="Arial"/>
                <a:cs typeface="Arial"/>
              </a:rPr>
              <a:t>X</a:t>
            </a:r>
            <a:r>
              <a:rPr sz="1100" spc="-50" dirty="0">
                <a:latin typeface="Tahoma"/>
                <a:cs typeface="Tahoma"/>
              </a:rPr>
              <a:t>ˆ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3421" y="1510574"/>
            <a:ext cx="2501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3649" y="1660854"/>
            <a:ext cx="18802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3026" y="162655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3344" y="1718080"/>
            <a:ext cx="221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baseline="6944" dirty="0">
                <a:latin typeface="Arial"/>
                <a:cs typeface="Arial"/>
              </a:rPr>
              <a:t>i</a:t>
            </a:r>
            <a:r>
              <a:rPr sz="1200" i="1" spc="240" baseline="6944" dirty="0">
                <a:latin typeface="Arial"/>
                <a:cs typeface="Arial"/>
              </a:rPr>
              <a:t> 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9965" y="1646426"/>
            <a:ext cx="11938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83590" algn="l"/>
              </a:tabLst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70" dirty="0">
                <a:latin typeface="Tahoma"/>
                <a:cs typeface="Tahoma"/>
              </a:rPr>
              <a:t>  </a:t>
            </a:r>
            <a:r>
              <a:rPr sz="1100" b="1" i="1" spc="55" dirty="0">
                <a:latin typeface="Arial"/>
                <a:cs typeface="Arial"/>
              </a:rPr>
              <a:t>X</a:t>
            </a:r>
            <a:r>
              <a:rPr sz="1100" b="1" i="1" spc="95" dirty="0">
                <a:latin typeface="Arial"/>
                <a:cs typeface="Arial"/>
              </a:rPr>
              <a:t> </a:t>
            </a:r>
            <a:r>
              <a:rPr sz="1100" spc="-305" dirty="0">
                <a:latin typeface="SimSun-ExtB"/>
                <a:cs typeface="SimSun-ExtB"/>
              </a:rPr>
              <a:t>−</a:t>
            </a:r>
            <a:r>
              <a:rPr sz="1100" dirty="0">
                <a:latin typeface="SimSun-ExtB"/>
                <a:cs typeface="SimSun-ExtB"/>
              </a:rPr>
              <a:t>	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-20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360" dirty="0">
                <a:latin typeface="Arial"/>
                <a:cs typeface="Arial"/>
              </a:rPr>
              <a:t> </a:t>
            </a:r>
            <a:r>
              <a:rPr sz="1100" b="1" i="1" spc="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1865" y="1852408"/>
            <a:ext cx="10591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70" dirty="0">
                <a:latin typeface="Tahoma"/>
                <a:cs typeface="Tahoma"/>
              </a:rPr>
              <a:t>  </a:t>
            </a:r>
            <a:r>
              <a:rPr sz="1100" b="1" i="1" spc="55" dirty="0">
                <a:latin typeface="Arial"/>
                <a:cs typeface="Arial"/>
              </a:rPr>
              <a:t>X</a:t>
            </a:r>
            <a:r>
              <a:rPr sz="1100" b="1" i="1" spc="90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00" dirty="0">
                <a:latin typeface="SimSun-ExtB"/>
                <a:cs typeface="SimSun-ExtB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m</a:t>
            </a:r>
            <a:r>
              <a:rPr sz="1200" i="1" spc="-15" baseline="-10416" dirty="0">
                <a:latin typeface="Verdana"/>
                <a:cs typeface="Verdana"/>
              </a:rPr>
              <a:t>−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b="1" i="1" spc="-1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7357" y="2271139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0752" y="2345053"/>
            <a:ext cx="2501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4395" y="2286951"/>
            <a:ext cx="8191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7865" algn="l"/>
              </a:tabLst>
            </a:pPr>
            <a:r>
              <a:rPr sz="1100" spc="-35" dirty="0">
                <a:latin typeface="Tahoma"/>
                <a:cs typeface="Tahoma"/>
              </a:rPr>
              <a:t>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r>
              <a:rPr sz="1100" b="1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82737" y="2321076"/>
            <a:ext cx="14566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02562" y="2260433"/>
            <a:ext cx="2501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34222" y="2345917"/>
            <a:ext cx="51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8492" y="2273997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02562" y="2365526"/>
            <a:ext cx="5029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3550" algn="l"/>
              </a:tabLst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56498" y="2286951"/>
            <a:ext cx="2375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3695" algn="l"/>
              </a:tabLst>
            </a:pP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-50" dirty="0">
                <a:latin typeface="Arial"/>
                <a:cs typeface="Arial"/>
              </a:rPr>
              <a:t> </a:t>
            </a:r>
            <a:r>
              <a:rPr sz="1100" b="1" i="1" spc="-60" dirty="0">
                <a:latin typeface="Arial"/>
                <a:cs typeface="Arial"/>
              </a:rPr>
              <a:t>b</a:t>
            </a:r>
            <a:r>
              <a:rPr sz="1100" b="1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projection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projects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8995" y="2459023"/>
            <a:ext cx="2957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1" i="1" spc="55" dirty="0">
                <a:latin typeface="Arial"/>
                <a:cs typeface="Arial"/>
              </a:rPr>
              <a:t>X</a:t>
            </a:r>
            <a:r>
              <a:rPr sz="1100" b="1" i="1" spc="11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onto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subspace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spanned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spc="-20" dirty="0">
                <a:latin typeface="Arial"/>
                <a:cs typeface="Arial"/>
              </a:rPr>
              <a:t>b</a:t>
            </a:r>
            <a:r>
              <a:rPr sz="1200" i="1" spc="-30" baseline="-10416" dirty="0">
                <a:latin typeface="Arial"/>
                <a:cs typeface="Arial"/>
              </a:rPr>
              <a:t>m</a:t>
            </a:r>
            <a:r>
              <a:rPr sz="1200" i="1" spc="-30" baseline="-10416" dirty="0">
                <a:latin typeface="Verdana"/>
                <a:cs typeface="Verdana"/>
              </a:rPr>
              <a:t>−</a:t>
            </a:r>
            <a:r>
              <a:rPr sz="1200" spc="-30" baseline="-10416" dirty="0">
                <a:latin typeface="Tahoma"/>
                <a:cs typeface="Tahoma"/>
              </a:rPr>
              <a:t>1</a:t>
            </a:r>
            <a:r>
              <a:rPr sz="1100" spc="-2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50" dirty="0">
                <a:latin typeface="Verdana"/>
                <a:cs typeface="Verdana"/>
              </a:rPr>
              <a:t>M</a:t>
            </a:r>
            <a:r>
              <a:rPr spc="50" dirty="0"/>
              <a:t>-</a:t>
            </a:r>
            <a:r>
              <a:rPr spc="-50" dirty="0"/>
              <a:t>dimensional</a:t>
            </a:r>
            <a:r>
              <a:rPr spc="-30" dirty="0"/>
              <a:t> </a:t>
            </a:r>
            <a:r>
              <a:rPr spc="-70" dirty="0"/>
              <a:t>subspace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40" dirty="0"/>
              <a:t>maximum</a:t>
            </a:r>
            <a:r>
              <a:rPr spc="-25" dirty="0"/>
              <a:t> </a:t>
            </a:r>
            <a:r>
              <a:rPr spc="-40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774368"/>
            <a:ext cx="3155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30" dirty="0">
                <a:latin typeface="Tahoma"/>
                <a:cs typeface="Tahoma"/>
              </a:rPr>
              <a:t> principal </a:t>
            </a:r>
            <a:r>
              <a:rPr sz="1100" spc="-40" dirty="0">
                <a:latin typeface="Tahoma"/>
                <a:cs typeface="Tahoma"/>
              </a:rPr>
              <a:t>component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maximize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9964" y="1210473"/>
            <a:ext cx="1014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</a:t>
            </a:r>
            <a:r>
              <a:rPr sz="1100" dirty="0">
                <a:latin typeface="Tahoma"/>
                <a:cs typeface="Tahoma"/>
              </a:rPr>
              <a:t>[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]</a:t>
            </a:r>
            <a:r>
              <a:rPr sz="1100" spc="90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93250" y="1074609"/>
            <a:ext cx="242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</a:t>
            </a:r>
            <a:r>
              <a:rPr sz="800" i="1" spc="-2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9298" y="1224901"/>
            <a:ext cx="212382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8363" y="1413508"/>
            <a:ext cx="220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1205" y="1210473"/>
            <a:ext cx="85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01441" y="1190598"/>
            <a:ext cx="1663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>
              <a:lnSpc>
                <a:spcPts val="84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ts val="840"/>
              </a:lnSpc>
            </a:pPr>
            <a:r>
              <a:rPr sz="800" i="1" spc="-25" dirty="0">
                <a:latin typeface="Arial"/>
                <a:cs typeface="Arial"/>
              </a:rPr>
              <a:t>mn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6160" y="169798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45626" y="1094242"/>
            <a:ext cx="123825" cy="8909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1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u="sng" spc="-1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93250" y="1562124"/>
            <a:ext cx="242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</a:t>
            </a:r>
            <a:r>
              <a:rPr sz="800" i="1" spc="-25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60382" y="1701466"/>
            <a:ext cx="17129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08363" y="1901023"/>
            <a:ext cx="2203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n</a:t>
            </a:r>
            <a:r>
              <a:rPr sz="800" spc="-25" dirty="0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54299" y="1678100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18117" y="1697988"/>
            <a:ext cx="3117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375" dirty="0">
                <a:latin typeface="Arial"/>
                <a:cs typeface="Arial"/>
              </a:rPr>
              <a:t> </a:t>
            </a:r>
            <a:r>
              <a:rPr sz="1100" b="1" i="1" spc="-42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24327" y="1756091"/>
            <a:ext cx="29908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baseline="-6944" dirty="0">
                <a:latin typeface="Arial"/>
                <a:cs typeface="Arial"/>
              </a:rPr>
              <a:t>m</a:t>
            </a:r>
            <a:r>
              <a:rPr sz="1200" i="1" spc="644" baseline="-6944" dirty="0">
                <a:latin typeface="Arial"/>
                <a:cs typeface="Arial"/>
              </a:rPr>
              <a:t> </a:t>
            </a: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79292" y="1697988"/>
            <a:ext cx="180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ˆ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34219" y="167810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08173" y="2130525"/>
            <a:ext cx="111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70760" y="2058948"/>
            <a:ext cx="792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95" dirty="0">
                <a:latin typeface="Tahoma"/>
                <a:cs typeface="Tahoma"/>
              </a:rPr>
              <a:t> 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-75" baseline="31250" dirty="0">
                <a:latin typeface="Arial"/>
                <a:cs typeface="Arial"/>
              </a:rPr>
              <a:t> </a:t>
            </a:r>
            <a:r>
              <a:rPr sz="1100" b="1" i="1" spc="-505" dirty="0">
                <a:latin typeface="Arial"/>
                <a:cs typeface="Arial"/>
              </a:rPr>
              <a:t>S</a:t>
            </a:r>
            <a:r>
              <a:rPr sz="1650" spc="67" baseline="12626" dirty="0">
                <a:latin typeface="Tahoma"/>
                <a:cs typeface="Tahoma"/>
              </a:rPr>
              <a:t>ˆ</a:t>
            </a:r>
            <a:r>
              <a:rPr sz="1100" b="1" i="1" spc="15" dirty="0">
                <a:latin typeface="Arial"/>
                <a:cs typeface="Arial"/>
              </a:rPr>
              <a:t>b</a:t>
            </a:r>
            <a:r>
              <a:rPr sz="1200" i="1" spc="127" baseline="-10416" dirty="0">
                <a:latin typeface="Arial"/>
                <a:cs typeface="Arial"/>
              </a:rPr>
              <a:t>m</a:t>
            </a:r>
            <a:r>
              <a:rPr sz="1100" i="1" spc="25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1957" y="2370199"/>
            <a:ext cx="38106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35" dirty="0">
                <a:latin typeface="Tahoma"/>
                <a:cs typeface="Tahoma"/>
              </a:rPr>
              <a:t>Here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i="1" spc="-570" dirty="0">
                <a:latin typeface="Arial"/>
                <a:cs typeface="Arial"/>
              </a:rPr>
              <a:t>S</a:t>
            </a:r>
            <a:r>
              <a:rPr sz="1650" spc="-60" baseline="12626" dirty="0">
                <a:latin typeface="Tahoma"/>
                <a:cs typeface="Tahoma"/>
              </a:rPr>
              <a:t>ˆ</a:t>
            </a:r>
            <a:r>
              <a:rPr sz="1650" spc="60" baseline="1262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covariance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transformed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 set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represented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b="1" i="1" spc="-550" dirty="0">
                <a:latin typeface="Arial"/>
                <a:cs typeface="Arial"/>
              </a:rPr>
              <a:t>x</a:t>
            </a:r>
            <a:r>
              <a:rPr sz="1100" spc="-35" dirty="0">
                <a:latin typeface="Tahoma"/>
                <a:cs typeface="Tahoma"/>
              </a:rPr>
              <a:t>ˆ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[</a:t>
            </a:r>
            <a:r>
              <a:rPr sz="1100" b="1" i="1" spc="-555" dirty="0">
                <a:latin typeface="Arial"/>
                <a:cs typeface="Arial"/>
              </a:rPr>
              <a:t>x</a:t>
            </a:r>
            <a:r>
              <a:rPr sz="1100" spc="-150" dirty="0">
                <a:latin typeface="Tahoma"/>
                <a:cs typeface="Tahoma"/>
              </a:rPr>
              <a:t>ˆ</a:t>
            </a:r>
            <a:r>
              <a:rPr sz="1200" spc="15" baseline="-10416" dirty="0">
                <a:latin typeface="Tahoma"/>
                <a:cs typeface="Tahoma"/>
              </a:rPr>
              <a:t>1</a:t>
            </a:r>
            <a:r>
              <a:rPr sz="1100" i="1" spc="-40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b="1" i="1" spc="-535" dirty="0">
                <a:latin typeface="Arial"/>
                <a:cs typeface="Arial"/>
              </a:rPr>
              <a:t>x</a:t>
            </a:r>
            <a:r>
              <a:rPr sz="1100" spc="-130" dirty="0">
                <a:latin typeface="Tahoma"/>
                <a:cs typeface="Tahoma"/>
              </a:rPr>
              <a:t>ˆ</a:t>
            </a:r>
            <a:r>
              <a:rPr sz="1200" spc="44" baseline="-10416" dirty="0">
                <a:latin typeface="Tahoma"/>
                <a:cs typeface="Tahoma"/>
              </a:rPr>
              <a:t>2</a:t>
            </a:r>
            <a:r>
              <a:rPr sz="1100" i="1" spc="-20" dirty="0">
                <a:latin typeface="Calibri"/>
                <a:cs typeface="Calibri"/>
              </a:rPr>
              <a:t>,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65" dirty="0">
                <a:latin typeface="Calibri"/>
                <a:cs typeface="Calibri"/>
              </a:rPr>
              <a:t> </a:t>
            </a:r>
            <a:r>
              <a:rPr sz="1100" b="1" i="1" spc="-535" dirty="0">
                <a:latin typeface="Arial"/>
                <a:cs typeface="Arial"/>
              </a:rPr>
              <a:t>x</a:t>
            </a:r>
            <a:r>
              <a:rPr sz="1100" spc="-130" dirty="0">
                <a:latin typeface="Tahoma"/>
                <a:cs typeface="Tahoma"/>
              </a:rPr>
              <a:t>ˆ</a:t>
            </a:r>
            <a:r>
              <a:rPr sz="1200" i="1" spc="-30" baseline="-13888" dirty="0">
                <a:latin typeface="Arial"/>
                <a:cs typeface="Arial"/>
              </a:rPr>
              <a:t>N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].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i="1" spc="50" dirty="0">
                <a:latin typeface="Verdana"/>
                <a:cs typeface="Verdana"/>
              </a:rPr>
              <a:t>M</a:t>
            </a:r>
            <a:r>
              <a:rPr spc="50" dirty="0"/>
              <a:t>-</a:t>
            </a:r>
            <a:r>
              <a:rPr spc="-50" dirty="0"/>
              <a:t>dimensional</a:t>
            </a:r>
            <a:r>
              <a:rPr spc="-30" dirty="0"/>
              <a:t> </a:t>
            </a:r>
            <a:r>
              <a:rPr spc="-70" dirty="0"/>
              <a:t>subspace</a:t>
            </a:r>
            <a:r>
              <a:rPr spc="-25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spc="-40" dirty="0"/>
              <a:t>maximum</a:t>
            </a:r>
            <a:r>
              <a:rPr spc="-25" dirty="0"/>
              <a:t> </a:t>
            </a:r>
            <a:r>
              <a:rPr spc="-40" dirty="0"/>
              <a:t>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83220"/>
            <a:ext cx="376491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As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before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 </a:t>
            </a:r>
            <a:r>
              <a:rPr sz="1100" spc="-10" dirty="0">
                <a:latin typeface="Tahoma"/>
                <a:cs typeface="Tahoma"/>
              </a:rPr>
              <a:t>up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constrained</a:t>
            </a:r>
            <a:r>
              <a:rPr sz="1100" spc="-20" dirty="0">
                <a:latin typeface="Tahoma"/>
                <a:cs typeface="Tahoma"/>
              </a:rPr>
              <a:t> optimization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component,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 establish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20" dirty="0">
                <a:latin typeface="Tahoma"/>
                <a:cs typeface="Tahoma"/>
              </a:rPr>
              <a:t>optimal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eignevector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spc="-570" dirty="0">
                <a:latin typeface="Arial"/>
                <a:cs typeface="Arial"/>
              </a:rPr>
              <a:t>S</a:t>
            </a:r>
            <a:r>
              <a:rPr sz="1650" spc="-60" baseline="12626" dirty="0">
                <a:latin typeface="Tahoma"/>
                <a:cs typeface="Tahoma"/>
              </a:rPr>
              <a:t>ˆ</a:t>
            </a:r>
            <a:r>
              <a:rPr sz="1650" spc="60" baseline="1262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corresponds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 </a:t>
            </a:r>
            <a:r>
              <a:rPr sz="1100" spc="-10" dirty="0">
                <a:latin typeface="Tahoma"/>
                <a:cs typeface="Tahoma"/>
              </a:rPr>
              <a:t>eigenvalue.</a:t>
            </a:r>
            <a:endParaRPr sz="1100">
              <a:latin typeface="Tahoma"/>
              <a:cs typeface="Tahoma"/>
            </a:endParaRPr>
          </a:p>
          <a:p>
            <a:pPr marL="214629" marR="17081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establish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19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eigenvector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original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i="1" spc="55" dirty="0">
                <a:latin typeface="Arial"/>
                <a:cs typeface="Arial"/>
              </a:rPr>
              <a:t>X</a:t>
            </a:r>
            <a:r>
              <a:rPr sz="1100" b="1" i="1" spc="-16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14629" marR="104775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10" dirty="0">
                <a:latin typeface="Tahoma"/>
                <a:cs typeface="Tahoma"/>
              </a:rPr>
              <a:t>More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generally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spc="-570" dirty="0">
                <a:latin typeface="Arial"/>
                <a:cs typeface="Arial"/>
              </a:rPr>
              <a:t>S</a:t>
            </a:r>
            <a:r>
              <a:rPr sz="1650" spc="-60" baseline="12626" dirty="0">
                <a:latin typeface="Tahoma"/>
                <a:cs typeface="Tahoma"/>
              </a:rPr>
              <a:t>ˆ</a:t>
            </a:r>
            <a:r>
              <a:rPr sz="1650" spc="60" baseline="12626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85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spc="-10" dirty="0">
                <a:latin typeface="Tahoma"/>
                <a:cs typeface="Tahoma"/>
              </a:rPr>
              <a:t>same.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Eigenvectors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b="1" i="1" dirty="0">
                <a:latin typeface="Sitka Small"/>
                <a:cs typeface="Sitka Small"/>
              </a:rPr>
              <a:t>S</a:t>
            </a:r>
            <a:r>
              <a:rPr b="1" i="1" spc="95" dirty="0">
                <a:latin typeface="Sitka Small"/>
                <a:cs typeface="Sitka Small"/>
              </a:rPr>
              <a:t> </a:t>
            </a:r>
            <a:r>
              <a:rPr spc="-30" dirty="0"/>
              <a:t>and</a:t>
            </a:r>
            <a:r>
              <a:rPr spc="-15" dirty="0"/>
              <a:t> </a:t>
            </a:r>
            <a:r>
              <a:rPr b="1" i="1" spc="-675" dirty="0">
                <a:latin typeface="Sitka Small"/>
                <a:cs typeface="Sitka Small"/>
              </a:rPr>
              <a:t>S</a:t>
            </a:r>
            <a:r>
              <a:rPr sz="2100" spc="-82" baseline="13888" dirty="0"/>
              <a:t>ˆ</a:t>
            </a:r>
            <a:endParaRPr sz="2100" baseline="13888">
              <a:latin typeface="Sitka Small"/>
              <a:cs typeface="Sitka Smal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957" y="751660"/>
            <a:ext cx="383349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now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show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9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spc="-570" dirty="0">
                <a:latin typeface="Arial"/>
                <a:cs typeface="Arial"/>
              </a:rPr>
              <a:t>S</a:t>
            </a:r>
            <a:r>
              <a:rPr sz="1650" spc="-60" baseline="12626" dirty="0">
                <a:latin typeface="Tahoma"/>
                <a:cs typeface="Tahoma"/>
              </a:rPr>
              <a:t>ˆ</a:t>
            </a:r>
            <a:r>
              <a:rPr sz="1650" spc="60" baseline="12626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same.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Let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eigenvector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i.e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4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λ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20" dirty="0">
                <a:latin typeface="Tahoma"/>
                <a:cs typeface="Tahoma"/>
              </a:rPr>
              <a:t>Now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write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2534" y="1668488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19834" y="1646922"/>
            <a:ext cx="12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1852" y="1610854"/>
            <a:ext cx="12376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9490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4922" y="1535764"/>
            <a:ext cx="286025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93065" algn="l"/>
                <a:tab pos="662940" algn="l"/>
                <a:tab pos="1442720" algn="l"/>
                <a:tab pos="2291715" algn="l"/>
              </a:tabLst>
            </a:pPr>
            <a:r>
              <a:rPr lang="en-IN" sz="1100" b="1" i="1" spc="-385" dirty="0" err="1">
                <a:latin typeface="Arial"/>
                <a:cs typeface="Arial"/>
              </a:rPr>
              <a:t>S</a:t>
            </a:r>
            <a:r>
              <a:rPr lang="en-IN" sz="1650" spc="247" baseline="12626" dirty="0" err="1">
                <a:latin typeface="Tahoma"/>
                <a:cs typeface="Tahoma"/>
              </a:rPr>
              <a:t>ˆ</a:t>
            </a:r>
            <a:r>
              <a:rPr lang="en-IN" sz="1100" b="1" i="1" spc="145" baseline="12626" dirty="0" err="1">
                <a:latin typeface="Arial"/>
                <a:cs typeface="Arial"/>
              </a:rPr>
              <a:t>b</a:t>
            </a:r>
            <a:r>
              <a:rPr lang="en-IN" sz="1100" b="1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650" spc="-89" baseline="37878" dirty="0">
                <a:latin typeface="Tahoma"/>
                <a:cs typeface="Tahoma"/>
              </a:rPr>
              <a:t>1</a:t>
            </a:r>
            <a:r>
              <a:rPr sz="1650" spc="-82" baseline="37878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10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295" dirty="0">
                <a:latin typeface="SimSun-ExtB"/>
                <a:cs typeface="SimSun-ExtB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r>
              <a:rPr sz="1100" b="1" i="1" dirty="0">
                <a:latin typeface="Arial"/>
                <a:cs typeface="Arial"/>
              </a:rPr>
              <a:t>	</a:t>
            </a:r>
            <a:r>
              <a:rPr sz="1100" b="1" i="1" spc="55" dirty="0">
                <a:latin typeface="Arial"/>
                <a:cs typeface="Arial"/>
              </a:rPr>
              <a:t>X</a:t>
            </a:r>
            <a:r>
              <a:rPr sz="1100" b="1" i="1" spc="-1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)(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100" b="1" i="1" spc="10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290" dirty="0">
                <a:latin typeface="SimSun-ExtB"/>
                <a:cs typeface="SimSun-ExtB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r>
              <a:rPr sz="1100" b="1" i="1" dirty="0">
                <a:latin typeface="Arial"/>
                <a:cs typeface="Arial"/>
              </a:rPr>
              <a:t>	</a:t>
            </a:r>
            <a:r>
              <a:rPr sz="1100" b="1" i="1" spc="55" dirty="0">
                <a:latin typeface="Arial"/>
                <a:cs typeface="Arial"/>
              </a:rPr>
              <a:t>X</a:t>
            </a:r>
            <a:r>
              <a:rPr sz="1100" b="1" i="1" spc="-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-37" baseline="31250" dirty="0">
                <a:latin typeface="Arial"/>
                <a:cs typeface="Arial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8145" y="1610854"/>
            <a:ext cx="6267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8010" algn="l"/>
              </a:tabLst>
            </a:pP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4968" y="1825026"/>
            <a:ext cx="901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40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2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spc="-25" dirty="0">
                <a:latin typeface="Arial"/>
                <a:cs typeface="Arial"/>
              </a:rPr>
              <a:t>SB</a:t>
            </a:r>
            <a:r>
              <a:rPr sz="1200" i="1" spc="-37" baseline="31250" dirty="0">
                <a:latin typeface="Arial"/>
                <a:cs typeface="Arial"/>
              </a:rPr>
              <a:t>T</a:t>
            </a:r>
            <a:endParaRPr sz="1200" baseline="3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0625" y="1896604"/>
            <a:ext cx="17672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29715" algn="l"/>
              </a:tabLst>
            </a:pP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46858" y="1825026"/>
            <a:ext cx="17202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524000" algn="l"/>
              </a:tabLst>
            </a:pPr>
            <a:r>
              <a:rPr sz="1100" spc="-254" dirty="0">
                <a:latin typeface="SimSun-ExtB"/>
                <a:cs typeface="SimSun-ExtB"/>
              </a:rPr>
              <a:t>—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m</a:t>
            </a:r>
            <a:r>
              <a:rPr sz="1200" i="1" spc="-15" baseline="-10416" dirty="0">
                <a:latin typeface="Verdana"/>
                <a:cs typeface="Verdana"/>
              </a:rPr>
              <a:t>−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b="1" i="1" spc="-10" dirty="0">
                <a:latin typeface="Arial"/>
                <a:cs typeface="Arial"/>
              </a:rPr>
              <a:t>SB</a:t>
            </a:r>
            <a:r>
              <a:rPr sz="1200" i="1" spc="-15" baseline="31250" dirty="0">
                <a:latin typeface="Arial"/>
                <a:cs typeface="Arial"/>
              </a:rPr>
              <a:t>T</a:t>
            </a:r>
            <a:r>
              <a:rPr sz="1200" i="1" baseline="31250" dirty="0">
                <a:latin typeface="Arial"/>
                <a:cs typeface="Arial"/>
              </a:rPr>
              <a:t>	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b="1" i="1" spc="-25" dirty="0">
                <a:latin typeface="Arial"/>
                <a:cs typeface="Arial"/>
              </a:rPr>
              <a:t>b</a:t>
            </a:r>
            <a:r>
              <a:rPr sz="1200" i="1" spc="-37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1957" y="2035059"/>
            <a:ext cx="3795395" cy="675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6106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20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Arial"/>
                <a:cs typeface="Arial"/>
              </a:rPr>
              <a:t>SB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44" baseline="-10416" dirty="0">
                <a:latin typeface="Tahoma"/>
                <a:cs typeface="Tahoma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m</a:t>
            </a:r>
            <a:r>
              <a:rPr sz="1200" i="1" spc="-15" baseline="-10416" dirty="0">
                <a:latin typeface="Verdana"/>
                <a:cs typeface="Verdana"/>
              </a:rPr>
              <a:t>−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b="1" i="1" spc="-10" dirty="0">
                <a:latin typeface="Arial"/>
                <a:cs typeface="Arial"/>
              </a:rPr>
              <a:t>SB</a:t>
            </a:r>
            <a:r>
              <a:rPr sz="1200" i="1" spc="-15" baseline="-10416" dirty="0">
                <a:latin typeface="Arial"/>
                <a:cs typeface="Arial"/>
              </a:rPr>
              <a:t>m</a:t>
            </a:r>
            <a:r>
              <a:rPr sz="1200" i="1" spc="-15" baseline="-10416" dirty="0">
                <a:latin typeface="Verdana"/>
                <a:cs typeface="Verdana"/>
              </a:rPr>
              <a:t>−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i</a:t>
            </a:r>
            <a:endParaRPr sz="1200" baseline="-10416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10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Note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fact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142" baseline="-10416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projection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therefore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symmetric.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Eigenvectors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b="1" i="1" dirty="0">
                <a:latin typeface="Sitka Small"/>
                <a:cs typeface="Sitka Small"/>
              </a:rPr>
              <a:t>S</a:t>
            </a:r>
            <a:r>
              <a:rPr b="1" i="1" spc="95" dirty="0">
                <a:latin typeface="Sitka Small"/>
                <a:cs typeface="Sitka Small"/>
              </a:rPr>
              <a:t> </a:t>
            </a:r>
            <a:r>
              <a:rPr spc="-30" dirty="0"/>
              <a:t>and</a:t>
            </a:r>
            <a:r>
              <a:rPr spc="-15" dirty="0"/>
              <a:t> </a:t>
            </a:r>
            <a:r>
              <a:rPr b="1" i="1" spc="-675" dirty="0">
                <a:latin typeface="Sitka Small"/>
                <a:cs typeface="Sitka Small"/>
              </a:rPr>
              <a:t>S</a:t>
            </a:r>
            <a:r>
              <a:rPr sz="2100" spc="-82" baseline="13888" dirty="0"/>
              <a:t>ˆ</a:t>
            </a:r>
            <a:endParaRPr sz="2100" baseline="13888">
              <a:latin typeface="Sitka Small"/>
              <a:cs typeface="Sitka Smal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957" y="829460"/>
            <a:ext cx="3729354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  <a:tab pos="812800" algn="l"/>
              </a:tabLst>
            </a:pPr>
            <a:r>
              <a:rPr sz="1100" b="1" spc="-45" dirty="0">
                <a:latin typeface="Arial"/>
                <a:cs typeface="Arial"/>
              </a:rPr>
              <a:t>Case</a:t>
            </a:r>
            <a:r>
              <a:rPr sz="1100" b="1" spc="-25" dirty="0">
                <a:latin typeface="Arial"/>
                <a:cs typeface="Arial"/>
              </a:rPr>
              <a:t> 1:</a:t>
            </a:r>
            <a:r>
              <a:rPr sz="1100" b="1" dirty="0">
                <a:latin typeface="Arial"/>
                <a:cs typeface="Arial"/>
              </a:rPr>
              <a:t>	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≥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sz="1100" i="1" spc="-25" dirty="0">
                <a:latin typeface="Arial"/>
                <a:cs typeface="Arial"/>
              </a:rPr>
              <a:t>m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165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eigenvector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among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components.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357" y="1277491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921" y="1351418"/>
            <a:ext cx="2501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95" y="1293303"/>
            <a:ext cx="8553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4060" algn="l"/>
              </a:tabLst>
            </a:pPr>
            <a:r>
              <a:rPr sz="1100" spc="-20" dirty="0">
                <a:latin typeface="Tahoma"/>
                <a:cs typeface="Tahoma"/>
              </a:rPr>
              <a:t>Since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r>
              <a:rPr sz="1100" b="1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9739" y="1335441"/>
            <a:ext cx="18483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8731" y="1266785"/>
            <a:ext cx="2501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4674" y="1280349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8731" y="1371890"/>
            <a:ext cx="5029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3550" algn="l"/>
              </a:tabLst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-25" dirty="0">
                <a:latin typeface="Tahoma"/>
                <a:cs typeface="Tahoma"/>
              </a:rPr>
              <a:t>=1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0392" y="1352269"/>
            <a:ext cx="708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9600" algn="l"/>
              </a:tabLst>
            </a:pP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92668" y="1293303"/>
            <a:ext cx="19812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53695" algn="l"/>
                <a:tab pos="826769" algn="l"/>
              </a:tabLst>
            </a:pP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-45" dirty="0">
                <a:latin typeface="Arial"/>
                <a:cs typeface="Arial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r>
              <a:rPr sz="1100" b="1" i="1" dirty="0">
                <a:latin typeface="Arial"/>
                <a:cs typeface="Arial"/>
              </a:rPr>
              <a:t>	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r>
              <a:rPr sz="1100" b="1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257" y="1421597"/>
            <a:ext cx="3860165" cy="11722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434"/>
              </a:spcBef>
            </a:pP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100" i="1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≤</a:t>
            </a:r>
            <a:r>
              <a:rPr sz="1100" spc="-245" dirty="0">
                <a:latin typeface="SimSun-ExtB"/>
                <a:cs typeface="SimSun-ExtB"/>
              </a:rPr>
              <a:t> 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≤</a:t>
            </a:r>
            <a:r>
              <a:rPr sz="1100" spc="-245" dirty="0">
                <a:latin typeface="SimSun-ExtB"/>
                <a:cs typeface="SimSun-ExtB"/>
              </a:rPr>
              <a:t> </a:t>
            </a:r>
            <a:r>
              <a:rPr sz="1100" i="1" spc="-60" dirty="0">
                <a:latin typeface="Arial"/>
                <a:cs typeface="Arial"/>
              </a:rPr>
              <a:t>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05" dirty="0">
                <a:latin typeface="SimSun-ExtB"/>
                <a:cs typeface="SimSun-ExtB"/>
              </a:rPr>
              <a:t> </a:t>
            </a:r>
            <a:r>
              <a:rPr sz="1100" dirty="0">
                <a:latin typeface="Tahoma"/>
                <a:cs typeface="Tahoma"/>
              </a:rPr>
              <a:t>1,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32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>
              <a:latin typeface="Tahoma"/>
              <a:cs typeface="Tahoma"/>
            </a:endParaRPr>
          </a:p>
          <a:p>
            <a:pPr marL="227329" marR="109855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spc="-20" dirty="0">
                <a:latin typeface="Tahoma"/>
                <a:cs typeface="Tahoma"/>
              </a:rPr>
              <a:t>Plugging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equation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previous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slide,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we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b="1" i="1" spc="-530" dirty="0">
                <a:latin typeface="Arial"/>
                <a:cs typeface="Arial"/>
              </a:rPr>
              <a:t>S</a:t>
            </a:r>
            <a:r>
              <a:rPr sz="1650" spc="30" baseline="12626" dirty="0">
                <a:latin typeface="Tahoma"/>
                <a:cs typeface="Tahoma"/>
              </a:rPr>
              <a:t>ˆ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8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1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7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7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70" dirty="0">
                <a:latin typeface="Calibri"/>
                <a:cs typeface="Calibri"/>
              </a:rPr>
              <a:t>λ</a:t>
            </a:r>
            <a:r>
              <a:rPr sz="1200" i="1" spc="104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b="1" i="1" spc="-30" dirty="0">
                <a:latin typeface="Arial"/>
                <a:cs typeface="Arial"/>
              </a:rPr>
              <a:t>b</a:t>
            </a:r>
            <a:r>
              <a:rPr sz="1200" i="1" spc="-44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Thus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Sb</a:t>
            </a:r>
            <a:r>
              <a:rPr sz="1200" i="1" spc="-15" baseline="-10416" dirty="0">
                <a:latin typeface="Arial"/>
                <a:cs typeface="Arial"/>
              </a:rPr>
              <a:t>m</a:t>
            </a:r>
            <a:r>
              <a:rPr sz="1200" i="1" spc="17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dirty="0">
                <a:latin typeface="Calibri"/>
                <a:cs typeface="Calibri"/>
              </a:rPr>
              <a:t>λ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i="1" spc="60" dirty="0">
                <a:latin typeface="Calibri"/>
                <a:cs typeface="Calibri"/>
              </a:rPr>
              <a:t>λ</a:t>
            </a:r>
            <a:r>
              <a:rPr sz="1200" i="1" spc="89" baseline="-10416" dirty="0">
                <a:latin typeface="Arial"/>
                <a:cs typeface="Arial"/>
              </a:rPr>
              <a:t>m</a:t>
            </a:r>
            <a:r>
              <a:rPr sz="1200" i="1" spc="26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S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spc="-570" dirty="0">
                <a:latin typeface="Arial"/>
                <a:cs typeface="Arial"/>
              </a:rPr>
              <a:t>S</a:t>
            </a:r>
            <a:r>
              <a:rPr sz="1650" spc="-60" baseline="12626" dirty="0">
                <a:latin typeface="Tahoma"/>
                <a:cs typeface="Tahoma"/>
              </a:rPr>
              <a:t>ˆ</a:t>
            </a:r>
            <a:r>
              <a:rPr sz="1650" spc="60" baseline="12626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constrained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optimization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set </a:t>
            </a:r>
            <a:r>
              <a:rPr sz="1100" spc="-25" dirty="0">
                <a:latin typeface="Tahoma"/>
                <a:cs typeface="Tahoma"/>
              </a:rPr>
              <a:t>up.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Eigenvectors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b="1" i="1" dirty="0">
                <a:latin typeface="Sitka Small"/>
                <a:cs typeface="Sitka Small"/>
              </a:rPr>
              <a:t>S</a:t>
            </a:r>
            <a:r>
              <a:rPr b="1" i="1" spc="95" dirty="0">
                <a:latin typeface="Sitka Small"/>
                <a:cs typeface="Sitka Small"/>
              </a:rPr>
              <a:t> </a:t>
            </a:r>
            <a:r>
              <a:rPr spc="-30" dirty="0"/>
              <a:t>and</a:t>
            </a:r>
            <a:r>
              <a:rPr spc="-15" dirty="0"/>
              <a:t> </a:t>
            </a:r>
            <a:r>
              <a:rPr b="1" i="1" spc="-675" dirty="0">
                <a:latin typeface="Sitka Small"/>
                <a:cs typeface="Sitka Small"/>
              </a:rPr>
              <a:t>S</a:t>
            </a:r>
            <a:r>
              <a:rPr sz="2100" spc="-82" baseline="13888" dirty="0"/>
              <a:t>ˆ</a:t>
            </a:r>
            <a:endParaRPr sz="2100" baseline="13888">
              <a:latin typeface="Sitka Small"/>
              <a:cs typeface="Sitka Smal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657" y="1026082"/>
            <a:ext cx="14471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  <a:tab pos="800100" algn="l"/>
              </a:tabLst>
            </a:pPr>
            <a:r>
              <a:rPr sz="1100" b="1" spc="-45" dirty="0">
                <a:latin typeface="Arial"/>
                <a:cs typeface="Arial"/>
              </a:rPr>
              <a:t>Case</a:t>
            </a:r>
            <a:r>
              <a:rPr sz="1100" b="1" spc="-25" dirty="0">
                <a:latin typeface="Arial"/>
                <a:cs typeface="Arial"/>
              </a:rPr>
              <a:t> 2:</a:t>
            </a:r>
            <a:r>
              <a:rPr sz="1100" b="1" dirty="0">
                <a:latin typeface="Arial"/>
                <a:cs typeface="Arial"/>
              </a:rPr>
              <a:t>	</a:t>
            </a:r>
            <a:r>
              <a:rPr sz="1100" i="1" dirty="0">
                <a:latin typeface="Arial"/>
                <a:cs typeface="Arial"/>
              </a:rPr>
              <a:t>i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≤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sz="1100" i="1" spc="-60" dirty="0">
                <a:latin typeface="Arial"/>
                <a:cs typeface="Arial"/>
              </a:rPr>
              <a:t>m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05" dirty="0">
                <a:latin typeface="SimSun-ExtB"/>
                <a:cs typeface="SimSun-ExtB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357" y="122030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5" dirty="0">
                <a:solidFill>
                  <a:srgbClr val="3333B2"/>
                </a:solidFill>
                <a:latin typeface="Lucida Sans Unicode"/>
                <a:cs typeface="Lucida Sans Unicode"/>
              </a:rPr>
              <a:t>►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0508" y="1295081"/>
            <a:ext cx="3600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m</a:t>
            </a:r>
            <a:r>
              <a:rPr sz="800" i="1" dirty="0">
                <a:latin typeface="Verdana"/>
                <a:cs typeface="Verdana"/>
              </a:rPr>
              <a:t>−</a:t>
            </a:r>
            <a:r>
              <a:rPr sz="800" dirty="0">
                <a:latin typeface="Tahoma"/>
                <a:cs typeface="Tahoma"/>
              </a:rPr>
              <a:t>1</a:t>
            </a:r>
            <a:r>
              <a:rPr sz="800" spc="415" dirty="0">
                <a:latin typeface="Tahoma"/>
                <a:cs typeface="Tahoma"/>
              </a:rPr>
              <a:t> 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95" y="1236115"/>
            <a:ext cx="1168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900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i="1" spc="-50" dirty="0">
                <a:latin typeface="Arial"/>
                <a:cs typeface="Arial"/>
              </a:rPr>
              <a:t>B</a:t>
            </a:r>
            <a:r>
              <a:rPr sz="1100" b="1" i="1" dirty="0">
                <a:latin typeface="Arial"/>
                <a:cs typeface="Arial"/>
              </a:rPr>
              <a:t>	b</a:t>
            </a:r>
            <a:r>
              <a:rPr sz="1100" b="1" i="1" spc="25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4846" y="1251925"/>
            <a:ext cx="14301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50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2028" y="1209597"/>
            <a:ext cx="2501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m</a:t>
            </a:r>
            <a:r>
              <a:rPr sz="800" i="1" spc="-25" dirty="0">
                <a:latin typeface="Verdana"/>
                <a:cs typeface="Verdana"/>
              </a:rPr>
              <a:t>−</a:t>
            </a:r>
            <a:r>
              <a:rPr sz="800" spc="-25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10244" y="1223161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2028" y="1314690"/>
            <a:ext cx="5080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6090" algn="l"/>
              </a:tabLst>
            </a:pPr>
            <a:r>
              <a:rPr sz="800" i="1" spc="30" dirty="0">
                <a:latin typeface="Arial"/>
                <a:cs typeface="Arial"/>
              </a:rPr>
              <a:t>j</a:t>
            </a:r>
            <a:r>
              <a:rPr sz="800" spc="30" dirty="0">
                <a:latin typeface="Tahoma"/>
                <a:cs typeface="Tahoma"/>
              </a:rPr>
              <a:t>=1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50" dirty="0">
                <a:latin typeface="Arial"/>
                <a:cs typeface="Arial"/>
              </a:rPr>
              <a:t>j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3675" y="1295081"/>
            <a:ext cx="6534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9880" algn="l"/>
                <a:tab pos="614045" algn="l"/>
              </a:tabLst>
            </a:pPr>
            <a:r>
              <a:rPr sz="800" i="1" spc="-50" dirty="0">
                <a:latin typeface="Arial"/>
                <a:cs typeface="Arial"/>
              </a:rPr>
              <a:t>j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5951" y="1236115"/>
            <a:ext cx="7854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5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375" dirty="0">
                <a:latin typeface="Arial"/>
                <a:cs typeface="Arial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26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9257" y="1446147"/>
            <a:ext cx="3872865" cy="918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79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spc="-20" dirty="0">
                <a:latin typeface="Tahoma"/>
                <a:cs typeface="Tahoma"/>
              </a:rPr>
              <a:t>Plugging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</a:t>
            </a:r>
            <a:endParaRPr sz="110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35"/>
              </a:spcBef>
            </a:pPr>
            <a:r>
              <a:rPr sz="1100" b="1" i="1" spc="-530" dirty="0">
                <a:latin typeface="Arial"/>
                <a:cs typeface="Arial"/>
              </a:rPr>
              <a:t>S</a:t>
            </a:r>
            <a:r>
              <a:rPr sz="1650" spc="30" baseline="12626" dirty="0">
                <a:latin typeface="Tahoma"/>
                <a:cs typeface="Tahoma"/>
              </a:rPr>
              <a:t>ˆ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0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15" dirty="0">
                <a:latin typeface="Arial"/>
                <a:cs typeface="Arial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Arial"/>
                <a:cs typeface="Arial"/>
              </a:rPr>
              <a:t>SB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37" baseline="-10416" dirty="0">
                <a:latin typeface="Tahoma"/>
                <a:cs typeface="Tahoma"/>
              </a:rPr>
              <a:t> </a:t>
            </a:r>
            <a:r>
              <a:rPr sz="1100" spc="-254" dirty="0">
                <a:latin typeface="SimSun-ExtB"/>
                <a:cs typeface="SimSun-ExtB"/>
              </a:rPr>
              <a:t>−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m</a:t>
            </a:r>
            <a:r>
              <a:rPr sz="1200" i="1" spc="-15" baseline="-10416" dirty="0">
                <a:latin typeface="Verdana"/>
                <a:cs typeface="Verdana"/>
              </a:rPr>
              <a:t>−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b="1" i="1" spc="-10" dirty="0">
                <a:latin typeface="Arial"/>
                <a:cs typeface="Arial"/>
              </a:rPr>
              <a:t>SB</a:t>
            </a:r>
            <a:r>
              <a:rPr sz="1200" i="1" spc="-15" baseline="-10416" dirty="0">
                <a:latin typeface="Arial"/>
                <a:cs typeface="Arial"/>
              </a:rPr>
              <a:t>m</a:t>
            </a:r>
            <a:r>
              <a:rPr sz="1200" i="1" spc="-15" baseline="-10416" dirty="0">
                <a:latin typeface="Verdana"/>
                <a:cs typeface="Verdana"/>
              </a:rPr>
              <a:t>−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i="1" spc="-15" baseline="-10416" dirty="0">
                <a:latin typeface="Arial"/>
                <a:cs typeface="Arial"/>
              </a:rPr>
              <a:t>i</a:t>
            </a:r>
            <a:r>
              <a:rPr sz="1200" i="1" spc="-142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</a:t>
            </a:r>
            <a:endParaRPr sz="110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35"/>
              </a:spcBef>
            </a:pPr>
            <a:r>
              <a:rPr sz="1100" b="1" i="1" dirty="0">
                <a:latin typeface="Arial"/>
                <a:cs typeface="Arial"/>
              </a:rPr>
              <a:t>Sb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4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Arial"/>
                <a:cs typeface="Arial"/>
              </a:rPr>
              <a:t>0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Thus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spc="-15" baseline="-10416" dirty="0">
                <a:latin typeface="Tahoma"/>
                <a:cs typeface="Tahoma"/>
              </a:rPr>
              <a:t>1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b</a:t>
            </a:r>
            <a:r>
              <a:rPr sz="1200" spc="-15" baseline="-10416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Calibri"/>
                <a:cs typeface="Calibri"/>
              </a:rPr>
              <a:t>,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i="1" dirty="0">
                <a:latin typeface="Calibri"/>
                <a:cs typeface="Calibri"/>
              </a:rPr>
              <a:t>.</a:t>
            </a:r>
            <a:r>
              <a:rPr sz="1100" i="1" spc="-70" dirty="0">
                <a:latin typeface="Calibri"/>
                <a:cs typeface="Calibri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baseline="-10416" dirty="0">
                <a:latin typeface="Verdana"/>
                <a:cs typeface="Verdana"/>
              </a:rPr>
              <a:t>−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209" baseline="-10416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b="1" i="1" spc="-570" dirty="0">
                <a:latin typeface="Arial"/>
                <a:cs typeface="Arial"/>
              </a:rPr>
              <a:t>S</a:t>
            </a:r>
            <a:r>
              <a:rPr sz="1650" spc="-60" baseline="12626" dirty="0">
                <a:latin typeface="Tahoma"/>
                <a:cs typeface="Tahoma"/>
              </a:rPr>
              <a:t>ˆ</a:t>
            </a:r>
            <a:r>
              <a:rPr sz="1650" spc="60" baseline="12626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which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associated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957" y="951635"/>
            <a:ext cx="36404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20" dirty="0">
                <a:latin typeface="Tahoma"/>
                <a:cs typeface="Tahoma"/>
              </a:rPr>
              <a:t>Since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17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b="1" i="1" spc="-10" dirty="0">
                <a:latin typeface="Arial"/>
                <a:cs typeface="Arial"/>
              </a:rPr>
              <a:t>Sb</a:t>
            </a:r>
            <a:r>
              <a:rPr sz="1200" i="1" spc="-15" baseline="-10416" dirty="0">
                <a:latin typeface="Arial"/>
                <a:cs typeface="Arial"/>
              </a:rPr>
              <a:t>m</a:t>
            </a:r>
            <a:r>
              <a:rPr sz="1200" i="1" spc="17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50" dirty="0">
                <a:latin typeface="Calibri"/>
                <a:cs typeface="Calibri"/>
              </a:rPr>
              <a:t>λ</a:t>
            </a:r>
            <a:r>
              <a:rPr sz="1200" i="1" spc="75" baseline="-10416" dirty="0">
                <a:latin typeface="Arial"/>
                <a:cs typeface="Arial"/>
              </a:rPr>
              <a:t>m</a:t>
            </a:r>
            <a:r>
              <a:rPr sz="1100" spc="50" dirty="0">
                <a:latin typeface="Tahoma"/>
                <a:cs typeface="Tahoma"/>
              </a:rPr>
              <a:t>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957" y="1023212"/>
            <a:ext cx="3863975" cy="1018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4094">
              <a:lnSpc>
                <a:spcPts val="875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  <a:p>
            <a:pPr marL="214629">
              <a:lnSpc>
                <a:spcPts val="1235"/>
              </a:lnSpc>
            </a:pP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projected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principal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component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25" dirty="0">
                <a:latin typeface="Calibri"/>
                <a:cs typeface="Calibri"/>
              </a:rPr>
              <a:t>λ</a:t>
            </a:r>
            <a:r>
              <a:rPr sz="1200" i="1" spc="37" baseline="-10416" dirty="0">
                <a:latin typeface="Arial"/>
                <a:cs typeface="Arial"/>
              </a:rPr>
              <a:t>m</a:t>
            </a:r>
            <a:r>
              <a:rPr sz="1100" spc="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susbspace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retains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much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possible,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tells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us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choose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B</a:t>
            </a:r>
            <a:r>
              <a:rPr sz="1100" b="1" i="1" spc="80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covariance matrix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S</a:t>
            </a:r>
            <a:r>
              <a:rPr sz="1100" b="1" i="1" spc="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eigenvalues.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Projection </a:t>
            </a:r>
            <a:r>
              <a:rPr spc="-45" dirty="0"/>
              <a:t>perspective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58912"/>
            <a:ext cx="3863975" cy="12623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8255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5" dirty="0">
                <a:latin typeface="Tahoma"/>
                <a:cs typeface="Tahoma"/>
              </a:rPr>
              <a:t> derived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algorithm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maximizes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projected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retain</a:t>
            </a:r>
            <a:r>
              <a:rPr sz="1100" spc="-30" dirty="0">
                <a:latin typeface="Tahoma"/>
                <a:cs typeface="Tahoma"/>
              </a:rPr>
              <a:t> as</a:t>
            </a:r>
            <a:r>
              <a:rPr sz="1100" spc="-35" dirty="0">
                <a:latin typeface="Tahoma"/>
                <a:cs typeface="Tahoma"/>
              </a:rPr>
              <a:t> much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possible.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>
                <a:latin typeface="Tahoma"/>
                <a:cs typeface="Tahoma"/>
              </a:rPr>
              <a:t>Now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10" dirty="0">
                <a:latin typeface="Tahoma"/>
                <a:cs typeface="Tahoma"/>
              </a:rPr>
              <a:t>we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also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derive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projection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perspective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minimize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average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reconstruction </a:t>
            </a:r>
            <a:r>
              <a:rPr sz="1100" spc="-30" dirty="0">
                <a:latin typeface="Tahoma"/>
                <a:cs typeface="Tahoma"/>
              </a:rPr>
              <a:t>error.</a:t>
            </a:r>
            <a:r>
              <a:rPr sz="1100" spc="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original 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modeled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reconstruction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modeled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as </a:t>
            </a:r>
            <a:r>
              <a:rPr sz="1100" b="1" i="1" spc="-530" dirty="0">
                <a:latin typeface="Arial"/>
                <a:cs typeface="Arial"/>
              </a:rPr>
              <a:t>x</a:t>
            </a:r>
            <a:r>
              <a:rPr sz="1100" spc="-125" dirty="0">
                <a:latin typeface="Tahoma"/>
                <a:cs typeface="Tahoma"/>
              </a:rPr>
              <a:t>˜</a:t>
            </a:r>
            <a:r>
              <a:rPr sz="1200" i="1" spc="67" baseline="-10416" dirty="0">
                <a:latin typeface="Arial"/>
                <a:cs typeface="Arial"/>
              </a:rPr>
              <a:t>n</a:t>
            </a:r>
            <a:r>
              <a:rPr sz="1100" spc="-15" dirty="0">
                <a:latin typeface="Tahoma"/>
                <a:cs typeface="Tahoma"/>
              </a:rPr>
              <a:t>.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seek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5" dirty="0">
                <a:latin typeface="Tahoma"/>
                <a:cs typeface="Tahoma"/>
              </a:rPr>
              <a:t> minimize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distance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225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i="1" spc="-25" dirty="0">
                <a:latin typeface="Arial"/>
                <a:cs typeface="Arial"/>
              </a:rPr>
              <a:t>x</a:t>
            </a:r>
            <a:r>
              <a:rPr sz="1200" i="1" spc="-37" baseline="-10416" dirty="0">
                <a:latin typeface="Arial"/>
                <a:cs typeface="Arial"/>
              </a:rPr>
              <a:t>n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921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An</a:t>
            </a:r>
            <a:r>
              <a:rPr sz="1400" spc="6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3333B2"/>
                </a:solidFill>
                <a:latin typeface="Tahoma"/>
                <a:cs typeface="Tahoma"/>
              </a:rPr>
              <a:t>Example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450" y="739775"/>
            <a:ext cx="1988769" cy="1346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35" dirty="0">
                <a:latin typeface="Tahoma"/>
                <a:cs typeface="Tahoma"/>
              </a:rPr>
              <a:t>Consider</a:t>
            </a:r>
            <a:r>
              <a:rPr sz="800" spc="-5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the</a:t>
            </a:r>
            <a:r>
              <a:rPr sz="800" spc="-6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data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-40" dirty="0">
                <a:latin typeface="Tahoma"/>
                <a:cs typeface="Tahoma"/>
              </a:rPr>
              <a:t>given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-45" dirty="0">
                <a:latin typeface="Tahoma"/>
                <a:cs typeface="Tahoma"/>
              </a:rPr>
              <a:t>below:</a:t>
            </a:r>
            <a:endParaRPr sz="800" dirty="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690131"/>
              </p:ext>
            </p:extLst>
          </p:nvPr>
        </p:nvGraphicFramePr>
        <p:xfrm>
          <a:off x="247650" y="968375"/>
          <a:ext cx="3988527" cy="461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7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6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53670"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x1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x9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Mean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1.11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1.21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1.36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1.49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1.63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1.68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1.83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1.88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0" dirty="0">
                          <a:latin typeface="Tahoma"/>
                          <a:cs typeface="Tahoma"/>
                        </a:rPr>
                        <a:t>1.95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1.571111111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12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13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16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17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19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25" dirty="0">
                          <a:latin typeface="Tahoma"/>
                          <a:cs typeface="Tahoma"/>
                        </a:rPr>
                        <a:t>20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sz="800" spc="-10" dirty="0">
                          <a:latin typeface="Tahoma"/>
                          <a:cs typeface="Tahoma"/>
                        </a:rPr>
                        <a:t>15.55555556</a:t>
                      </a:r>
                      <a:endParaRPr sz="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F62F068-E341-4EB3-FE81-A7B409AC3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501775"/>
            <a:ext cx="4133850" cy="16310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9090CA-7A05-9639-3D8C-F96BBD08EABE}"/>
                  </a:ext>
                </a:extLst>
              </p:cNvPr>
              <p:cNvSpPr txBox="1"/>
              <p:nvPr/>
            </p:nvSpPr>
            <p:spPr>
              <a:xfrm>
                <a:off x="1162050" y="2881658"/>
                <a:ext cx="838200" cy="323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IN" sz="800" b="0" i="1" smtClean="0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IN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sz="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sz="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9090CA-7A05-9639-3D8C-F96BBD08E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50" y="2881658"/>
                <a:ext cx="838200" cy="323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722171"/>
            <a:ext cx="297751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dirty="0">
                <a:latin typeface="Tahoma"/>
                <a:cs typeface="Tahoma"/>
              </a:rPr>
              <a:t>Hence the Data Covariance Matrix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47990" y="1202105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35290" y="1180527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9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4168" y="991767"/>
            <a:ext cx="859155" cy="2680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3555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ts val="1030"/>
              </a:lnSpc>
              <a:tabLst>
                <a:tab pos="254000" algn="l"/>
                <a:tab pos="588010" algn="l"/>
              </a:tabLst>
            </a:pPr>
            <a:r>
              <a:rPr sz="1100" i="1" spc="-50" dirty="0">
                <a:latin typeface="Arial"/>
                <a:cs typeface="Arial"/>
              </a:rPr>
              <a:t>S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25" dirty="0">
                <a:latin typeface="Arial"/>
                <a:cs typeface="Arial"/>
              </a:rPr>
              <a:t>XX</a:t>
            </a:r>
            <a:r>
              <a:rPr lang="en-IN" sz="1200" i="1" spc="-37" baseline="30000" dirty="0">
                <a:latin typeface="Verdana"/>
                <a:cs typeface="Arial"/>
              </a:rPr>
              <a:t>T</a:t>
            </a:r>
            <a:endParaRPr sz="1200" baseline="3125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5824" y="143785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0100" y="1242503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22094" y="1351596"/>
            <a:ext cx="161480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0</a:t>
            </a:r>
            <a:r>
              <a:rPr sz="1100" i="1" spc="-30" dirty="0">
                <a:latin typeface="Calibri"/>
                <a:cs typeface="Calibri"/>
              </a:rPr>
              <a:t>.</a:t>
            </a:r>
            <a:r>
              <a:rPr sz="1100" spc="-30" dirty="0">
                <a:latin typeface="Tahoma"/>
                <a:cs typeface="Tahoma"/>
              </a:rPr>
              <a:t>079498765</a:t>
            </a:r>
            <a:r>
              <a:rPr sz="1100" spc="40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0</a:t>
            </a:r>
            <a:r>
              <a:rPr sz="1100" i="1" spc="-45" dirty="0">
                <a:latin typeface="Calibri"/>
                <a:cs typeface="Calibri"/>
              </a:rPr>
              <a:t>.</a:t>
            </a:r>
            <a:r>
              <a:rPr sz="1100" spc="-45" dirty="0">
                <a:latin typeface="Tahoma"/>
                <a:cs typeface="Tahoma"/>
              </a:rPr>
              <a:t>888271605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30" dirty="0">
                <a:latin typeface="Tahoma"/>
                <a:cs typeface="Tahoma"/>
              </a:rPr>
              <a:t>0</a:t>
            </a:r>
            <a:r>
              <a:rPr sz="1100" i="1" spc="-30" dirty="0">
                <a:latin typeface="Calibri"/>
                <a:cs typeface="Calibri"/>
              </a:rPr>
              <a:t>.</a:t>
            </a:r>
            <a:r>
              <a:rPr sz="1100" spc="-30" dirty="0">
                <a:latin typeface="Tahoma"/>
                <a:cs typeface="Tahoma"/>
              </a:rPr>
              <a:t>888271605</a:t>
            </a:r>
            <a:r>
              <a:rPr sz="1100" spc="40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10</a:t>
            </a:r>
            <a:r>
              <a:rPr sz="1100" i="1" spc="-45" dirty="0">
                <a:latin typeface="Calibri"/>
                <a:cs typeface="Calibri"/>
              </a:rPr>
              <a:t>.</a:t>
            </a:r>
            <a:r>
              <a:rPr sz="1100" spc="-45" dirty="0">
                <a:latin typeface="Tahoma"/>
                <a:cs typeface="Tahoma"/>
              </a:rPr>
              <a:t>02469136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1042" y="1242503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894" y="1823337"/>
            <a:ext cx="355346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10</a:t>
            </a:r>
            <a:r>
              <a:rPr sz="1100" i="1" spc="-35" dirty="0">
                <a:latin typeface="Calibri"/>
                <a:cs typeface="Calibri"/>
              </a:rPr>
              <a:t>.</a:t>
            </a:r>
            <a:r>
              <a:rPr sz="1100" spc="-35" dirty="0">
                <a:latin typeface="Tahoma"/>
                <a:cs typeface="Tahoma"/>
              </a:rPr>
              <a:t>103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corresponding eigenvector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norm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(first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principal </a:t>
            </a:r>
            <a:r>
              <a:rPr sz="1100" spc="-40" dirty="0">
                <a:latin typeface="Tahoma"/>
                <a:cs typeface="Tahoma"/>
              </a:rPr>
              <a:t>component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5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200" spc="217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100" spc="-55" dirty="0">
                <a:latin typeface="Tahoma"/>
                <a:cs typeface="Tahoma"/>
              </a:rPr>
              <a:t>[0</a:t>
            </a:r>
            <a:r>
              <a:rPr sz="1100" i="1" spc="-55" dirty="0">
                <a:latin typeface="Calibri"/>
                <a:cs typeface="Calibri"/>
              </a:rPr>
              <a:t>.</a:t>
            </a:r>
            <a:r>
              <a:rPr sz="1100" spc="-55" dirty="0">
                <a:latin typeface="Tahoma"/>
                <a:cs typeface="Tahoma"/>
              </a:rPr>
              <a:t>088269</a:t>
            </a:r>
            <a:r>
              <a:rPr sz="1100" i="1" spc="-55" dirty="0">
                <a:latin typeface="Calibri"/>
                <a:cs typeface="Calibri"/>
              </a:rPr>
              <a:t>,</a:t>
            </a:r>
            <a:r>
              <a:rPr sz="1100" i="1" spc="-45" dirty="0">
                <a:latin typeface="Calibri"/>
                <a:cs typeface="Calibri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r>
              <a:rPr sz="1100" i="1" spc="-50" dirty="0">
                <a:latin typeface="Calibri"/>
                <a:cs typeface="Calibri"/>
              </a:rPr>
              <a:t>.</a:t>
            </a:r>
            <a:r>
              <a:rPr sz="1100" spc="-50" dirty="0">
                <a:latin typeface="Tahoma"/>
                <a:cs typeface="Tahoma"/>
              </a:rPr>
              <a:t>996097]</a:t>
            </a:r>
            <a:r>
              <a:rPr sz="1200" i="1" spc="-75" baseline="27777" dirty="0">
                <a:latin typeface="Arial"/>
                <a:cs typeface="Arial"/>
              </a:rPr>
              <a:t>T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2DEB3C53-CE88-7AA4-6068-41A36DE3798D}"/>
              </a:ext>
            </a:extLst>
          </p:cNvPr>
          <p:cNvSpPr/>
          <p:nvPr/>
        </p:nvSpPr>
        <p:spPr>
          <a:xfrm>
            <a:off x="1676400" y="1351596"/>
            <a:ext cx="95250" cy="36357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E2FADFDB-394F-0343-68FF-7E540196CFC1}"/>
              </a:ext>
            </a:extLst>
          </p:cNvPr>
          <p:cNvSpPr/>
          <p:nvPr/>
        </p:nvSpPr>
        <p:spPr>
          <a:xfrm>
            <a:off x="3155632" y="1300224"/>
            <a:ext cx="219227" cy="452858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1824355" cy="585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Tahoma"/>
                <a:cs typeface="Tahoma"/>
              </a:rPr>
              <a:t>An</a:t>
            </a:r>
            <a:r>
              <a:rPr kumimoji="0" sz="1400" b="0" i="0" u="none" strike="noStrike" kern="0" cap="none" spc="6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Tahoma"/>
                <a:cs typeface="Tahoma"/>
              </a:rPr>
              <a:t>Example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  <a:p>
            <a:pPr marL="264160" marR="0" lvl="0" indent="0" defTabSz="914400" eaLnBrk="1" fontAlgn="auto" latinLnBrk="0" hangingPunct="1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Data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when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plotted, </a:t>
            </a:r>
            <a:r>
              <a:rPr kumimoji="0" sz="1100" b="0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we</a:t>
            </a:r>
            <a:r>
              <a:rPr kumimoji="0" sz="11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get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916152"/>
            <a:ext cx="3947159" cy="214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21259"/>
      </p:ext>
    </p:extLst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1699" y="74955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1894" y="673911"/>
            <a:ext cx="37109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000000"/>
                </a:solidFill>
              </a:rPr>
              <a:t>The</a:t>
            </a:r>
            <a:r>
              <a:rPr sz="1100" spc="-45" dirty="0">
                <a:solidFill>
                  <a:srgbClr val="000000"/>
                </a:solidFill>
              </a:rPr>
              <a:t> </a:t>
            </a:r>
            <a:r>
              <a:rPr sz="1100" spc="-70" dirty="0">
                <a:solidFill>
                  <a:srgbClr val="000000"/>
                </a:solidFill>
              </a:rPr>
              <a:t>compressed</a:t>
            </a:r>
            <a:r>
              <a:rPr sz="1100" spc="-20" dirty="0">
                <a:solidFill>
                  <a:srgbClr val="000000"/>
                </a:solidFill>
              </a:rPr>
              <a:t> or </a:t>
            </a:r>
            <a:r>
              <a:rPr sz="1100" spc="-10" dirty="0">
                <a:solidFill>
                  <a:srgbClr val="000000"/>
                </a:solidFill>
              </a:rPr>
              <a:t>the</a:t>
            </a:r>
            <a:r>
              <a:rPr sz="1100" spc="-20" dirty="0">
                <a:solidFill>
                  <a:srgbClr val="000000"/>
                </a:solidFill>
              </a:rPr>
              <a:t> </a:t>
            </a:r>
            <a:r>
              <a:rPr sz="1100" spc="-50" dirty="0">
                <a:solidFill>
                  <a:srgbClr val="000000"/>
                </a:solidFill>
              </a:rPr>
              <a:t>reduced</a:t>
            </a:r>
            <a:r>
              <a:rPr sz="1100" spc="-25" dirty="0">
                <a:solidFill>
                  <a:srgbClr val="000000"/>
                </a:solidFill>
              </a:rPr>
              <a:t> </a:t>
            </a:r>
            <a:r>
              <a:rPr sz="1100" spc="-10" dirty="0">
                <a:solidFill>
                  <a:srgbClr val="000000"/>
                </a:solidFill>
              </a:rPr>
              <a:t>data</a:t>
            </a:r>
            <a:r>
              <a:rPr sz="1100" spc="-20" dirty="0">
                <a:solidFill>
                  <a:srgbClr val="000000"/>
                </a:solidFill>
              </a:rPr>
              <a:t> </a:t>
            </a:r>
            <a:r>
              <a:rPr sz="1100" dirty="0">
                <a:solidFill>
                  <a:srgbClr val="000000"/>
                </a:solidFill>
              </a:rPr>
              <a:t>is</a:t>
            </a:r>
            <a:r>
              <a:rPr sz="1100" spc="-25" dirty="0">
                <a:solidFill>
                  <a:srgbClr val="000000"/>
                </a:solidFill>
              </a:rPr>
              <a:t> then</a:t>
            </a:r>
            <a:r>
              <a:rPr sz="1100" spc="-20" dirty="0">
                <a:solidFill>
                  <a:srgbClr val="000000"/>
                </a:solidFill>
              </a:rPr>
              <a:t> </a:t>
            </a:r>
            <a:r>
              <a:rPr sz="1100" spc="-40" dirty="0">
                <a:solidFill>
                  <a:srgbClr val="000000"/>
                </a:solidFill>
              </a:rPr>
              <a:t>given</a:t>
            </a:r>
            <a:r>
              <a:rPr sz="1100" spc="-20" dirty="0">
                <a:solidFill>
                  <a:srgbClr val="000000"/>
                </a:solidFill>
              </a:rPr>
              <a:t> </a:t>
            </a:r>
            <a:r>
              <a:rPr sz="1100" spc="-45" dirty="0">
                <a:solidFill>
                  <a:srgbClr val="000000"/>
                </a:solidFill>
              </a:rPr>
              <a:t>by</a:t>
            </a:r>
            <a:r>
              <a:rPr sz="1100" spc="-30" dirty="0">
                <a:solidFill>
                  <a:srgbClr val="000000"/>
                </a:solidFill>
              </a:rPr>
              <a:t> </a:t>
            </a:r>
            <a:r>
              <a:rPr sz="1100" i="1" dirty="0">
                <a:solidFill>
                  <a:srgbClr val="000000"/>
                </a:solidFill>
                <a:latin typeface="Arial"/>
                <a:cs typeface="Arial"/>
              </a:rPr>
              <a:t>z</a:t>
            </a:r>
            <a:r>
              <a:rPr sz="1100" i="1" spc="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000000"/>
                </a:solidFill>
              </a:rPr>
              <a:t>=</a:t>
            </a:r>
            <a:r>
              <a:rPr sz="1100" spc="-75" dirty="0">
                <a:solidFill>
                  <a:srgbClr val="000000"/>
                </a:solidFill>
              </a:rPr>
              <a:t> </a:t>
            </a:r>
            <a:r>
              <a:rPr sz="1100" i="1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1200" i="1" baseline="27777" dirty="0">
                <a:solidFill>
                  <a:srgbClr val="000000"/>
                </a:solidFill>
                <a:latin typeface="Arial"/>
                <a:cs typeface="Arial"/>
              </a:rPr>
              <a:t>T</a:t>
            </a:r>
            <a:r>
              <a:rPr sz="1200" i="1" spc="-104" baseline="2777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100" i="1" spc="-50" dirty="0">
                <a:solidFill>
                  <a:srgbClr val="000000"/>
                </a:solidFill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7512" y="990003"/>
          <a:ext cx="3768721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z8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z9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5.57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3.57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2.56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0.56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0.45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1.45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2.46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3.46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4.46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0800" marR="43180">
              <a:lnSpc>
                <a:spcPct val="102600"/>
              </a:lnSpc>
              <a:spcBef>
                <a:spcPts val="55"/>
              </a:spcBef>
            </a:pPr>
            <a:r>
              <a:rPr dirty="0"/>
              <a:t>We</a:t>
            </a:r>
            <a:r>
              <a:rPr spc="-90" dirty="0"/>
              <a:t> </a:t>
            </a:r>
            <a:r>
              <a:rPr spc="-20" dirty="0"/>
              <a:t>can</a:t>
            </a:r>
            <a:r>
              <a:rPr spc="-65" dirty="0"/>
              <a:t> </a:t>
            </a:r>
            <a:r>
              <a:rPr spc="-30" dirty="0"/>
              <a:t>project</a:t>
            </a:r>
            <a:r>
              <a:rPr spc="-35" dirty="0"/>
              <a:t> </a:t>
            </a:r>
            <a:r>
              <a:rPr spc="-10" dirty="0"/>
              <a:t>the</a:t>
            </a:r>
            <a:r>
              <a:rPr spc="-40" dirty="0"/>
              <a:t> </a:t>
            </a:r>
            <a:r>
              <a:rPr spc="-10" dirty="0"/>
              <a:t>data</a:t>
            </a:r>
            <a:r>
              <a:rPr spc="-35" dirty="0"/>
              <a:t> </a:t>
            </a:r>
            <a:r>
              <a:rPr spc="-10" dirty="0"/>
              <a:t>onto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35" dirty="0"/>
              <a:t> </a:t>
            </a:r>
            <a:r>
              <a:rPr spc="-30" dirty="0"/>
              <a:t>principal</a:t>
            </a:r>
            <a:r>
              <a:rPr spc="-40" dirty="0"/>
              <a:t> </a:t>
            </a:r>
            <a:r>
              <a:rPr spc="-55" dirty="0"/>
              <a:t>subspace</a:t>
            </a:r>
            <a:r>
              <a:rPr spc="-30" dirty="0"/>
              <a:t> by</a:t>
            </a:r>
            <a:r>
              <a:rPr spc="-35" dirty="0"/>
              <a:t> </a:t>
            </a:r>
            <a:r>
              <a:rPr i="1" spc="-545" dirty="0">
                <a:latin typeface="Arial"/>
                <a:cs typeface="Arial"/>
              </a:rPr>
              <a:t>X</a:t>
            </a:r>
            <a:r>
              <a:rPr sz="1650" spc="-44" baseline="12626" dirty="0"/>
              <a:t>˜</a:t>
            </a:r>
            <a:r>
              <a:rPr sz="1650" spc="82" baseline="12626" dirty="0"/>
              <a:t> </a:t>
            </a:r>
            <a:r>
              <a:rPr sz="1100" dirty="0"/>
              <a:t>=</a:t>
            </a:r>
            <a:r>
              <a:rPr sz="1100" spc="-90" dirty="0"/>
              <a:t> </a:t>
            </a:r>
            <a:r>
              <a:rPr sz="1100" i="1" spc="-40" dirty="0">
                <a:latin typeface="Arial"/>
                <a:cs typeface="Arial"/>
              </a:rPr>
              <a:t>b</a:t>
            </a:r>
            <a:r>
              <a:rPr sz="1200" spc="-60" baseline="-10416" dirty="0"/>
              <a:t>1</a:t>
            </a:r>
            <a:r>
              <a:rPr sz="1100" i="1" spc="-40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/>
              <a:t>. </a:t>
            </a:r>
            <a:r>
              <a:rPr sz="1100" dirty="0"/>
              <a:t>To</a:t>
            </a:r>
            <a:r>
              <a:rPr sz="1100" spc="-45" dirty="0"/>
              <a:t> </a:t>
            </a:r>
            <a:r>
              <a:rPr sz="1100" spc="-20" dirty="0"/>
              <a:t>obtain</a:t>
            </a:r>
            <a:r>
              <a:rPr sz="1100" spc="-40" dirty="0"/>
              <a:t> </a:t>
            </a:r>
            <a:r>
              <a:rPr sz="1100" spc="-20" dirty="0"/>
              <a:t>our</a:t>
            </a:r>
            <a:r>
              <a:rPr sz="1100" spc="-35" dirty="0"/>
              <a:t> projection </a:t>
            </a:r>
            <a:r>
              <a:rPr sz="1100" dirty="0"/>
              <a:t>in</a:t>
            </a:r>
            <a:r>
              <a:rPr sz="1100" spc="-40" dirty="0"/>
              <a:t> </a:t>
            </a:r>
            <a:r>
              <a:rPr sz="1100" spc="-10" dirty="0"/>
              <a:t>the</a:t>
            </a:r>
            <a:r>
              <a:rPr sz="1100" spc="-35" dirty="0"/>
              <a:t> </a:t>
            </a:r>
            <a:r>
              <a:rPr sz="1100" spc="-30" dirty="0"/>
              <a:t>original</a:t>
            </a:r>
            <a:r>
              <a:rPr sz="1100" spc="-35" dirty="0"/>
              <a:t> </a:t>
            </a:r>
            <a:r>
              <a:rPr sz="1100" spc="-10" dirty="0"/>
              <a:t>data</a:t>
            </a:r>
            <a:r>
              <a:rPr sz="1100" spc="-35" dirty="0"/>
              <a:t> </a:t>
            </a:r>
            <a:r>
              <a:rPr sz="1100" spc="-55" dirty="0"/>
              <a:t>space</a:t>
            </a:r>
            <a:r>
              <a:rPr sz="1100" spc="-35" dirty="0"/>
              <a:t> </a:t>
            </a:r>
            <a:r>
              <a:rPr sz="1100" spc="-25" dirty="0"/>
              <a:t>(i.e.,</a:t>
            </a:r>
            <a:r>
              <a:rPr sz="1100" spc="-35" dirty="0"/>
              <a:t> </a:t>
            </a:r>
            <a:r>
              <a:rPr sz="1100" spc="-10" dirty="0"/>
              <a:t>before </a:t>
            </a:r>
            <a:r>
              <a:rPr sz="1100" spc="-35" dirty="0"/>
              <a:t>standardization),</a:t>
            </a:r>
            <a:r>
              <a:rPr sz="1100" spc="-20" dirty="0"/>
              <a:t> </a:t>
            </a:r>
            <a:r>
              <a:rPr sz="1100" spc="-90" dirty="0"/>
              <a:t>we</a:t>
            </a:r>
            <a:r>
              <a:rPr sz="1100" spc="5" dirty="0"/>
              <a:t> </a:t>
            </a:r>
            <a:r>
              <a:rPr sz="1100" spc="-60" dirty="0"/>
              <a:t>need</a:t>
            </a:r>
            <a:r>
              <a:rPr sz="1100" spc="-10" dirty="0"/>
              <a:t> </a:t>
            </a:r>
            <a:r>
              <a:rPr sz="1100" dirty="0"/>
              <a:t>to</a:t>
            </a:r>
            <a:r>
              <a:rPr sz="1100" spc="-5" dirty="0"/>
              <a:t> </a:t>
            </a:r>
            <a:r>
              <a:rPr sz="1100" spc="-45" dirty="0"/>
              <a:t>undo</a:t>
            </a:r>
            <a:r>
              <a:rPr sz="1100" spc="-10" dirty="0"/>
              <a:t> the standardization.</a:t>
            </a:r>
            <a:endParaRPr sz="1100">
              <a:latin typeface="Arial"/>
              <a:cs typeface="Arial"/>
            </a:endParaRPr>
          </a:p>
          <a:p>
            <a:pPr marL="95885" algn="ctr">
              <a:lnSpc>
                <a:spcPct val="100000"/>
              </a:lnSpc>
              <a:spcBef>
                <a:spcPts val="1130"/>
              </a:spcBef>
            </a:pPr>
            <a:r>
              <a:rPr i="1" spc="-545" dirty="0">
                <a:latin typeface="Arial"/>
                <a:cs typeface="Arial"/>
              </a:rPr>
              <a:t>X</a:t>
            </a:r>
            <a:r>
              <a:rPr sz="1650" spc="-44" baseline="12626" dirty="0"/>
              <a:t>˜</a:t>
            </a:r>
            <a:r>
              <a:rPr sz="1650" spc="120" baseline="12626" dirty="0"/>
              <a:t> </a:t>
            </a:r>
            <a:r>
              <a:rPr sz="1100" dirty="0"/>
              <a:t>=</a:t>
            </a:r>
            <a:r>
              <a:rPr sz="1100" spc="-25" dirty="0"/>
              <a:t> </a:t>
            </a:r>
            <a:r>
              <a:rPr sz="1100" i="1" spc="-545" dirty="0">
                <a:latin typeface="Arial"/>
                <a:cs typeface="Arial"/>
              </a:rPr>
              <a:t>X</a:t>
            </a:r>
            <a:r>
              <a:rPr sz="1650" spc="-44" baseline="12626" dirty="0"/>
              <a:t>˜</a:t>
            </a:r>
            <a:r>
              <a:rPr sz="1650" spc="30" baseline="12626" dirty="0"/>
              <a:t> </a:t>
            </a:r>
            <a:r>
              <a:rPr sz="1100" dirty="0"/>
              <a:t>+</a:t>
            </a:r>
            <a:r>
              <a:rPr sz="1100" spc="-90" dirty="0"/>
              <a:t> </a:t>
            </a:r>
            <a:r>
              <a:rPr sz="1100" i="1" spc="10" dirty="0">
                <a:latin typeface="Calibri"/>
                <a:cs typeface="Calibri"/>
              </a:rPr>
              <a:t>µ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325627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3333B2"/>
                </a:solidFill>
                <a:latin typeface="Tahoma"/>
                <a:cs typeface="Tahoma"/>
              </a:rPr>
              <a:t>Projected</a:t>
            </a:r>
            <a:r>
              <a:rPr sz="1400" spc="-8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r>
              <a:rPr sz="1400" spc="-8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onto</a:t>
            </a:r>
            <a:r>
              <a:rPr sz="1400" spc="-8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the</a:t>
            </a:r>
            <a:r>
              <a:rPr sz="1400" spc="-8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Principal</a:t>
            </a:r>
            <a:r>
              <a:rPr sz="1400" spc="-8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3333B2"/>
                </a:solidFill>
                <a:latin typeface="Tahoma"/>
                <a:cs typeface="Tahoma"/>
              </a:rPr>
              <a:t>Subspace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018" y="795019"/>
            <a:ext cx="3649979" cy="192786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4340225" cy="47180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sz="1400" spc="-25" dirty="0">
                <a:solidFill>
                  <a:srgbClr val="3333B2"/>
                </a:solidFill>
                <a:latin typeface="Tahoma"/>
                <a:cs typeface="Tahoma"/>
              </a:rPr>
              <a:t>Projected</a:t>
            </a:r>
            <a:r>
              <a:rPr sz="1400" spc="-8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r>
              <a:rPr sz="1400" spc="-8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onto</a:t>
            </a:r>
            <a:r>
              <a:rPr sz="1400" spc="-7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the</a:t>
            </a:r>
            <a:r>
              <a:rPr sz="1400" spc="-7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Principal</a:t>
            </a:r>
            <a:r>
              <a:rPr sz="1400" spc="-7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3333B2"/>
                </a:solidFill>
                <a:latin typeface="Tahoma"/>
                <a:cs typeface="Tahoma"/>
              </a:rPr>
              <a:t>Subspace</a:t>
            </a:r>
            <a:r>
              <a:rPr sz="1400" spc="-6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in</a:t>
            </a:r>
            <a:r>
              <a:rPr sz="1400" spc="-7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3333B2"/>
                </a:solidFill>
                <a:latin typeface="Tahoma"/>
                <a:cs typeface="Tahoma"/>
              </a:rPr>
              <a:t>the</a:t>
            </a:r>
            <a:r>
              <a:rPr sz="1400" spc="-7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3333B2"/>
                </a:solidFill>
                <a:latin typeface="Tahoma"/>
                <a:cs typeface="Tahoma"/>
              </a:rPr>
              <a:t>original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r>
              <a:rPr sz="1400" spc="-9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Tahoma"/>
                <a:cs typeface="Tahoma"/>
              </a:rPr>
              <a:t>space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638" y="916419"/>
            <a:ext cx="3634740" cy="196595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62c7be92337541b430aa89ae92170225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6bf9aa7f290f016ad30c1f432a629028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0a2451e9-b2b7-43a3-aada-52e3e0c35c47" xsi:nil="true"/>
    <Invited_Teachers xmlns="0a2451e9-b2b7-43a3-aada-52e3e0c35c47" xsi:nil="true"/>
    <FolderType xmlns="0a2451e9-b2b7-43a3-aada-52e3e0c35c47" xsi:nil="true"/>
    <Teachers xmlns="0a2451e9-b2b7-43a3-aada-52e3e0c35c47">
      <UserInfo>
        <DisplayName/>
        <AccountId xsi:nil="true"/>
        <AccountType/>
      </UserInfo>
    </Teachers>
    <Student_Groups xmlns="0a2451e9-b2b7-43a3-aada-52e3e0c35c47">
      <UserInfo>
        <DisplayName/>
        <AccountId xsi:nil="true"/>
        <AccountType/>
      </UserInfo>
    </Student_Groups>
    <Teams_Channel_Section_Location xmlns="0a2451e9-b2b7-43a3-aada-52e3e0c35c47" xsi:nil="true"/>
    <NotebookType xmlns="0a2451e9-b2b7-43a3-aada-52e3e0c35c47" xsi:nil="true"/>
    <Students xmlns="0a2451e9-b2b7-43a3-aada-52e3e0c35c47">
      <UserInfo>
        <DisplayName/>
        <AccountId xsi:nil="true"/>
        <AccountType/>
      </UserInfo>
    </Students>
    <Math_Settings xmlns="0a2451e9-b2b7-43a3-aada-52e3e0c35c47" xsi:nil="true"/>
    <DefaultSectionNames xmlns="0a2451e9-b2b7-43a3-aada-52e3e0c35c47" xsi:nil="true"/>
    <TeamsChannelId xmlns="0a2451e9-b2b7-43a3-aada-52e3e0c35c47" xsi:nil="true"/>
    <Invited_Students xmlns="0a2451e9-b2b7-43a3-aada-52e3e0c35c47" xsi:nil="true"/>
    <IsNotebookLocked xmlns="0a2451e9-b2b7-43a3-aada-52e3e0c35c47" xsi:nil="true"/>
    <Owner xmlns="0a2451e9-b2b7-43a3-aada-52e3e0c35c47">
      <UserInfo>
        <DisplayName/>
        <AccountId xsi:nil="true"/>
        <AccountType/>
      </UserInfo>
    </Owner>
    <Has_Teacher_Only_SectionGroup xmlns="0a2451e9-b2b7-43a3-aada-52e3e0c35c47" xsi:nil="true"/>
    <Is_Collaboration_Space_Locked xmlns="0a2451e9-b2b7-43a3-aada-52e3e0c35c47" xsi:nil="true"/>
    <Templates xmlns="0a2451e9-b2b7-43a3-aada-52e3e0c35c47" xsi:nil="true"/>
    <LMS_Mappings xmlns="0a2451e9-b2b7-43a3-aada-52e3e0c35c47" xsi:nil="true"/>
    <CultureName xmlns="0a2451e9-b2b7-43a3-aada-52e3e0c35c47" xsi:nil="true"/>
    <Distribution_Groups xmlns="0a2451e9-b2b7-43a3-aada-52e3e0c35c47" xsi:nil="true"/>
    <Self_Registration_Enabled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</documentManagement>
</p:properties>
</file>

<file path=customXml/itemProps1.xml><?xml version="1.0" encoding="utf-8"?>
<ds:datastoreItem xmlns:ds="http://schemas.openxmlformats.org/officeDocument/2006/customXml" ds:itemID="{02C1A5F9-196D-4E8B-87F3-BFA74878E0F6}"/>
</file>

<file path=customXml/itemProps2.xml><?xml version="1.0" encoding="utf-8"?>
<ds:datastoreItem xmlns:ds="http://schemas.openxmlformats.org/officeDocument/2006/customXml" ds:itemID="{4B78849E-17E2-4069-B94C-7B2CF7E58F4F}"/>
</file>

<file path=customXml/itemProps3.xml><?xml version="1.0" encoding="utf-8"?>
<ds:datastoreItem xmlns:ds="http://schemas.openxmlformats.org/officeDocument/2006/customXml" ds:itemID="{ACE1C8E0-E54B-41C1-92AF-33A58A48C7D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</TotalTime>
  <Words>2302</Words>
  <Application>Microsoft Office PowerPoint</Application>
  <PresentationFormat>Custom</PresentationFormat>
  <Paragraphs>330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SimSun-ExtB</vt:lpstr>
      <vt:lpstr>Arial</vt:lpstr>
      <vt:lpstr>Arial MT</vt:lpstr>
      <vt:lpstr>Calibri</vt:lpstr>
      <vt:lpstr>Cambria Math</vt:lpstr>
      <vt:lpstr>Lucida Sans Unicode</vt:lpstr>
      <vt:lpstr>Sitka Small</vt:lpstr>
      <vt:lpstr>Tahoma</vt:lpstr>
      <vt:lpstr>Times New Roman</vt:lpstr>
      <vt:lpstr>Verdana</vt:lpstr>
      <vt:lpstr>Office Theme</vt:lpstr>
      <vt:lpstr>PowerPoint Presentation</vt:lpstr>
      <vt:lpstr>Introduction</vt:lpstr>
      <vt:lpstr>Example for Motivation - </vt:lpstr>
      <vt:lpstr>Motivation </vt:lpstr>
      <vt:lpstr>2-dim PCA Projection</vt:lpstr>
      <vt:lpstr>2-dim PCA Projection</vt:lpstr>
      <vt:lpstr>Principle components analysis(PCA)</vt:lpstr>
      <vt:lpstr>Problem setting</vt:lpstr>
      <vt:lpstr>Problem setting</vt:lpstr>
      <vt:lpstr>Maximum variance perspective</vt:lpstr>
      <vt:lpstr>Centred data</vt:lpstr>
      <vt:lpstr>Direction with maximal variance</vt:lpstr>
      <vt:lpstr>Direction with maximal variance</vt:lpstr>
      <vt:lpstr>Direction with maximal variance</vt:lpstr>
      <vt:lpstr>Solving the Lagrangian</vt:lpstr>
      <vt:lpstr>First principal component</vt:lpstr>
      <vt:lpstr>M-dimensional subspace with maximum variance</vt:lpstr>
      <vt:lpstr>M-dimensional subspace with maximum variance</vt:lpstr>
      <vt:lpstr>M-dimensional subspace with maximum variance</vt:lpstr>
      <vt:lpstr>M-dimensional subspace with maximum variance</vt:lpstr>
      <vt:lpstr>Eigenvectors of S and Sˆ</vt:lpstr>
      <vt:lpstr>Eigenvectors of S and Sˆ</vt:lpstr>
      <vt:lpstr>Eigenvectors of S and Sˆ</vt:lpstr>
      <vt:lpstr>PowerPoint Presentation</vt:lpstr>
      <vt:lpstr>Projection perspective</vt:lpstr>
      <vt:lpstr>PowerPoint Presentation</vt:lpstr>
      <vt:lpstr>PowerPoint Presentation</vt:lpstr>
      <vt:lpstr>PowerPoint Presentation</vt:lpstr>
      <vt:lpstr>The compressed or the reduced data is then given by z = bT X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12</dc:title>
  <dc:creator>white Math Foundations Team</dc:creator>
  <cp:lastModifiedBy>Michael Alphonse</cp:lastModifiedBy>
  <cp:revision>7</cp:revision>
  <dcterms:created xsi:type="dcterms:W3CDTF">2025-07-30T17:08:50Z</dcterms:created>
  <dcterms:modified xsi:type="dcterms:W3CDTF">2025-07-31T11:33:45Z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2025-07-30T00:00:00Z</vt:filetime>
  </property>
  <property fmtid="{D5CDD505-2E9C-101B-9397-08002B2CF9AE}" pid="5" name="PTEX.Fullbanner">
    <vt:lpwstr>This is pdfTeX, Version 3.141592653-2.6-1.40.25 (TeX Live 2023) kpathsea version 6.3.5</vt:lpwstr>
  </property>
  <property fmtid="{D5CDD505-2E9C-101B-9397-08002B2CF9AE}" pid="6" name="Producer">
    <vt:lpwstr>pdfTeX-1.40.25</vt:lpwstr>
  </property>
  <property fmtid="{D5CDD505-2E9C-101B-9397-08002B2CF9AE}" pid="7" name="ContentTypeId">
    <vt:lpwstr>0x0101000A75E3588147654284604D4E812B6D70</vt:lpwstr>
  </property>
</Properties>
</file>