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.xml" ContentType="application/vnd.openxmlformats-package.core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9" r:id="rId24"/>
    <p:sldId id="280" r:id="rId25"/>
    <p:sldId id="281" r:id="rId26"/>
    <p:sldId id="278" r:id="rId27"/>
    <p:sldId id="282" r:id="rId28"/>
    <p:sldId id="283" r:id="rId29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1" d="100"/>
          <a:sy n="151" d="100"/>
        </p:scale>
        <p:origin x="1637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customXml" Target="../customXml/item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customXml" Target="../customXml/item3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35" Type="http://schemas.openxmlformats.org/officeDocument/2006/relationships/customXml" Target="../customXml/item2.xml"/><Relationship Id="rId8" Type="http://schemas.openxmlformats.org/officeDocument/2006/relationships/slide" Target="slides/slide7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39.384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237 0 24575,'-29'1'0,"0"1"0,0 1 0,1 1 0,-32 10 0,10-8-1365,38-6-5461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42.89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22186,'0'1123'0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48.17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24575,'2'2'0,"1"0"0,-1-1 0,1 1 0,0-1 0,-1 0 0,1 1 0,0-1 0,0-1 0,0 1 0,0 0 0,0-1 0,0 1 0,3-1 0,46 0 0,-34-1 0,151 1-1365,-157 0-5461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51.68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1 21389,'505'0'0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55.24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22982,'28'1306'0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39:56.806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251 14 24575,'-1'0'0,"1"-1"0,0 0 0,-1 0 0,0 0 0,1 1 0,-1-1 0,0 0 0,1 1 0,-1-1 0,0 0 0,1 1 0,-1-1 0,0 1 0,0-1 0,0 1 0,0-1 0,0 1 0,0 0 0,1 0 0,-1-1 0,0 1 0,0 0 0,0 0 0,0 0 0,0 0 0,-2 0 0,-32-2 0,30 2 0,-20 1 64,-41 6-1,-19 0-1555,73-7-5334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08.02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330 0 24575,'-99'9'0,"44"-3"0,-10 7 0,52-9 0,0 0 0,0-2 0,-24 3 0,12-5-1365,16-1-5461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09.995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3 1 23839,'0'1123'0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14.382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1 23513,'589'29'0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24.513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9 24140,'660'0'0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29.938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1 0 23945,'70'1432'0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31.527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646 1 24575,'-35'2'0,"0"1"0,-61 14 0,6 0 0,-23-10 0,82-6 0,0 0 0,-56 11 0,-28 7-1365,103-16-5461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06T06:40:35.481"/>
    </inkml:context>
    <inkml:brush xml:id="br0">
      <inkml:brushProperty name="width" value="0.025" units="cm"/>
      <inkml:brushProperty name="height" value="0.025" units="cm"/>
    </inkml:brush>
  </inkml:definitions>
  <inkml:trace contextRef="#ctx0" brushRef="#br0">0 3 24575,'2'-3'0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45757" y="1072832"/>
            <a:ext cx="3918585" cy="72675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1515" y="1938020"/>
            <a:ext cx="3227070" cy="8651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70380"/>
            <a:ext cx="4571961" cy="3218993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3069083" y="3371227"/>
            <a:ext cx="43180" cy="30480"/>
          </a:xfrm>
          <a:custGeom>
            <a:avLst/>
            <a:gdLst/>
            <a:ahLst/>
            <a:cxnLst/>
            <a:rect l="l" t="t" r="r" b="b"/>
            <a:pathLst>
              <a:path w="43180" h="30479">
                <a:moveTo>
                  <a:pt x="0" y="30366"/>
                </a:moveTo>
                <a:lnTo>
                  <a:pt x="43019" y="30366"/>
                </a:lnTo>
                <a:lnTo>
                  <a:pt x="43019" y="0"/>
                </a:lnTo>
                <a:lnTo>
                  <a:pt x="0" y="0"/>
                </a:lnTo>
                <a:lnTo>
                  <a:pt x="0" y="30366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989465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3167268" y="3367265"/>
            <a:ext cx="25400" cy="38100"/>
          </a:xfrm>
          <a:custGeom>
            <a:avLst/>
            <a:gdLst/>
            <a:ahLst/>
            <a:cxnLst/>
            <a:rect l="l" t="t" r="r" b="b"/>
            <a:pathLst>
              <a:path w="25400" h="38100">
                <a:moveTo>
                  <a:pt x="0" y="0"/>
                </a:moveTo>
                <a:lnTo>
                  <a:pt x="0" y="38100"/>
                </a:lnTo>
                <a:lnTo>
                  <a:pt x="25400" y="19050"/>
                </a:lnTo>
                <a:lnTo>
                  <a:pt x="0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323614" y="3360914"/>
            <a:ext cx="64135" cy="50800"/>
          </a:xfrm>
          <a:custGeom>
            <a:avLst/>
            <a:gdLst/>
            <a:ahLst/>
            <a:cxnLst/>
            <a:rect l="l" t="t" r="r" b="b"/>
            <a:pathLst>
              <a:path w="64135" h="50800">
                <a:moveTo>
                  <a:pt x="0" y="50800"/>
                </a:moveTo>
                <a:lnTo>
                  <a:pt x="43019" y="50800"/>
                </a:lnTo>
                <a:lnTo>
                  <a:pt x="43019" y="20434"/>
                </a:lnTo>
                <a:lnTo>
                  <a:pt x="0" y="20434"/>
                </a:lnTo>
                <a:lnTo>
                  <a:pt x="0" y="50800"/>
                </a:lnTo>
                <a:close/>
              </a:path>
              <a:path w="64135" h="50800">
                <a:moveTo>
                  <a:pt x="10491" y="20320"/>
                </a:moveTo>
                <a:lnTo>
                  <a:pt x="10491" y="10160"/>
                </a:lnTo>
                <a:lnTo>
                  <a:pt x="53672" y="10160"/>
                </a:lnTo>
                <a:lnTo>
                  <a:pt x="53672" y="40640"/>
                </a:lnTo>
                <a:lnTo>
                  <a:pt x="43512" y="40640"/>
                </a:lnTo>
              </a:path>
              <a:path w="64135" h="50800">
                <a:moveTo>
                  <a:pt x="20652" y="10160"/>
                </a:moveTo>
                <a:lnTo>
                  <a:pt x="20652" y="0"/>
                </a:lnTo>
                <a:lnTo>
                  <a:pt x="63832" y="0"/>
                </a:lnTo>
                <a:lnTo>
                  <a:pt x="63832" y="30480"/>
                </a:lnTo>
                <a:lnTo>
                  <a:pt x="53672" y="304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3260445" y="3367264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3620326" y="3373615"/>
            <a:ext cx="38100" cy="0"/>
          </a:xfrm>
          <a:custGeom>
            <a:avLst/>
            <a:gdLst/>
            <a:ahLst/>
            <a:cxnLst/>
            <a:rect l="l" t="t" r="r" b="b"/>
            <a:pathLst>
              <a:path w="38100">
                <a:moveTo>
                  <a:pt x="0" y="0"/>
                </a:moveTo>
                <a:lnTo>
                  <a:pt x="38100" y="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3531425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bg object 24"/>
          <p:cNvSpPr/>
          <p:nvPr/>
        </p:nvSpPr>
        <p:spPr>
          <a:xfrm>
            <a:off x="3607626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bg object 25"/>
          <p:cNvSpPr/>
          <p:nvPr/>
        </p:nvSpPr>
        <p:spPr>
          <a:xfrm>
            <a:off x="3878593" y="3360914"/>
            <a:ext cx="50800" cy="25400"/>
          </a:xfrm>
          <a:custGeom>
            <a:avLst/>
            <a:gdLst/>
            <a:ahLst/>
            <a:cxnLst/>
            <a:rect l="l" t="t" r="r" b="b"/>
            <a:pathLst>
              <a:path w="50800" h="25400">
                <a:moveTo>
                  <a:pt x="0" y="0"/>
                </a:moveTo>
                <a:lnTo>
                  <a:pt x="38100" y="0"/>
                </a:lnTo>
              </a:path>
              <a:path w="50800" h="25400">
                <a:moveTo>
                  <a:pt x="12700" y="12700"/>
                </a:moveTo>
                <a:lnTo>
                  <a:pt x="50800" y="12700"/>
                </a:lnTo>
              </a:path>
              <a:path w="50800" h="25400">
                <a:moveTo>
                  <a:pt x="12700" y="25400"/>
                </a:moveTo>
                <a:lnTo>
                  <a:pt x="50800" y="254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bg object 26"/>
          <p:cNvSpPr/>
          <p:nvPr/>
        </p:nvSpPr>
        <p:spPr>
          <a:xfrm>
            <a:off x="3802393" y="3367265"/>
            <a:ext cx="203200" cy="38100"/>
          </a:xfrm>
          <a:custGeom>
            <a:avLst/>
            <a:gdLst/>
            <a:ahLst/>
            <a:cxnLst/>
            <a:rect l="l" t="t" r="r" b="b"/>
            <a:pathLst>
              <a:path w="203200" h="38100">
                <a:moveTo>
                  <a:pt x="25400" y="0"/>
                </a:moveTo>
                <a:lnTo>
                  <a:pt x="0" y="19050"/>
                </a:lnTo>
                <a:lnTo>
                  <a:pt x="25400" y="38100"/>
                </a:lnTo>
                <a:lnTo>
                  <a:pt x="25400" y="0"/>
                </a:lnTo>
                <a:close/>
              </a:path>
              <a:path w="203200" h="38100">
                <a:moveTo>
                  <a:pt x="177802" y="0"/>
                </a:moveTo>
                <a:lnTo>
                  <a:pt x="177802" y="38100"/>
                </a:lnTo>
                <a:lnTo>
                  <a:pt x="203202" y="19050"/>
                </a:lnTo>
                <a:lnTo>
                  <a:pt x="177802" y="0"/>
                </a:lnTo>
                <a:close/>
              </a:path>
            </a:pathLst>
          </a:custGeom>
          <a:solidFill>
            <a:srgbClr val="D6D6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bg object 27"/>
          <p:cNvSpPr/>
          <p:nvPr/>
        </p:nvSpPr>
        <p:spPr>
          <a:xfrm>
            <a:off x="3878593" y="3399015"/>
            <a:ext cx="50800" cy="12700"/>
          </a:xfrm>
          <a:custGeom>
            <a:avLst/>
            <a:gdLst/>
            <a:ahLst/>
            <a:cxnLst/>
            <a:rect l="l" t="t" r="r" b="b"/>
            <a:pathLst>
              <a:path w="50800" h="12700">
                <a:moveTo>
                  <a:pt x="0" y="0"/>
                </a:moveTo>
                <a:lnTo>
                  <a:pt x="38100" y="0"/>
                </a:lnTo>
              </a:path>
              <a:path w="50800" h="12700">
                <a:moveTo>
                  <a:pt x="12700" y="12700"/>
                </a:moveTo>
                <a:lnTo>
                  <a:pt x="50800" y="12700"/>
                </a:lnTo>
              </a:path>
            </a:pathLst>
          </a:custGeom>
          <a:ln w="7591">
            <a:solidFill>
              <a:srgbClr val="D6D6E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bg object 28"/>
          <p:cNvSpPr/>
          <p:nvPr/>
        </p:nvSpPr>
        <p:spPr>
          <a:xfrm>
            <a:off x="4149573" y="3360914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0" y="0"/>
                </a:moveTo>
                <a:lnTo>
                  <a:pt x="38100" y="0"/>
                </a:lnTo>
              </a:path>
              <a:path w="50800" h="50800">
                <a:moveTo>
                  <a:pt x="12700" y="12700"/>
                </a:moveTo>
                <a:lnTo>
                  <a:pt x="50800" y="12700"/>
                </a:lnTo>
              </a:path>
              <a:path w="50800" h="50800">
                <a:moveTo>
                  <a:pt x="12700" y="25400"/>
                </a:moveTo>
                <a:lnTo>
                  <a:pt x="50800" y="25400"/>
                </a:lnTo>
              </a:path>
              <a:path w="50800" h="50800">
                <a:moveTo>
                  <a:pt x="0" y="38100"/>
                </a:moveTo>
                <a:lnTo>
                  <a:pt x="38100" y="38100"/>
                </a:lnTo>
              </a:path>
              <a:path w="50800" h="50800">
                <a:moveTo>
                  <a:pt x="12700" y="50800"/>
                </a:moveTo>
                <a:lnTo>
                  <a:pt x="50800" y="5080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bg object 29"/>
          <p:cNvSpPr/>
          <p:nvPr/>
        </p:nvSpPr>
        <p:spPr>
          <a:xfrm>
            <a:off x="4451033" y="3391395"/>
            <a:ext cx="20320" cy="20320"/>
          </a:xfrm>
          <a:custGeom>
            <a:avLst/>
            <a:gdLst/>
            <a:ahLst/>
            <a:cxnLst/>
            <a:rect l="l" t="t" r="r" b="b"/>
            <a:pathLst>
              <a:path w="20320" h="20320">
                <a:moveTo>
                  <a:pt x="0" y="0"/>
                </a:moveTo>
                <a:lnTo>
                  <a:pt x="20320" y="20320"/>
                </a:lnTo>
              </a:path>
            </a:pathLst>
          </a:custGeom>
          <a:ln w="7591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bg object 30"/>
          <p:cNvSpPr/>
          <p:nvPr/>
        </p:nvSpPr>
        <p:spPr>
          <a:xfrm>
            <a:off x="4423969" y="3364900"/>
            <a:ext cx="30480" cy="30480"/>
          </a:xfrm>
          <a:custGeom>
            <a:avLst/>
            <a:gdLst/>
            <a:ahLst/>
            <a:cxnLst/>
            <a:rect l="l" t="t" r="r" b="b"/>
            <a:pathLst>
              <a:path w="30479" h="30479">
                <a:moveTo>
                  <a:pt x="30366" y="15183"/>
                </a:moveTo>
                <a:lnTo>
                  <a:pt x="30366" y="6797"/>
                </a:lnTo>
                <a:lnTo>
                  <a:pt x="23568" y="0"/>
                </a:lnTo>
                <a:lnTo>
                  <a:pt x="15183" y="0"/>
                </a:lnTo>
                <a:lnTo>
                  <a:pt x="6797" y="0"/>
                </a:lnTo>
                <a:lnTo>
                  <a:pt x="0" y="6797"/>
                </a:lnTo>
                <a:lnTo>
                  <a:pt x="0" y="15183"/>
                </a:lnTo>
                <a:lnTo>
                  <a:pt x="0" y="23568"/>
                </a:lnTo>
                <a:lnTo>
                  <a:pt x="6797" y="30366"/>
                </a:lnTo>
                <a:lnTo>
                  <a:pt x="15183" y="30366"/>
                </a:lnTo>
                <a:lnTo>
                  <a:pt x="23568" y="30366"/>
                </a:lnTo>
                <a:lnTo>
                  <a:pt x="30366" y="23568"/>
                </a:lnTo>
                <a:lnTo>
                  <a:pt x="30366" y="15183"/>
                </a:lnTo>
                <a:close/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bg object 31"/>
          <p:cNvSpPr/>
          <p:nvPr/>
        </p:nvSpPr>
        <p:spPr>
          <a:xfrm>
            <a:off x="4329112" y="3360914"/>
            <a:ext cx="233679" cy="50800"/>
          </a:xfrm>
          <a:custGeom>
            <a:avLst/>
            <a:gdLst/>
            <a:ahLst/>
            <a:cxnLst/>
            <a:rect l="l" t="t" r="r" b="b"/>
            <a:pathLst>
              <a:path w="233679" h="50800">
                <a:moveTo>
                  <a:pt x="40640" y="50800"/>
                </a:moveTo>
                <a:lnTo>
                  <a:pt x="50400" y="48796"/>
                </a:lnTo>
                <a:lnTo>
                  <a:pt x="58488" y="43339"/>
                </a:lnTo>
                <a:lnTo>
                  <a:pt x="64002" y="35262"/>
                </a:lnTo>
                <a:lnTo>
                  <a:pt x="66040" y="25400"/>
                </a:lnTo>
                <a:lnTo>
                  <a:pt x="64036" y="15537"/>
                </a:lnTo>
                <a:lnTo>
                  <a:pt x="58579" y="7461"/>
                </a:lnTo>
                <a:lnTo>
                  <a:pt x="50502" y="2004"/>
                </a:lnTo>
                <a:lnTo>
                  <a:pt x="40640" y="0"/>
                </a:lnTo>
                <a:lnTo>
                  <a:pt x="30778" y="2004"/>
                </a:lnTo>
                <a:lnTo>
                  <a:pt x="22701" y="7461"/>
                </a:lnTo>
                <a:lnTo>
                  <a:pt x="17244" y="15537"/>
                </a:lnTo>
                <a:lnTo>
                  <a:pt x="15240" y="25400"/>
                </a:lnTo>
              </a:path>
              <a:path w="233679" h="50800">
                <a:moveTo>
                  <a:pt x="30480" y="17780"/>
                </a:moveTo>
                <a:lnTo>
                  <a:pt x="15240" y="30480"/>
                </a:lnTo>
                <a:lnTo>
                  <a:pt x="0" y="17780"/>
                </a:lnTo>
              </a:path>
              <a:path w="233679" h="50800">
                <a:moveTo>
                  <a:pt x="193042" y="50800"/>
                </a:moveTo>
                <a:lnTo>
                  <a:pt x="183179" y="48796"/>
                </a:lnTo>
                <a:lnTo>
                  <a:pt x="175103" y="43339"/>
                </a:lnTo>
                <a:lnTo>
                  <a:pt x="169646" y="35262"/>
                </a:lnTo>
                <a:lnTo>
                  <a:pt x="167642" y="25400"/>
                </a:lnTo>
                <a:lnTo>
                  <a:pt x="169646" y="15537"/>
                </a:lnTo>
                <a:lnTo>
                  <a:pt x="175103" y="7461"/>
                </a:lnTo>
                <a:lnTo>
                  <a:pt x="183179" y="2004"/>
                </a:lnTo>
                <a:lnTo>
                  <a:pt x="193042" y="0"/>
                </a:lnTo>
                <a:lnTo>
                  <a:pt x="202904" y="2004"/>
                </a:lnTo>
                <a:lnTo>
                  <a:pt x="210981" y="7461"/>
                </a:lnTo>
                <a:lnTo>
                  <a:pt x="216438" y="15537"/>
                </a:lnTo>
                <a:lnTo>
                  <a:pt x="218442" y="25400"/>
                </a:lnTo>
              </a:path>
              <a:path w="233679" h="50800">
                <a:moveTo>
                  <a:pt x="233682" y="17780"/>
                </a:moveTo>
                <a:lnTo>
                  <a:pt x="218442" y="30480"/>
                </a:lnTo>
                <a:lnTo>
                  <a:pt x="203202" y="17780"/>
                </a:lnTo>
              </a:path>
            </a:pathLst>
          </a:custGeom>
          <a:ln w="5060">
            <a:solidFill>
              <a:srgbClr val="ADADE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5300" y="72527"/>
            <a:ext cx="4230776" cy="244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0" i="0">
                <a:solidFill>
                  <a:srgbClr val="3333B2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81952" y="854162"/>
            <a:ext cx="3846195" cy="17951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567434" y="3218497"/>
            <a:ext cx="1475232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230505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8/6/2025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customXml" Target="../ink/ink4.xml"/><Relationship Id="rId13" Type="http://schemas.openxmlformats.org/officeDocument/2006/relationships/image" Target="../media/image11.png"/><Relationship Id="rId18" Type="http://schemas.openxmlformats.org/officeDocument/2006/relationships/image" Target="../media/image13.png"/><Relationship Id="rId26" Type="http://schemas.openxmlformats.org/officeDocument/2006/relationships/image" Target="../media/image17.png"/><Relationship Id="rId3" Type="http://schemas.openxmlformats.org/officeDocument/2006/relationships/image" Target="../media/image6.png"/><Relationship Id="rId21" Type="http://schemas.openxmlformats.org/officeDocument/2006/relationships/customXml" Target="../ink/ink11.xml"/><Relationship Id="rId7" Type="http://schemas.openxmlformats.org/officeDocument/2006/relationships/image" Target="../media/image8.png"/><Relationship Id="rId12" Type="http://schemas.openxmlformats.org/officeDocument/2006/relationships/customXml" Target="../ink/ink6.xml"/><Relationship Id="rId17" Type="http://schemas.openxmlformats.org/officeDocument/2006/relationships/customXml" Target="../ink/ink9.xml"/><Relationship Id="rId25" Type="http://schemas.openxmlformats.org/officeDocument/2006/relationships/customXml" Target="../ink/ink13.xml"/><Relationship Id="rId2" Type="http://schemas.openxmlformats.org/officeDocument/2006/relationships/customXml" Target="../ink/ink1.xml"/><Relationship Id="rId16" Type="http://schemas.openxmlformats.org/officeDocument/2006/relationships/customXml" Target="../ink/ink8.xml"/><Relationship Id="rId20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.xml"/><Relationship Id="rId11" Type="http://schemas.openxmlformats.org/officeDocument/2006/relationships/image" Target="../media/image10.png"/><Relationship Id="rId24" Type="http://schemas.openxmlformats.org/officeDocument/2006/relationships/image" Target="../media/image16.png"/><Relationship Id="rId5" Type="http://schemas.openxmlformats.org/officeDocument/2006/relationships/image" Target="../media/image7.png"/><Relationship Id="rId15" Type="http://schemas.openxmlformats.org/officeDocument/2006/relationships/image" Target="../media/image12.png"/><Relationship Id="rId23" Type="http://schemas.openxmlformats.org/officeDocument/2006/relationships/customXml" Target="../ink/ink12.xml"/><Relationship Id="rId10" Type="http://schemas.openxmlformats.org/officeDocument/2006/relationships/customXml" Target="../ink/ink5.xml"/><Relationship Id="rId19" Type="http://schemas.openxmlformats.org/officeDocument/2006/relationships/customXml" Target="../ink/ink10.xml"/><Relationship Id="rId4" Type="http://schemas.openxmlformats.org/officeDocument/2006/relationships/customXml" Target="../ink/ink2.xml"/><Relationship Id="rId9" Type="http://schemas.openxmlformats.org/officeDocument/2006/relationships/image" Target="../media/image9.png"/><Relationship Id="rId14" Type="http://schemas.openxmlformats.org/officeDocument/2006/relationships/customXml" Target="../ink/ink7.xml"/><Relationship Id="rId22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2018" y="14"/>
            <a:ext cx="4319985" cy="34559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1896973" y="1772688"/>
            <a:ext cx="814069" cy="68516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30" dirty="0">
                <a:solidFill>
                  <a:srgbClr val="FFFFFF"/>
                </a:solidFill>
                <a:latin typeface="Arial MT"/>
                <a:cs typeface="Arial MT"/>
              </a:rPr>
              <a:t>Lecture</a:t>
            </a:r>
            <a:r>
              <a:rPr sz="1400" spc="-45" dirty="0">
                <a:solidFill>
                  <a:srgbClr val="FFFFFF"/>
                </a:solidFill>
                <a:latin typeface="Arial MT"/>
                <a:cs typeface="Arial MT"/>
              </a:rPr>
              <a:t> 13</a:t>
            </a:r>
            <a:endParaRPr sz="140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50"/>
              </a:spcBef>
            </a:pPr>
            <a:endParaRPr sz="1400">
              <a:latin typeface="Arial MT"/>
              <a:cs typeface="Arial MT"/>
            </a:endParaRPr>
          </a:p>
          <a:p>
            <a:pPr marL="34290">
              <a:lnSpc>
                <a:spcPct val="100000"/>
              </a:lnSpc>
            </a:pPr>
            <a:r>
              <a:rPr sz="1100" dirty="0">
                <a:solidFill>
                  <a:srgbClr val="FFFFFF"/>
                </a:solidFill>
                <a:latin typeface="Tahoma"/>
                <a:cs typeface="Tahoma"/>
              </a:rPr>
              <a:t>MFDS</a:t>
            </a:r>
            <a:r>
              <a:rPr sz="1100" spc="1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1100" spc="-20" dirty="0">
                <a:solidFill>
                  <a:srgbClr val="FFFFFF"/>
                </a:solidFill>
                <a:latin typeface="Tahoma"/>
                <a:cs typeface="Tahoma"/>
              </a:rPr>
              <a:t>Team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93408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Introduction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26082"/>
            <a:ext cx="3865245" cy="13385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9461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lecture,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discussed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dimensionality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reduction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PCA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5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lecture,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0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85" dirty="0">
                <a:latin typeface="Tahoma"/>
                <a:cs typeface="Tahoma"/>
              </a:rPr>
              <a:t>see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 </a:t>
            </a:r>
            <a:r>
              <a:rPr sz="1100" spc="-55" dirty="0">
                <a:latin typeface="Tahoma"/>
                <a:cs typeface="Tahoma"/>
              </a:rPr>
              <a:t>algebra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practical </a:t>
            </a:r>
            <a:r>
              <a:rPr sz="1100" spc="-35" dirty="0">
                <a:latin typeface="Tahoma"/>
                <a:cs typeface="Tahoma"/>
              </a:rPr>
              <a:t>implementation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PCA.</a:t>
            </a:r>
            <a:endParaRPr sz="1100">
              <a:latin typeface="Tahoma"/>
              <a:cs typeface="Tahoma"/>
            </a:endParaRPr>
          </a:p>
          <a:p>
            <a:pPr marL="214629" marR="19113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25" dirty="0">
                <a:latin typeface="Tahoma"/>
                <a:cs typeface="Tahoma"/>
              </a:rPr>
              <a:t> also</a:t>
            </a:r>
            <a:r>
              <a:rPr sz="1100" spc="-30" dirty="0">
                <a:latin typeface="Tahoma"/>
                <a:cs typeface="Tahoma"/>
              </a:rPr>
              <a:t> study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challenges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encountered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when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5" dirty="0">
                <a:latin typeface="Tahoma"/>
                <a:cs typeface="Tahoma"/>
              </a:rPr>
              <a:t> is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dimensions.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Finally,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elaborate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steps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practice.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Revision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spc="-50" dirty="0"/>
              <a:t>problem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3"/>
              <p:cNvSpPr txBox="1"/>
              <p:nvPr/>
            </p:nvSpPr>
            <p:spPr>
              <a:xfrm>
                <a:off x="421957" y="1045119"/>
                <a:ext cx="3776979" cy="1653017"/>
              </a:xfrm>
              <a:prstGeom prst="rect">
                <a:avLst/>
              </a:prstGeom>
            </p:spPr>
            <p:txBody>
              <a:bodyPr vert="horz" wrap="square" lIns="0" tIns="11430" rIns="0" bIns="0" rtlCol="0">
                <a:spAutoFit/>
              </a:bodyPr>
              <a:lstStyle/>
              <a:p>
                <a:pPr marL="215265" indent="-177165">
                  <a:lnSpc>
                    <a:spcPct val="100000"/>
                  </a:lnSpc>
                  <a:spcBef>
                    <a:spcPts val="90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5265" algn="l"/>
                  </a:tabLst>
                </a:pPr>
                <a:r>
                  <a:rPr lang="en-IN" sz="1100" dirty="0">
                    <a:latin typeface="Tahoma"/>
                    <a:cs typeface="Tahoma"/>
                  </a:rPr>
                  <a:t>We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spc="-45" dirty="0">
                    <a:latin typeface="Tahoma"/>
                    <a:cs typeface="Tahoma"/>
                  </a:rPr>
                  <a:t>derived</a:t>
                </a:r>
                <a:r>
                  <a:rPr lang="en-IN" sz="1100" spc="-25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the</a:t>
                </a:r>
                <a:r>
                  <a:rPr lang="en-IN" sz="1100" spc="-25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matrix</a:t>
                </a:r>
                <a:r>
                  <a:rPr lang="en-IN" sz="1100" spc="-25" dirty="0">
                    <a:latin typeface="Tahoma"/>
                    <a:cs typeface="Tahoma"/>
                  </a:rPr>
                  <a:t> </a:t>
                </a:r>
                <a:r>
                  <a:rPr lang="en-IN" sz="1100" b="1" dirty="0">
                    <a:latin typeface="Tahoma"/>
                    <a:cs typeface="Tahoma"/>
                  </a:rPr>
                  <a:t>B</a:t>
                </a:r>
                <a:r>
                  <a:rPr lang="en-IN" sz="1100" b="1" spc="-5" dirty="0">
                    <a:latin typeface="Tahoma"/>
                    <a:cs typeface="Tahoma"/>
                  </a:rPr>
                  <a:t> </a:t>
                </a:r>
                <a:r>
                  <a:rPr lang="en-IN" sz="1100" spc="-60" dirty="0">
                    <a:latin typeface="Tahoma"/>
                    <a:cs typeface="Tahoma"/>
                  </a:rPr>
                  <a:t>used</a:t>
                </a:r>
                <a:r>
                  <a:rPr lang="en-IN" sz="1100" spc="-25" dirty="0">
                    <a:latin typeface="Tahoma"/>
                    <a:cs typeface="Tahoma"/>
                  </a:rPr>
                  <a:t> </a:t>
                </a:r>
                <a:r>
                  <a:rPr lang="en-IN" sz="1100" dirty="0">
                    <a:latin typeface="Tahoma"/>
                    <a:cs typeface="Tahoma"/>
                  </a:rPr>
                  <a:t>in</a:t>
                </a:r>
                <a:r>
                  <a:rPr lang="en-IN" sz="1100" spc="-25" dirty="0">
                    <a:latin typeface="Tahoma"/>
                    <a:cs typeface="Tahoma"/>
                  </a:rPr>
                  <a:t> </a:t>
                </a:r>
                <a:r>
                  <a:rPr lang="en-IN" sz="1100" spc="-45" dirty="0">
                    <a:latin typeface="Tahoma"/>
                    <a:cs typeface="Tahoma"/>
                  </a:rPr>
                  <a:t>generation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spc="-25" dirty="0">
                    <a:latin typeface="Tahoma"/>
                    <a:cs typeface="Tahoma"/>
                  </a:rPr>
                  <a:t>of</a:t>
                </a:r>
                <a:endParaRPr lang="en-IN" sz="1100" dirty="0">
                  <a:latin typeface="Tahoma"/>
                  <a:cs typeface="Tahoma"/>
                </a:endParaRPr>
              </a:p>
              <a:p>
                <a:pPr marL="214629">
                  <a:lnSpc>
                    <a:spcPct val="100000"/>
                  </a:lnSpc>
                  <a:spcBef>
                    <a:spcPts val="35"/>
                  </a:spcBef>
                </a:pPr>
                <a:r>
                  <a:rPr lang="en-IN" sz="1100" spc="-65" dirty="0">
                    <a:latin typeface="Tahoma"/>
                    <a:cs typeface="Tahoma"/>
                  </a:rPr>
                  <a:t>lower-</a:t>
                </a:r>
                <a:r>
                  <a:rPr lang="en-IN" sz="1100" spc="-45" dirty="0">
                    <a:latin typeface="Tahoma"/>
                    <a:cs typeface="Tahoma"/>
                  </a:rPr>
                  <a:t>dimensional</a:t>
                </a:r>
                <a:r>
                  <a:rPr lang="en-IN" sz="1100" spc="5" dirty="0">
                    <a:latin typeface="Tahoma"/>
                    <a:cs typeface="Tahoma"/>
                  </a:rPr>
                  <a:t> </a:t>
                </a:r>
                <a:r>
                  <a:rPr lang="en-IN" sz="1100" spc="-45" dirty="0">
                    <a:latin typeface="Tahoma"/>
                    <a:cs typeface="Tahoma"/>
                  </a:rPr>
                  <a:t>representation</a:t>
                </a:r>
                <a:r>
                  <a:rPr lang="en-IN" sz="1100" dirty="0">
                    <a:latin typeface="Tahoma"/>
                    <a:cs typeface="Tahoma"/>
                  </a:rPr>
                  <a:t> </a:t>
                </a:r>
                <a:r>
                  <a:rPr lang="en-IN" sz="1000" spc="75" dirty="0">
                    <a:latin typeface="Times New Roman"/>
                    <a:cs typeface="Times New Roman"/>
                  </a:rPr>
                  <a:t>z</a:t>
                </a:r>
                <a:r>
                  <a:rPr lang="en-IN" sz="1000" spc="195" dirty="0">
                    <a:latin typeface="Times New Roman"/>
                    <a:cs typeface="Times New Roman"/>
                  </a:rPr>
                  <a:t> </a:t>
                </a:r>
                <a:r>
                  <a:rPr lang="en-IN" sz="1100" spc="-35" dirty="0">
                    <a:latin typeface="Tahoma"/>
                    <a:cs typeface="Tahoma"/>
                  </a:rPr>
                  <a:t>and</a:t>
                </a:r>
                <a:r>
                  <a:rPr lang="en-IN" sz="1100" spc="10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the</a:t>
                </a:r>
                <a:r>
                  <a:rPr lang="en-IN" sz="1100" spc="5" dirty="0">
                    <a:latin typeface="Tahoma"/>
                    <a:cs typeface="Tahoma"/>
                  </a:rPr>
                  <a:t> </a:t>
                </a:r>
                <a:r>
                  <a:rPr lang="en-IN" sz="1100" spc="-70" dirty="0">
                    <a:latin typeface="Tahoma"/>
                    <a:cs typeface="Tahoma"/>
                  </a:rPr>
                  <a:t>compressed</a:t>
                </a:r>
                <a:r>
                  <a:rPr lang="en-IN" sz="1100" spc="10" dirty="0">
                    <a:latin typeface="Tahoma"/>
                    <a:cs typeface="Tahoma"/>
                  </a:rPr>
                  <a:t> </a:t>
                </a:r>
                <a:r>
                  <a:rPr lang="en-IN" sz="1100" spc="-20" dirty="0">
                    <a:latin typeface="Tahoma"/>
                    <a:cs typeface="Tahoma"/>
                  </a:rPr>
                  <a:t>data</a:t>
                </a:r>
                <a:endParaRPr lang="en-IN" sz="1100" dirty="0">
                  <a:latin typeface="Tahoma"/>
                  <a:cs typeface="Tahoma"/>
                </a:endParaRPr>
              </a:p>
              <a:p>
                <a:pPr marL="214629">
                  <a:lnSpc>
                    <a:spcPct val="100000"/>
                  </a:lnSpc>
                  <a:spcBef>
                    <a:spcPts val="35"/>
                  </a:spcBef>
                </a:pP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sz="1100" i="1" spc="-25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100" b="0" i="1" spc="-25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</m:oMath>
                </a14:m>
                <a:r>
                  <a:rPr lang="ar-AE" sz="1100" spc="-25" dirty="0">
                    <a:latin typeface="Tahoma"/>
                    <a:cs typeface="Tahoma"/>
                  </a:rPr>
                  <a:t>.</a:t>
                </a:r>
                <a:endParaRPr lang="en-IN" sz="1100" spc="-25" dirty="0">
                  <a:latin typeface="Tahoma"/>
                  <a:cs typeface="Tahoma"/>
                </a:endParaRPr>
              </a:p>
              <a:p>
                <a:pPr marL="214629">
                  <a:lnSpc>
                    <a:spcPct val="100000"/>
                  </a:lnSpc>
                  <a:spcBef>
                    <a:spcPts val="35"/>
                  </a:spcBef>
                </a:pPr>
                <a:endParaRPr lang="ar-AE" sz="1100" dirty="0">
                  <a:latin typeface="Tahoma"/>
                  <a:cs typeface="Tahoma"/>
                </a:endParaRPr>
              </a:p>
              <a:p>
                <a:pPr marL="215265" indent="-177165">
                  <a:lnSpc>
                    <a:spcPct val="100000"/>
                  </a:lnSpc>
                  <a:spcBef>
                    <a:spcPts val="334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5265" algn="l"/>
                  </a:tabLst>
                </a:pPr>
                <a:r>
                  <a:rPr lang="en-IN" sz="1100" dirty="0">
                    <a:latin typeface="Tahoma"/>
                    <a:cs typeface="Tahoma"/>
                  </a:rPr>
                  <a:t>The</a:t>
                </a:r>
                <a:r>
                  <a:rPr lang="en-IN" sz="1100" spc="-45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data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spc="-45" dirty="0">
                    <a:latin typeface="Tahoma"/>
                    <a:cs typeface="Tahoma"/>
                  </a:rPr>
                  <a:t>covariance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matrix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100" b="1" dirty="0">
                    <a:latin typeface="Tahoma"/>
                    <a:cs typeface="Tahoma"/>
                  </a:rPr>
                  <a:t>S</a:t>
                </a:r>
                <a:r>
                  <a:rPr lang="en-IN" sz="1100" b="1" spc="-10" dirty="0">
                    <a:latin typeface="Tahoma"/>
                    <a:cs typeface="Tahoma"/>
                  </a:rPr>
                  <a:t> </a:t>
                </a:r>
                <a:r>
                  <a:rPr lang="en-IN" sz="1100" spc="-65" dirty="0">
                    <a:latin typeface="Tahoma"/>
                    <a:cs typeface="Tahoma"/>
                  </a:rPr>
                  <a:t>was</a:t>
                </a:r>
                <a:r>
                  <a:rPr lang="en-IN" sz="1100" spc="-20" dirty="0">
                    <a:latin typeface="Tahoma"/>
                    <a:cs typeface="Tahoma"/>
                  </a:rPr>
                  <a:t> </a:t>
                </a:r>
                <a:r>
                  <a:rPr lang="en-IN" sz="1100" spc="-60" dirty="0">
                    <a:latin typeface="Tahoma"/>
                    <a:cs typeface="Tahoma"/>
                  </a:rPr>
                  <a:t>used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dirty="0">
                    <a:latin typeface="Tahoma"/>
                    <a:cs typeface="Tahoma"/>
                  </a:rPr>
                  <a:t>to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100" spc="-45" dirty="0">
                    <a:latin typeface="Tahoma"/>
                    <a:cs typeface="Tahoma"/>
                  </a:rPr>
                  <a:t>derive</a:t>
                </a:r>
                <a:r>
                  <a:rPr lang="en-IN" sz="1100" spc="-30" dirty="0">
                    <a:latin typeface="Tahoma"/>
                    <a:cs typeface="Tahoma"/>
                  </a:rPr>
                  <a:t> </a:t>
                </a:r>
                <a:r>
                  <a:rPr lang="en-IN" sz="1100" b="1" spc="-50" dirty="0">
                    <a:latin typeface="Tahoma"/>
                    <a:cs typeface="Tahoma"/>
                  </a:rPr>
                  <a:t>B</a:t>
                </a:r>
              </a:p>
              <a:p>
                <a:pPr marL="38100">
                  <a:lnSpc>
                    <a:spcPct val="100000"/>
                  </a:lnSpc>
                  <a:spcBef>
                    <a:spcPts val="334"/>
                  </a:spcBef>
                  <a:buClr>
                    <a:srgbClr val="3333B2"/>
                  </a:buClr>
                  <a:tabLst>
                    <a:tab pos="215265" algn="l"/>
                  </a:tabLst>
                </a:pPr>
                <a:endParaRPr lang="en-IN" sz="1100" dirty="0">
                  <a:latin typeface="Tahoma"/>
                  <a:cs typeface="Tahoma"/>
                </a:endParaRPr>
              </a:p>
              <a:p>
                <a:pPr marL="214629" marR="30480" indent="-177165">
                  <a:lnSpc>
                    <a:spcPct val="102600"/>
                  </a:lnSpc>
                  <a:spcBef>
                    <a:spcPts val="295"/>
                  </a:spcBef>
                  <a:buClr>
                    <a:srgbClr val="3333B2"/>
                  </a:buClr>
                  <a:buFont typeface="Lucida Sans Unicode"/>
                  <a:buChar char="►"/>
                  <a:tabLst>
                    <a:tab pos="214629" algn="l"/>
                  </a:tabLst>
                </a:pPr>
                <a:r>
                  <a:rPr lang="en-IN" sz="1100" spc="-10" dirty="0">
                    <a:latin typeface="Tahoma"/>
                    <a:cs typeface="Tahoma"/>
                  </a:rPr>
                  <a:t>Recall</a:t>
                </a:r>
                <a:r>
                  <a:rPr lang="en-IN" sz="1100" spc="-40" dirty="0">
                    <a:latin typeface="Tahoma"/>
                    <a:cs typeface="Tahoma"/>
                  </a:rPr>
                  <a:t> </a:t>
                </a:r>
                <a:r>
                  <a:rPr lang="en-IN" sz="1100" dirty="0">
                    <a:latin typeface="Tahoma"/>
                    <a:cs typeface="Tahoma"/>
                  </a:rPr>
                  <a:t>that</a:t>
                </a:r>
                <a:r>
                  <a:rPr lang="en-IN" sz="1100" spc="-40" dirty="0">
                    <a:latin typeface="Tahoma"/>
                    <a:cs typeface="Tahoma"/>
                  </a:rPr>
                  <a:t> </a:t>
                </a:r>
                <a:r>
                  <a:rPr lang="en-IN" sz="1100" spc="-30" dirty="0">
                    <a:latin typeface="Tahoma"/>
                    <a:cs typeface="Tahoma"/>
                  </a:rPr>
                  <a:t>linear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100" spc="-30" dirty="0">
                    <a:latin typeface="Tahoma"/>
                    <a:cs typeface="Tahoma"/>
                  </a:rPr>
                  <a:t>relationship</a:t>
                </a:r>
                <a:r>
                  <a:rPr lang="en-IN" sz="1100" spc="-40" dirty="0">
                    <a:latin typeface="Tahoma"/>
                    <a:cs typeface="Tahoma"/>
                  </a:rPr>
                  <a:t> connecting </a:t>
                </a:r>
                <a:r>
                  <a:rPr lang="en-IN" sz="1100" spc="-10" dirty="0">
                    <a:latin typeface="Tahoma"/>
                    <a:cs typeface="Tahoma"/>
                  </a:rPr>
                  <a:t>the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100" spc="-30" dirty="0">
                    <a:latin typeface="Tahoma"/>
                    <a:cs typeface="Tahoma"/>
                  </a:rPr>
                  <a:t>original</a:t>
                </a:r>
                <a:r>
                  <a:rPr lang="en-IN" sz="1100" spc="-40" dirty="0">
                    <a:latin typeface="Tahoma"/>
                    <a:cs typeface="Tahoma"/>
                  </a:rPr>
                  <a:t> </a:t>
                </a:r>
                <a:r>
                  <a:rPr lang="en-IN" sz="1100" spc="-10" dirty="0">
                    <a:latin typeface="Tahoma"/>
                    <a:cs typeface="Tahoma"/>
                  </a:rPr>
                  <a:t>data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000" spc="-25" dirty="0">
                    <a:latin typeface="Times New Roman"/>
                    <a:cs typeface="Times New Roman"/>
                  </a:rPr>
                  <a:t>x</a:t>
                </a:r>
                <a:r>
                  <a:rPr lang="en-IN" sz="1100" spc="-25" dirty="0">
                    <a:latin typeface="Tahoma"/>
                    <a:cs typeface="Tahoma"/>
                  </a:rPr>
                  <a:t>, </a:t>
                </a:r>
                <a:r>
                  <a:rPr lang="en-IN" sz="1100" dirty="0">
                    <a:latin typeface="Tahoma"/>
                    <a:cs typeface="Tahoma"/>
                  </a:rPr>
                  <a:t>its</a:t>
                </a:r>
                <a:r>
                  <a:rPr lang="en-IN" sz="1100" spc="-20" dirty="0">
                    <a:latin typeface="Tahoma"/>
                    <a:cs typeface="Tahoma"/>
                  </a:rPr>
                  <a:t> </a:t>
                </a:r>
                <a:r>
                  <a:rPr lang="en-IN" sz="1100" spc="-50" dirty="0">
                    <a:latin typeface="Tahoma"/>
                    <a:cs typeface="Tahoma"/>
                  </a:rPr>
                  <a:t>low-</a:t>
                </a:r>
                <a:r>
                  <a:rPr lang="en-IN" sz="1100" spc="-40" dirty="0">
                    <a:latin typeface="Tahoma"/>
                    <a:cs typeface="Tahoma"/>
                  </a:rPr>
                  <a:t>dimensional</a:t>
                </a:r>
                <a:r>
                  <a:rPr lang="en-IN" sz="1100" spc="-10" dirty="0">
                    <a:latin typeface="Tahoma"/>
                    <a:cs typeface="Tahoma"/>
                  </a:rPr>
                  <a:t> </a:t>
                </a:r>
                <a:r>
                  <a:rPr lang="en-IN" sz="1100" spc="-40" dirty="0">
                    <a:latin typeface="Tahoma"/>
                    <a:cs typeface="Tahoma"/>
                  </a:rPr>
                  <a:t>code</a:t>
                </a:r>
                <a:r>
                  <a:rPr lang="en-IN" sz="1100" spc="-15" dirty="0">
                    <a:latin typeface="Tahoma"/>
                    <a:cs typeface="Tahoma"/>
                  </a:rPr>
                  <a:t> </a:t>
                </a:r>
                <a:r>
                  <a:rPr lang="en-IN" sz="1000" spc="75" dirty="0">
                    <a:latin typeface="Times New Roman"/>
                    <a:cs typeface="Times New Roman"/>
                  </a:rPr>
                  <a:t>z</a:t>
                </a:r>
                <a:r>
                  <a:rPr lang="en-IN" sz="1000" spc="170" dirty="0">
                    <a:latin typeface="Times New Roman"/>
                    <a:cs typeface="Times New Roman"/>
                  </a:rPr>
                  <a:t> </a:t>
                </a:r>
                <a:r>
                  <a:rPr lang="en-IN" sz="1100" spc="-35" dirty="0">
                    <a:latin typeface="Tahoma"/>
                    <a:cs typeface="Tahoma"/>
                  </a:rPr>
                  <a:t>and</a:t>
                </a:r>
                <a:r>
                  <a:rPr lang="en-IN" sz="1100" spc="-10" dirty="0">
                    <a:latin typeface="Tahoma"/>
                    <a:cs typeface="Tahoma"/>
                  </a:rPr>
                  <a:t> the</a:t>
                </a:r>
                <a:r>
                  <a:rPr lang="en-IN" sz="1100" spc="-15" dirty="0">
                    <a:latin typeface="Tahoma"/>
                    <a:cs typeface="Tahoma"/>
                  </a:rPr>
                  <a:t> </a:t>
                </a:r>
                <a:r>
                  <a:rPr lang="en-IN" sz="1100" spc="-70" dirty="0">
                    <a:latin typeface="Tahoma"/>
                    <a:cs typeface="Tahoma"/>
                  </a:rPr>
                  <a:t>compressed</a:t>
                </a:r>
                <a:r>
                  <a:rPr lang="en-IN" sz="1100" spc="-10" dirty="0">
                    <a:latin typeface="Tahoma"/>
                    <a:cs typeface="Tahoma"/>
                  </a:rPr>
                  <a:t> data</a:t>
                </a:r>
                <a:r>
                  <a:rPr lang="en-IN" sz="1100" spc="-1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sz="1100" i="1" spc="-25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100" b="0" i="1" spc="-25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</m:oMath>
                </a14:m>
                <a:r>
                  <a:rPr lang="en-IN" sz="1100" dirty="0">
                    <a:latin typeface="Tahoma"/>
                    <a:cs typeface="Tahoma"/>
                  </a:rPr>
                  <a:t> are given by </a:t>
                </a:r>
                <a:r>
                  <a:rPr lang="en-IN" sz="1000" spc="75" dirty="0">
                    <a:latin typeface="Times New Roman"/>
                    <a:cs typeface="Times New Roman"/>
                  </a:rPr>
                  <a:t>z</a:t>
                </a:r>
                <a:r>
                  <a:rPr lang="en-IN" sz="1000" spc="155" dirty="0">
                    <a:latin typeface="Times New Roman"/>
                    <a:cs typeface="Times New Roman"/>
                  </a:rPr>
                  <a:t> </a:t>
                </a:r>
                <a:r>
                  <a:rPr lang="en-IN" sz="1100" dirty="0">
                    <a:latin typeface="Tahoma"/>
                    <a:cs typeface="Tahoma"/>
                  </a:rPr>
                  <a:t>=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000" spc="145" dirty="0">
                    <a:latin typeface="Times New Roman"/>
                    <a:cs typeface="Times New Roman"/>
                  </a:rPr>
                  <a:t>B</a:t>
                </a:r>
                <a:r>
                  <a:rPr lang="en-IN" sz="1200" i="1" spc="217" baseline="27777" dirty="0">
                    <a:latin typeface="Arial"/>
                    <a:cs typeface="Arial"/>
                  </a:rPr>
                  <a:t>T</a:t>
                </a:r>
                <a:r>
                  <a:rPr lang="en-IN" sz="1200" i="1" spc="-97" baseline="27777" dirty="0">
                    <a:latin typeface="Arial"/>
                    <a:cs typeface="Arial"/>
                  </a:rPr>
                  <a:t> </a:t>
                </a:r>
                <a:r>
                  <a:rPr lang="en-IN" sz="1000" spc="50" dirty="0">
                    <a:latin typeface="Times New Roman"/>
                    <a:cs typeface="Times New Roman"/>
                  </a:rPr>
                  <a:t>x</a:t>
                </a:r>
                <a:r>
                  <a:rPr lang="en-IN" sz="1100" spc="50" dirty="0">
                    <a:latin typeface="Tahoma"/>
                    <a:cs typeface="Tahoma"/>
                  </a:rPr>
                  <a:t>,</a:t>
                </a:r>
                <a:r>
                  <a:rPr lang="en-IN" sz="1100" spc="25" dirty="0">
                    <a:latin typeface="Tahoma"/>
                    <a:cs typeface="Tahoma"/>
                  </a:rPr>
                  <a:t> </a:t>
                </a:r>
                <a:r>
                  <a:rPr lang="en-IN" sz="1100" spc="-35" dirty="0">
                    <a:latin typeface="Tahoma"/>
                    <a:cs typeface="Tahoma"/>
                  </a:rPr>
                  <a:t>and</a:t>
                </a:r>
                <a:r>
                  <a:rPr lang="en-IN" sz="1100" spc="25" dirty="0">
                    <a:latin typeface="Tahoma"/>
                    <a:cs typeface="Tahoma"/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ar-AE" sz="1100" i="1" spc="-25" smtClean="0">
                            <a:latin typeface="Cambria Math" panose="02040503050406030204" pitchFamily="18" charset="0"/>
                            <a:cs typeface="Tahoma"/>
                          </a:rPr>
                        </m:ctrlPr>
                      </m:accPr>
                      <m:e>
                        <m:r>
                          <a:rPr lang="ar-AE" sz="1100" b="0" i="1" spc="-25" smtClean="0">
                            <a:latin typeface="Cambria Math" panose="02040503050406030204" pitchFamily="18" charset="0"/>
                            <a:cs typeface="Tahoma"/>
                          </a:rPr>
                          <m:t>𝑥</m:t>
                        </m:r>
                      </m:e>
                    </m:acc>
                    <m:r>
                      <a:rPr lang="en-IN" sz="1100" b="0" i="0" spc="-25" smtClean="0">
                        <a:latin typeface="Cambria Math" panose="02040503050406030204" pitchFamily="18" charset="0"/>
                        <a:cs typeface="Tahoma"/>
                      </a:rPr>
                      <m:t> </m:t>
                    </m:r>
                  </m:oMath>
                </a14:m>
                <a:r>
                  <a:rPr lang="en-IN" sz="1100" dirty="0">
                    <a:latin typeface="Tahoma"/>
                    <a:cs typeface="Tahoma"/>
                  </a:rPr>
                  <a:t>=</a:t>
                </a:r>
                <a:r>
                  <a:rPr lang="en-IN" sz="1100" spc="-35" dirty="0">
                    <a:latin typeface="Tahoma"/>
                    <a:cs typeface="Tahoma"/>
                  </a:rPr>
                  <a:t> </a:t>
                </a:r>
                <a:r>
                  <a:rPr lang="en-IN" sz="1000" spc="60" dirty="0">
                    <a:latin typeface="Times New Roman"/>
                    <a:cs typeface="Times New Roman"/>
                  </a:rPr>
                  <a:t>Bz</a:t>
                </a:r>
                <a:r>
                  <a:rPr lang="en-IN" sz="1100" spc="60" dirty="0">
                    <a:latin typeface="Tahoma"/>
                    <a:cs typeface="Tahoma"/>
                  </a:rPr>
                  <a:t>.</a:t>
                </a:r>
                <a:endParaRPr sz="1100" dirty="0">
                  <a:latin typeface="Tahoma"/>
                  <a:cs typeface="Tahoma"/>
                </a:endParaRPr>
              </a:p>
            </p:txBody>
          </p:sp>
        </mc:Choice>
        <mc:Fallback>
          <p:sp>
            <p:nvSpPr>
              <p:cNvPr id="3" name="object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1957" y="1045119"/>
                <a:ext cx="3776979" cy="1653017"/>
              </a:xfrm>
              <a:prstGeom prst="rect">
                <a:avLst/>
              </a:prstGeom>
              <a:blipFill>
                <a:blip r:embed="rId2"/>
                <a:stretch>
                  <a:fillRect l="-1935" t="-3309" r="-1452" b="-441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283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Recall</a:t>
            </a:r>
            <a:r>
              <a:rPr spc="45" dirty="0"/>
              <a:t> </a:t>
            </a:r>
            <a:r>
              <a:rPr dirty="0"/>
              <a:t>:</a:t>
            </a:r>
            <a:r>
              <a:rPr spc="190" dirty="0"/>
              <a:t> </a:t>
            </a:r>
            <a:r>
              <a:rPr spc="-65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664119"/>
            <a:ext cx="18129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below: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2802724"/>
              </p:ext>
            </p:extLst>
          </p:nvPr>
        </p:nvGraphicFramePr>
        <p:xfrm>
          <a:off x="347294" y="963778"/>
          <a:ext cx="3938959" cy="5428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065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06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065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065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513106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80959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x3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x4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x9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Mean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959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1.11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1.21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1.36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1.49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1.63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1.68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1.83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1.88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0" dirty="0">
                          <a:latin typeface="Tahoma"/>
                          <a:cs typeface="Tahoma"/>
                        </a:rPr>
                        <a:t>1.95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1.571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959"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12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13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15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16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17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18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19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25" dirty="0">
                          <a:latin typeface="Tahoma"/>
                          <a:cs typeface="Tahoma"/>
                        </a:rPr>
                        <a:t>20</a:t>
                      </a:r>
                      <a:endParaRPr sz="10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15"/>
                        </a:lnSpc>
                      </a:pPr>
                      <a:r>
                        <a:rPr sz="1000" spc="-10" dirty="0">
                          <a:latin typeface="Tahoma"/>
                          <a:cs typeface="Tahoma"/>
                        </a:rPr>
                        <a:t>15.555</a:t>
                      </a:r>
                      <a:endParaRPr sz="1000" dirty="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1754733" y="1860370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754733" y="2049131"/>
            <a:ext cx="952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9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042439" y="1934208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89011" y="1954097"/>
            <a:ext cx="1018540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228600" algn="l"/>
                <a:tab pos="562610" algn="l"/>
                <a:tab pos="897255" algn="l"/>
              </a:tabLst>
            </a:pPr>
            <a:r>
              <a:rPr sz="1100" i="1" spc="-50" dirty="0">
                <a:latin typeface="Arial"/>
                <a:cs typeface="Arial"/>
              </a:rPr>
              <a:t>S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-25" dirty="0">
                <a:latin typeface="Arial"/>
                <a:cs typeface="Arial"/>
              </a:rPr>
              <a:t>XX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320391" y="1758745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93518" y="1867838"/>
            <a:ext cx="852805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488950" algn="l"/>
              </a:tabLst>
            </a:pPr>
            <a:r>
              <a:rPr sz="1100" spc="-20" dirty="0">
                <a:latin typeface="Tahoma"/>
                <a:cs typeface="Tahoma"/>
              </a:rPr>
              <a:t>0</a:t>
            </a:r>
            <a:r>
              <a:rPr sz="1100" i="1" spc="-20" dirty="0">
                <a:latin typeface="Verdana"/>
                <a:cs typeface="Verdana"/>
              </a:rPr>
              <a:t>.</a:t>
            </a:r>
            <a:r>
              <a:rPr sz="1100" spc="-20" dirty="0">
                <a:latin typeface="Tahoma"/>
                <a:cs typeface="Tahoma"/>
              </a:rPr>
              <a:t>079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1100" spc="-10" dirty="0">
                <a:latin typeface="Tahoma"/>
                <a:cs typeface="Tahoma"/>
              </a:rPr>
              <a:t>888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1100" dirty="0">
                <a:latin typeface="Tahoma"/>
                <a:cs typeface="Tahoma"/>
              </a:rPr>
              <a:t>888</a:t>
            </a:r>
            <a:r>
              <a:rPr sz="1100" spc="3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10</a:t>
            </a:r>
            <a:r>
              <a:rPr sz="1100" i="1" spc="-50" dirty="0">
                <a:latin typeface="Verdana"/>
                <a:cs typeface="Verdana"/>
              </a:rPr>
              <a:t>.</a:t>
            </a:r>
            <a:r>
              <a:rPr sz="1100" spc="-50" dirty="0">
                <a:latin typeface="Tahoma"/>
                <a:cs typeface="Tahoma"/>
              </a:rPr>
              <a:t>024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220466" y="1758745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7294" y="2339580"/>
            <a:ext cx="24777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10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Verdana"/>
                <a:cs typeface="Verdana"/>
              </a:rPr>
              <a:t>λ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10</a:t>
            </a:r>
            <a:r>
              <a:rPr sz="1100" i="1" spc="-50" dirty="0">
                <a:latin typeface="Verdana"/>
                <a:cs typeface="Verdana"/>
              </a:rPr>
              <a:t>.</a:t>
            </a:r>
            <a:r>
              <a:rPr sz="1100" spc="-50" dirty="0">
                <a:latin typeface="Tahoma"/>
                <a:cs typeface="Tahoma"/>
              </a:rPr>
              <a:t>103.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7294" y="2585871"/>
            <a:ext cx="19221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corresponding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63914" y="2671697"/>
            <a:ext cx="34099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60" dirty="0">
                <a:latin typeface="Tahoma"/>
                <a:cs typeface="Tahoma"/>
              </a:rPr>
              <a:t>0</a:t>
            </a:r>
            <a:r>
              <a:rPr sz="1100" i="1" spc="-60" dirty="0">
                <a:latin typeface="Verdana"/>
                <a:cs typeface="Verdana"/>
              </a:rPr>
              <a:t>.</a:t>
            </a:r>
            <a:r>
              <a:rPr sz="1100" spc="-60" dirty="0">
                <a:latin typeface="Tahoma"/>
                <a:cs typeface="Tahoma"/>
              </a:rPr>
              <a:t>996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290787" y="2390519"/>
            <a:ext cx="487680" cy="191770"/>
          </a:xfrm>
          <a:prstGeom prst="rect">
            <a:avLst/>
          </a:prstGeom>
        </p:spPr>
        <p:txBody>
          <a:bodyPr vert="horz" wrap="square" lIns="0" tIns="1511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90"/>
              </a:spcBef>
              <a:tabLst>
                <a:tab pos="401320" algn="l"/>
              </a:tabLst>
            </a:pPr>
            <a:r>
              <a:rPr sz="1100" dirty="0">
                <a:latin typeface="Lucida Sans Unicode"/>
                <a:cs typeface="Lucida Sans Unicode"/>
              </a:rPr>
              <a:t>	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38514" y="2499612"/>
            <a:ext cx="50355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0</a:t>
            </a:r>
            <a:r>
              <a:rPr sz="1100" i="1" spc="-35" dirty="0">
                <a:latin typeface="Verdana"/>
                <a:cs typeface="Verdana"/>
              </a:rPr>
              <a:t>.</a:t>
            </a:r>
            <a:r>
              <a:rPr sz="1100" spc="-35" dirty="0">
                <a:latin typeface="Tahoma"/>
                <a:cs typeface="Tahoma"/>
              </a:rPr>
              <a:t>088</a:t>
            </a:r>
            <a:r>
              <a:rPr sz="1100" spc="65" dirty="0">
                <a:latin typeface="Tahoma"/>
                <a:cs typeface="Tahoma"/>
              </a:rPr>
              <a:t> </a:t>
            </a:r>
            <a:r>
              <a:rPr sz="1650" spc="-75" baseline="-35353" dirty="0">
                <a:latin typeface="Tahoma"/>
                <a:cs typeface="Tahoma"/>
              </a:rPr>
              <a:t>.</a:t>
            </a:r>
            <a:endParaRPr sz="1650" baseline="-35353">
              <a:latin typeface="Tahoma"/>
              <a:cs typeface="Tahoma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68B91EE-843A-5504-11ED-7D01447028A5}"/>
              </a:ext>
            </a:extLst>
          </p:cNvPr>
          <p:cNvSpPr txBox="1"/>
          <p:nvPr/>
        </p:nvSpPr>
        <p:spPr>
          <a:xfrm>
            <a:off x="628650" y="1654175"/>
            <a:ext cx="3429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900" dirty="0"/>
              <a:t>The Data Covariance matrix is given by</a:t>
            </a:r>
          </a:p>
        </p:txBody>
      </p:sp>
      <p:sp>
        <p:nvSpPr>
          <p:cNvPr id="18" name="Left Bracket 17">
            <a:extLst>
              <a:ext uri="{FF2B5EF4-FFF2-40B4-BE49-F238E27FC236}">
                <a16:creationId xmlns:a16="http://schemas.microsoft.com/office/drawing/2014/main" id="{773D499F-6F0D-0A89-99C9-21D7403DA233}"/>
              </a:ext>
            </a:extLst>
          </p:cNvPr>
          <p:cNvSpPr/>
          <p:nvPr/>
        </p:nvSpPr>
        <p:spPr>
          <a:xfrm>
            <a:off x="2373097" y="1860370"/>
            <a:ext cx="45719" cy="380531"/>
          </a:xfrm>
          <a:prstGeom prst="lef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Right Bracket 18">
            <a:extLst>
              <a:ext uri="{FF2B5EF4-FFF2-40B4-BE49-F238E27FC236}">
                <a16:creationId xmlns:a16="http://schemas.microsoft.com/office/drawing/2014/main" id="{EC2D7F43-BB7C-038F-9E76-41B3B52D6F1D}"/>
              </a:ext>
            </a:extLst>
          </p:cNvPr>
          <p:cNvSpPr/>
          <p:nvPr/>
        </p:nvSpPr>
        <p:spPr>
          <a:xfrm>
            <a:off x="3143250" y="1860370"/>
            <a:ext cx="123494" cy="371323"/>
          </a:xfrm>
          <a:prstGeom prst="rightBracket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95300" y="72527"/>
            <a:ext cx="7575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dirty="0">
                <a:solidFill>
                  <a:srgbClr val="3333B2"/>
                </a:solidFill>
                <a:latin typeface="Arial MT"/>
                <a:cs typeface="Arial MT"/>
              </a:rPr>
              <a:t>Data</a:t>
            </a:r>
            <a:r>
              <a:rPr sz="1400" spc="-4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20" dirty="0">
                <a:solidFill>
                  <a:srgbClr val="3333B2"/>
                </a:solidFill>
                <a:latin typeface="Arial MT"/>
                <a:cs typeface="Arial MT"/>
              </a:rPr>
              <a:t>Plot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" y="733848"/>
            <a:ext cx="2819400" cy="1529443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791699" y="2370123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libri"/>
                <a:cs typeface="Calibri"/>
              </a:rPr>
              <a:t>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21894" y="2294482"/>
            <a:ext cx="37109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compressed</a:t>
            </a:r>
            <a:r>
              <a:rPr sz="1100" spc="-20" dirty="0">
                <a:latin typeface="Tahoma"/>
                <a:cs typeface="Tahoma"/>
              </a:rPr>
              <a:t> or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reduced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then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17512" y="2610573"/>
          <a:ext cx="3768721" cy="353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4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44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9814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9814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z1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z2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z3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z4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z8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5" dirty="0">
                          <a:latin typeface="Tahoma"/>
                          <a:cs typeface="Tahoma"/>
                        </a:rPr>
                        <a:t>z9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6530"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5.57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3.57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2.56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40" dirty="0">
                          <a:latin typeface="Tahoma"/>
                          <a:cs typeface="Tahoma"/>
                        </a:rPr>
                        <a:t>-</a:t>
                      </a:r>
                      <a:r>
                        <a:rPr sz="1100" spc="-20" dirty="0">
                          <a:latin typeface="Tahoma"/>
                          <a:cs typeface="Tahoma"/>
                        </a:rPr>
                        <a:t>0.56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0.45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1.45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2.46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3.46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0"/>
                        </a:lnSpc>
                      </a:pPr>
                      <a:r>
                        <a:rPr sz="1100" spc="-20" dirty="0">
                          <a:latin typeface="Tahoma"/>
                          <a:cs typeface="Tahoma"/>
                        </a:rPr>
                        <a:t>4.46</a:t>
                      </a:r>
                      <a:endParaRPr sz="110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</a:t>
            </a:r>
            <a:r>
              <a:rPr spc="-35" dirty="0"/>
              <a:t> </a:t>
            </a:r>
            <a:r>
              <a:rPr spc="-30" dirty="0"/>
              <a:t>Computation</a:t>
            </a:r>
            <a:r>
              <a:rPr spc="-35" dirty="0"/>
              <a:t> </a:t>
            </a:r>
            <a:r>
              <a:rPr spc="-40" dirty="0"/>
              <a:t>and</a:t>
            </a:r>
            <a:r>
              <a:rPr spc="-35" dirty="0"/>
              <a:t> </a:t>
            </a:r>
            <a:r>
              <a:rPr spc="-20" dirty="0"/>
              <a:t>Low</a:t>
            </a:r>
            <a:r>
              <a:rPr spc="-35" dirty="0"/>
              <a:t> </a:t>
            </a:r>
            <a:r>
              <a:rPr spc="-40" dirty="0"/>
              <a:t>Rank</a:t>
            </a:r>
            <a:r>
              <a:rPr spc="-30" dirty="0"/>
              <a:t> </a:t>
            </a:r>
            <a:r>
              <a:rPr spc="-25" dirty="0"/>
              <a:t>Approximation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34657" y="706271"/>
            <a:ext cx="383222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previous</a:t>
            </a:r>
            <a:r>
              <a:rPr sz="1100" spc="-40" dirty="0">
                <a:latin typeface="Tahoma"/>
                <a:cs typeface="Tahoma"/>
              </a:rPr>
              <a:t> sections,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obtained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principal </a:t>
            </a:r>
            <a:r>
              <a:rPr sz="1100" spc="-55" dirty="0">
                <a:latin typeface="Tahoma"/>
                <a:cs typeface="Tahoma"/>
              </a:rPr>
              <a:t>subspace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associated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50986" y="1486521"/>
            <a:ext cx="2616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240622" y="1370289"/>
            <a:ext cx="123825" cy="403225"/>
          </a:xfrm>
          <a:prstGeom prst="rect">
            <a:avLst/>
          </a:prstGeom>
        </p:spPr>
        <p:txBody>
          <a:bodyPr vert="horz" wrap="square" lIns="0" tIns="33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65"/>
              </a:spcBef>
            </a:pPr>
            <a:r>
              <a:rPr sz="1100" u="sng" spc="-1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 </a:t>
            </a:r>
            <a:r>
              <a:rPr sz="1100" u="sng" spc="-50" dirty="0">
                <a:uFill>
                  <a:solidFill>
                    <a:srgbClr val="000000"/>
                  </a:solidFill>
                </a:uFill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446299" y="1350669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446299" y="1500948"/>
            <a:ext cx="168008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869" dirty="0">
                <a:latin typeface="Lucida Sans Unicode"/>
                <a:cs typeface="Lucida Sans Unicode"/>
              </a:rPr>
              <a:t>Σ</a:t>
            </a:r>
            <a:endParaRPr sz="1100" dirty="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401760" y="1692502"/>
            <a:ext cx="19875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i</a:t>
            </a:r>
            <a:r>
              <a:rPr sz="800" i="1" spc="-120" dirty="0">
                <a:latin typeface="Arial"/>
                <a:cs typeface="Arial"/>
              </a:rPr>
              <a:t> </a:t>
            </a:r>
            <a:r>
              <a:rPr sz="800" spc="114" dirty="0">
                <a:latin typeface="Calibri"/>
                <a:cs typeface="Calibri"/>
              </a:rPr>
              <a:t>=1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11462" y="1486521"/>
            <a:ext cx="21717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x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815475" y="1466645"/>
            <a:ext cx="9906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35" dirty="0">
                <a:latin typeface="Arial"/>
                <a:cs typeface="Arial"/>
              </a:rPr>
              <a:t>T</a:t>
            </a:r>
            <a:endParaRPr sz="8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49943" y="1544623"/>
            <a:ext cx="25971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i="1" dirty="0">
                <a:latin typeface="Arial"/>
                <a:cs typeface="Arial"/>
              </a:rPr>
              <a:t>n</a:t>
            </a:r>
            <a:r>
              <a:rPr sz="800" i="1" spc="330" dirty="0">
                <a:latin typeface="Arial"/>
                <a:cs typeface="Arial"/>
              </a:rPr>
              <a:t> </a:t>
            </a:r>
            <a:r>
              <a:rPr sz="1200" i="1" spc="-89" baseline="-6944" dirty="0">
                <a:latin typeface="Arial"/>
                <a:cs typeface="Arial"/>
              </a:rPr>
              <a:t>n</a:t>
            </a:r>
            <a:endParaRPr sz="1200" baseline="-6944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34657" y="1917076"/>
            <a:ext cx="13557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025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02565" algn="l"/>
              </a:tabLst>
            </a:pPr>
            <a:r>
              <a:rPr sz="1100" spc="-25" dirty="0">
                <a:latin typeface="Tahoma"/>
                <a:cs typeface="Tahoma"/>
              </a:rPr>
              <a:t>Equivalently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2376855" y="2257831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2049119" y="2047492"/>
            <a:ext cx="76708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algn="ctr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algn="ctr">
              <a:lnSpc>
                <a:spcPts val="1030"/>
              </a:lnSpc>
              <a:tabLst>
                <a:tab pos="414020" algn="l"/>
              </a:tabLst>
            </a:pP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40" dirty="0">
                <a:latin typeface="Arial"/>
                <a:cs typeface="Arial"/>
              </a:rPr>
              <a:t>XX</a:t>
            </a:r>
            <a:r>
              <a:rPr sz="1200" i="1" spc="60" baseline="31250" dirty="0">
                <a:latin typeface="Arial"/>
                <a:cs typeface="Arial"/>
              </a:rPr>
              <a:t>T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421957" y="2187039"/>
            <a:ext cx="2346960" cy="666750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R="285750" algn="r">
              <a:lnSpc>
                <a:spcPct val="100000"/>
              </a:lnSpc>
              <a:spcBef>
                <a:spcPts val="475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38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[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200" spc="-82" baseline="-10416" dirty="0">
                <a:latin typeface="Calibri"/>
                <a:cs typeface="Calibri"/>
              </a:rPr>
              <a:t>1</a:t>
            </a:r>
            <a:r>
              <a:rPr sz="1100" i="1" spc="-5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.....,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i="1" spc="-37" baseline="-13888" dirty="0">
                <a:latin typeface="Arial"/>
                <a:cs typeface="Arial"/>
              </a:rPr>
              <a:t>N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-120" dirty="0">
                <a:latin typeface="Tahoma"/>
                <a:cs typeface="Tahoma"/>
              </a:rPr>
              <a:t>]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55" dirty="0">
                <a:latin typeface="Arial MT"/>
                <a:cs typeface="Arial MT"/>
              </a:rPr>
              <a:t>R</a:t>
            </a:r>
            <a:r>
              <a:rPr sz="1200" i="1" spc="82" baseline="27777" dirty="0">
                <a:latin typeface="Arial"/>
                <a:cs typeface="Arial"/>
              </a:rPr>
              <a:t>D</a:t>
            </a:r>
            <a:r>
              <a:rPr sz="1200" spc="82" baseline="27777" dirty="0">
                <a:latin typeface="Cambria"/>
                <a:cs typeface="Cambria"/>
              </a:rPr>
              <a:t>×</a:t>
            </a:r>
            <a:r>
              <a:rPr sz="1200" i="1" spc="82" baseline="27777" dirty="0">
                <a:latin typeface="Arial"/>
                <a:cs typeface="Arial"/>
              </a:rPr>
              <a:t>N</a:t>
            </a:r>
            <a:endParaRPr sz="1200" baseline="27777">
              <a:latin typeface="Arial"/>
              <a:cs typeface="Arial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Note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-15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matrix,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</a:t>
            </a:r>
            <a:r>
              <a:rPr spc="-35" dirty="0"/>
              <a:t> </a:t>
            </a:r>
            <a:r>
              <a:rPr spc="-30" dirty="0"/>
              <a:t>Computation</a:t>
            </a:r>
            <a:r>
              <a:rPr spc="-35" dirty="0"/>
              <a:t> </a:t>
            </a:r>
            <a:r>
              <a:rPr spc="-40" dirty="0"/>
              <a:t>and</a:t>
            </a:r>
            <a:r>
              <a:rPr spc="-35" dirty="0"/>
              <a:t> </a:t>
            </a:r>
            <a:r>
              <a:rPr spc="-20" dirty="0"/>
              <a:t>Low</a:t>
            </a:r>
            <a:r>
              <a:rPr spc="-35" dirty="0"/>
              <a:t> </a:t>
            </a:r>
            <a:r>
              <a:rPr spc="-40" dirty="0"/>
              <a:t>Rank</a:t>
            </a:r>
            <a:r>
              <a:rPr spc="-30" dirty="0"/>
              <a:t> </a:t>
            </a:r>
            <a:r>
              <a:rPr spc="-25" dirty="0"/>
              <a:t>Approximation</a:t>
            </a:r>
          </a:p>
        </p:txBody>
      </p:sp>
      <p:sp>
        <p:nvSpPr>
          <p:cNvPr id="3" name="object 3"/>
          <p:cNvSpPr/>
          <p:nvPr/>
        </p:nvSpPr>
        <p:spPr>
          <a:xfrm>
            <a:off x="1914880" y="2549144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2535808" y="2549144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9257" y="739799"/>
            <a:ext cx="3953193" cy="1968809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27329" marR="1193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dirty="0">
                <a:latin typeface="Tahoma"/>
                <a:cs typeface="Tahoma"/>
              </a:rPr>
              <a:t>S,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follow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approaches</a:t>
            </a:r>
            <a:endParaRPr sz="1100" dirty="0">
              <a:latin typeface="Tahoma"/>
              <a:cs typeface="Tahoma"/>
            </a:endParaRPr>
          </a:p>
          <a:p>
            <a:pPr marL="227329" marR="29273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perform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eigen-</a:t>
            </a:r>
            <a:r>
              <a:rPr sz="1100" spc="-40" dirty="0">
                <a:latin typeface="Tahoma"/>
                <a:cs typeface="Tahoma"/>
              </a:rPr>
              <a:t>decomposition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directly.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singular </a:t>
            </a:r>
            <a:r>
              <a:rPr sz="1100" spc="-40" dirty="0">
                <a:latin typeface="Tahoma"/>
                <a:cs typeface="Tahoma"/>
              </a:rPr>
              <a:t>value </a:t>
            </a:r>
            <a:r>
              <a:rPr sz="1100" spc="-10" dirty="0">
                <a:latin typeface="Tahoma"/>
                <a:cs typeface="Tahoma"/>
              </a:rPr>
              <a:t>decomposition.</a:t>
            </a:r>
            <a:endParaRPr sz="1100" dirty="0">
              <a:latin typeface="Tahoma"/>
              <a:cs typeface="Tahoma"/>
            </a:endParaRPr>
          </a:p>
          <a:p>
            <a:pPr marL="2273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27329" algn="l"/>
              </a:tabLst>
            </a:pPr>
            <a:r>
              <a:rPr sz="1100" spc="-25" dirty="0">
                <a:latin typeface="Tahoma"/>
                <a:cs typeface="Tahoma"/>
              </a:rPr>
              <a:t>Since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symmetric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factorizes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squared</a:t>
            </a:r>
            <a:r>
              <a:rPr sz="1100" spc="-35" dirty="0">
                <a:latin typeface="Tahoma"/>
                <a:cs typeface="Tahoma"/>
              </a:rPr>
              <a:t> singular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X.</a:t>
            </a:r>
            <a:endParaRPr sz="1100" dirty="0">
              <a:latin typeface="Tahoma"/>
              <a:cs typeface="Tahoma"/>
            </a:endParaRPr>
          </a:p>
          <a:p>
            <a:pPr marL="2279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dirty="0">
                <a:latin typeface="Tahoma"/>
                <a:cs typeface="Tahoma"/>
              </a:rPr>
              <a:t> SVD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65" dirty="0">
                <a:latin typeface="Arial"/>
                <a:cs typeface="Arial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60" dirty="0">
                <a:latin typeface="Arial"/>
                <a:cs typeface="Arial"/>
              </a:rPr>
              <a:t>U</a:t>
            </a:r>
            <a:r>
              <a:rPr sz="1100" spc="60" dirty="0">
                <a:latin typeface="Tahoma"/>
                <a:cs typeface="Tahoma"/>
              </a:rPr>
              <a:t>Σ</a:t>
            </a:r>
            <a:r>
              <a:rPr sz="1100" i="1" spc="6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12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.</a:t>
            </a:r>
            <a:r>
              <a:rPr sz="1100" spc="1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Then</a:t>
            </a:r>
            <a:endParaRPr sz="1100" dirty="0">
              <a:latin typeface="Tahoma"/>
              <a:cs typeface="Tahoma"/>
            </a:endParaRPr>
          </a:p>
          <a:p>
            <a:pPr marL="1525270">
              <a:lnSpc>
                <a:spcPts val="1030"/>
              </a:lnSpc>
              <a:spcBef>
                <a:spcPts val="590"/>
              </a:spcBef>
              <a:tabLst>
                <a:tab pos="2146300" algn="l"/>
              </a:tabLst>
            </a:pPr>
            <a:r>
              <a:rPr sz="1100" spc="-50" dirty="0">
                <a:latin typeface="Tahoma"/>
                <a:cs typeface="Tahoma"/>
              </a:rPr>
              <a:t>1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215390">
              <a:lnSpc>
                <a:spcPts val="745"/>
              </a:lnSpc>
              <a:tabLst>
                <a:tab pos="1630045" algn="l"/>
                <a:tab pos="2250440" algn="l"/>
              </a:tabLst>
            </a:pP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-4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31250" dirty="0">
                <a:latin typeface="Arial"/>
                <a:cs typeface="Arial"/>
              </a:rPr>
              <a:t>T</a:t>
            </a:r>
            <a:r>
              <a:rPr sz="1200" i="1" spc="359" baseline="3125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i="1" spc="110" dirty="0">
                <a:latin typeface="Arial"/>
                <a:cs typeface="Arial"/>
              </a:rPr>
              <a:t>U</a:t>
            </a:r>
            <a:r>
              <a:rPr sz="1100" spc="110" dirty="0">
                <a:latin typeface="Tahoma"/>
                <a:cs typeface="Tahoma"/>
              </a:rPr>
              <a:t>ΣΣ</a:t>
            </a:r>
            <a:r>
              <a:rPr sz="1200" i="1" spc="165" baseline="31250" dirty="0">
                <a:latin typeface="Arial"/>
                <a:cs typeface="Arial"/>
              </a:rPr>
              <a:t>T</a:t>
            </a:r>
            <a:r>
              <a:rPr sz="1200" i="1" spc="-82" baseline="31250" dirty="0">
                <a:latin typeface="Arial"/>
                <a:cs typeface="Arial"/>
              </a:rPr>
              <a:t> </a:t>
            </a:r>
            <a:r>
              <a:rPr sz="1100" i="1" spc="30" dirty="0">
                <a:latin typeface="Arial"/>
                <a:cs typeface="Arial"/>
              </a:rPr>
              <a:t>U</a:t>
            </a:r>
            <a:r>
              <a:rPr sz="1200" i="1" spc="44" baseline="31250" dirty="0">
                <a:latin typeface="Arial"/>
                <a:cs typeface="Arial"/>
              </a:rPr>
              <a:t>T</a:t>
            </a:r>
            <a:endParaRPr sz="1200" baseline="31250" dirty="0">
              <a:latin typeface="Arial"/>
              <a:cs typeface="Arial"/>
            </a:endParaRPr>
          </a:p>
          <a:p>
            <a:pPr marR="151130" algn="ctr">
              <a:lnSpc>
                <a:spcPts val="1035"/>
              </a:lnSpc>
              <a:tabLst>
                <a:tab pos="620395" algn="l"/>
              </a:tabLst>
            </a:pPr>
            <a:r>
              <a:rPr sz="1100" i="1" spc="-50" dirty="0">
                <a:latin typeface="Arial"/>
                <a:cs typeface="Arial"/>
              </a:rPr>
              <a:t>N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i="1" spc="-50" dirty="0">
                <a:latin typeface="Arial"/>
                <a:cs typeface="Arial"/>
              </a:rPr>
              <a:t>N</a:t>
            </a:r>
            <a:endParaRPr sz="1100" dirty="0">
              <a:latin typeface="Arial"/>
              <a:cs typeface="Arial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3FAC0F-24F3-1E0D-6E90-CFB0AA826B1A}"/>
                  </a:ext>
                </a:extLst>
              </p:cNvPr>
              <p:cNvSpPr txBox="1"/>
              <p:nvPr/>
            </p:nvSpPr>
            <p:spPr>
              <a:xfrm>
                <a:off x="2381250" y="2719729"/>
                <a:ext cx="2057400" cy="2308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sz="900" dirty="0"/>
                  <a:t>[Since V is orthogonal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IN" sz="9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IN" sz="900" b="0" i="1" smtClean="0">
                            <a:latin typeface="Cambria Math" panose="02040503050406030204" pitchFamily="18" charset="0"/>
                          </a:rPr>
                          <m:t>𝑉</m:t>
                        </m:r>
                      </m:e>
                      <m:sup>
                        <m:r>
                          <a:rPr lang="en-IN" sz="9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sup>
                    </m:sSup>
                    <m:r>
                      <a:rPr lang="en-IN" sz="900" b="0" i="1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IN" sz="9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900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IN" sz="900" dirty="0"/>
                  <a:t>]</a:t>
                </a:r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503FAC0F-24F3-1E0D-6E90-CFB0AA826B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81250" y="2719729"/>
                <a:ext cx="2057400" cy="230832"/>
              </a:xfrm>
              <a:prstGeom prst="rect">
                <a:avLst/>
              </a:prstGeom>
              <a:blipFill>
                <a:blip r:embed="rId2"/>
                <a:stretch>
                  <a:fillRect b="-1052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70" dirty="0"/>
              <a:t>Example</a:t>
            </a:r>
            <a:r>
              <a:rPr spc="-5" dirty="0"/>
              <a:t> </a:t>
            </a:r>
            <a:r>
              <a:rPr dirty="0"/>
              <a:t>of</a:t>
            </a:r>
            <a:r>
              <a:rPr spc="5" dirty="0"/>
              <a:t> </a:t>
            </a:r>
            <a:r>
              <a:rPr spc="-10" dirty="0"/>
              <a:t>PCA</a:t>
            </a:r>
            <a:r>
              <a:rPr spc="-5" dirty="0"/>
              <a:t> </a:t>
            </a:r>
            <a:r>
              <a:rPr spc="-55" dirty="0"/>
              <a:t>Revisited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742252"/>
            <a:ext cx="183832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below:</a:t>
            </a:r>
            <a:endParaRPr sz="1100">
              <a:latin typeface="Tahoma"/>
              <a:cs typeface="Tahoma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357571" y="1049535"/>
          <a:ext cx="3888102" cy="5086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816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816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8163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5338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x1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x2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x3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x4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x5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x6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x7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x8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x9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Mean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1.11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1.21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1.36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1.49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1.63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1.68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1.83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1.88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1.95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0" dirty="0">
                          <a:latin typeface="Tahoma"/>
                          <a:cs typeface="Tahoma"/>
                        </a:rPr>
                        <a:t>1.57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69545"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10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12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13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15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16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17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18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19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25" dirty="0">
                          <a:latin typeface="Tahoma"/>
                          <a:cs typeface="Tahoma"/>
                        </a:rPr>
                        <a:t>20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40"/>
                        </a:lnSpc>
                      </a:pPr>
                      <a:r>
                        <a:rPr sz="1050" spc="-10" dirty="0">
                          <a:latin typeface="Tahoma"/>
                          <a:cs typeface="Tahoma"/>
                        </a:rPr>
                        <a:t>15.55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321894" y="1711133"/>
            <a:ext cx="134932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3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60" dirty="0">
                <a:latin typeface="Arial"/>
                <a:cs typeface="Arial"/>
              </a:rPr>
              <a:t>U</a:t>
            </a:r>
            <a:r>
              <a:rPr sz="1100" spc="60" dirty="0">
                <a:latin typeface="Tahoma"/>
                <a:cs typeface="Tahoma"/>
              </a:rPr>
              <a:t>Σ</a:t>
            </a:r>
            <a:r>
              <a:rPr sz="1100" i="1" spc="6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52" baseline="27777" dirty="0">
                <a:latin typeface="Arial"/>
                <a:cs typeface="Arial"/>
              </a:rPr>
              <a:t>T</a:t>
            </a:r>
            <a:r>
              <a:rPr lang="en-IN" sz="1200" i="1" spc="52" baseline="27777" dirty="0">
                <a:latin typeface="Arial"/>
                <a:cs typeface="Arial"/>
              </a:rPr>
              <a:t> </a:t>
            </a:r>
            <a:endParaRPr sz="1200" baseline="27777" dirty="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70596" y="2069679"/>
            <a:ext cx="2781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U</a:t>
            </a:r>
            <a:r>
              <a:rPr sz="1100" i="1" spc="25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61781" y="1874328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934908" y="1983421"/>
            <a:ext cx="1029969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577850" algn="l"/>
              </a:tabLst>
            </a:pP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1100" spc="-10" dirty="0">
                <a:latin typeface="Tahoma"/>
                <a:cs typeface="Tahoma"/>
              </a:rPr>
              <a:t>0883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1100" spc="-10" dirty="0">
                <a:latin typeface="Tahoma"/>
                <a:cs typeface="Tahoma"/>
              </a:rPr>
              <a:t>9961</a:t>
            </a:r>
            <a:endParaRPr sz="11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0</a:t>
            </a:r>
            <a:r>
              <a:rPr sz="1100" i="1" spc="-10" dirty="0">
                <a:latin typeface="Verdana"/>
                <a:cs typeface="Verdana"/>
              </a:rPr>
              <a:t>.</a:t>
            </a:r>
            <a:r>
              <a:rPr sz="1100" spc="-10" dirty="0">
                <a:latin typeface="Tahoma"/>
                <a:cs typeface="Tahoma"/>
              </a:rPr>
              <a:t>9961</a:t>
            </a:r>
            <a:r>
              <a:rPr sz="1100" spc="315" dirty="0">
                <a:latin typeface="Tahoma"/>
                <a:cs typeface="Tahoma"/>
              </a:rPr>
              <a:t> </a:t>
            </a:r>
            <a:r>
              <a:rPr sz="1100" spc="-55" dirty="0">
                <a:latin typeface="Lucida Sans Unicode"/>
                <a:cs typeface="Lucida Sans Unicode"/>
              </a:rPr>
              <a:t>−</a:t>
            </a:r>
            <a:r>
              <a:rPr sz="1100" spc="-55" dirty="0">
                <a:latin typeface="Tahoma"/>
                <a:cs typeface="Tahoma"/>
              </a:rPr>
              <a:t>0</a:t>
            </a:r>
            <a:r>
              <a:rPr sz="1100" i="1" spc="-55" dirty="0">
                <a:latin typeface="Verdana"/>
                <a:cs typeface="Verdana"/>
              </a:rPr>
              <a:t>.</a:t>
            </a:r>
            <a:r>
              <a:rPr sz="1100" spc="-55" dirty="0">
                <a:latin typeface="Tahoma"/>
                <a:cs typeface="Tahoma"/>
              </a:rPr>
              <a:t>0883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938881" y="1874328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933450" y="2600298"/>
            <a:ext cx="349986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170" dirty="0">
                <a:latin typeface="Tahoma"/>
                <a:cs typeface="Tahoma"/>
              </a:rPr>
              <a:t>Σ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296441" y="2404947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369555" y="2514039"/>
            <a:ext cx="2153920" cy="36385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90"/>
              </a:spcBef>
              <a:tabLst>
                <a:tab pos="565150" algn="l"/>
                <a:tab pos="883919" algn="l"/>
              </a:tabLst>
            </a:pPr>
            <a:r>
              <a:rPr sz="1100" spc="-20" dirty="0">
                <a:latin typeface="Tahoma"/>
                <a:cs typeface="Tahoma"/>
              </a:rPr>
              <a:t>9</a:t>
            </a:r>
            <a:r>
              <a:rPr sz="1100" i="1" spc="-20" dirty="0">
                <a:latin typeface="Verdana"/>
                <a:cs typeface="Verdana"/>
              </a:rPr>
              <a:t>.</a:t>
            </a:r>
            <a:r>
              <a:rPr sz="1100" spc="-20" dirty="0">
                <a:latin typeface="Tahoma"/>
                <a:cs typeface="Tahoma"/>
              </a:rPr>
              <a:t>535</a:t>
            </a:r>
            <a:r>
              <a:rPr sz="1100" dirty="0">
                <a:latin typeface="Tahoma"/>
                <a:cs typeface="Tahoma"/>
              </a:rPr>
              <a:t>	</a:t>
            </a:r>
            <a:r>
              <a:rPr sz="1100" spc="-50" dirty="0">
                <a:latin typeface="Tahoma"/>
                <a:cs typeface="Tahoma"/>
              </a:rPr>
              <a:t>0</a:t>
            </a:r>
            <a:r>
              <a:rPr sz="1100" dirty="0">
                <a:latin typeface="Tahoma"/>
                <a:cs typeface="Tahoma"/>
              </a:rPr>
              <a:t>	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2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30" dirty="0">
                <a:latin typeface="Tahoma"/>
                <a:cs typeface="Tahoma"/>
              </a:rPr>
              <a:t>  </a:t>
            </a:r>
            <a:r>
              <a:rPr sz="1100" spc="-6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  <a:p>
            <a:pPr marR="5080" algn="r">
              <a:lnSpc>
                <a:spcPct val="100000"/>
              </a:lnSpc>
              <a:spcBef>
                <a:spcPts val="35"/>
              </a:spcBef>
              <a:tabLst>
                <a:tab pos="318770" algn="l"/>
              </a:tabLst>
            </a:pPr>
            <a:r>
              <a:rPr sz="1100" spc="-50" dirty="0">
                <a:latin typeface="Tahoma"/>
                <a:cs typeface="Tahoma"/>
              </a:rPr>
              <a:t>0</a:t>
            </a:r>
            <a:r>
              <a:rPr sz="1100" dirty="0">
                <a:latin typeface="Tahoma"/>
                <a:cs typeface="Tahoma"/>
              </a:rPr>
              <a:t>	0</a:t>
            </a:r>
            <a:r>
              <a:rPr sz="1100" i="1" dirty="0">
                <a:latin typeface="Verdana"/>
                <a:cs typeface="Verdana"/>
              </a:rPr>
              <a:t>.</a:t>
            </a:r>
            <a:r>
              <a:rPr sz="1100" dirty="0">
                <a:latin typeface="Tahoma"/>
                <a:cs typeface="Tahoma"/>
              </a:rPr>
              <a:t>084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05" dirty="0">
                <a:latin typeface="Tahoma"/>
                <a:cs typeface="Tahoma"/>
              </a:rPr>
              <a:t>  </a:t>
            </a:r>
            <a:r>
              <a:rPr sz="1100" dirty="0">
                <a:latin typeface="Tahoma"/>
                <a:cs typeface="Tahoma"/>
              </a:rPr>
              <a:t>0</a:t>
            </a:r>
            <a:r>
              <a:rPr sz="1100" spc="110" dirty="0">
                <a:latin typeface="Tahoma"/>
                <a:cs typeface="Tahoma"/>
              </a:rPr>
              <a:t>  </a:t>
            </a:r>
            <a:r>
              <a:rPr sz="1100" spc="-50" dirty="0">
                <a:latin typeface="Tahoma"/>
                <a:cs typeface="Tahoma"/>
              </a:rPr>
              <a:t>0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497821" y="2404947"/>
            <a:ext cx="984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latin typeface="Lucida Sans Unicode"/>
                <a:cs typeface="Lucida Sans Unicode"/>
              </a:rPr>
              <a:t> </a:t>
            </a:r>
            <a:endParaRPr sz="1100">
              <a:latin typeface="Lucida Sans Unicode"/>
              <a:cs typeface="Lucida Sans Unicode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EF62A3DB-4328-A875-7491-90B199C18CBE}"/>
                  </a:ext>
                </a:extLst>
              </p14:cNvPr>
              <p14:cNvContentPartPr/>
              <p14:nvPr/>
            </p14:nvContentPartPr>
            <p14:xfrm>
              <a:off x="1920491" y="1970041"/>
              <a:ext cx="85320" cy="10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EF62A3DB-4328-A875-7491-90B199C18CB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16171" y="1965721"/>
                <a:ext cx="9396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16E98550-BFEB-F8AC-7E6C-416C88275ABD}"/>
                  </a:ext>
                </a:extLst>
              </p14:cNvPr>
              <p14:cNvContentPartPr/>
              <p14:nvPr/>
            </p14:nvContentPartPr>
            <p14:xfrm>
              <a:off x="1914371" y="1980121"/>
              <a:ext cx="720" cy="4046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16E98550-BFEB-F8AC-7E6C-416C88275ABD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05731" y="1975801"/>
                <a:ext cx="180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D98D598-4FBB-6C46-1B9F-D073B00A67BD}"/>
                  </a:ext>
                </a:extLst>
              </p14:cNvPr>
              <p14:cNvContentPartPr/>
              <p14:nvPr/>
            </p14:nvContentPartPr>
            <p14:xfrm>
              <a:off x="1919411" y="2364241"/>
              <a:ext cx="105840" cy="5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D98D598-4FBB-6C46-1B9F-D073B00A67B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15091" y="2359921"/>
                <a:ext cx="11448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C379E21C-21EF-FEDA-E926-3D43AC81C67D}"/>
                  </a:ext>
                </a:extLst>
              </p14:cNvPr>
              <p14:cNvContentPartPr/>
              <p14:nvPr/>
            </p14:nvContentPartPr>
            <p14:xfrm>
              <a:off x="2849291" y="1909201"/>
              <a:ext cx="182160" cy="36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C379E21C-21EF-FEDA-E926-3D43AC81C67D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844611" y="1904881"/>
                <a:ext cx="190800" cy="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91FEAF00-71EC-11F9-E1BA-A4B0FF145215}"/>
                  </a:ext>
                </a:extLst>
              </p14:cNvPr>
              <p14:cNvContentPartPr/>
              <p14:nvPr/>
            </p14:nvContentPartPr>
            <p14:xfrm>
              <a:off x="3010571" y="1914241"/>
              <a:ext cx="10440" cy="4705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91FEAF00-71EC-11F9-E1BA-A4B0FF145215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006251" y="1909921"/>
                <a:ext cx="19080" cy="47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38F13D5E-7706-D349-5B72-462C5A3A16C3}"/>
                  </a:ext>
                </a:extLst>
              </p14:cNvPr>
              <p14:cNvContentPartPr/>
              <p14:nvPr/>
            </p14:nvContentPartPr>
            <p14:xfrm>
              <a:off x="2930651" y="2374321"/>
              <a:ext cx="90720" cy="57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38F13D5E-7706-D349-5B72-462C5A3A16C3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26331" y="2370001"/>
                <a:ext cx="99360" cy="14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CE9760-23C6-9570-03EF-0B41ADF3840D}"/>
                  </a:ext>
                </a:extLst>
              </p14:cNvPr>
              <p14:cNvContentPartPr/>
              <p14:nvPr/>
            </p14:nvContentPartPr>
            <p14:xfrm>
              <a:off x="1366451" y="2470441"/>
              <a:ext cx="119160" cy="1548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CE9760-23C6-9570-03EF-0B41ADF3840D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362131" y="2466121"/>
                <a:ext cx="127800" cy="24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04F74EED-FE93-7865-2C49-B57952105D65}"/>
                  </a:ext>
                </a:extLst>
              </p14:cNvPr>
              <p14:cNvContentPartPr/>
              <p14:nvPr/>
            </p14:nvContentPartPr>
            <p14:xfrm>
              <a:off x="1363931" y="2485201"/>
              <a:ext cx="720" cy="40464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04F74EED-FE93-7865-2C49-B57952105D6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55291" y="2480881"/>
                <a:ext cx="18000" cy="413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803694D1-6E82-BBF5-7ECD-FCAEDF50D800}"/>
                  </a:ext>
                </a:extLst>
              </p14:cNvPr>
              <p14:cNvContentPartPr/>
              <p14:nvPr/>
            </p14:nvContentPartPr>
            <p14:xfrm>
              <a:off x="1373651" y="2884081"/>
              <a:ext cx="212760" cy="10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803694D1-6E82-BBF5-7ECD-FCAEDF50D80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1369331" y="2879761"/>
                <a:ext cx="221400" cy="1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3ECBB7-7C8C-F07C-5ABF-4C6B7D032348}"/>
                  </a:ext>
                </a:extLst>
              </p14:cNvPr>
              <p14:cNvContentPartPr/>
              <p14:nvPr/>
            </p14:nvContentPartPr>
            <p14:xfrm>
              <a:off x="3429971" y="2429401"/>
              <a:ext cx="238320" cy="7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3ECBB7-7C8C-F07C-5ABF-4C6B7D032348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425651" y="2420761"/>
                <a:ext cx="24696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A076C62A-ACE1-42BA-C12E-B298C36D90CA}"/>
                  </a:ext>
                </a:extLst>
              </p14:cNvPr>
              <p14:cNvContentPartPr/>
              <p14:nvPr/>
            </p14:nvContentPartPr>
            <p14:xfrm>
              <a:off x="3667211" y="2419681"/>
              <a:ext cx="25560" cy="51552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A076C62A-ACE1-42BA-C12E-B298C36D90CA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662891" y="2415361"/>
                <a:ext cx="34200" cy="52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305615F-09CD-0D03-8FC5-B23C421E5868}"/>
                  </a:ext>
                </a:extLst>
              </p14:cNvPr>
              <p14:cNvContentPartPr/>
              <p14:nvPr/>
            </p14:nvContentPartPr>
            <p14:xfrm>
              <a:off x="3460571" y="2934841"/>
              <a:ext cx="232560" cy="298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305615F-09CD-0D03-8FC5-B23C421E5868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456251" y="2930521"/>
                <a:ext cx="241200" cy="3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00409DCD-2CC4-32DD-286A-6ABBFD97CBDB}"/>
                  </a:ext>
                </a:extLst>
              </p14:cNvPr>
              <p14:cNvContentPartPr/>
              <p14:nvPr/>
            </p14:nvContentPartPr>
            <p14:xfrm>
              <a:off x="3571811" y="2444161"/>
              <a:ext cx="1080" cy="108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00409DCD-2CC4-32DD-286A-6ABBFD97CBDB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567491" y="2439841"/>
                <a:ext cx="9720" cy="972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2D73DAD2-4F15-E1E5-1755-4B7B671F49D2}"/>
              </a:ext>
            </a:extLst>
          </p:cNvPr>
          <p:cNvSpPr txBox="1"/>
          <p:nvPr/>
        </p:nvSpPr>
        <p:spPr>
          <a:xfrm>
            <a:off x="818891" y="2044915"/>
            <a:ext cx="6660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/>
              <a:t>where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50" dirty="0"/>
              <a:t>Eigenvector</a:t>
            </a:r>
            <a:r>
              <a:rPr spc="-35" dirty="0"/>
              <a:t> </a:t>
            </a:r>
            <a:r>
              <a:rPr spc="-30" dirty="0"/>
              <a:t>Computation</a:t>
            </a:r>
            <a:r>
              <a:rPr spc="-35" dirty="0"/>
              <a:t> </a:t>
            </a:r>
            <a:r>
              <a:rPr spc="-40" dirty="0"/>
              <a:t>and</a:t>
            </a:r>
            <a:r>
              <a:rPr spc="-35" dirty="0"/>
              <a:t> </a:t>
            </a:r>
            <a:r>
              <a:rPr spc="-20" dirty="0"/>
              <a:t>Low</a:t>
            </a:r>
            <a:r>
              <a:rPr spc="-35" dirty="0"/>
              <a:t> </a:t>
            </a:r>
            <a:r>
              <a:rPr spc="-40" dirty="0"/>
              <a:t>Rank</a:t>
            </a:r>
            <a:r>
              <a:rPr spc="-30" dirty="0"/>
              <a:t> </a:t>
            </a:r>
            <a:r>
              <a:rPr spc="-25" dirty="0"/>
              <a:t>Approximation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45652"/>
            <a:ext cx="3864610" cy="69723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140" dirty="0">
                <a:latin typeface="Arial"/>
                <a:cs typeface="Arial"/>
              </a:rPr>
              <a:t>S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related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singular </a:t>
            </a:r>
            <a:r>
              <a:rPr sz="1100" spc="-45" dirty="0">
                <a:latin typeface="Tahoma"/>
                <a:cs typeface="Tahoma"/>
              </a:rPr>
              <a:t>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X </a:t>
            </a:r>
            <a:r>
              <a:rPr sz="1100" spc="-25" dirty="0">
                <a:latin typeface="Tahoma"/>
                <a:cs typeface="Tahoma"/>
              </a:rPr>
              <a:t>via</a:t>
            </a:r>
            <a:endParaRPr sz="1100">
              <a:latin typeface="Tahoma"/>
              <a:cs typeface="Tahoma"/>
            </a:endParaRPr>
          </a:p>
          <a:p>
            <a:pPr marL="501015" algn="ctr">
              <a:lnSpc>
                <a:spcPts val="625"/>
              </a:lnSpc>
            </a:pPr>
            <a:r>
              <a:rPr sz="1650" i="1" spc="-37" baseline="-20202" dirty="0">
                <a:latin typeface="Verdana"/>
                <a:cs typeface="Verdana"/>
              </a:rPr>
              <a:t>σ</a:t>
            </a:r>
            <a:r>
              <a:rPr sz="800" spc="-25" dirty="0">
                <a:latin typeface="Calibri"/>
                <a:cs typeface="Calibri"/>
              </a:rPr>
              <a:t>2</a:t>
            </a:r>
            <a:endParaRPr sz="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45550" y="1543074"/>
            <a:ext cx="56324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baseline="-22727" dirty="0">
                <a:latin typeface="Verdana"/>
                <a:cs typeface="Verdana"/>
              </a:rPr>
              <a:t>λ</a:t>
            </a:r>
            <a:r>
              <a:rPr sz="1200" i="1" baseline="-41666" dirty="0">
                <a:latin typeface="Arial"/>
                <a:cs typeface="Arial"/>
              </a:rPr>
              <a:t>d</a:t>
            </a:r>
            <a:r>
              <a:rPr sz="1200" i="1" spc="307" baseline="-41666" dirty="0">
                <a:latin typeface="Arial"/>
                <a:cs typeface="Arial"/>
              </a:rPr>
              <a:t> </a:t>
            </a:r>
            <a:r>
              <a:rPr sz="1650" baseline="-22727" dirty="0">
                <a:latin typeface="Tahoma"/>
                <a:cs typeface="Tahoma"/>
              </a:rPr>
              <a:t>=</a:t>
            </a:r>
            <a:r>
              <a:rPr sz="1650" spc="112" baseline="-22727" dirty="0">
                <a:latin typeface="Tahoma"/>
                <a:cs typeface="Tahoma"/>
              </a:rPr>
              <a:t> </a:t>
            </a:r>
            <a:r>
              <a:rPr sz="800" i="1" u="sng" spc="42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800" i="1" u="sng" spc="-5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667279"/>
            <a:ext cx="3862704" cy="751840"/>
          </a:xfrm>
          <a:prstGeom prst="rect">
            <a:avLst/>
          </a:prstGeom>
        </p:spPr>
        <p:txBody>
          <a:bodyPr vert="horz" wrap="square" lIns="0" tIns="36195" rIns="0" bIns="0" rtlCol="0">
            <a:spAutoFit/>
          </a:bodyPr>
          <a:lstStyle/>
          <a:p>
            <a:pPr marL="503555" algn="ctr">
              <a:lnSpc>
                <a:spcPct val="100000"/>
              </a:lnSpc>
              <a:spcBef>
                <a:spcPts val="285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15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relationship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singular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80" dirty="0">
                <a:latin typeface="Tahoma"/>
                <a:cs typeface="Tahoma"/>
              </a:rPr>
              <a:t>X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provides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connection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between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40" dirty="0">
                <a:latin typeface="Tahoma"/>
                <a:cs typeface="Tahoma"/>
              </a:rPr>
              <a:t>maximum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view</a:t>
            </a:r>
            <a:r>
              <a:rPr sz="1100" spc="-35" dirty="0">
                <a:latin typeface="Tahoma"/>
                <a:cs typeface="Tahoma"/>
              </a:rPr>
              <a:t> and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singular </a:t>
            </a:r>
            <a:r>
              <a:rPr sz="1100" spc="-40" dirty="0">
                <a:latin typeface="Tahoma"/>
                <a:cs typeface="Tahoma"/>
              </a:rPr>
              <a:t>value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decomposition.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Best</a:t>
            </a:r>
            <a:r>
              <a:rPr dirty="0"/>
              <a:t> </a:t>
            </a:r>
            <a:r>
              <a:rPr spc="-45" dirty="0"/>
              <a:t>Rank-</a:t>
            </a:r>
            <a:r>
              <a:rPr dirty="0"/>
              <a:t>M</a:t>
            </a:r>
            <a:r>
              <a:rPr spc="10" dirty="0"/>
              <a:t> </a:t>
            </a:r>
            <a:r>
              <a:rPr spc="-40" dirty="0"/>
              <a:t>approximation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32458"/>
            <a:ext cx="3863975" cy="11283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maximize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projected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chooses 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columns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associated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100" dirty="0">
                <a:latin typeface="Tahoma"/>
                <a:cs typeface="Tahoma"/>
              </a:rPr>
              <a:t>M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50" dirty="0">
                <a:latin typeface="Tahoma"/>
                <a:cs typeface="Tahoma"/>
              </a:rPr>
              <a:t> S</a:t>
            </a:r>
            <a:endParaRPr sz="1100">
              <a:latin typeface="Tahoma"/>
              <a:cs typeface="Tahoma"/>
            </a:endParaRPr>
          </a:p>
          <a:p>
            <a:pPr marL="214629" marR="4318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Eckart-</a:t>
            </a:r>
            <a:r>
              <a:rPr sz="1100" spc="-60" dirty="0">
                <a:latin typeface="Tahoma"/>
                <a:cs typeface="Tahoma"/>
              </a:rPr>
              <a:t>Young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theorem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offers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direct </a:t>
            </a:r>
            <a:r>
              <a:rPr sz="1100" spc="-75" dirty="0">
                <a:latin typeface="Tahoma"/>
                <a:cs typeface="Tahoma"/>
              </a:rPr>
              <a:t>way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estimate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representation.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rank-</a:t>
            </a:r>
            <a:r>
              <a:rPr sz="1100" dirty="0">
                <a:latin typeface="Tahoma"/>
                <a:cs typeface="Tahoma"/>
              </a:rPr>
              <a:t>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approximation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40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defined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350" dirty="0">
                <a:latin typeface="Arial"/>
                <a:cs typeface="Arial"/>
              </a:rPr>
              <a:t>X</a:t>
            </a:r>
            <a:r>
              <a:rPr sz="1650" spc="157" baseline="12626" dirty="0">
                <a:latin typeface="Tahoma"/>
                <a:cs typeface="Tahoma"/>
              </a:rPr>
              <a:t>˜</a:t>
            </a:r>
            <a:r>
              <a:rPr sz="1200" i="1" spc="247" baseline="-13888" dirty="0">
                <a:latin typeface="Arial"/>
                <a:cs typeface="Arial"/>
              </a:rPr>
              <a:t>M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399705" y="2213265"/>
            <a:ext cx="14770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712" baseline="12626" dirty="0">
                <a:latin typeface="Arial"/>
                <a:cs typeface="Arial"/>
              </a:rPr>
              <a:t>X</a:t>
            </a:r>
            <a:r>
              <a:rPr sz="1650" spc="-30" baseline="27777" dirty="0">
                <a:latin typeface="Tahoma"/>
                <a:cs typeface="Tahoma"/>
              </a:rPr>
              <a:t>˜</a:t>
            </a:r>
            <a:r>
              <a:rPr sz="1200" i="1" spc="60" baseline="6944" dirty="0">
                <a:latin typeface="Arial"/>
                <a:cs typeface="Arial"/>
              </a:rPr>
              <a:t>M</a:t>
            </a:r>
            <a:r>
              <a:rPr sz="1200" i="1" spc="240" baseline="6944" dirty="0">
                <a:latin typeface="Arial"/>
                <a:cs typeface="Arial"/>
              </a:rPr>
              <a:t> </a:t>
            </a:r>
            <a:r>
              <a:rPr sz="1650" baseline="12626" dirty="0">
                <a:latin typeface="Tahoma"/>
                <a:cs typeface="Tahoma"/>
              </a:rPr>
              <a:t>=</a:t>
            </a:r>
            <a:r>
              <a:rPr sz="1650" spc="-97" baseline="12626" dirty="0">
                <a:latin typeface="Tahoma"/>
                <a:cs typeface="Tahoma"/>
              </a:rPr>
              <a:t> </a:t>
            </a:r>
            <a:r>
              <a:rPr sz="1650" spc="-15" baseline="12626" dirty="0">
                <a:latin typeface="Tahoma"/>
                <a:cs typeface="Tahoma"/>
              </a:rPr>
              <a:t>argmin</a:t>
            </a:r>
            <a:r>
              <a:rPr sz="800" i="1" spc="-10" dirty="0">
                <a:latin typeface="Arial"/>
                <a:cs typeface="Arial"/>
              </a:rPr>
              <a:t>rank</a:t>
            </a:r>
            <a:r>
              <a:rPr sz="800" spc="-10" dirty="0">
                <a:latin typeface="Calibri"/>
                <a:cs typeface="Calibri"/>
              </a:rPr>
              <a:t>(</a:t>
            </a:r>
            <a:r>
              <a:rPr sz="800" i="1" spc="-10" dirty="0">
                <a:latin typeface="Arial"/>
                <a:cs typeface="Arial"/>
              </a:rPr>
              <a:t>A</a:t>
            </a:r>
            <a:r>
              <a:rPr sz="800" spc="-10" dirty="0">
                <a:latin typeface="Calibri"/>
                <a:cs typeface="Calibri"/>
              </a:rPr>
              <a:t>)</a:t>
            </a:r>
            <a:r>
              <a:rPr sz="800" i="1" spc="-10" dirty="0">
                <a:latin typeface="Verdana"/>
                <a:cs typeface="Verdana"/>
              </a:rPr>
              <a:t>&lt;</a:t>
            </a:r>
            <a:r>
              <a:rPr sz="800" spc="-10" dirty="0">
                <a:latin typeface="Calibri"/>
                <a:cs typeface="Calibri"/>
              </a:rPr>
              <a:t>=</a:t>
            </a:r>
            <a:r>
              <a:rPr sz="800" i="1" spc="-1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1929" y="2226475"/>
            <a:ext cx="34925" cy="1397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33787" y="2226475"/>
            <a:ext cx="34925" cy="139700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907233" y="2180004"/>
            <a:ext cx="5721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6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−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dirty="0">
                <a:latin typeface="Arial"/>
                <a:cs typeface="Arial"/>
              </a:rPr>
              <a:t>A</a:t>
            </a:r>
            <a:r>
              <a:rPr sz="1100" i="1" spc="220" dirty="0">
                <a:latin typeface="Arial"/>
                <a:cs typeface="Arial"/>
              </a:rPr>
              <a:t> </a:t>
            </a:r>
            <a:r>
              <a:rPr sz="1200" spc="-75" baseline="-10416" dirty="0">
                <a:latin typeface="Calibri"/>
                <a:cs typeface="Calibri"/>
              </a:rPr>
              <a:t>2</a:t>
            </a:r>
            <a:endParaRPr sz="1200" baseline="-10416">
              <a:latin typeface="Calibri"/>
              <a:cs typeface="Calibri"/>
            </a:endParaRP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5" dirty="0"/>
              <a:t>Best</a:t>
            </a:r>
            <a:r>
              <a:rPr dirty="0"/>
              <a:t> </a:t>
            </a:r>
            <a:r>
              <a:rPr spc="-45" dirty="0"/>
              <a:t>Rank-</a:t>
            </a:r>
            <a:r>
              <a:rPr dirty="0"/>
              <a:t>M</a:t>
            </a:r>
            <a:r>
              <a:rPr spc="10" dirty="0"/>
              <a:t> </a:t>
            </a:r>
            <a:r>
              <a:rPr spc="-40" dirty="0"/>
              <a:t>approximation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29930"/>
            <a:ext cx="3547745" cy="5359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Eckart-</a:t>
            </a:r>
            <a:r>
              <a:rPr sz="1100" spc="-60" dirty="0">
                <a:latin typeface="Tahoma"/>
                <a:cs typeface="Tahoma"/>
              </a:rPr>
              <a:t>Young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theorem</a:t>
            </a:r>
            <a:r>
              <a:rPr sz="1100" spc="-30" dirty="0">
                <a:latin typeface="Tahoma"/>
                <a:cs typeface="Tahoma"/>
              </a:rPr>
              <a:t> states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best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rank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50" dirty="0">
                <a:latin typeface="Tahoma"/>
                <a:cs typeface="Tahoma"/>
              </a:rPr>
              <a:t>M </a:t>
            </a:r>
            <a:r>
              <a:rPr sz="1100" spc="-45" dirty="0">
                <a:latin typeface="Tahoma"/>
                <a:cs typeface="Tahoma"/>
              </a:rPr>
              <a:t>approximation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459" dirty="0">
                <a:latin typeface="Arial"/>
                <a:cs typeface="Arial"/>
              </a:rPr>
              <a:t>X</a:t>
            </a:r>
            <a:r>
              <a:rPr sz="1650" spc="-7" baseline="12626" dirty="0">
                <a:latin typeface="Tahoma"/>
                <a:cs typeface="Tahoma"/>
              </a:rPr>
              <a:t>˜</a:t>
            </a:r>
            <a:r>
              <a:rPr sz="1200" i="1" spc="82" baseline="-13888" dirty="0">
                <a:latin typeface="Arial"/>
                <a:cs typeface="Arial"/>
              </a:rPr>
              <a:t>M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truncating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SVD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at</a:t>
            </a:r>
            <a:r>
              <a:rPr sz="1100" spc="-25" dirty="0">
                <a:latin typeface="Tahoma"/>
                <a:cs typeface="Tahoma"/>
              </a:rPr>
              <a:t> the </a:t>
            </a:r>
            <a:r>
              <a:rPr sz="1100" spc="-10" dirty="0">
                <a:latin typeface="Tahoma"/>
                <a:cs typeface="Tahoma"/>
              </a:rPr>
              <a:t>top-</a:t>
            </a:r>
            <a:r>
              <a:rPr sz="1100" dirty="0">
                <a:latin typeface="Tahoma"/>
                <a:cs typeface="Tahoma"/>
              </a:rPr>
              <a:t>M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singular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901875" y="1585327"/>
            <a:ext cx="106172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475" dirty="0">
                <a:latin typeface="Arial"/>
                <a:cs typeface="Arial"/>
              </a:rPr>
              <a:t>X</a:t>
            </a:r>
            <a:r>
              <a:rPr sz="1650" spc="-30" baseline="12626" dirty="0">
                <a:latin typeface="Tahoma"/>
                <a:cs typeface="Tahoma"/>
              </a:rPr>
              <a:t>˜</a:t>
            </a:r>
            <a:r>
              <a:rPr sz="1200" i="1" spc="60" baseline="-13888" dirty="0">
                <a:latin typeface="Arial"/>
                <a:cs typeface="Arial"/>
              </a:rPr>
              <a:t>M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U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i="1" spc="-165" baseline="-13888" dirty="0">
                <a:latin typeface="Arial"/>
                <a:cs typeface="Arial"/>
              </a:rPr>
              <a:t> </a:t>
            </a:r>
            <a:r>
              <a:rPr sz="1100" spc="110" dirty="0">
                <a:latin typeface="Tahoma"/>
                <a:cs typeface="Tahoma"/>
              </a:rPr>
              <a:t>Σ</a:t>
            </a:r>
            <a:r>
              <a:rPr sz="1200" i="1" spc="165" baseline="-13888" dirty="0">
                <a:latin typeface="Arial"/>
                <a:cs typeface="Arial"/>
              </a:rPr>
              <a:t>M</a:t>
            </a:r>
            <a:r>
              <a:rPr sz="1100" i="1" spc="110" dirty="0">
                <a:latin typeface="Arial"/>
                <a:cs typeface="Arial"/>
              </a:rPr>
              <a:t>V</a:t>
            </a:r>
            <a:r>
              <a:rPr sz="1100" i="1" spc="-130" dirty="0">
                <a:latin typeface="Arial"/>
                <a:cs typeface="Arial"/>
              </a:rPr>
              <a:t> </a:t>
            </a:r>
            <a:r>
              <a:rPr sz="1200" i="1" spc="52" baseline="31250" dirty="0">
                <a:latin typeface="Arial"/>
                <a:cs typeface="Arial"/>
              </a:rPr>
              <a:t>T</a:t>
            </a:r>
            <a:endParaRPr sz="1200" baseline="3125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816809" y="1657907"/>
            <a:ext cx="11938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2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21957" y="1852800"/>
            <a:ext cx="3618229" cy="65595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i="1" dirty="0">
                <a:latin typeface="Arial"/>
                <a:cs typeface="Arial"/>
              </a:rPr>
              <a:t>U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i="1" spc="300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i="1" dirty="0">
                <a:latin typeface="Arial"/>
                <a:cs typeface="Arial"/>
              </a:rPr>
              <a:t>V</a:t>
            </a:r>
            <a:r>
              <a:rPr sz="1200" i="1" baseline="-13888" dirty="0">
                <a:latin typeface="Arial"/>
                <a:cs typeface="Arial"/>
              </a:rPr>
              <a:t>M</a:t>
            </a:r>
            <a:r>
              <a:rPr sz="1200" i="1" spc="315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orthogonal</a:t>
            </a:r>
            <a:r>
              <a:rPr sz="1100" spc="-10" dirty="0">
                <a:latin typeface="Tahoma"/>
                <a:cs typeface="Tahoma"/>
              </a:rPr>
              <a:t> matrix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120" dirty="0">
                <a:latin typeface="Tahoma"/>
                <a:cs typeface="Tahoma"/>
              </a:rPr>
              <a:t>Σ</a:t>
            </a:r>
            <a:r>
              <a:rPr sz="1200" i="1" spc="179" baseline="-13888" dirty="0">
                <a:latin typeface="Arial"/>
                <a:cs typeface="Arial"/>
              </a:rPr>
              <a:t>M</a:t>
            </a:r>
            <a:r>
              <a:rPr sz="1200" i="1" spc="322" baseline="-13888" dirty="0">
                <a:latin typeface="Arial"/>
                <a:cs typeface="Arial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M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singular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values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diagonal</a:t>
            </a:r>
            <a:r>
              <a:rPr sz="1100" spc="-10" dirty="0">
                <a:latin typeface="Tahoma"/>
                <a:cs typeface="Tahoma"/>
              </a:rPr>
              <a:t> entries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2" y="72527"/>
            <a:ext cx="191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Practical</a:t>
            </a:r>
            <a:r>
              <a:rPr dirty="0"/>
              <a:t> </a:t>
            </a:r>
            <a:r>
              <a:rPr spc="-55" dirty="0"/>
              <a:t>Aspects</a:t>
            </a:r>
            <a:r>
              <a:rPr dirty="0"/>
              <a:t> of </a:t>
            </a:r>
            <a:r>
              <a:rPr spc="-25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72437"/>
            <a:ext cx="3674745" cy="14725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0858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Finding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also important in other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fundamental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machine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learning methods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require </a:t>
            </a:r>
            <a:r>
              <a:rPr sz="1100" spc="-20" dirty="0">
                <a:latin typeface="Tahoma"/>
                <a:cs typeface="Tahoma"/>
              </a:rPr>
              <a:t>matrix </a:t>
            </a:r>
            <a:r>
              <a:rPr sz="1100" spc="-10" dirty="0">
                <a:latin typeface="Tahoma"/>
                <a:cs typeface="Tahoma"/>
              </a:rPr>
              <a:t>decompositions</a:t>
            </a:r>
            <a:endParaRPr sz="1100">
              <a:latin typeface="Tahoma"/>
              <a:cs typeface="Tahoma"/>
            </a:endParaRPr>
          </a:p>
          <a:p>
            <a:pPr marL="214629" marR="14859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theory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0" dirty="0">
                <a:latin typeface="Tahoma"/>
                <a:cs typeface="Tahoma"/>
              </a:rPr>
              <a:t>characteristic</a:t>
            </a:r>
            <a:r>
              <a:rPr sz="1100" spc="-10" dirty="0">
                <a:latin typeface="Tahoma"/>
                <a:cs typeface="Tahoma"/>
              </a:rPr>
              <a:t> polynomial.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55" dirty="0">
                <a:latin typeface="Tahoma"/>
                <a:cs typeface="Tahoma"/>
              </a:rPr>
              <a:t>However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matrices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4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4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possible </a:t>
            </a:r>
            <a:r>
              <a:rPr sz="1100" spc="-55" dirty="0">
                <a:latin typeface="Tahoma"/>
                <a:cs typeface="Tahoma"/>
              </a:rPr>
              <a:t>because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roots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polynomial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of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5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higher.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2" y="72527"/>
            <a:ext cx="191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Practical</a:t>
            </a:r>
            <a:r>
              <a:rPr dirty="0"/>
              <a:t> </a:t>
            </a:r>
            <a:r>
              <a:rPr spc="-55" dirty="0"/>
              <a:t>Aspects</a:t>
            </a:r>
            <a:r>
              <a:rPr dirty="0"/>
              <a:t> of </a:t>
            </a:r>
            <a:r>
              <a:rPr spc="-25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41271"/>
            <a:ext cx="3830954" cy="13004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59055" indent="-177165" algn="just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55" dirty="0">
                <a:latin typeface="Tahoma"/>
                <a:cs typeface="Tahoma"/>
              </a:rPr>
              <a:t>However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Abel-</a:t>
            </a:r>
            <a:r>
              <a:rPr sz="1100" spc="-20" dirty="0">
                <a:latin typeface="Tahoma"/>
                <a:cs typeface="Tahoma"/>
              </a:rPr>
              <a:t>Ruffini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theorem</a:t>
            </a:r>
            <a:r>
              <a:rPr sz="1100" spc="-30" dirty="0">
                <a:latin typeface="Tahoma"/>
                <a:cs typeface="Tahoma"/>
              </a:rPr>
              <a:t> states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there</a:t>
            </a:r>
            <a:r>
              <a:rPr sz="1100" spc="-30" dirty="0">
                <a:latin typeface="Tahoma"/>
                <a:cs typeface="Tahoma"/>
              </a:rPr>
              <a:t> exists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no </a:t>
            </a:r>
            <a:r>
              <a:rPr sz="1100" spc="-40" dirty="0">
                <a:latin typeface="Tahoma"/>
                <a:cs typeface="Tahoma"/>
              </a:rPr>
              <a:t>algebraic </a:t>
            </a:r>
            <a:r>
              <a:rPr sz="1100" spc="-25" dirty="0">
                <a:latin typeface="Tahoma"/>
                <a:cs typeface="Tahoma"/>
              </a:rPr>
              <a:t>solution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polynomials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70" dirty="0">
                <a:latin typeface="Tahoma"/>
                <a:cs typeface="Tahoma"/>
              </a:rPr>
              <a:t>degree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5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6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more.</a:t>
            </a:r>
            <a:endParaRPr sz="1100">
              <a:latin typeface="Tahoma"/>
              <a:cs typeface="Tahoma"/>
            </a:endParaRPr>
          </a:p>
          <a:p>
            <a:pPr marL="214629" marR="30480" indent="-177165" algn="just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40" dirty="0">
                <a:latin typeface="Tahoma"/>
                <a:cs typeface="Tahoma"/>
              </a:rPr>
              <a:t>Therefore,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practice, </a:t>
            </a:r>
            <a:r>
              <a:rPr sz="1100" spc="-50" dirty="0">
                <a:latin typeface="Tahoma"/>
                <a:cs typeface="Tahoma"/>
              </a:rPr>
              <a:t>solve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or</a:t>
            </a:r>
            <a:r>
              <a:rPr sz="1100" spc="-35" dirty="0">
                <a:latin typeface="Tahoma"/>
                <a:cs typeface="Tahoma"/>
              </a:rPr>
              <a:t> singular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values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iterative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methods,</a:t>
            </a:r>
            <a:r>
              <a:rPr sz="1100" spc="-25" dirty="0">
                <a:latin typeface="Tahoma"/>
                <a:cs typeface="Tahoma"/>
              </a:rPr>
              <a:t> which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implemented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modern </a:t>
            </a:r>
            <a:r>
              <a:rPr sz="1100" spc="-55" dirty="0">
                <a:latin typeface="Tahoma"/>
                <a:cs typeface="Tahoma"/>
              </a:rPr>
              <a:t>packages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linear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algebra</a:t>
            </a:r>
            <a:endParaRPr sz="1100">
              <a:latin typeface="Tahoma"/>
              <a:cs typeface="Tahoma"/>
            </a:endParaRPr>
          </a:p>
          <a:p>
            <a:pPr marL="215265" indent="-177165" algn="just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many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applications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require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few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eigenvectors.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2" y="72527"/>
            <a:ext cx="191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Practical</a:t>
            </a:r>
            <a:r>
              <a:rPr dirty="0"/>
              <a:t> </a:t>
            </a:r>
            <a:r>
              <a:rPr spc="-55" dirty="0"/>
              <a:t>Aspects</a:t>
            </a:r>
            <a:r>
              <a:rPr dirty="0"/>
              <a:t> of </a:t>
            </a:r>
            <a:r>
              <a:rPr spc="-25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1056448"/>
            <a:ext cx="3863975" cy="126238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67945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would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-40" dirty="0">
                <a:latin typeface="Tahoma"/>
                <a:cs typeface="Tahoma"/>
              </a:rPr>
              <a:t> wasteful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compute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decomposition,and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discard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all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beyond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few.</a:t>
            </a:r>
            <a:endParaRPr sz="1100" dirty="0">
              <a:latin typeface="Tahoma"/>
              <a:cs typeface="Tahoma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It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turns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out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interested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few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(with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eigenvalues),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iterative </a:t>
            </a:r>
            <a:r>
              <a:rPr sz="1100" spc="-60" dirty="0">
                <a:latin typeface="Tahoma"/>
                <a:cs typeface="Tahoma"/>
              </a:rPr>
              <a:t>processes,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20" dirty="0">
                <a:latin typeface="Tahoma"/>
                <a:cs typeface="Tahoma"/>
              </a:rPr>
              <a:t> directly</a:t>
            </a:r>
            <a:r>
              <a:rPr sz="1100" spc="-25" dirty="0">
                <a:latin typeface="Tahoma"/>
                <a:cs typeface="Tahoma"/>
              </a:rPr>
              <a:t> optimize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these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are </a:t>
            </a:r>
            <a:r>
              <a:rPr sz="1100" spc="-30" dirty="0">
                <a:latin typeface="Tahoma"/>
                <a:cs typeface="Tahoma"/>
              </a:rPr>
              <a:t>computationally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more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efficient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full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eigen-</a:t>
            </a:r>
            <a:r>
              <a:rPr sz="1100" spc="-40" dirty="0">
                <a:latin typeface="Tahoma"/>
                <a:cs typeface="Tahoma"/>
              </a:rPr>
              <a:t>decomposition</a:t>
            </a:r>
            <a:endParaRPr sz="1100" dirty="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5300" y="72527"/>
            <a:ext cx="191833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20" dirty="0"/>
              <a:t>Practical</a:t>
            </a:r>
            <a:r>
              <a:rPr dirty="0"/>
              <a:t> </a:t>
            </a:r>
            <a:r>
              <a:rPr spc="-55" dirty="0"/>
              <a:t>Aspects</a:t>
            </a:r>
            <a:r>
              <a:rPr dirty="0"/>
              <a:t> of </a:t>
            </a:r>
            <a:r>
              <a:rPr spc="-25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95539"/>
            <a:ext cx="3816985" cy="74612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191135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extreme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only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needing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first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eigenvector,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a </a:t>
            </a:r>
            <a:r>
              <a:rPr sz="1100" spc="-35" dirty="0">
                <a:latin typeface="Tahoma"/>
                <a:cs typeface="Tahoma"/>
              </a:rPr>
              <a:t>simple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method </a:t>
            </a:r>
            <a:r>
              <a:rPr sz="1100" spc="-25" dirty="0">
                <a:latin typeface="Tahoma"/>
                <a:cs typeface="Tahoma"/>
              </a:rPr>
              <a:t>called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power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iteration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efficient.</a:t>
            </a:r>
            <a:endParaRPr sz="1100">
              <a:latin typeface="Tahoma"/>
              <a:cs typeface="Tahoma"/>
            </a:endParaRPr>
          </a:p>
          <a:p>
            <a:pPr marL="214629" marR="30480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spc="-50" dirty="0">
                <a:latin typeface="Tahoma"/>
                <a:cs typeface="Tahoma"/>
              </a:rPr>
              <a:t>Power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iteration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chooses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random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vector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Calibri"/>
                <a:cs typeface="Calibri"/>
              </a:rPr>
              <a:t>0</a:t>
            </a:r>
            <a:r>
              <a:rPr sz="1200" spc="270" baseline="-10416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dirty="0">
                <a:latin typeface="Tahoma"/>
                <a:cs typeface="Tahoma"/>
              </a:rPr>
              <a:t>null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space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iteration for </a:t>
            </a:r>
            <a:r>
              <a:rPr sz="1100" i="1" dirty="0">
                <a:latin typeface="Arial"/>
                <a:cs typeface="Arial"/>
              </a:rPr>
              <a:t>k</a:t>
            </a:r>
            <a:r>
              <a:rPr sz="1100" i="1" spc="4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0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spc="-80" dirty="0">
                <a:latin typeface="Tahoma"/>
                <a:cs typeface="Tahoma"/>
              </a:rPr>
              <a:t>1</a:t>
            </a:r>
            <a:r>
              <a:rPr sz="1100" i="1" spc="-8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Verdana"/>
                <a:cs typeface="Verdana"/>
              </a:rPr>
              <a:t>...</a:t>
            </a:r>
            <a:endParaRPr sz="1100">
              <a:latin typeface="Verdana"/>
              <a:cs typeface="Verdan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078596" y="1878328"/>
            <a:ext cx="224154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90" dirty="0">
                <a:latin typeface="Arial"/>
                <a:cs typeface="Arial"/>
              </a:rPr>
              <a:t>k</a:t>
            </a:r>
            <a:r>
              <a:rPr sz="800" spc="90" dirty="0">
                <a:latin typeface="Calibri"/>
                <a:cs typeface="Calibri"/>
              </a:rPr>
              <a:t>+1</a:t>
            </a:r>
            <a:endParaRPr sz="8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511742" y="1959940"/>
            <a:ext cx="34925" cy="139700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989302" y="1724709"/>
            <a:ext cx="904240" cy="38100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6095">
              <a:lnSpc>
                <a:spcPts val="1030"/>
              </a:lnSpc>
              <a:spcBef>
                <a:spcPts val="90"/>
              </a:spcBef>
            </a:pPr>
            <a:r>
              <a:rPr sz="1100" i="1" u="sng" spc="200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sz="1100" i="1" u="sng" spc="-25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Sx</a:t>
            </a:r>
            <a:r>
              <a:rPr sz="1200" i="1" u="sng" spc="-37" baseline="-138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k</a:t>
            </a:r>
            <a:r>
              <a:rPr sz="1200" i="1" u="sng" spc="750" baseline="-13888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1200" baseline="-13888">
              <a:latin typeface="Arial"/>
              <a:cs typeface="Arial"/>
            </a:endParaRPr>
          </a:p>
          <a:p>
            <a:pPr marL="38100">
              <a:lnSpc>
                <a:spcPts val="745"/>
              </a:lnSpc>
              <a:tabLst>
                <a:tab pos="344805" algn="l"/>
              </a:tabLst>
            </a:pPr>
            <a:r>
              <a:rPr sz="1100" i="1" spc="-50" dirty="0">
                <a:latin typeface="Arial"/>
                <a:cs typeface="Arial"/>
              </a:rPr>
              <a:t>x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spc="-50" dirty="0">
                <a:latin typeface="Tahoma"/>
                <a:cs typeface="Tahoma"/>
              </a:rPr>
              <a:t>=</a:t>
            </a:r>
            <a:endParaRPr sz="1100">
              <a:latin typeface="Tahoma"/>
              <a:cs typeface="Tahoma"/>
            </a:endParaRPr>
          </a:p>
          <a:p>
            <a:pPr marL="575310">
              <a:lnSpc>
                <a:spcPts val="1035"/>
              </a:lnSpc>
            </a:pPr>
            <a:r>
              <a:rPr sz="1100" i="1" spc="-25" dirty="0">
                <a:latin typeface="Arial"/>
                <a:cs typeface="Arial"/>
              </a:rPr>
              <a:t>Sx</a:t>
            </a:r>
            <a:r>
              <a:rPr sz="1200" i="1" spc="-37" baseline="-13888" dirty="0">
                <a:latin typeface="Arial"/>
                <a:cs typeface="Arial"/>
              </a:rPr>
              <a:t>k</a:t>
            </a:r>
            <a:endParaRPr sz="1200" baseline="-13888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89097" y="1959940"/>
            <a:ext cx="34925" cy="139700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434657" y="2196146"/>
            <a:ext cx="3339465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01930" marR="177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01930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sequence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converges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 </a:t>
            </a:r>
            <a:r>
              <a:rPr sz="1100" spc="-40" dirty="0">
                <a:latin typeface="Tahoma"/>
                <a:cs typeface="Tahoma"/>
              </a:rPr>
              <a:t>associated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largest </a:t>
            </a:r>
            <a:r>
              <a:rPr sz="1100" spc="-50" dirty="0">
                <a:latin typeface="Tahoma"/>
                <a:cs typeface="Tahoma"/>
              </a:rPr>
              <a:t>eigenvalue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PCA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High</a:t>
            </a:r>
            <a:r>
              <a:rPr spc="-35" dirty="0"/>
              <a:t> </a:t>
            </a:r>
            <a:r>
              <a:rPr spc="-55" dirty="0"/>
              <a:t>Dimension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47357" y="739430"/>
            <a:ext cx="3764915" cy="206438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89230" marR="1651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AutoNum type="arabicPeriod"/>
              <a:tabLst>
                <a:tab pos="18923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order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PCA,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compute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 </a:t>
            </a:r>
            <a:r>
              <a:rPr sz="1100" spc="-45" dirty="0">
                <a:latin typeface="Tahoma"/>
                <a:cs typeface="Tahoma"/>
              </a:rPr>
              <a:t>covariance </a:t>
            </a: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19050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19050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dimensions,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20" dirty="0">
                <a:latin typeface="Tahoma"/>
                <a:cs typeface="Tahoma"/>
              </a:rPr>
              <a:t> matrix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-20" dirty="0">
                <a:latin typeface="Arial"/>
                <a:cs typeface="Arial"/>
              </a:rPr>
              <a:t> </a:t>
            </a:r>
            <a:r>
              <a:rPr sz="1100" spc="-35" dirty="0">
                <a:latin typeface="Lucida Sans Unicode"/>
                <a:cs typeface="Lucida Sans Unicode"/>
              </a:rPr>
              <a:t>×</a:t>
            </a:r>
            <a:r>
              <a:rPr sz="1100" spc="-105" dirty="0">
                <a:latin typeface="Lucida Sans Unicode"/>
                <a:cs typeface="Lucida Sans Unicode"/>
              </a:rPr>
              <a:t> </a:t>
            </a:r>
            <a:r>
              <a:rPr sz="1100" i="1" spc="-50" dirty="0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  <a:p>
            <a:pPr marL="189230">
              <a:lnSpc>
                <a:spcPct val="100000"/>
              </a:lnSpc>
              <a:spcBef>
                <a:spcPts val="35"/>
              </a:spcBef>
            </a:pPr>
            <a:r>
              <a:rPr sz="1100" spc="-10" dirty="0">
                <a:latin typeface="Tahoma"/>
                <a:cs typeface="Tahoma"/>
              </a:rPr>
              <a:t>matrix.</a:t>
            </a:r>
            <a:endParaRPr sz="1100">
              <a:latin typeface="Tahoma"/>
              <a:cs typeface="Tahoma"/>
            </a:endParaRPr>
          </a:p>
          <a:p>
            <a:pPr marL="189230" marR="47625" indent="-177165">
              <a:lnSpc>
                <a:spcPct val="102699"/>
              </a:lnSpc>
              <a:spcBef>
                <a:spcPts val="295"/>
              </a:spcBef>
              <a:buClr>
                <a:srgbClr val="3333B2"/>
              </a:buClr>
              <a:buAutoNum type="arabicPeriod" startAt="3"/>
              <a:tabLst>
                <a:tab pos="189230" algn="l"/>
              </a:tabLst>
            </a:pPr>
            <a:r>
              <a:rPr sz="1100" spc="-25" dirty="0">
                <a:latin typeface="Tahoma"/>
                <a:cs typeface="Tahoma"/>
              </a:rPr>
              <a:t>Computing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is </a:t>
            </a:r>
            <a:r>
              <a:rPr sz="1100" spc="-30" dirty="0">
                <a:latin typeface="Tahoma"/>
                <a:cs typeface="Tahoma"/>
              </a:rPr>
              <a:t>computationally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expensive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scales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cubically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D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189230" marR="10096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 startAt="3"/>
              <a:tabLst>
                <a:tab pos="189230" algn="l"/>
              </a:tabLst>
            </a:pPr>
            <a:r>
              <a:rPr sz="1100" spc="-40" dirty="0">
                <a:latin typeface="Tahoma"/>
                <a:cs typeface="Tahoma"/>
              </a:rPr>
              <a:t>Therefore,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PCA,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discussed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earlier,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 </a:t>
            </a:r>
            <a:r>
              <a:rPr sz="1100" spc="-10" dirty="0">
                <a:latin typeface="Tahoma"/>
                <a:cs typeface="Tahoma"/>
              </a:rPr>
              <a:t>be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infeasible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 </a:t>
            </a:r>
            <a:r>
              <a:rPr sz="1100" spc="-50" dirty="0">
                <a:latin typeface="Tahoma"/>
                <a:cs typeface="Tahoma"/>
              </a:rPr>
              <a:t>very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high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dimensions.</a:t>
            </a:r>
            <a:endParaRPr sz="1100">
              <a:latin typeface="Tahoma"/>
              <a:cs typeface="Tahoma"/>
            </a:endParaRPr>
          </a:p>
          <a:p>
            <a:pPr marL="189230" marR="50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 startAt="3"/>
              <a:tabLst>
                <a:tab pos="189230" algn="l"/>
              </a:tabLst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provide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solution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problem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5" dirty="0">
                <a:latin typeface="Tahoma"/>
                <a:cs typeface="Tahoma"/>
              </a:rPr>
              <a:t>case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substantially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fewer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than </a:t>
            </a:r>
            <a:r>
              <a:rPr sz="1100" spc="-45" dirty="0">
                <a:latin typeface="Tahoma"/>
                <a:cs typeface="Tahoma"/>
              </a:rPr>
              <a:t>dimensions, </a:t>
            </a:r>
            <a:r>
              <a:rPr sz="1100" spc="-25" dirty="0">
                <a:latin typeface="Tahoma"/>
                <a:cs typeface="Tahoma"/>
              </a:rPr>
              <a:t>i.e.,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N</a:t>
            </a:r>
            <a:r>
              <a:rPr sz="1100" i="1" spc="50" dirty="0">
                <a:latin typeface="Arial"/>
                <a:cs typeface="Arial"/>
              </a:rPr>
              <a:t> </a:t>
            </a:r>
            <a:r>
              <a:rPr sz="1100" i="1" spc="-55" dirty="0">
                <a:latin typeface="Verdana"/>
                <a:cs typeface="Verdana"/>
              </a:rPr>
              <a:t>&lt;&lt;</a:t>
            </a:r>
            <a:r>
              <a:rPr sz="1100" i="1" spc="-85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PCA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High</a:t>
            </a:r>
            <a:r>
              <a:rPr spc="-35" dirty="0"/>
              <a:t> </a:t>
            </a:r>
            <a:r>
              <a:rPr spc="-55" dirty="0"/>
              <a:t>Dimension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54530"/>
            <a:ext cx="385064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40" dirty="0">
                <a:latin typeface="Tahoma"/>
                <a:cs typeface="Tahoma"/>
              </a:rPr>
              <a:t>Assume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 </a:t>
            </a:r>
            <a:r>
              <a:rPr sz="1100" spc="-45" dirty="0">
                <a:latin typeface="Tahoma"/>
                <a:cs typeface="Tahoma"/>
              </a:rPr>
              <a:t>centered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-35" dirty="0">
                <a:latin typeface="Arial"/>
                <a:cs typeface="Arial"/>
              </a:rPr>
              <a:t>x</a:t>
            </a:r>
            <a:r>
              <a:rPr sz="1200" spc="-52" baseline="-10416" dirty="0">
                <a:latin typeface="Calibri"/>
                <a:cs typeface="Calibri"/>
              </a:rPr>
              <a:t>1</a:t>
            </a:r>
            <a:r>
              <a:rPr sz="1100" i="1" spc="-35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...,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3888" dirty="0">
                <a:latin typeface="Arial"/>
                <a:cs typeface="Arial"/>
              </a:rPr>
              <a:t>N</a:t>
            </a:r>
            <a:r>
              <a:rPr sz="1200" i="1" spc="337" baseline="-13888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,where</a:t>
            </a:r>
            <a:r>
              <a:rPr sz="110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i="1" baseline="-10416" dirty="0">
                <a:latin typeface="Arial"/>
                <a:cs typeface="Arial"/>
              </a:rPr>
              <a:t>i</a:t>
            </a:r>
            <a:r>
              <a:rPr sz="1200" i="1" spc="270" baseline="-10416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-172" baseline="27777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495979" y="1149666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21957" y="1064563"/>
            <a:ext cx="35007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Then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covariance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as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3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spc="30" baseline="31250" dirty="0">
                <a:latin typeface="Calibri"/>
                <a:cs typeface="Calibri"/>
              </a:rPr>
              <a:t> </a:t>
            </a:r>
            <a:r>
              <a:rPr sz="1100" i="1" spc="40" dirty="0">
                <a:latin typeface="Arial"/>
                <a:cs typeface="Arial"/>
              </a:rPr>
              <a:t>XX</a:t>
            </a:r>
            <a:r>
              <a:rPr sz="1200" i="1" spc="60" baseline="27777" dirty="0">
                <a:latin typeface="Arial"/>
                <a:cs typeface="Arial"/>
              </a:rPr>
              <a:t>T</a:t>
            </a:r>
            <a:endParaRPr sz="1200" baseline="27777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409257" y="1274596"/>
            <a:ext cx="2573020" cy="8147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279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spc="-35" dirty="0">
                <a:latin typeface="Tahoma"/>
                <a:cs typeface="Tahoma"/>
              </a:rPr>
              <a:t>Consider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equation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  <a:p>
            <a:pPr marL="1649730">
              <a:lnSpc>
                <a:spcPct val="100000"/>
              </a:lnSpc>
              <a:spcBef>
                <a:spcPts val="1130"/>
              </a:spcBef>
            </a:pPr>
            <a:r>
              <a:rPr sz="1100" i="1" spc="-25" dirty="0">
                <a:latin typeface="Arial"/>
                <a:cs typeface="Arial"/>
              </a:rPr>
              <a:t>Sb</a:t>
            </a:r>
            <a:r>
              <a:rPr sz="1200" i="1" spc="-37" baseline="-10416" dirty="0">
                <a:latin typeface="Arial"/>
                <a:cs typeface="Arial"/>
              </a:rPr>
              <a:t>m</a:t>
            </a:r>
            <a:r>
              <a:rPr sz="1200" i="1" spc="157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i="1" spc="-20" dirty="0">
                <a:latin typeface="Verdana"/>
                <a:cs typeface="Verdana"/>
              </a:rPr>
              <a:t>λ</a:t>
            </a:r>
            <a:r>
              <a:rPr sz="1200" i="1" spc="-30" baseline="-10416" dirty="0">
                <a:latin typeface="Arial"/>
                <a:cs typeface="Arial"/>
              </a:rPr>
              <a:t>m</a:t>
            </a:r>
            <a:r>
              <a:rPr sz="1100" i="1" spc="-20" dirty="0">
                <a:latin typeface="Arial"/>
                <a:cs typeface="Arial"/>
              </a:rPr>
              <a:t>b</a:t>
            </a:r>
            <a:r>
              <a:rPr sz="1200" i="1" spc="-30" baseline="-10416" dirty="0">
                <a:latin typeface="Arial"/>
                <a:cs typeface="Arial"/>
              </a:rPr>
              <a:t>m</a:t>
            </a:r>
            <a:endParaRPr sz="1200" baseline="-10416">
              <a:latin typeface="Arial"/>
              <a:cs typeface="Arial"/>
            </a:endParaRPr>
          </a:p>
          <a:p>
            <a:pPr marL="227965" indent="-177165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Font typeface="Lucida Sans Unicode"/>
              <a:buChar char="►"/>
              <a:tabLst>
                <a:tab pos="227965" algn="l"/>
              </a:tabLst>
            </a:pPr>
            <a:r>
              <a:rPr sz="1100" dirty="0">
                <a:latin typeface="Tahoma"/>
                <a:cs typeface="Tahoma"/>
              </a:rPr>
              <a:t>By</a:t>
            </a:r>
            <a:r>
              <a:rPr sz="1100" spc="-25" dirty="0">
                <a:latin typeface="Tahoma"/>
                <a:cs typeface="Tahoma"/>
              </a:rPr>
              <a:t> substituting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definition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S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1895144" y="2377033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1882444" y="2355455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877085" y="2166695"/>
            <a:ext cx="107315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42240">
              <a:lnSpc>
                <a:spcPts val="1030"/>
              </a:lnSpc>
              <a:tabLst>
                <a:tab pos="641985" algn="l"/>
              </a:tabLst>
            </a:pP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36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375039" y="2318536"/>
            <a:ext cx="6350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m</a:t>
            </a:r>
            <a:r>
              <a:rPr sz="800" i="1" spc="415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PCA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High</a:t>
            </a:r>
            <a:r>
              <a:rPr spc="-35" dirty="0"/>
              <a:t> </a:t>
            </a:r>
            <a:r>
              <a:rPr spc="-55" dirty="0"/>
              <a:t>Dimension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833639"/>
            <a:ext cx="16230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Multiply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691030" y="1313573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1678330" y="1291995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60270" y="1103234"/>
            <a:ext cx="150685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50800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54940">
              <a:lnSpc>
                <a:spcPts val="1030"/>
              </a:lnSpc>
              <a:tabLst>
                <a:tab pos="859155" algn="l"/>
              </a:tabLst>
            </a:pP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31250" dirty="0">
                <a:latin typeface="Arial"/>
                <a:cs typeface="Arial"/>
              </a:rPr>
              <a:t>T</a:t>
            </a:r>
            <a:r>
              <a:rPr sz="1200" i="1" spc="-89" baseline="31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360" dirty="0">
                <a:latin typeface="Verdana"/>
                <a:cs typeface="Verdana"/>
              </a:rPr>
              <a:t> </a:t>
            </a: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375052" y="1255076"/>
            <a:ext cx="83883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  <a:tab pos="740410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21957" y="1564397"/>
            <a:ext cx="142875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If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c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179" baseline="-10416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then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1905152" y="2038172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1892452" y="2016593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887092" y="1827833"/>
            <a:ext cx="105283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42240">
              <a:lnSpc>
                <a:spcPts val="1030"/>
              </a:lnSpc>
              <a:tabLst>
                <a:tab pos="632460" algn="l"/>
              </a:tabLst>
            </a:pP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Xc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36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c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375039" y="1979674"/>
            <a:ext cx="6248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m</a:t>
            </a:r>
            <a:r>
              <a:rPr sz="800" i="1" spc="330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1957" y="2288995"/>
            <a:ext cx="3533140" cy="36385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nonzero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27777" dirty="0">
                <a:latin typeface="Arial"/>
                <a:cs typeface="Arial"/>
              </a:rPr>
              <a:t>T</a:t>
            </a:r>
            <a:r>
              <a:rPr sz="1200" i="1" spc="359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same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as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nonzero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PCA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High</a:t>
            </a:r>
            <a:r>
              <a:rPr spc="-35" dirty="0"/>
              <a:t> </a:t>
            </a:r>
            <a:r>
              <a:rPr spc="-55" dirty="0"/>
              <a:t>Dimension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70161" y="749667"/>
            <a:ext cx="10160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i="1" spc="-50" dirty="0">
                <a:latin typeface="Arial"/>
                <a:cs typeface="Arial"/>
              </a:rPr>
              <a:t>N</a:t>
            </a:r>
            <a:endParaRPr sz="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21957" y="664564"/>
            <a:ext cx="295211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90" dirty="0">
                <a:latin typeface="Tahoma"/>
                <a:cs typeface="Tahoma"/>
              </a:rPr>
              <a:t> </a:t>
            </a:r>
            <a:r>
              <a:rPr sz="1200" u="sng" spc="-120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200" u="sng" baseline="312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</a:t>
            </a:r>
            <a:r>
              <a:rPr sz="1200" spc="52" baseline="31250" dirty="0">
                <a:latin typeface="Calibri"/>
                <a:cs typeface="Calibri"/>
              </a:rPr>
              <a:t> </a:t>
            </a: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i="1" spc="-20" dirty="0">
                <a:latin typeface="Arial"/>
                <a:cs typeface="Arial"/>
              </a:rPr>
              <a:t>X</a:t>
            </a:r>
            <a:r>
              <a:rPr sz="1100" i="1" spc="-16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,</a:t>
            </a:r>
            <a:endParaRPr sz="1100" dirty="0">
              <a:latin typeface="Tahoma"/>
              <a:cs typeface="Tahoma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1905152" y="1165326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1892452" y="1143760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887092" y="954988"/>
            <a:ext cx="1052830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 dirty="0">
              <a:latin typeface="Tahoma"/>
              <a:cs typeface="Tahoma"/>
            </a:endParaRPr>
          </a:p>
          <a:p>
            <a:pPr marL="142240">
              <a:lnSpc>
                <a:spcPts val="1030"/>
              </a:lnSpc>
              <a:tabLst>
                <a:tab pos="632460" algn="l"/>
              </a:tabLst>
            </a:pPr>
            <a:r>
              <a:rPr sz="1100" i="1" spc="105" dirty="0">
                <a:latin typeface="Arial"/>
                <a:cs typeface="Arial"/>
              </a:rPr>
              <a:t>X</a:t>
            </a:r>
            <a:r>
              <a:rPr sz="1200" i="1" spc="15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Xc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360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c</a:t>
            </a:r>
            <a:endParaRPr sz="11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375039" y="1106829"/>
            <a:ext cx="62484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m</a:t>
            </a:r>
            <a:r>
              <a:rPr sz="800" i="1" spc="330" dirty="0">
                <a:latin typeface="Arial"/>
                <a:cs typeface="Arial"/>
              </a:rPr>
              <a:t> 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21957" y="1416150"/>
            <a:ext cx="3646170" cy="574040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30480" indent="-177165">
              <a:lnSpc>
                <a:spcPct val="102699"/>
              </a:lnSpc>
              <a:spcBef>
                <a:spcPts val="55"/>
              </a:spcBef>
              <a:buClr>
                <a:srgbClr val="3333B2"/>
              </a:buClr>
              <a:buFont typeface="Lucida Sans Unicode"/>
              <a:buChar char="►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derive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27777" dirty="0">
                <a:latin typeface="Arial"/>
                <a:cs typeface="Arial"/>
              </a:rPr>
              <a:t>T</a:t>
            </a:r>
            <a:r>
              <a:rPr sz="1200" i="1" spc="-104" baseline="27777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still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for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30" dirty="0">
                <a:latin typeface="Tahoma"/>
                <a:cs typeface="Tahoma"/>
              </a:rPr>
              <a:t>PCA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Multiply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15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812785" y="2278189"/>
            <a:ext cx="109855" cy="0"/>
          </a:xfrm>
          <a:custGeom>
            <a:avLst/>
            <a:gdLst/>
            <a:ahLst/>
            <a:cxnLst/>
            <a:rect l="l" t="t" r="r" b="b"/>
            <a:pathLst>
              <a:path w="109855">
                <a:moveTo>
                  <a:pt x="0" y="0"/>
                </a:moveTo>
                <a:lnTo>
                  <a:pt x="109347" y="0"/>
                </a:lnTo>
              </a:path>
            </a:pathLst>
          </a:custGeom>
          <a:ln w="5537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1800085" y="2256623"/>
            <a:ext cx="12382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spc="-50" dirty="0">
                <a:latin typeface="Arial"/>
                <a:cs typeface="Arial"/>
              </a:rPr>
              <a:t>N</a:t>
            </a:r>
            <a:endParaRPr sz="11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794725" y="2067850"/>
            <a:ext cx="1237615" cy="28575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ts val="1030"/>
              </a:lnSpc>
              <a:spcBef>
                <a:spcPts val="90"/>
              </a:spcBef>
            </a:pPr>
            <a:r>
              <a:rPr sz="1100" spc="-50" dirty="0">
                <a:latin typeface="Tahoma"/>
                <a:cs typeface="Tahoma"/>
              </a:rPr>
              <a:t>1</a:t>
            </a:r>
            <a:endParaRPr sz="1100">
              <a:latin typeface="Tahoma"/>
              <a:cs typeface="Tahoma"/>
            </a:endParaRPr>
          </a:p>
          <a:p>
            <a:pPr marL="142240">
              <a:lnSpc>
                <a:spcPts val="1030"/>
              </a:lnSpc>
              <a:tabLst>
                <a:tab pos="724535" algn="l"/>
              </a:tabLst>
            </a:pPr>
            <a:r>
              <a:rPr sz="1100" i="1" spc="65" dirty="0">
                <a:latin typeface="Arial"/>
                <a:cs typeface="Arial"/>
              </a:rPr>
              <a:t>XX</a:t>
            </a:r>
            <a:r>
              <a:rPr sz="1200" i="1" spc="97" baseline="31250" dirty="0">
                <a:latin typeface="Arial"/>
                <a:cs typeface="Arial"/>
              </a:rPr>
              <a:t>T</a:t>
            </a:r>
            <a:r>
              <a:rPr sz="1200" i="1" spc="-97" baseline="312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Xc</a:t>
            </a:r>
            <a:r>
              <a:rPr sz="1100" i="1" dirty="0">
                <a:latin typeface="Arial"/>
                <a:cs typeface="Arial"/>
              </a:rPr>
              <a:t>	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λ</a:t>
            </a:r>
            <a:r>
              <a:rPr sz="1100" i="1" spc="360" dirty="0">
                <a:latin typeface="Verdana"/>
                <a:cs typeface="Verdana"/>
              </a:rPr>
              <a:t> </a:t>
            </a:r>
            <a:r>
              <a:rPr sz="1100" i="1" spc="-25" dirty="0">
                <a:latin typeface="Arial"/>
                <a:cs typeface="Arial"/>
              </a:rPr>
              <a:t>Xc</a:t>
            </a:r>
            <a:endParaRPr sz="11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375039" y="2219692"/>
            <a:ext cx="717550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71475" algn="l"/>
                <a:tab pos="618490" algn="l"/>
              </a:tabLst>
            </a:pP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m</a:t>
            </a:r>
            <a:r>
              <a:rPr sz="800" i="1" dirty="0">
                <a:latin typeface="Arial"/>
                <a:cs typeface="Arial"/>
              </a:rPr>
              <a:t>	</a:t>
            </a:r>
            <a:r>
              <a:rPr sz="800" i="1" spc="-50" dirty="0">
                <a:latin typeface="Arial"/>
                <a:cs typeface="Arial"/>
              </a:rPr>
              <a:t>m</a:t>
            </a:r>
            <a:endParaRPr sz="8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1957" y="2460889"/>
            <a:ext cx="3512185" cy="44577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215265" indent="-177165">
              <a:lnSpc>
                <a:spcPct val="100000"/>
              </a:lnSpc>
              <a:spcBef>
                <a:spcPts val="4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spc="-30" dirty="0">
                <a:latin typeface="Tahoma"/>
                <a:cs typeface="Tahoma"/>
              </a:rPr>
              <a:t>Here,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recover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again.</a:t>
            </a:r>
            <a:endParaRPr sz="1100">
              <a:latin typeface="Tahoma"/>
              <a:cs typeface="Tahoma"/>
            </a:endParaRPr>
          </a:p>
          <a:p>
            <a:pPr marL="215265" indent="-177165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Font typeface="Lucida Sans Unicode"/>
              <a:buChar char="►"/>
              <a:tabLst>
                <a:tab pos="21526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means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recover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Xc</a:t>
            </a:r>
            <a:r>
              <a:rPr sz="1200" i="1" baseline="-10416" dirty="0">
                <a:latin typeface="Arial"/>
                <a:cs typeface="Arial"/>
              </a:rPr>
              <a:t>m</a:t>
            </a:r>
            <a:r>
              <a:rPr sz="1200" i="1" spc="217" baseline="-10416" dirty="0">
                <a:latin typeface="Arial"/>
                <a:cs typeface="Arial"/>
              </a:rPr>
              <a:t> </a:t>
            </a:r>
            <a:r>
              <a:rPr sz="1100" spc="-30" dirty="0">
                <a:latin typeface="Tahoma"/>
                <a:cs typeface="Tahoma"/>
              </a:rPr>
              <a:t>as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eigenvector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828127"/>
            <a:ext cx="3766820" cy="177609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38100" marR="30480">
              <a:lnSpc>
                <a:spcPct val="102600"/>
              </a:lnSpc>
              <a:spcBef>
                <a:spcPts val="55"/>
              </a:spcBef>
            </a:pPr>
            <a:r>
              <a:rPr sz="1100" spc="-60" dirty="0">
                <a:latin typeface="Tahoma"/>
                <a:cs typeface="Tahoma"/>
              </a:rPr>
              <a:t>In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following,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will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go through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individual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steps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PCA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5" dirty="0">
                <a:latin typeface="Tahoma"/>
                <a:cs typeface="Tahoma"/>
              </a:rPr>
              <a:t> running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example.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two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dataset</a:t>
            </a:r>
            <a:endParaRPr sz="1100">
              <a:latin typeface="Tahoma"/>
              <a:cs typeface="Tahoma"/>
            </a:endParaRPr>
          </a:p>
          <a:p>
            <a:pPr marL="314960" marR="12827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want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use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project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0" dirty="0">
                <a:latin typeface="Tahoma"/>
                <a:cs typeface="Tahoma"/>
              </a:rPr>
              <a:t> onto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one-</a:t>
            </a:r>
            <a:r>
              <a:rPr sz="1100" spc="-50" dirty="0">
                <a:latin typeface="Tahoma"/>
                <a:cs typeface="Tahoma"/>
              </a:rPr>
              <a:t>dimensional </a:t>
            </a:r>
            <a:r>
              <a:rPr sz="1100" spc="-10" dirty="0">
                <a:latin typeface="Tahoma"/>
                <a:cs typeface="Tahoma"/>
              </a:rPr>
              <a:t>subspace.</a:t>
            </a:r>
            <a:endParaRPr sz="1100">
              <a:latin typeface="Tahoma"/>
              <a:cs typeface="Tahoma"/>
            </a:endParaRPr>
          </a:p>
          <a:p>
            <a:pPr marL="314960" indent="-177165">
              <a:lnSpc>
                <a:spcPct val="1000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key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steps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given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below</a:t>
            </a:r>
            <a:endParaRPr sz="1100">
              <a:latin typeface="Tahoma"/>
              <a:cs typeface="Tahoma"/>
            </a:endParaRPr>
          </a:p>
          <a:p>
            <a:pPr marL="589915" lvl="1" indent="-165735">
              <a:lnSpc>
                <a:spcPts val="1200"/>
              </a:lnSpc>
              <a:spcBef>
                <a:spcPts val="175"/>
              </a:spcBef>
              <a:buClr>
                <a:srgbClr val="3333B2"/>
              </a:buClr>
              <a:buFont typeface="Lucida Sans Unicode"/>
              <a:buChar char="►"/>
              <a:tabLst>
                <a:tab pos="589915" algn="l"/>
              </a:tabLst>
            </a:pPr>
            <a:r>
              <a:rPr sz="1000" dirty="0">
                <a:latin typeface="Tahoma"/>
                <a:cs typeface="Tahoma"/>
              </a:rPr>
              <a:t>Mean</a:t>
            </a:r>
            <a:r>
              <a:rPr sz="1000" spc="-8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subtraction</a:t>
            </a:r>
            <a:endParaRPr sz="1000">
              <a:latin typeface="Tahoma"/>
              <a:cs typeface="Tahoma"/>
            </a:endParaRPr>
          </a:p>
          <a:p>
            <a:pPr marL="589915" lvl="1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589915" algn="l"/>
              </a:tabLst>
            </a:pPr>
            <a:r>
              <a:rPr sz="1000" spc="-10" dirty="0">
                <a:latin typeface="Tahoma"/>
                <a:cs typeface="Tahoma"/>
              </a:rPr>
              <a:t>Standardization</a:t>
            </a:r>
            <a:endParaRPr sz="1000">
              <a:latin typeface="Tahoma"/>
              <a:cs typeface="Tahoma"/>
            </a:endParaRPr>
          </a:p>
          <a:p>
            <a:pPr marL="589915" lvl="1" indent="-165735">
              <a:lnSpc>
                <a:spcPts val="1195"/>
              </a:lnSpc>
              <a:buClr>
                <a:srgbClr val="3333B2"/>
              </a:buClr>
              <a:buFont typeface="Lucida Sans Unicode"/>
              <a:buChar char="►"/>
              <a:tabLst>
                <a:tab pos="589915" algn="l"/>
              </a:tabLst>
            </a:pPr>
            <a:r>
              <a:rPr sz="1000" spc="-40" dirty="0">
                <a:latin typeface="Tahoma"/>
                <a:cs typeface="Tahoma"/>
              </a:rPr>
              <a:t>Eigen-</a:t>
            </a:r>
            <a:r>
              <a:rPr sz="1000" spc="-30" dirty="0">
                <a:latin typeface="Tahoma"/>
                <a:cs typeface="Tahoma"/>
              </a:rPr>
              <a:t>decomposition</a:t>
            </a:r>
            <a:r>
              <a:rPr sz="1000" dirty="0">
                <a:latin typeface="Tahoma"/>
                <a:cs typeface="Tahoma"/>
              </a:rPr>
              <a:t> of</a:t>
            </a:r>
            <a:r>
              <a:rPr sz="1000" spc="5" dirty="0">
                <a:latin typeface="Tahoma"/>
                <a:cs typeface="Tahoma"/>
              </a:rPr>
              <a:t> </a:t>
            </a:r>
            <a:r>
              <a:rPr sz="1000" spc="-20" dirty="0">
                <a:latin typeface="Tahoma"/>
                <a:cs typeface="Tahoma"/>
              </a:rPr>
              <a:t>the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40" dirty="0">
                <a:latin typeface="Tahoma"/>
                <a:cs typeface="Tahoma"/>
              </a:rPr>
              <a:t>covariance</a:t>
            </a:r>
            <a:r>
              <a:rPr sz="1000" dirty="0">
                <a:latin typeface="Tahoma"/>
                <a:cs typeface="Tahoma"/>
              </a:rPr>
              <a:t> </a:t>
            </a:r>
            <a:r>
              <a:rPr sz="1000" spc="-10" dirty="0">
                <a:latin typeface="Tahoma"/>
                <a:cs typeface="Tahoma"/>
              </a:rPr>
              <a:t>matrix</a:t>
            </a:r>
            <a:endParaRPr sz="1000">
              <a:latin typeface="Tahoma"/>
              <a:cs typeface="Tahoma"/>
            </a:endParaRPr>
          </a:p>
          <a:p>
            <a:pPr marL="589915" lvl="1" indent="-165735">
              <a:lnSpc>
                <a:spcPts val="1200"/>
              </a:lnSpc>
              <a:buClr>
                <a:srgbClr val="3333B2"/>
              </a:buClr>
              <a:buFont typeface="Lucida Sans Unicode"/>
              <a:buChar char="►"/>
              <a:tabLst>
                <a:tab pos="589915" algn="l"/>
              </a:tabLst>
            </a:pPr>
            <a:r>
              <a:rPr sz="1000" spc="-10" dirty="0">
                <a:latin typeface="Tahoma"/>
                <a:cs typeface="Tahoma"/>
              </a:rPr>
              <a:t>Projection</a:t>
            </a:r>
            <a:endParaRPr sz="10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1028367"/>
            <a:ext cx="3896995" cy="12096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dirty="0">
                <a:latin typeface="Tahoma"/>
                <a:cs typeface="Tahoma"/>
              </a:rPr>
              <a:t>Mean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subtraction</a:t>
            </a:r>
            <a:endParaRPr sz="1100">
              <a:latin typeface="Tahoma"/>
              <a:cs typeface="Tahoma"/>
            </a:endParaRPr>
          </a:p>
          <a:p>
            <a:pPr marL="289560" marR="1524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8956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start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centering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computing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subtracting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from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single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point.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5" dirty="0">
                <a:latin typeface="Tahoma"/>
                <a:cs typeface="Tahoma"/>
              </a:rPr>
              <a:t>ensures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dataset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mean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0.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89560" algn="l"/>
              </a:tabLst>
            </a:pPr>
            <a:r>
              <a:rPr sz="1100" dirty="0">
                <a:latin typeface="Tahoma"/>
                <a:cs typeface="Tahoma"/>
              </a:rPr>
              <a:t>Mean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subtraction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not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strictly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necessary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but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reduces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risk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numerical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problems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1028367"/>
            <a:ext cx="3760470" cy="1209675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Standardization</a:t>
            </a:r>
            <a:endParaRPr sz="1100">
              <a:latin typeface="Tahoma"/>
              <a:cs typeface="Tahoma"/>
            </a:endParaRPr>
          </a:p>
          <a:p>
            <a:pPr marL="314960" marR="4572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314960" algn="l"/>
              </a:tabLst>
            </a:pPr>
            <a:r>
              <a:rPr sz="1100" spc="-10" dirty="0">
                <a:latin typeface="Tahoma"/>
                <a:cs typeface="Tahoma"/>
              </a:rPr>
              <a:t>Divide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points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i="1" dirty="0">
                <a:latin typeface="Verdana"/>
                <a:cs typeface="Verdana"/>
              </a:rPr>
              <a:t>σ</a:t>
            </a:r>
            <a:r>
              <a:rPr sz="1200" i="1" baseline="-13888" dirty="0">
                <a:latin typeface="Arial"/>
                <a:cs typeface="Arial"/>
              </a:rPr>
              <a:t>d</a:t>
            </a:r>
            <a:r>
              <a:rPr sz="1200" i="1" spc="254" baseline="-13888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35" dirty="0">
                <a:latin typeface="Tahoma"/>
                <a:cs typeface="Tahoma"/>
              </a:rPr>
              <a:t>dataset </a:t>
            </a:r>
            <a:r>
              <a:rPr sz="1100" spc="-20" dirty="0">
                <a:latin typeface="Tahoma"/>
                <a:cs typeface="Tahoma"/>
              </a:rPr>
              <a:t>for </a:t>
            </a:r>
            <a:r>
              <a:rPr sz="1100" spc="-60" dirty="0">
                <a:latin typeface="Tahoma"/>
                <a:cs typeface="Tahoma"/>
              </a:rPr>
              <a:t>every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dimension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65" dirty="0">
                <a:latin typeface="Arial"/>
                <a:cs typeface="Arial"/>
              </a:rPr>
              <a:t>d</a:t>
            </a:r>
            <a:r>
              <a:rPr sz="1100" i="1" spc="-204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314960" algn="l"/>
              </a:tabLst>
            </a:pPr>
            <a:r>
              <a:rPr sz="1100" spc="-20" dirty="0">
                <a:latin typeface="Tahoma"/>
                <a:cs typeface="Tahoma"/>
              </a:rPr>
              <a:t>Now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unit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free,</a:t>
            </a:r>
            <a:r>
              <a:rPr sz="1100" spc="-35" dirty="0">
                <a:latin typeface="Tahoma"/>
                <a:cs typeface="Tahoma"/>
              </a:rPr>
              <a:t> 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has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1</a:t>
            </a:r>
            <a:r>
              <a:rPr sz="1100" spc="-35" dirty="0">
                <a:latin typeface="Tahoma"/>
                <a:cs typeface="Tahoma"/>
              </a:rPr>
              <a:t> along</a:t>
            </a:r>
            <a:r>
              <a:rPr sz="1100" spc="-40" dirty="0">
                <a:latin typeface="Tahoma"/>
                <a:cs typeface="Tahoma"/>
              </a:rPr>
              <a:t> each </a:t>
            </a:r>
            <a:r>
              <a:rPr sz="1100" spc="-25" dirty="0">
                <a:latin typeface="Tahoma"/>
                <a:cs typeface="Tahoma"/>
              </a:rPr>
              <a:t>axis,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which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indicated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standardization</a:t>
            </a:r>
            <a:endParaRPr sz="1100">
              <a:latin typeface="Tahoma"/>
              <a:cs typeface="Tahoma"/>
            </a:endParaRPr>
          </a:p>
          <a:p>
            <a:pPr marL="315595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315595" algn="l"/>
              </a:tabLst>
            </a:pP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step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completes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standardization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47294" y="944344"/>
            <a:ext cx="3914140" cy="141986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sz="1100" spc="-50" dirty="0">
                <a:latin typeface="Tahoma"/>
                <a:cs typeface="Tahoma"/>
              </a:rPr>
              <a:t>Eigen-</a:t>
            </a:r>
            <a:r>
              <a:rPr sz="1100" spc="-35" dirty="0">
                <a:latin typeface="Tahoma"/>
                <a:cs typeface="Tahoma"/>
              </a:rPr>
              <a:t>decomposition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4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Compute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covariance </a:t>
            </a:r>
            <a:r>
              <a:rPr sz="1100" spc="-10" dirty="0">
                <a:latin typeface="Tahoma"/>
                <a:cs typeface="Tahoma"/>
              </a:rPr>
              <a:t>matrix</a:t>
            </a:r>
            <a:endParaRPr sz="1100">
              <a:latin typeface="Tahoma"/>
              <a:cs typeface="Tahoma"/>
            </a:endParaRPr>
          </a:p>
          <a:p>
            <a:pPr marL="290195" indent="-177800">
              <a:lnSpc>
                <a:spcPct val="100000"/>
              </a:lnSpc>
              <a:spcBef>
                <a:spcPts val="330"/>
              </a:spcBef>
              <a:buClr>
                <a:srgbClr val="3333B2"/>
              </a:buClr>
              <a:buAutoNum type="arabicPeriod"/>
              <a:tabLst>
                <a:tab pos="290195" algn="l"/>
              </a:tabLst>
            </a:pPr>
            <a:r>
              <a:rPr sz="1100" spc="-30" dirty="0">
                <a:latin typeface="Tahoma"/>
                <a:cs typeface="Tahoma"/>
              </a:rPr>
              <a:t>Compute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eigenvalues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corresponding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eigenvectors.</a:t>
            </a:r>
            <a:endParaRPr sz="1100">
              <a:latin typeface="Tahoma"/>
              <a:cs typeface="Tahoma"/>
            </a:endParaRPr>
          </a:p>
          <a:p>
            <a:pPr marL="289560" marR="5080" indent="-177165">
              <a:lnSpc>
                <a:spcPct val="102699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89560" algn="l"/>
              </a:tabLst>
            </a:pPr>
            <a:r>
              <a:rPr sz="1100" spc="-30" dirty="0">
                <a:latin typeface="Tahoma"/>
                <a:cs typeface="Tahoma"/>
              </a:rPr>
              <a:t>Since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covariance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matrix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40" dirty="0">
                <a:latin typeface="Tahoma"/>
                <a:cs typeface="Tahoma"/>
              </a:rPr>
              <a:t> symmetric,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spectral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theorem </a:t>
            </a:r>
            <a:r>
              <a:rPr sz="1100" spc="-30" dirty="0">
                <a:latin typeface="Tahoma"/>
                <a:cs typeface="Tahoma"/>
              </a:rPr>
              <a:t>states</a:t>
            </a:r>
            <a:r>
              <a:rPr sz="1100" spc="-6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7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orthonormal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basis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eigenvectors.</a:t>
            </a:r>
            <a:endParaRPr sz="1100">
              <a:latin typeface="Tahoma"/>
              <a:cs typeface="Tahoma"/>
            </a:endParaRPr>
          </a:p>
          <a:p>
            <a:pPr marL="289560" marR="58547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289560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scaled</a:t>
            </a:r>
            <a:r>
              <a:rPr sz="1100" spc="-35" dirty="0">
                <a:latin typeface="Tahoma"/>
                <a:cs typeface="Tahoma"/>
              </a:rPr>
              <a:t> by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magnitude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the </a:t>
            </a:r>
            <a:r>
              <a:rPr sz="1100" spc="-50" dirty="0">
                <a:latin typeface="Tahoma"/>
                <a:cs typeface="Tahoma"/>
              </a:rPr>
              <a:t>corresponding</a:t>
            </a:r>
            <a:r>
              <a:rPr sz="1100" spc="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21894" y="718398"/>
            <a:ext cx="3815079" cy="1172210"/>
          </a:xfrm>
          <a:prstGeom prst="rect">
            <a:avLst/>
          </a:prstGeom>
        </p:spPr>
        <p:txBody>
          <a:bodyPr vert="horz" wrap="square" lIns="0" tIns="5524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434"/>
              </a:spcBef>
            </a:pPr>
            <a:r>
              <a:rPr sz="1100" spc="-10" dirty="0">
                <a:latin typeface="Tahoma"/>
                <a:cs typeface="Tahoma"/>
              </a:rPr>
              <a:t>Projection</a:t>
            </a:r>
            <a:endParaRPr sz="1100">
              <a:latin typeface="Tahoma"/>
              <a:cs typeface="Tahoma"/>
            </a:endParaRPr>
          </a:p>
          <a:p>
            <a:pPr marL="314960" marR="142875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project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any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point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Cambria"/>
                <a:cs typeface="Cambria"/>
              </a:rPr>
              <a:t>∗</a:t>
            </a:r>
            <a:r>
              <a:rPr sz="1200" spc="172" baseline="-10416" dirty="0">
                <a:latin typeface="Cambria"/>
                <a:cs typeface="Cambria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270" baseline="27777" dirty="0">
                <a:latin typeface="Arial"/>
                <a:cs typeface="Arial"/>
              </a:rPr>
              <a:t> </a:t>
            </a:r>
            <a:r>
              <a:rPr sz="1100" spc="-10" dirty="0">
                <a:latin typeface="Tahoma"/>
                <a:cs typeface="Tahoma"/>
              </a:rPr>
              <a:t>onto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principal </a:t>
            </a:r>
            <a:r>
              <a:rPr sz="1100" spc="-10" dirty="0">
                <a:latin typeface="Tahoma"/>
                <a:cs typeface="Tahoma"/>
              </a:rPr>
              <a:t>subspace:</a:t>
            </a:r>
            <a:endParaRPr sz="1100">
              <a:latin typeface="Tahoma"/>
              <a:cs typeface="Tahoma"/>
            </a:endParaRPr>
          </a:p>
          <a:p>
            <a:pPr marL="314960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/>
              <a:tabLst>
                <a:tab pos="314960" algn="l"/>
              </a:tabLst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8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get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this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right,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5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need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</a:t>
            </a:r>
            <a:r>
              <a:rPr sz="1100" spc="-40" dirty="0">
                <a:latin typeface="Tahoma"/>
                <a:cs typeface="Tahoma"/>
              </a:rPr>
              <a:t> standardize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200" baseline="-10416" dirty="0">
                <a:latin typeface="Cambria"/>
                <a:cs typeface="Cambria"/>
              </a:rPr>
              <a:t>∗</a:t>
            </a:r>
            <a:r>
              <a:rPr sz="1200" spc="270" baseline="-10416" dirty="0">
                <a:latin typeface="Cambria"/>
                <a:cs typeface="Cambria"/>
              </a:rPr>
              <a:t> </a:t>
            </a:r>
            <a:r>
              <a:rPr sz="1100" spc="-35" dirty="0">
                <a:latin typeface="Tahoma"/>
                <a:cs typeface="Tahoma"/>
              </a:rPr>
              <a:t>using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mean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standard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deviation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training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75" dirty="0">
                <a:latin typeface="Arial"/>
                <a:cs typeface="Arial"/>
              </a:rPr>
              <a:t> </a:t>
            </a:r>
            <a:r>
              <a:rPr sz="1100" spc="-25" dirty="0">
                <a:latin typeface="Tahoma"/>
                <a:cs typeface="Tahoma"/>
              </a:rPr>
              <a:t>th </a:t>
            </a:r>
            <a:r>
              <a:rPr sz="1100" spc="-10" dirty="0">
                <a:latin typeface="Tahoma"/>
                <a:cs typeface="Tahoma"/>
              </a:rPr>
              <a:t>dimension</a:t>
            </a:r>
            <a:endParaRPr sz="11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32305" y="2092958"/>
            <a:ext cx="19431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Cambria"/>
                <a:cs typeface="Cambria"/>
              </a:rPr>
              <a:t>∗</a:t>
            </a:r>
            <a:endParaRPr sz="1200" baseline="-10416">
              <a:latin typeface="Cambria"/>
              <a:cs typeface="Cambri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63801" y="1926207"/>
            <a:ext cx="56070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650" i="1" spc="-82" baseline="-30303" dirty="0">
                <a:latin typeface="Arial"/>
                <a:cs typeface="Arial"/>
              </a:rPr>
              <a:t>x</a:t>
            </a:r>
            <a:r>
              <a:rPr sz="1650" i="1" spc="-300" baseline="-30303" dirty="0">
                <a:latin typeface="Arial"/>
                <a:cs typeface="Arial"/>
              </a:rPr>
              <a:t> </a:t>
            </a:r>
            <a:r>
              <a:rPr sz="800" dirty="0">
                <a:latin typeface="Calibri"/>
                <a:cs typeface="Calibri"/>
              </a:rPr>
              <a:t>(</a:t>
            </a:r>
            <a:r>
              <a:rPr sz="800" i="1" dirty="0">
                <a:latin typeface="Arial"/>
                <a:cs typeface="Arial"/>
              </a:rPr>
              <a:t>d</a:t>
            </a:r>
            <a:r>
              <a:rPr sz="800" i="1" spc="-145" dirty="0">
                <a:latin typeface="Arial"/>
                <a:cs typeface="Arial"/>
              </a:rPr>
              <a:t> </a:t>
            </a:r>
            <a:r>
              <a:rPr sz="800" spc="90" dirty="0">
                <a:latin typeface="Calibri"/>
                <a:cs typeface="Calibri"/>
              </a:rPr>
              <a:t>)</a:t>
            </a:r>
            <a:r>
              <a:rPr sz="800" spc="140" dirty="0">
                <a:latin typeface="Calibri"/>
                <a:cs typeface="Calibri"/>
              </a:rPr>
              <a:t> </a:t>
            </a:r>
            <a:r>
              <a:rPr sz="1650" spc="-52" baseline="-30303" dirty="0">
                <a:latin typeface="Lucida Sans Unicode"/>
                <a:cs typeface="Lucida Sans Unicode"/>
              </a:rPr>
              <a:t>−</a:t>
            </a:r>
            <a:r>
              <a:rPr sz="1650" spc="-112" baseline="-30303" dirty="0">
                <a:latin typeface="Lucida Sans Unicode"/>
                <a:cs typeface="Lucida Sans Unicode"/>
              </a:rPr>
              <a:t> </a:t>
            </a:r>
            <a:r>
              <a:rPr sz="1650" i="1" spc="-75" baseline="-30303" dirty="0">
                <a:latin typeface="Verdana"/>
                <a:cs typeface="Verdana"/>
              </a:rPr>
              <a:t>µ</a:t>
            </a:r>
            <a:endParaRPr sz="1650" baseline="-30303">
              <a:latin typeface="Verdana"/>
              <a:cs typeface="Verdan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66417" y="2187992"/>
            <a:ext cx="211454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i="1" spc="-25" dirty="0">
                <a:latin typeface="Verdana"/>
                <a:cs typeface="Verdana"/>
              </a:rPr>
              <a:t>σ</a:t>
            </a:r>
            <a:r>
              <a:rPr sz="1200" i="1" spc="-37" baseline="-13888" dirty="0">
                <a:latin typeface="Arial"/>
                <a:cs typeface="Arial"/>
              </a:rPr>
              <a:t>d</a:t>
            </a:r>
            <a:endParaRPr sz="1200" baseline="-13888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508899" y="2021800"/>
            <a:ext cx="10407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876935" algn="l"/>
              </a:tabLst>
            </a:pPr>
            <a:r>
              <a:rPr sz="800" spc="10" dirty="0">
                <a:latin typeface="Calibri"/>
                <a:cs typeface="Calibri"/>
              </a:rPr>
              <a:t>(</a:t>
            </a:r>
            <a:r>
              <a:rPr sz="800" i="1" spc="10" dirty="0">
                <a:latin typeface="Arial"/>
                <a:cs typeface="Arial"/>
              </a:rPr>
              <a:t>d</a:t>
            </a:r>
            <a:r>
              <a:rPr sz="800" i="1" spc="-150" dirty="0">
                <a:latin typeface="Arial"/>
                <a:cs typeface="Arial"/>
              </a:rPr>
              <a:t> </a:t>
            </a:r>
            <a:r>
              <a:rPr sz="800" spc="90" dirty="0">
                <a:latin typeface="Calibri"/>
                <a:cs typeface="Calibri"/>
              </a:rPr>
              <a:t>)</a:t>
            </a:r>
            <a:r>
              <a:rPr sz="800" spc="190" dirty="0">
                <a:latin typeface="Calibri"/>
                <a:cs typeface="Calibri"/>
              </a:rPr>
              <a:t> </a:t>
            </a:r>
            <a:r>
              <a:rPr sz="1650" spc="15" baseline="-27777" dirty="0">
                <a:latin typeface="Tahoma"/>
                <a:cs typeface="Tahoma"/>
              </a:rPr>
              <a:t>=</a:t>
            </a:r>
            <a:r>
              <a:rPr sz="1650" spc="150" baseline="-27777" dirty="0">
                <a:latin typeface="Tahoma"/>
                <a:cs typeface="Tahoma"/>
              </a:rPr>
              <a:t> </a:t>
            </a:r>
            <a:r>
              <a:rPr sz="800" u="sng" spc="3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 </a:t>
            </a:r>
            <a:r>
              <a:rPr sz="800" u="sng" spc="-50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∗</a:t>
            </a:r>
            <a:r>
              <a:rPr sz="800" u="sng" dirty="0">
                <a:uFill>
                  <a:solidFill>
                    <a:srgbClr val="000000"/>
                  </a:solidFill>
                </a:uFill>
                <a:latin typeface="Cambria"/>
                <a:cs typeface="Cambria"/>
              </a:rPr>
              <a:t>	</a:t>
            </a:r>
            <a:r>
              <a:rPr sz="800" i="1" u="sng" dirty="0"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d</a:t>
            </a:r>
            <a:r>
              <a:rPr sz="800" i="1" spc="5" dirty="0">
                <a:latin typeface="Arial"/>
                <a:cs typeface="Arial"/>
              </a:rPr>
              <a:t> </a:t>
            </a:r>
            <a:r>
              <a:rPr sz="1650" i="1" spc="-75" baseline="-27777" dirty="0">
                <a:latin typeface="Verdana"/>
                <a:cs typeface="Verdana"/>
              </a:rPr>
              <a:t>,</a:t>
            </a:r>
            <a:endParaRPr sz="1650" baseline="-27777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75648" y="2092958"/>
            <a:ext cx="7416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9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=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1</a:t>
            </a:r>
            <a:r>
              <a:rPr sz="1100" i="1" spc="-90" dirty="0">
                <a:latin typeface="Verdana"/>
                <a:cs typeface="Verdana"/>
              </a:rPr>
              <a:t>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100" dirty="0">
                <a:latin typeface="Verdana"/>
                <a:cs typeface="Verdana"/>
              </a:rPr>
              <a:t>....,</a:t>
            </a:r>
            <a:r>
              <a:rPr sz="1100" i="1" spc="-204" dirty="0">
                <a:latin typeface="Verdana"/>
                <a:cs typeface="Verdana"/>
              </a:rPr>
              <a:t> </a:t>
            </a:r>
            <a:r>
              <a:rPr sz="1100" i="1" spc="-50" dirty="0">
                <a:latin typeface="Arial"/>
                <a:cs typeface="Arial"/>
              </a:rPr>
              <a:t>D</a:t>
            </a:r>
            <a:endParaRPr sz="11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03084" y="2570212"/>
            <a:ext cx="79375" cy="1473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800" spc="-50" dirty="0">
                <a:latin typeface="Cambria"/>
                <a:cs typeface="Cambria"/>
              </a:rPr>
              <a:t>∗</a:t>
            </a:r>
            <a:endParaRPr sz="800">
              <a:latin typeface="Cambria"/>
              <a:cs typeface="Cambri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1957" y="2511334"/>
            <a:ext cx="2513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</a:pPr>
            <a:r>
              <a:rPr sz="1100" dirty="0">
                <a:solidFill>
                  <a:srgbClr val="3333B2"/>
                </a:solidFill>
                <a:latin typeface="Tahoma"/>
                <a:cs typeface="Tahoma"/>
              </a:rPr>
              <a:t>3.</a:t>
            </a:r>
            <a:r>
              <a:rPr sz="1100" spc="120" dirty="0">
                <a:solidFill>
                  <a:srgbClr val="3333B2"/>
                </a:solidFill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Here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x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200" baseline="38194" dirty="0">
                <a:latin typeface="Calibri"/>
                <a:cs typeface="Calibri"/>
              </a:rPr>
              <a:t>(</a:t>
            </a:r>
            <a:r>
              <a:rPr sz="1200" i="1" baseline="38194" dirty="0">
                <a:latin typeface="Arial"/>
                <a:cs typeface="Arial"/>
              </a:rPr>
              <a:t>d</a:t>
            </a:r>
            <a:r>
              <a:rPr sz="1200" i="1" spc="-225" baseline="38194" dirty="0">
                <a:latin typeface="Arial"/>
                <a:cs typeface="Arial"/>
              </a:rPr>
              <a:t> </a:t>
            </a:r>
            <a:r>
              <a:rPr sz="1200" spc="135" baseline="38194" dirty="0">
                <a:latin typeface="Calibri"/>
                <a:cs typeface="Calibri"/>
              </a:rPr>
              <a:t>)</a:t>
            </a:r>
            <a:r>
              <a:rPr sz="1200" spc="270" baseline="38194" dirty="0">
                <a:latin typeface="Calibri"/>
                <a:cs typeface="Calibri"/>
              </a:rPr>
              <a:t> </a:t>
            </a:r>
            <a:r>
              <a:rPr sz="1100" dirty="0">
                <a:latin typeface="Tahoma"/>
                <a:cs typeface="Tahoma"/>
              </a:rPr>
              <a:t>is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d</a:t>
            </a:r>
            <a:r>
              <a:rPr sz="1100" i="1" spc="105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component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Cambria"/>
                <a:cs typeface="Cambria"/>
              </a:rPr>
              <a:t>∗</a:t>
            </a:r>
            <a:r>
              <a:rPr sz="1100" spc="-25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71755">
              <a:lnSpc>
                <a:spcPct val="100000"/>
              </a:lnSpc>
              <a:spcBef>
                <a:spcPts val="135"/>
              </a:spcBef>
            </a:pPr>
            <a:r>
              <a:rPr spc="-10" dirty="0"/>
              <a:t>Key</a:t>
            </a:r>
            <a:r>
              <a:rPr spc="-15" dirty="0"/>
              <a:t> </a:t>
            </a:r>
            <a:r>
              <a:rPr spc="-70" dirty="0"/>
              <a:t>Steps</a:t>
            </a:r>
            <a:r>
              <a:rPr spc="-1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spc="-10" dirty="0"/>
              <a:t>PCA</a:t>
            </a:r>
            <a:r>
              <a:rPr spc="-20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spc="-30" dirty="0"/>
              <a:t>Practice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255904" indent="-177800">
              <a:lnSpc>
                <a:spcPct val="100000"/>
              </a:lnSpc>
              <a:spcBef>
                <a:spcPts val="90"/>
              </a:spcBef>
              <a:buClr>
                <a:srgbClr val="3333B2"/>
              </a:buClr>
              <a:buAutoNum type="arabicPeriod"/>
              <a:tabLst>
                <a:tab pos="255904" algn="l"/>
              </a:tabLst>
            </a:pPr>
            <a:r>
              <a:rPr dirty="0"/>
              <a:t>We</a:t>
            </a:r>
            <a:r>
              <a:rPr spc="-50" dirty="0"/>
              <a:t> </a:t>
            </a:r>
            <a:r>
              <a:rPr spc="-20" dirty="0"/>
              <a:t>obtain</a:t>
            </a:r>
            <a:r>
              <a:rPr spc="-5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35" dirty="0"/>
              <a:t>projection</a:t>
            </a:r>
            <a:r>
              <a:rPr spc="-50" dirty="0"/>
              <a:t> </a:t>
            </a:r>
            <a:r>
              <a:rPr spc="-35" dirty="0"/>
              <a:t>as</a:t>
            </a:r>
          </a:p>
          <a:p>
            <a:pPr marL="269240" algn="ctr">
              <a:lnSpc>
                <a:spcPct val="100000"/>
              </a:lnSpc>
              <a:spcBef>
                <a:spcPts val="1130"/>
              </a:spcBef>
            </a:pPr>
            <a:r>
              <a:rPr i="1" spc="-275" dirty="0">
                <a:latin typeface="Arial"/>
                <a:cs typeface="Arial"/>
              </a:rPr>
              <a:t>x</a:t>
            </a:r>
            <a:r>
              <a:rPr spc="-275" dirty="0"/>
              <a:t>˜</a:t>
            </a:r>
            <a:r>
              <a:rPr spc="10" dirty="0"/>
              <a:t> </a:t>
            </a:r>
            <a:r>
              <a:rPr dirty="0"/>
              <a:t>=</a:t>
            </a:r>
            <a:r>
              <a:rPr spc="40" dirty="0"/>
              <a:t> </a:t>
            </a:r>
            <a:r>
              <a:rPr i="1" dirty="0">
                <a:latin typeface="Arial"/>
                <a:cs typeface="Arial"/>
              </a:rPr>
              <a:t>BB</a:t>
            </a:r>
            <a:r>
              <a:rPr sz="1200" i="1" baseline="31250" dirty="0">
                <a:latin typeface="Arial"/>
                <a:cs typeface="Arial"/>
              </a:rPr>
              <a:t>T</a:t>
            </a:r>
            <a:r>
              <a:rPr sz="1200" i="1" spc="-44" baseline="312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Cambria"/>
                <a:cs typeface="Cambria"/>
              </a:rPr>
              <a:t>∗</a:t>
            </a:r>
            <a:endParaRPr sz="1200" baseline="-10416" dirty="0">
              <a:latin typeface="Cambria"/>
              <a:cs typeface="Cambria"/>
            </a:endParaRPr>
          </a:p>
          <a:p>
            <a:pPr marL="255270" indent="-177800">
              <a:lnSpc>
                <a:spcPct val="100000"/>
              </a:lnSpc>
              <a:spcBef>
                <a:spcPts val="1130"/>
              </a:spcBef>
              <a:buClr>
                <a:srgbClr val="3333B2"/>
              </a:buClr>
              <a:buAutoNum type="arabicPeriod" startAt="2"/>
              <a:tabLst>
                <a:tab pos="255270" algn="l"/>
              </a:tabLst>
            </a:pPr>
            <a:r>
              <a:rPr dirty="0"/>
              <a:t>The</a:t>
            </a:r>
            <a:r>
              <a:rPr spc="-15" dirty="0"/>
              <a:t> </a:t>
            </a:r>
            <a:r>
              <a:rPr spc="-40" dirty="0"/>
              <a:t>coordinates</a:t>
            </a:r>
            <a:r>
              <a:rPr spc="-10" dirty="0"/>
              <a:t> </a:t>
            </a:r>
            <a:r>
              <a:rPr spc="-25" dirty="0"/>
              <a:t>are</a:t>
            </a:r>
          </a:p>
          <a:p>
            <a:pPr marL="269240" algn="ctr">
              <a:lnSpc>
                <a:spcPct val="100000"/>
              </a:lnSpc>
              <a:spcBef>
                <a:spcPts val="35"/>
              </a:spcBef>
            </a:pPr>
            <a:r>
              <a:rPr i="1" dirty="0">
                <a:latin typeface="Arial"/>
                <a:cs typeface="Arial"/>
              </a:rPr>
              <a:t>z</a:t>
            </a:r>
            <a:r>
              <a:rPr sz="1200" baseline="-10416" dirty="0">
                <a:latin typeface="Cambria"/>
                <a:cs typeface="Cambria"/>
              </a:rPr>
              <a:t>∗</a:t>
            </a:r>
            <a:r>
              <a:rPr sz="1200" spc="262" baseline="-10416" dirty="0">
                <a:latin typeface="Cambria"/>
                <a:cs typeface="Cambria"/>
              </a:rPr>
              <a:t> </a:t>
            </a:r>
            <a:r>
              <a:rPr sz="1100" dirty="0"/>
              <a:t>=</a:t>
            </a:r>
            <a:r>
              <a:rPr sz="1100" spc="-40" dirty="0"/>
              <a:t> </a:t>
            </a:r>
            <a:r>
              <a:rPr sz="1100" i="1" spc="80" dirty="0">
                <a:latin typeface="Arial"/>
                <a:cs typeface="Arial"/>
              </a:rPr>
              <a:t>B</a:t>
            </a:r>
            <a:r>
              <a:rPr sz="1200" i="1" spc="120" baseline="31250" dirty="0">
                <a:latin typeface="Arial"/>
                <a:cs typeface="Arial"/>
              </a:rPr>
              <a:t>T</a:t>
            </a:r>
            <a:r>
              <a:rPr sz="1200" i="1" spc="-104" baseline="31250" dirty="0">
                <a:latin typeface="Arial"/>
                <a:cs typeface="Arial"/>
              </a:rPr>
              <a:t> </a:t>
            </a:r>
            <a:r>
              <a:rPr sz="1100" i="1" spc="-25" dirty="0">
                <a:latin typeface="Arial"/>
                <a:cs typeface="Arial"/>
              </a:rPr>
              <a:t>x</a:t>
            </a:r>
            <a:r>
              <a:rPr sz="1200" spc="-37" baseline="-10416" dirty="0">
                <a:latin typeface="Cambria"/>
                <a:cs typeface="Cambria"/>
              </a:rPr>
              <a:t>∗</a:t>
            </a:r>
            <a:endParaRPr sz="1200" baseline="-10416" dirty="0">
              <a:latin typeface="Cambria"/>
              <a:cs typeface="Cambria"/>
            </a:endParaRPr>
          </a:p>
          <a:p>
            <a:pPr marL="254635">
              <a:lnSpc>
                <a:spcPct val="100000"/>
              </a:lnSpc>
              <a:spcBef>
                <a:spcPts val="685"/>
              </a:spcBef>
            </a:pPr>
            <a:r>
              <a:rPr dirty="0"/>
              <a:t>with</a:t>
            </a:r>
            <a:r>
              <a:rPr spc="-45" dirty="0"/>
              <a:t> </a:t>
            </a:r>
            <a:r>
              <a:rPr spc="-40" dirty="0"/>
              <a:t>respect</a:t>
            </a:r>
            <a:r>
              <a:rPr spc="-45" dirty="0"/>
              <a:t> </a:t>
            </a:r>
            <a:r>
              <a:rPr dirty="0"/>
              <a:t>to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35" dirty="0"/>
              <a:t>basis</a:t>
            </a:r>
            <a:r>
              <a:rPr spc="-4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30" dirty="0"/>
              <a:t>principal</a:t>
            </a:r>
            <a:r>
              <a:rPr spc="-40" dirty="0"/>
              <a:t> </a:t>
            </a:r>
            <a:r>
              <a:rPr spc="-10" dirty="0"/>
              <a:t>subspace.</a:t>
            </a:r>
          </a:p>
          <a:p>
            <a:pPr marL="254635" marR="177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 startAt="3"/>
              <a:tabLst>
                <a:tab pos="254635" algn="l"/>
              </a:tabLst>
            </a:pPr>
            <a:r>
              <a:rPr spc="-30" dirty="0"/>
              <a:t>Here,</a:t>
            </a:r>
            <a:r>
              <a:rPr spc="-50" dirty="0"/>
              <a:t> </a:t>
            </a:r>
            <a:r>
              <a:rPr spc="70" dirty="0"/>
              <a:t>B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0" dirty="0"/>
              <a:t> </a:t>
            </a:r>
            <a:r>
              <a:rPr spc="-10" dirty="0"/>
              <a:t>matrix</a:t>
            </a:r>
            <a:r>
              <a:rPr spc="-35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30" dirty="0"/>
              <a:t>contains</a:t>
            </a:r>
            <a:r>
              <a:rPr spc="-40" dirty="0"/>
              <a:t> </a:t>
            </a:r>
            <a:r>
              <a:rPr spc="-10" dirty="0"/>
              <a:t>the</a:t>
            </a:r>
            <a:r>
              <a:rPr spc="-40" dirty="0"/>
              <a:t> </a:t>
            </a:r>
            <a:r>
              <a:rPr spc="-55" dirty="0"/>
              <a:t>eigenvectors</a:t>
            </a:r>
            <a:r>
              <a:rPr spc="-3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spc="-25" dirty="0"/>
              <a:t>are </a:t>
            </a:r>
            <a:r>
              <a:rPr spc="-40" dirty="0"/>
              <a:t>associated</a:t>
            </a:r>
            <a:r>
              <a:rPr spc="-50" dirty="0"/>
              <a:t> </a:t>
            </a:r>
            <a:r>
              <a:rPr dirty="0"/>
              <a:t>with</a:t>
            </a:r>
            <a:r>
              <a:rPr spc="-60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40" dirty="0"/>
              <a:t>largest</a:t>
            </a:r>
            <a:r>
              <a:rPr spc="-50" dirty="0"/>
              <a:t> </a:t>
            </a:r>
            <a:r>
              <a:rPr spc="-55" dirty="0"/>
              <a:t>eigenvalues</a:t>
            </a:r>
            <a:r>
              <a:rPr spc="-30" dirty="0"/>
              <a:t> </a:t>
            </a:r>
            <a:r>
              <a:rPr dirty="0"/>
              <a:t>of</a:t>
            </a:r>
            <a:r>
              <a:rPr spc="-45" dirty="0"/>
              <a:t> </a:t>
            </a:r>
            <a:r>
              <a:rPr spc="-10" dirty="0"/>
              <a:t>the</a:t>
            </a:r>
            <a:r>
              <a:rPr spc="-45" dirty="0"/>
              <a:t> </a:t>
            </a:r>
            <a:r>
              <a:rPr spc="-10" dirty="0"/>
              <a:t>data</a:t>
            </a:r>
            <a:r>
              <a:rPr spc="-50" dirty="0"/>
              <a:t> </a:t>
            </a:r>
            <a:r>
              <a:rPr spc="-45" dirty="0"/>
              <a:t>covariance </a:t>
            </a:r>
            <a:r>
              <a:rPr spc="-20" dirty="0"/>
              <a:t>matrix</a:t>
            </a:r>
            <a:r>
              <a:rPr spc="-45" dirty="0"/>
              <a:t> </a:t>
            </a:r>
            <a:r>
              <a:rPr spc="-20" dirty="0"/>
              <a:t>as</a:t>
            </a:r>
            <a:r>
              <a:rPr spc="-45" dirty="0"/>
              <a:t> </a:t>
            </a:r>
            <a:r>
              <a:rPr spc="-10" dirty="0"/>
              <a:t>columns.</a:t>
            </a:r>
          </a:p>
        </p:txBody>
      </p:sp>
    </p:spTree>
  </p:cSld>
  <p:clrMapOvr>
    <a:masterClrMapping/>
  </p:clrMapOvr>
  <p:transition>
    <p:cut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72527"/>
            <a:ext cx="2235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Key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-7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Steps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of</a:t>
            </a:r>
            <a:r>
              <a:rPr kumimoji="0" sz="1400" b="0" i="0" u="none" strike="noStrike" kern="0" cap="none" spc="-15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PCA</a:t>
            </a:r>
            <a:r>
              <a:rPr kumimoji="0" sz="1400" b="0" i="0" u="none" strike="noStrike" kern="0" cap="none" spc="-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in</a:t>
            </a:r>
            <a:r>
              <a:rPr kumimoji="0" sz="1400" b="0" i="0" u="none" strike="noStrike" kern="0" cap="none" spc="-1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 </a:t>
            </a:r>
            <a:r>
              <a:rPr kumimoji="0" sz="1400" b="0" i="0" u="none" strike="noStrike" kern="0" cap="none" spc="-3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Arial MT"/>
                <a:cs typeface="Arial MT"/>
              </a:rPr>
              <a:t>Practice</a:t>
            </a:r>
            <a:endParaRPr kumimoji="0" sz="14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943354" y="852479"/>
            <a:ext cx="679450" cy="1778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9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-3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Tahoma"/>
                <a:cs typeface="Tahoma"/>
              </a:rPr>
              <a:t>Figure:</a:t>
            </a:r>
            <a:r>
              <a:rPr kumimoji="0" sz="1000" b="0" i="0" u="none" strike="noStrike" kern="0" cap="none" spc="-20" normalizeH="0" baseline="0" noProof="0" dirty="0">
                <a:ln>
                  <a:noFill/>
                </a:ln>
                <a:solidFill>
                  <a:srgbClr val="3333B2"/>
                </a:solidFill>
                <a:effectLst/>
                <a:uLnTx/>
                <a:uFillTx/>
                <a:latin typeface="Tahoma"/>
                <a:cs typeface="Tahoma"/>
              </a:rPr>
              <a:t> </a:t>
            </a:r>
            <a:r>
              <a:rPr kumimoji="0" sz="1000" b="0" i="0" u="none" strike="noStrike" kern="0" cap="none" spc="30" normalizeH="0" baseline="0" noProof="0" dirty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Tahoma"/>
                <a:cs typeface="Tahoma"/>
              </a:rPr>
              <a:t>PCA</a:t>
            </a:r>
            <a:endParaRPr kumimoji="0" sz="10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Tahoma"/>
              <a:cs typeface="Tahoma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1264997"/>
            <a:ext cx="4480362" cy="1534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7437984"/>
      </p:ext>
    </p:extLst>
  </p:cSld>
  <p:clrMapOvr>
    <a:masterClrMapping/>
  </p:clrMapOvr>
  <p:transition>
    <p:cut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54762" y="72527"/>
            <a:ext cx="2235200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00" spc="-10" dirty="0">
                <a:solidFill>
                  <a:srgbClr val="3333B2"/>
                </a:solidFill>
                <a:latin typeface="Arial MT"/>
                <a:cs typeface="Arial MT"/>
              </a:rPr>
              <a:t>Key</a:t>
            </a:r>
            <a:r>
              <a:rPr sz="1400" spc="-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70" dirty="0">
                <a:solidFill>
                  <a:srgbClr val="3333B2"/>
                </a:solidFill>
                <a:latin typeface="Arial MT"/>
                <a:cs typeface="Arial MT"/>
              </a:rPr>
              <a:t>Steps</a:t>
            </a:r>
            <a:r>
              <a:rPr sz="1400" spc="-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B2"/>
                </a:solidFill>
                <a:latin typeface="Arial MT"/>
                <a:cs typeface="Arial MT"/>
              </a:rPr>
              <a:t>of</a:t>
            </a:r>
            <a:r>
              <a:rPr sz="1400" spc="-15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10" dirty="0">
                <a:solidFill>
                  <a:srgbClr val="3333B2"/>
                </a:solidFill>
                <a:latin typeface="Arial MT"/>
                <a:cs typeface="Arial MT"/>
              </a:rPr>
              <a:t>PCA</a:t>
            </a:r>
            <a:r>
              <a:rPr sz="1400" spc="-2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dirty="0">
                <a:solidFill>
                  <a:srgbClr val="3333B2"/>
                </a:solidFill>
                <a:latin typeface="Arial MT"/>
                <a:cs typeface="Arial MT"/>
              </a:rPr>
              <a:t>in</a:t>
            </a:r>
            <a:r>
              <a:rPr sz="1400" spc="-10" dirty="0">
                <a:solidFill>
                  <a:srgbClr val="3333B2"/>
                </a:solidFill>
                <a:latin typeface="Arial MT"/>
                <a:cs typeface="Arial MT"/>
              </a:rPr>
              <a:t> </a:t>
            </a:r>
            <a:r>
              <a:rPr sz="1400" spc="-30" dirty="0">
                <a:solidFill>
                  <a:srgbClr val="3333B2"/>
                </a:solidFill>
                <a:latin typeface="Arial MT"/>
                <a:cs typeface="Arial MT"/>
              </a:rPr>
              <a:t>Practice</a:t>
            </a:r>
            <a:endParaRPr sz="140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9994" y="955348"/>
            <a:ext cx="4248010" cy="1785120"/>
          </a:xfrm>
          <a:prstGeom prst="rect">
            <a:avLst/>
          </a:prstGeom>
        </p:spPr>
      </p:pic>
    </p:spTree>
  </p:cSld>
  <p:clrMapOvr>
    <a:masterClrMapping/>
  </p:clrMapOvr>
  <p:transition>
    <p:cut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4762" y="72527"/>
            <a:ext cx="1329055" cy="24447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pc="-60" dirty="0"/>
              <a:t>Summary</a:t>
            </a:r>
            <a:r>
              <a:rPr spc="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spc="-40" dirty="0"/>
              <a:t>PCA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21957" y="957261"/>
            <a:ext cx="3831590" cy="1510665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214629" marR="74930" indent="-177165">
              <a:lnSpc>
                <a:spcPct val="102600"/>
              </a:lnSpc>
              <a:spcBef>
                <a:spcPts val="55"/>
              </a:spcBef>
              <a:buClr>
                <a:srgbClr val="3333B2"/>
              </a:buClr>
              <a:buAutoNum type="arabicPeriod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derived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55" dirty="0">
                <a:latin typeface="Tahoma"/>
                <a:cs typeface="Tahoma"/>
              </a:rPr>
              <a:t>PCA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by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30" dirty="0">
                <a:latin typeface="Tahoma"/>
                <a:cs typeface="Tahoma"/>
              </a:rPr>
              <a:t>maximizing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variance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in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projected </a:t>
            </a:r>
            <a:r>
              <a:rPr sz="1100" spc="-10" dirty="0">
                <a:latin typeface="Tahoma"/>
                <a:cs typeface="Tahoma"/>
              </a:rPr>
              <a:t>space</a:t>
            </a:r>
            <a:endParaRPr sz="1100">
              <a:latin typeface="Tahoma"/>
              <a:cs typeface="Tahoma"/>
            </a:endParaRPr>
          </a:p>
          <a:p>
            <a:pPr marL="215900" indent="-177800">
              <a:lnSpc>
                <a:spcPct val="100000"/>
              </a:lnSpc>
              <a:spcBef>
                <a:spcPts val="335"/>
              </a:spcBef>
              <a:buClr>
                <a:srgbClr val="3333B2"/>
              </a:buClr>
              <a:buAutoNum type="arabicPeriod"/>
              <a:tabLst>
                <a:tab pos="215900" algn="l"/>
              </a:tabLst>
            </a:pPr>
            <a:r>
              <a:rPr sz="1100" dirty="0">
                <a:latin typeface="Tahoma"/>
                <a:cs typeface="Tahoma"/>
              </a:rPr>
              <a:t>We</a:t>
            </a:r>
            <a:r>
              <a:rPr sz="1100" spc="-9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took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4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x</a:t>
            </a:r>
            <a:r>
              <a:rPr sz="1100" i="1" spc="40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dirty="0">
                <a:latin typeface="Arial MT"/>
                <a:cs typeface="Arial MT"/>
              </a:rPr>
              <a:t>R</a:t>
            </a:r>
            <a:r>
              <a:rPr sz="1200" i="1" baseline="27777" dirty="0">
                <a:latin typeface="Arial"/>
                <a:cs typeface="Arial"/>
              </a:rPr>
              <a:t>D</a:t>
            </a:r>
            <a:r>
              <a:rPr sz="1200" i="1" spc="-172" baseline="27777" dirty="0">
                <a:latin typeface="Arial"/>
                <a:cs typeface="Arial"/>
              </a:rPr>
              <a:t> </a:t>
            </a:r>
            <a:r>
              <a:rPr sz="1100" spc="-35" dirty="0">
                <a:latin typeface="Tahoma"/>
                <a:cs typeface="Tahoma"/>
              </a:rPr>
              <a:t>and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used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i="1" spc="-50" dirty="0">
                <a:latin typeface="Arial"/>
                <a:cs typeface="Arial"/>
              </a:rPr>
              <a:t>B</a:t>
            </a:r>
            <a:endParaRPr sz="1100">
              <a:latin typeface="Arial"/>
              <a:cs typeface="Arial"/>
            </a:endParaRPr>
          </a:p>
          <a:p>
            <a:pPr marL="214629">
              <a:lnSpc>
                <a:spcPct val="100000"/>
              </a:lnSpc>
              <a:spcBef>
                <a:spcPts val="35"/>
              </a:spcBef>
            </a:pPr>
            <a:r>
              <a:rPr sz="1100" dirty="0">
                <a:latin typeface="Tahoma"/>
                <a:cs typeface="Tahoma"/>
              </a:rPr>
              <a:t>to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find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lower-</a:t>
            </a:r>
            <a:r>
              <a:rPr sz="1100" spc="-45" dirty="0">
                <a:latin typeface="Tahoma"/>
                <a:cs typeface="Tahoma"/>
              </a:rPr>
              <a:t>dimensional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representation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z</a:t>
            </a:r>
            <a:r>
              <a:rPr sz="1100" i="1" spc="55" dirty="0">
                <a:latin typeface="Arial"/>
                <a:cs typeface="Arial"/>
              </a:rPr>
              <a:t> </a:t>
            </a:r>
            <a:r>
              <a:rPr sz="1100" spc="-155" dirty="0">
                <a:latin typeface="Lucida Sans Unicode"/>
                <a:cs typeface="Lucida Sans Unicode"/>
              </a:rPr>
              <a:t>∈</a:t>
            </a:r>
            <a:r>
              <a:rPr sz="1100" spc="-45" dirty="0">
                <a:latin typeface="Lucida Sans Unicode"/>
                <a:cs typeface="Lucida Sans Unicode"/>
              </a:rPr>
              <a:t> </a:t>
            </a:r>
            <a:r>
              <a:rPr sz="1100" spc="-25" dirty="0">
                <a:latin typeface="Arial MT"/>
                <a:cs typeface="Arial MT"/>
              </a:rPr>
              <a:t>R</a:t>
            </a:r>
            <a:r>
              <a:rPr sz="1200" i="1" spc="-37" baseline="27777" dirty="0">
                <a:latin typeface="Arial"/>
                <a:cs typeface="Arial"/>
              </a:rPr>
              <a:t>M</a:t>
            </a:r>
            <a:endParaRPr sz="1200" baseline="27777">
              <a:latin typeface="Arial"/>
              <a:cs typeface="Arial"/>
            </a:endParaRPr>
          </a:p>
          <a:p>
            <a:pPr marL="214629" marR="304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 startAt="3"/>
              <a:tabLst>
                <a:tab pos="214629" algn="l"/>
              </a:tabLst>
            </a:pPr>
            <a:r>
              <a:rPr sz="1100" dirty="0">
                <a:latin typeface="Tahoma"/>
                <a:cs typeface="Tahoma"/>
              </a:rPr>
              <a:t>The</a:t>
            </a:r>
            <a:r>
              <a:rPr sz="1100" spc="-40" dirty="0">
                <a:latin typeface="Tahoma"/>
                <a:cs typeface="Tahoma"/>
              </a:rPr>
              <a:t> columns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B</a:t>
            </a:r>
            <a:r>
              <a:rPr sz="1100" i="1" spc="80" dirty="0">
                <a:latin typeface="Arial"/>
                <a:cs typeface="Arial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eigenvectors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3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data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covariance </a:t>
            </a:r>
            <a:r>
              <a:rPr sz="1100" spc="-10" dirty="0">
                <a:latin typeface="Tahoma"/>
                <a:cs typeface="Tahoma"/>
              </a:rPr>
              <a:t>matrix</a:t>
            </a:r>
            <a:r>
              <a:rPr sz="1100" spc="-80" dirty="0">
                <a:latin typeface="Tahoma"/>
                <a:cs typeface="Tahoma"/>
              </a:rPr>
              <a:t> </a:t>
            </a:r>
            <a:r>
              <a:rPr sz="1100" i="1" dirty="0">
                <a:latin typeface="Arial"/>
                <a:cs typeface="Arial"/>
              </a:rPr>
              <a:t>S</a:t>
            </a:r>
            <a:r>
              <a:rPr sz="1100" i="1" spc="7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that</a:t>
            </a:r>
            <a:r>
              <a:rPr sz="1100" spc="-55" dirty="0">
                <a:latin typeface="Tahoma"/>
                <a:cs typeface="Tahoma"/>
              </a:rPr>
              <a:t> </a:t>
            </a:r>
            <a:r>
              <a:rPr sz="1100" spc="-60" dirty="0">
                <a:latin typeface="Tahoma"/>
                <a:cs typeface="Tahoma"/>
              </a:rPr>
              <a:t>are</a:t>
            </a:r>
            <a:r>
              <a:rPr sz="1100" spc="-25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associated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with</a:t>
            </a:r>
            <a:r>
              <a:rPr sz="1100" spc="-45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the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largest</a:t>
            </a:r>
            <a:r>
              <a:rPr sz="1100" spc="-50" dirty="0">
                <a:latin typeface="Tahoma"/>
                <a:cs typeface="Tahoma"/>
              </a:rPr>
              <a:t> </a:t>
            </a:r>
            <a:r>
              <a:rPr sz="1100" spc="-10" dirty="0">
                <a:latin typeface="Tahoma"/>
                <a:cs typeface="Tahoma"/>
              </a:rPr>
              <a:t>eigenvalues.</a:t>
            </a:r>
            <a:endParaRPr sz="1100">
              <a:latin typeface="Tahoma"/>
              <a:cs typeface="Tahoma"/>
            </a:endParaRPr>
          </a:p>
          <a:p>
            <a:pPr marL="214629" marR="43180" indent="-177165">
              <a:lnSpc>
                <a:spcPct val="102600"/>
              </a:lnSpc>
              <a:spcBef>
                <a:spcPts val="300"/>
              </a:spcBef>
              <a:buClr>
                <a:srgbClr val="3333B2"/>
              </a:buClr>
              <a:buAutoNum type="arabicPeriod" startAt="3"/>
              <a:tabLst>
                <a:tab pos="214629" algn="l"/>
              </a:tabLst>
            </a:pPr>
            <a:r>
              <a:rPr sz="1100" spc="-20" dirty="0">
                <a:latin typeface="Tahoma"/>
                <a:cs typeface="Tahoma"/>
              </a:rPr>
              <a:t>Once</a:t>
            </a:r>
            <a:r>
              <a:rPr sz="1100" spc="-30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have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55" dirty="0">
                <a:latin typeface="Tahoma"/>
                <a:cs typeface="Tahoma"/>
              </a:rPr>
              <a:t>low-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50" dirty="0">
                <a:latin typeface="Tahoma"/>
                <a:cs typeface="Tahoma"/>
              </a:rPr>
              <a:t>representation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i="1" spc="-85" dirty="0">
                <a:latin typeface="Arial"/>
                <a:cs typeface="Arial"/>
              </a:rPr>
              <a:t>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dirty="0">
                <a:latin typeface="Tahoma"/>
                <a:cs typeface="Tahoma"/>
              </a:rPr>
              <a:t>,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90" dirty="0">
                <a:latin typeface="Tahoma"/>
                <a:cs typeface="Tahoma"/>
              </a:rPr>
              <a:t>we</a:t>
            </a:r>
            <a:r>
              <a:rPr sz="1100" spc="5" dirty="0">
                <a:latin typeface="Tahoma"/>
                <a:cs typeface="Tahoma"/>
              </a:rPr>
              <a:t> </a:t>
            </a:r>
            <a:r>
              <a:rPr sz="1100" spc="-20" dirty="0">
                <a:latin typeface="Tahoma"/>
                <a:cs typeface="Tahoma"/>
              </a:rPr>
              <a:t>can</a:t>
            </a:r>
            <a:r>
              <a:rPr sz="1100" spc="-5" dirty="0">
                <a:latin typeface="Tahoma"/>
                <a:cs typeface="Tahoma"/>
              </a:rPr>
              <a:t> </a:t>
            </a:r>
            <a:r>
              <a:rPr sz="1100" spc="-25" dirty="0">
                <a:latin typeface="Tahoma"/>
                <a:cs typeface="Tahoma"/>
              </a:rPr>
              <a:t>get </a:t>
            </a:r>
            <a:r>
              <a:rPr sz="1100" dirty="0">
                <a:latin typeface="Tahoma"/>
                <a:cs typeface="Tahoma"/>
              </a:rPr>
              <a:t>a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spc="-45" dirty="0">
                <a:latin typeface="Tahoma"/>
                <a:cs typeface="Tahoma"/>
              </a:rPr>
              <a:t>high-</a:t>
            </a:r>
            <a:r>
              <a:rPr sz="1100" spc="-40" dirty="0">
                <a:latin typeface="Tahoma"/>
                <a:cs typeface="Tahoma"/>
              </a:rPr>
              <a:t>dimensional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spc="-40" dirty="0">
                <a:latin typeface="Tahoma"/>
                <a:cs typeface="Tahoma"/>
              </a:rPr>
              <a:t>version</a:t>
            </a:r>
            <a:r>
              <a:rPr sz="1100" spc="-10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of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dirty="0">
                <a:latin typeface="Tahoma"/>
                <a:cs typeface="Tahoma"/>
              </a:rPr>
              <a:t>it</a:t>
            </a:r>
            <a:r>
              <a:rPr sz="1100" spc="-15" dirty="0">
                <a:latin typeface="Tahoma"/>
                <a:cs typeface="Tahoma"/>
              </a:rPr>
              <a:t> </a:t>
            </a:r>
            <a:r>
              <a:rPr sz="1100" spc="-35" dirty="0">
                <a:latin typeface="Tahoma"/>
                <a:cs typeface="Tahoma"/>
              </a:rPr>
              <a:t>as</a:t>
            </a:r>
            <a:r>
              <a:rPr sz="1100" spc="-20" dirty="0">
                <a:latin typeface="Tahoma"/>
                <a:cs typeface="Tahoma"/>
              </a:rPr>
              <a:t> </a:t>
            </a:r>
            <a:r>
              <a:rPr sz="1100" i="1" spc="-55" dirty="0">
                <a:latin typeface="Arial"/>
                <a:cs typeface="Arial"/>
              </a:rPr>
              <a:t>Bz</a:t>
            </a:r>
            <a:r>
              <a:rPr sz="1100" i="1" spc="-210" dirty="0">
                <a:latin typeface="Arial"/>
                <a:cs typeface="Arial"/>
              </a:rPr>
              <a:t> </a:t>
            </a:r>
            <a:r>
              <a:rPr sz="1100" spc="-50" dirty="0">
                <a:latin typeface="Tahoma"/>
                <a:cs typeface="Tahoma"/>
              </a:rPr>
              <a:t>.</a:t>
            </a:r>
            <a:endParaRPr sz="1100">
              <a:latin typeface="Tahoma"/>
              <a:cs typeface="Tahoma"/>
            </a:endParaRP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A75E3588147654284604D4E812B6D70" ma:contentTypeVersion="32" ma:contentTypeDescription="Create a new document." ma:contentTypeScope="" ma:versionID="62c7be92337541b430aa89ae92170225">
  <xsd:schema xmlns:xsd="http://www.w3.org/2001/XMLSchema" xmlns:xs="http://www.w3.org/2001/XMLSchema" xmlns:p="http://schemas.microsoft.com/office/2006/metadata/properties" xmlns:ns2="0a2451e9-b2b7-43a3-aada-52e3e0c35c47" xmlns:ns3="7007aa70-762f-4b31-aded-bfa7aca65826" targetNamespace="http://schemas.microsoft.com/office/2006/metadata/properties" ma:root="true" ma:fieldsID="6bf9aa7f290f016ad30c1f432a629028" ns2:_="" ns3:_="">
    <xsd:import namespace="0a2451e9-b2b7-43a3-aada-52e3e0c35c47"/>
    <xsd:import namespace="7007aa70-762f-4b31-aded-bfa7aca65826"/>
    <xsd:element name="properties">
      <xsd:complexType>
        <xsd:sequence>
          <xsd:element name="documentManagement">
            <xsd:complexType>
              <xsd:all>
                <xsd:element ref="ns2:NotebookType" minOccurs="0"/>
                <xsd:element ref="ns2:FolderType" minOccurs="0"/>
                <xsd:element ref="ns2:CultureName" minOccurs="0"/>
                <xsd:element ref="ns2:AppVersion" minOccurs="0"/>
                <xsd:element ref="ns2:TeamsChannelId" minOccurs="0"/>
                <xsd:element ref="ns2:Owner" minOccurs="0"/>
                <xsd:element ref="ns2:Math_Settings" minOccurs="0"/>
                <xsd:element ref="ns2:DefaultSectionNames" minOccurs="0"/>
                <xsd:element ref="ns2:Templates" minOccurs="0"/>
                <xsd:element ref="ns2:Teachers" minOccurs="0"/>
                <xsd:element ref="ns2:Students" minOccurs="0"/>
                <xsd:element ref="ns2:Student_Groups" minOccurs="0"/>
                <xsd:element ref="ns2:Distribution_Groups" minOccurs="0"/>
                <xsd:element ref="ns2:LMS_Mappings" minOccurs="0"/>
                <xsd:element ref="ns2:Invited_Teachers" minOccurs="0"/>
                <xsd:element ref="ns2:Invited_Students" minOccurs="0"/>
                <xsd:element ref="ns2:Self_Registration_Enabled" minOccurs="0"/>
                <xsd:element ref="ns2:Has_Teacher_Only_SectionGroup" minOccurs="0"/>
                <xsd:element ref="ns2:Is_Collaboration_Space_Locked" minOccurs="0"/>
                <xsd:element ref="ns2:IsNotebookLocked" minOccurs="0"/>
                <xsd:element ref="ns2:Teams_Channel_Section_Locat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a2451e9-b2b7-43a3-aada-52e3e0c35c47" elementFormDefault="qualified">
    <xsd:import namespace="http://schemas.microsoft.com/office/2006/documentManagement/types"/>
    <xsd:import namespace="http://schemas.microsoft.com/office/infopath/2007/PartnerControls"/>
    <xsd:element name="NotebookType" ma:index="8" nillable="true" ma:displayName="Notebook Type" ma:internalName="NotebookType">
      <xsd:simpleType>
        <xsd:restriction base="dms:Text"/>
      </xsd:simpleType>
    </xsd:element>
    <xsd:element name="FolderType" ma:index="9" nillable="true" ma:displayName="Folder Type" ma:internalName="FolderType">
      <xsd:simpleType>
        <xsd:restriction base="dms:Text"/>
      </xsd:simpleType>
    </xsd:element>
    <xsd:element name="CultureName" ma:index="10" nillable="true" ma:displayName="Culture Name" ma:internalName="CultureName">
      <xsd:simpleType>
        <xsd:restriction base="dms:Text"/>
      </xsd:simpleType>
    </xsd:element>
    <xsd:element name="AppVersion" ma:index="11" nillable="true" ma:displayName="App Version" ma:internalName="AppVersion">
      <xsd:simpleType>
        <xsd:restriction base="dms:Text"/>
      </xsd:simpleType>
    </xsd:element>
    <xsd:element name="TeamsChannelId" ma:index="12" nillable="true" ma:displayName="Teams Channel Id" ma:internalName="TeamsChannelId">
      <xsd:simpleType>
        <xsd:restriction base="dms:Text"/>
      </xsd:simpleType>
    </xsd:element>
    <xsd:element name="Owner" ma:index="13" nillable="true" ma:displayName="Owner" ma:internalName="Owner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Math_Settings" ma:index="14" nillable="true" ma:displayName="Math Settings" ma:internalName="Math_Settings">
      <xsd:simpleType>
        <xsd:restriction base="dms:Text"/>
      </xsd:simpleType>
    </xsd:element>
    <xsd:element name="DefaultSectionNames" ma:index="15" nillable="true" ma:displayName="Default Section Names" ma:internalName="DefaultSectionNames">
      <xsd:simpleType>
        <xsd:restriction base="dms:Note">
          <xsd:maxLength value="255"/>
        </xsd:restriction>
      </xsd:simpleType>
    </xsd:element>
    <xsd:element name="Templates" ma:index="16" nillable="true" ma:displayName="Templates" ma:internalName="Templates">
      <xsd:simpleType>
        <xsd:restriction base="dms:Note">
          <xsd:maxLength value="255"/>
        </xsd:restriction>
      </xsd:simpleType>
    </xsd:element>
    <xsd:element name="Teachers" ma:index="17" nillable="true" ma:displayName="Teachers" ma:internalName="Teacher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s" ma:index="18" nillable="true" ma:displayName="Students" ma:internalName="Student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tudent_Groups" ma:index="19" nillable="true" ma:displayName="Student Groups" ma:internalName="Student_Groups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Distribution_Groups" ma:index="20" nillable="true" ma:displayName="Distribution Groups" ma:internalName="Distribution_Groups">
      <xsd:simpleType>
        <xsd:restriction base="dms:Note">
          <xsd:maxLength value="255"/>
        </xsd:restriction>
      </xsd:simpleType>
    </xsd:element>
    <xsd:element name="LMS_Mappings" ma:index="21" nillable="true" ma:displayName="LMS Mappings" ma:internalName="LMS_Mappings">
      <xsd:simpleType>
        <xsd:restriction base="dms:Note">
          <xsd:maxLength value="255"/>
        </xsd:restriction>
      </xsd:simpleType>
    </xsd:element>
    <xsd:element name="Invited_Teachers" ma:index="22" nillable="true" ma:displayName="Invited Teachers" ma:internalName="Invited_Teachers">
      <xsd:simpleType>
        <xsd:restriction base="dms:Note">
          <xsd:maxLength value="255"/>
        </xsd:restriction>
      </xsd:simpleType>
    </xsd:element>
    <xsd:element name="Invited_Students" ma:index="23" nillable="true" ma:displayName="Invited Students" ma:internalName="Invited_Students">
      <xsd:simpleType>
        <xsd:restriction base="dms:Note">
          <xsd:maxLength value="255"/>
        </xsd:restriction>
      </xsd:simpleType>
    </xsd:element>
    <xsd:element name="Self_Registration_Enabled" ma:index="24" nillable="true" ma:displayName="Self Registration Enabled" ma:internalName="Self_Registration_Enabled">
      <xsd:simpleType>
        <xsd:restriction base="dms:Boolean"/>
      </xsd:simpleType>
    </xsd:element>
    <xsd:element name="Has_Teacher_Only_SectionGroup" ma:index="25" nillable="true" ma:displayName="Has Teacher Only SectionGroup" ma:internalName="Has_Teacher_Only_SectionGroup">
      <xsd:simpleType>
        <xsd:restriction base="dms:Boolean"/>
      </xsd:simpleType>
    </xsd:element>
    <xsd:element name="Is_Collaboration_Space_Locked" ma:index="26" nillable="true" ma:displayName="Is Collaboration Space Locked" ma:internalName="Is_Collaboration_Space_Locked">
      <xsd:simpleType>
        <xsd:restriction base="dms:Boolean"/>
      </xsd:simpleType>
    </xsd:element>
    <xsd:element name="IsNotebookLocked" ma:index="27" nillable="true" ma:displayName="Is Notebook Locked" ma:internalName="IsNotebookLocked">
      <xsd:simpleType>
        <xsd:restriction base="dms:Boolean"/>
      </xsd:simpleType>
    </xsd:element>
    <xsd:element name="Teams_Channel_Section_Location" ma:index="28" nillable="true" ma:displayName="Teams Channel Section Location" ma:internalName="Teams_Channel_Section_Location">
      <xsd:simpleType>
        <xsd:restriction base="dms:Text"/>
      </xsd:simpleType>
    </xsd:element>
    <xsd:element name="MediaServiceMetadata" ma:index="2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3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3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3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34" nillable="true" ma:taxonomy="true" ma:internalName="lcf76f155ced4ddcb4097134ff3c332f" ma:taxonomyFieldName="MediaServiceImageTags" ma:displayName="Image Tags" ma:readOnly="false" ma:fieldId="{5cf76f15-5ced-4ddc-b409-7134ff3c332f}" ma:taxonomyMulti="true" ma:sspId="eb8cb680-6a83-4177-80f4-b15e2230c4d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3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3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3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3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007aa70-762f-4b31-aded-bfa7aca65826" elementFormDefault="qualified">
    <xsd:import namespace="http://schemas.microsoft.com/office/2006/documentManagement/types"/>
    <xsd:import namespace="http://schemas.microsoft.com/office/infopath/2007/PartnerControls"/>
    <xsd:element name="TaxCatchAll" ma:index="35" nillable="true" ma:displayName="Taxonomy Catch All Column" ma:hidden="true" ma:list="{61294dec-a7db-4640-b18d-273187c9ed97}" ma:internalName="TaxCatchAll" ma:showField="CatchAllData" ma:web="7007aa70-762f-4b31-aded-bfa7aca65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AppVersion xmlns="0a2451e9-b2b7-43a3-aada-52e3e0c35c47" xsi:nil="true"/>
    <Invited_Teachers xmlns="0a2451e9-b2b7-43a3-aada-52e3e0c35c47" xsi:nil="true"/>
    <FolderType xmlns="0a2451e9-b2b7-43a3-aada-52e3e0c35c47" xsi:nil="true"/>
    <Teachers xmlns="0a2451e9-b2b7-43a3-aada-52e3e0c35c47">
      <UserInfo>
        <DisplayName/>
        <AccountId xsi:nil="true"/>
        <AccountType/>
      </UserInfo>
    </Teachers>
    <Student_Groups xmlns="0a2451e9-b2b7-43a3-aada-52e3e0c35c47">
      <UserInfo>
        <DisplayName/>
        <AccountId xsi:nil="true"/>
        <AccountType/>
      </UserInfo>
    </Student_Groups>
    <Teams_Channel_Section_Location xmlns="0a2451e9-b2b7-43a3-aada-52e3e0c35c47" xsi:nil="true"/>
    <NotebookType xmlns="0a2451e9-b2b7-43a3-aada-52e3e0c35c47" xsi:nil="true"/>
    <Students xmlns="0a2451e9-b2b7-43a3-aada-52e3e0c35c47">
      <UserInfo>
        <DisplayName/>
        <AccountId xsi:nil="true"/>
        <AccountType/>
      </UserInfo>
    </Students>
    <Math_Settings xmlns="0a2451e9-b2b7-43a3-aada-52e3e0c35c47" xsi:nil="true"/>
    <DefaultSectionNames xmlns="0a2451e9-b2b7-43a3-aada-52e3e0c35c47" xsi:nil="true"/>
    <TeamsChannelId xmlns="0a2451e9-b2b7-43a3-aada-52e3e0c35c47" xsi:nil="true"/>
    <Invited_Students xmlns="0a2451e9-b2b7-43a3-aada-52e3e0c35c47" xsi:nil="true"/>
    <IsNotebookLocked xmlns="0a2451e9-b2b7-43a3-aada-52e3e0c35c47" xsi:nil="true"/>
    <Owner xmlns="0a2451e9-b2b7-43a3-aada-52e3e0c35c47">
      <UserInfo>
        <DisplayName/>
        <AccountId xsi:nil="true"/>
        <AccountType/>
      </UserInfo>
    </Owner>
    <Has_Teacher_Only_SectionGroup xmlns="0a2451e9-b2b7-43a3-aada-52e3e0c35c47" xsi:nil="true"/>
    <Is_Collaboration_Space_Locked xmlns="0a2451e9-b2b7-43a3-aada-52e3e0c35c47" xsi:nil="true"/>
    <Templates xmlns="0a2451e9-b2b7-43a3-aada-52e3e0c35c47" xsi:nil="true"/>
    <LMS_Mappings xmlns="0a2451e9-b2b7-43a3-aada-52e3e0c35c47" xsi:nil="true"/>
    <CultureName xmlns="0a2451e9-b2b7-43a3-aada-52e3e0c35c47" xsi:nil="true"/>
    <Distribution_Groups xmlns="0a2451e9-b2b7-43a3-aada-52e3e0c35c47" xsi:nil="true"/>
    <Self_Registration_Enabled xmlns="0a2451e9-b2b7-43a3-aada-52e3e0c35c47" xsi:nil="true"/>
    <lcf76f155ced4ddcb4097134ff3c332f xmlns="0a2451e9-b2b7-43a3-aada-52e3e0c35c47">
      <Terms xmlns="http://schemas.microsoft.com/office/infopath/2007/PartnerControls"/>
    </lcf76f155ced4ddcb4097134ff3c332f>
    <TaxCatchAll xmlns="7007aa70-762f-4b31-aded-bfa7aca65826" xsi:nil="true"/>
  </documentManagement>
</p:properties>
</file>

<file path=customXml/itemProps1.xml><?xml version="1.0" encoding="utf-8"?>
<ds:datastoreItem xmlns:ds="http://schemas.openxmlformats.org/officeDocument/2006/customXml" ds:itemID="{91B0E0E0-10A9-40E9-A5C2-B0E000D72682}"/>
</file>

<file path=customXml/itemProps2.xml><?xml version="1.0" encoding="utf-8"?>
<ds:datastoreItem xmlns:ds="http://schemas.openxmlformats.org/officeDocument/2006/customXml" ds:itemID="{F5E0D2FC-070B-4412-AE86-2DA15C6E8A79}"/>
</file>

<file path=customXml/itemProps3.xml><?xml version="1.0" encoding="utf-8"?>
<ds:datastoreItem xmlns:ds="http://schemas.openxmlformats.org/officeDocument/2006/customXml" ds:itemID="{F105904D-6F9F-4E09-B6CF-1484AE382536}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156</TotalTime>
  <Words>1739</Words>
  <Application>Microsoft Office PowerPoint</Application>
  <PresentationFormat>Custom</PresentationFormat>
  <Paragraphs>290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8" baseType="lpstr">
      <vt:lpstr>Arial</vt:lpstr>
      <vt:lpstr>Arial MT</vt:lpstr>
      <vt:lpstr>Calibri</vt:lpstr>
      <vt:lpstr>Cambria</vt:lpstr>
      <vt:lpstr>Cambria Math</vt:lpstr>
      <vt:lpstr>Lucida Sans Unicode</vt:lpstr>
      <vt:lpstr>Tahoma</vt:lpstr>
      <vt:lpstr>Times New Roman</vt:lpstr>
      <vt:lpstr>Verdana</vt:lpstr>
      <vt:lpstr>Office Theme</vt:lpstr>
      <vt:lpstr>PowerPoint Presentation</vt:lpstr>
      <vt:lpstr>Introduction</vt:lpstr>
      <vt:lpstr>Revision of PCA problem</vt:lpstr>
      <vt:lpstr>Recall : Example</vt:lpstr>
      <vt:lpstr>PowerPoint Presentation</vt:lpstr>
      <vt:lpstr>Eigenvector Computation and Low Rank Approximation</vt:lpstr>
      <vt:lpstr>Eigenvector Computation and Low Rank Approximation</vt:lpstr>
      <vt:lpstr>Example of PCA Revisited</vt:lpstr>
      <vt:lpstr>Eigenvector Computation and Low Rank Approximation</vt:lpstr>
      <vt:lpstr>Best Rank-M approximation</vt:lpstr>
      <vt:lpstr>Best Rank-M approximation</vt:lpstr>
      <vt:lpstr>Practical Aspects of PCA</vt:lpstr>
      <vt:lpstr>Practical Aspects of PCA</vt:lpstr>
      <vt:lpstr>Practical Aspects of PCA</vt:lpstr>
      <vt:lpstr>Practical Aspects of PCA</vt:lpstr>
      <vt:lpstr>PCA in High Dimension</vt:lpstr>
      <vt:lpstr>PCA in High Dimension</vt:lpstr>
      <vt:lpstr>PCA in High Dimension</vt:lpstr>
      <vt:lpstr>PCA in High Dimension</vt:lpstr>
      <vt:lpstr>Key Steps of PCA in Practice</vt:lpstr>
      <vt:lpstr>Key Steps of PCA in Practice</vt:lpstr>
      <vt:lpstr>Key Steps of PCA in Practice</vt:lpstr>
      <vt:lpstr>Key Steps of PCA in Practice</vt:lpstr>
      <vt:lpstr>Key Steps of PCA in Practice</vt:lpstr>
      <vt:lpstr>Key Steps of PCA in Practice</vt:lpstr>
      <vt:lpstr>PowerPoint Presentation</vt:lpstr>
      <vt:lpstr>PowerPoint Presentation</vt:lpstr>
      <vt:lpstr>Summary of PCA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whiteLecture 13</dc:title>
  <dc:creator>white MFDS Team</dc:creator>
  <cp:lastModifiedBy>Michael Alphonse</cp:lastModifiedBy>
  <cp:revision>3</cp:revision>
  <dcterms:created xsi:type="dcterms:W3CDTF">2025-08-06T06:16:28Z</dcterms:created>
  <dcterms:modified xsi:type="dcterms:W3CDTF">2025-08-06T08:53:04Z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2024-03-03T00:00:00Z</vt:filetime>
  </property>
  <property fmtid="{D5CDD505-2E9C-101B-9397-08002B2CF9AE}" pid="3" name="Creator">
    <vt:lpwstr>LaTeX with Beamer class</vt:lpwstr>
  </property>
  <property fmtid="{D5CDD505-2E9C-101B-9397-08002B2CF9AE}" pid="4" name="LastSaved">
    <vt:filetime>2025-08-06T00:00:00Z</vt:filetime>
  </property>
  <property fmtid="{D5CDD505-2E9C-101B-9397-08002B2CF9AE}" pid="5" name="PTEX.Fullbanner">
    <vt:lpwstr>This is MiKTeX-pdfTeX 4.12.0 (1.40.24)</vt:lpwstr>
  </property>
  <property fmtid="{D5CDD505-2E9C-101B-9397-08002B2CF9AE}" pid="6" name="Producer">
    <vt:lpwstr>MiKTeX pdfTeX-1.40.24</vt:lpwstr>
  </property>
  <property fmtid="{D5CDD505-2E9C-101B-9397-08002B2CF9AE}" pid="7" name="ContentTypeId">
    <vt:lpwstr>0x0101000A75E3588147654284604D4E812B6D70</vt:lpwstr>
  </property>
</Properties>
</file>