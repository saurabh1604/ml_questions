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55"/>
  </p:notesMasterIdLst>
  <p:sldIdLst>
    <p:sldId id="256" r:id="rId3"/>
    <p:sldId id="257" r:id="rId4"/>
    <p:sldId id="258" r:id="rId5"/>
    <p:sldId id="259" r:id="rId6"/>
    <p:sldId id="260" r:id="rId7"/>
    <p:sldId id="261" r:id="rId8"/>
    <p:sldId id="262" r:id="rId9"/>
    <p:sldId id="374" r:id="rId10"/>
    <p:sldId id="297" r:id="rId11"/>
    <p:sldId id="375" r:id="rId12"/>
    <p:sldId id="298" r:id="rId13"/>
    <p:sldId id="376" r:id="rId14"/>
    <p:sldId id="377" r:id="rId15"/>
    <p:sldId id="264" r:id="rId16"/>
    <p:sldId id="265" r:id="rId17"/>
    <p:sldId id="266" r:id="rId18"/>
    <p:sldId id="267" r:id="rId19"/>
    <p:sldId id="268" r:id="rId20"/>
    <p:sldId id="269" r:id="rId21"/>
    <p:sldId id="387" r:id="rId22"/>
    <p:sldId id="388" r:id="rId23"/>
    <p:sldId id="389" r:id="rId24"/>
    <p:sldId id="390" r:id="rId25"/>
    <p:sldId id="391" r:id="rId26"/>
    <p:sldId id="393" r:id="rId27"/>
    <p:sldId id="392" r:id="rId28"/>
    <p:sldId id="394" r:id="rId29"/>
    <p:sldId id="395" r:id="rId30"/>
    <p:sldId id="270" r:id="rId31"/>
    <p:sldId id="378" r:id="rId32"/>
    <p:sldId id="379" r:id="rId33"/>
    <p:sldId id="380" r:id="rId34"/>
    <p:sldId id="271" r:id="rId35"/>
    <p:sldId id="273" r:id="rId36"/>
    <p:sldId id="381" r:id="rId37"/>
    <p:sldId id="382" r:id="rId38"/>
    <p:sldId id="383" r:id="rId39"/>
    <p:sldId id="384" r:id="rId40"/>
    <p:sldId id="385" r:id="rId41"/>
    <p:sldId id="386" r:id="rId42"/>
    <p:sldId id="287" r:id="rId43"/>
    <p:sldId id="288" r:id="rId44"/>
    <p:sldId id="289" r:id="rId45"/>
    <p:sldId id="396" r:id="rId46"/>
    <p:sldId id="397" r:id="rId47"/>
    <p:sldId id="398" r:id="rId48"/>
    <p:sldId id="399" r:id="rId49"/>
    <p:sldId id="294" r:id="rId50"/>
    <p:sldId id="295" r:id="rId51"/>
    <p:sldId id="400" r:id="rId52"/>
    <p:sldId id="401" r:id="rId53"/>
    <p:sldId id="402" r:id="rId5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1" d="100"/>
          <a:sy n="151" d="100"/>
        </p:scale>
        <p:origin x="1637"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customXml" Target="../customXml/item2.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8DB7A8D8-AACD-49FF-9B34-EB941864178E}" type="datetimeFigureOut">
              <a:rPr lang="en-IN" smtClean="0"/>
              <a:t>04-09-2025</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43378DA4-20BD-4636-8C8D-0613E53A97AD}" type="slidenum">
              <a:rPr lang="en-IN" smtClean="0"/>
              <a:t>‹#›</a:t>
            </a:fld>
            <a:endParaRPr lang="en-IN"/>
          </a:p>
        </p:txBody>
      </p:sp>
    </p:spTree>
    <p:extLst>
      <p:ext uri="{BB962C8B-B14F-4D97-AF65-F5344CB8AC3E}">
        <p14:creationId xmlns:p14="http://schemas.microsoft.com/office/powerpoint/2010/main" val="3691923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218DCB-E81B-45EB-A302-6249DC07C3D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5731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rgbClr val="3333B2"/>
                </a:solidFill>
                <a:latin typeface="Tahoma"/>
                <a:cs typeface="Tahoma"/>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52018" y="14"/>
            <a:ext cx="4319985" cy="3455985"/>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4610100" cy="23071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2401" y="0"/>
            <a:ext cx="4607700" cy="2307167"/>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72879" y="2503032"/>
            <a:ext cx="2938939" cy="738293"/>
          </a:xfrm>
        </p:spPr>
        <p:txBody>
          <a:bodyPr anchor="ctr">
            <a:normAutofit/>
          </a:bodyPr>
          <a:lstStyle>
            <a:lvl1pPr algn="r">
              <a:defRPr sz="2218" spc="101" baseline="0"/>
            </a:lvl1pPr>
          </a:lstStyle>
          <a:p>
            <a:r>
              <a:rPr lang="en-US"/>
              <a:t>Click to edit Master title style</a:t>
            </a:r>
            <a:endParaRPr lang="en-US" dirty="0"/>
          </a:p>
        </p:txBody>
      </p:sp>
      <p:sp>
        <p:nvSpPr>
          <p:cNvPr id="3" name="Subtitle 2"/>
          <p:cNvSpPr>
            <a:spLocks noGrp="1"/>
          </p:cNvSpPr>
          <p:nvPr>
            <p:ph type="subTitle" idx="1"/>
          </p:nvPr>
        </p:nvSpPr>
        <p:spPr>
          <a:xfrm>
            <a:off x="3255883" y="2503032"/>
            <a:ext cx="1210151" cy="738293"/>
          </a:xfrm>
        </p:spPr>
        <p:txBody>
          <a:bodyPr lIns="91440" rIns="91440" anchor="ctr">
            <a:normAutofit/>
          </a:bodyPr>
          <a:lstStyle>
            <a:lvl1pPr marL="0" indent="0" algn="l">
              <a:lnSpc>
                <a:spcPct val="100000"/>
              </a:lnSpc>
              <a:spcBef>
                <a:spcPts val="0"/>
              </a:spcBef>
              <a:buNone/>
              <a:defRPr sz="807">
                <a:solidFill>
                  <a:schemeClr val="tx1">
                    <a:lumMod val="95000"/>
                    <a:lumOff val="5000"/>
                  </a:schemeClr>
                </a:solidFill>
              </a:defRPr>
            </a:lvl1pPr>
            <a:lvl2pPr marL="230520" indent="0" algn="ctr">
              <a:buNone/>
              <a:defRPr sz="807"/>
            </a:lvl2pPr>
            <a:lvl3pPr marL="461040" indent="0" algn="ctr">
              <a:buNone/>
              <a:defRPr sz="807"/>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r>
              <a:rPr lang="en-US"/>
              <a:t>24/7/2013</a:t>
            </a:r>
          </a:p>
        </p:txBody>
      </p:sp>
      <p:sp>
        <p:nvSpPr>
          <p:cNvPr id="5" name="Footer Placeholder 4"/>
          <p:cNvSpPr>
            <a:spLocks noGrp="1"/>
          </p:cNvSpPr>
          <p:nvPr>
            <p:ph type="ftr" sz="quarter" idx="11"/>
          </p:nvPr>
        </p:nvSpPr>
        <p:spPr/>
        <p:txBody>
          <a:bodyPr/>
          <a:lstStyle/>
          <a:p>
            <a:r>
              <a:rPr lang="en-US" dirty="0"/>
              <a:t>AAOC </a:t>
            </a:r>
            <a:r>
              <a:rPr lang="en-US"/>
              <a:t>ZC222 Optimization</a:t>
            </a:r>
            <a:endParaRPr lang="en-US" dirty="0"/>
          </a:p>
        </p:txBody>
      </p:sp>
      <p:sp>
        <p:nvSpPr>
          <p:cNvPr id="6" name="Slide Number Placeholder 5"/>
          <p:cNvSpPr>
            <a:spLocks noGrp="1"/>
          </p:cNvSpPr>
          <p:nvPr>
            <p:ph type="sldNum" sz="quarter" idx="12"/>
          </p:nvPr>
        </p:nvSpPr>
        <p:spPr/>
        <p:txBody>
          <a:bodyPr/>
          <a:lstStyle/>
          <a:p>
            <a:fld id="{BC8D7E44-7D4F-4942-A8C9-2DF6BF8399E8}" type="slidenum">
              <a:rPr lang="en-US" smtClean="0"/>
              <a:pPr/>
              <a:t>‹#›</a:t>
            </a:fld>
            <a:endParaRPr lang="en-US"/>
          </a:p>
        </p:txBody>
      </p:sp>
      <p:cxnSp>
        <p:nvCxnSpPr>
          <p:cNvPr id="8" name="Straight Connector 7"/>
          <p:cNvCxnSpPr/>
          <p:nvPr/>
        </p:nvCxnSpPr>
        <p:spPr>
          <a:xfrm flipV="1">
            <a:off x="3171275" y="2656424"/>
            <a:ext cx="0" cy="461433"/>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71422"/>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24/7/2013</a:t>
            </a:r>
          </a:p>
        </p:txBody>
      </p:sp>
      <p:sp>
        <p:nvSpPr>
          <p:cNvPr id="5" name="Footer Placeholder 4"/>
          <p:cNvSpPr>
            <a:spLocks noGrp="1"/>
          </p:cNvSpPr>
          <p:nvPr>
            <p:ph type="ftr" sz="quarter" idx="11"/>
          </p:nvPr>
        </p:nvSpPr>
        <p:spPr/>
        <p:txBody>
          <a:bodyPr/>
          <a:lstStyle/>
          <a:p>
            <a:r>
              <a:rPr lang="en-US" dirty="0"/>
              <a:t>AAOC </a:t>
            </a:r>
            <a:r>
              <a:rPr lang="en-US"/>
              <a:t>ZC222 Optimization</a:t>
            </a:r>
            <a:endParaRPr lang="en-US" dirty="0"/>
          </a:p>
        </p:txBody>
      </p:sp>
      <p:sp>
        <p:nvSpPr>
          <p:cNvPr id="6" name="Slide Number Placeholder 5"/>
          <p:cNvSpPr>
            <a:spLocks noGrp="1"/>
          </p:cNvSpPr>
          <p:nvPr>
            <p:ph type="sldNum" sz="quarter" idx="12"/>
          </p:nvPr>
        </p:nvSpPr>
        <p:spPr/>
        <p:txBody>
          <a:bodyPr/>
          <a:lstStyle/>
          <a:p>
            <a:fld id="{BC8D7E44-7D4F-4942-A8C9-2DF6BF8399E8}" type="slidenum">
              <a:rPr lang="en-US" smtClean="0"/>
              <a:pPr/>
              <a:t>‹#›</a:t>
            </a:fld>
            <a:endParaRPr lang="en-US"/>
          </a:p>
        </p:txBody>
      </p:sp>
    </p:spTree>
    <p:extLst>
      <p:ext uri="{BB962C8B-B14F-4D97-AF65-F5344CB8AC3E}">
        <p14:creationId xmlns:p14="http://schemas.microsoft.com/office/powerpoint/2010/main" val="172520638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4610100" cy="230716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2401" y="0"/>
            <a:ext cx="4607700" cy="2307167"/>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72879" y="2503032"/>
            <a:ext cx="2938939" cy="738293"/>
          </a:xfrm>
        </p:spPr>
        <p:txBody>
          <a:bodyPr anchor="ctr">
            <a:normAutofit/>
          </a:bodyPr>
          <a:lstStyle>
            <a:lvl1pPr algn="r">
              <a:defRPr sz="2218" b="0" spc="101" baseline="0"/>
            </a:lvl1pPr>
          </a:lstStyle>
          <a:p>
            <a:r>
              <a:rPr lang="en-US"/>
              <a:t>Click to edit Master title style</a:t>
            </a:r>
            <a:endParaRPr lang="en-US" dirty="0"/>
          </a:p>
        </p:txBody>
      </p:sp>
      <p:sp>
        <p:nvSpPr>
          <p:cNvPr id="3" name="Text Placeholder 2"/>
          <p:cNvSpPr>
            <a:spLocks noGrp="1"/>
          </p:cNvSpPr>
          <p:nvPr>
            <p:ph type="body" idx="1"/>
          </p:nvPr>
        </p:nvSpPr>
        <p:spPr>
          <a:xfrm>
            <a:off x="3255883" y="2503032"/>
            <a:ext cx="1210151" cy="738293"/>
          </a:xfrm>
        </p:spPr>
        <p:txBody>
          <a:bodyPr lIns="91440" rIns="91440" anchor="ctr">
            <a:normAutofit/>
          </a:bodyPr>
          <a:lstStyle>
            <a:lvl1pPr marL="0" indent="0">
              <a:lnSpc>
                <a:spcPct val="100000"/>
              </a:lnSpc>
              <a:spcBef>
                <a:spcPts val="0"/>
              </a:spcBef>
              <a:buNone/>
              <a:defRPr sz="807">
                <a:solidFill>
                  <a:schemeClr val="tx1">
                    <a:lumMod val="95000"/>
                    <a:lumOff val="5000"/>
                  </a:schemeClr>
                </a:solidFill>
              </a:defRPr>
            </a:lvl1pPr>
            <a:lvl2pPr marL="230520" indent="0">
              <a:buNone/>
              <a:defRPr sz="807">
                <a:solidFill>
                  <a:schemeClr val="tx1">
                    <a:tint val="75000"/>
                  </a:schemeClr>
                </a:solidFill>
              </a:defRPr>
            </a:lvl2pPr>
            <a:lvl3pPr marL="461040" indent="0">
              <a:buNone/>
              <a:defRPr sz="807">
                <a:solidFill>
                  <a:schemeClr val="tx1">
                    <a:tint val="75000"/>
                  </a:schemeClr>
                </a:solidFill>
              </a:defRPr>
            </a:lvl3pPr>
            <a:lvl4pPr marL="691561" indent="0">
              <a:buNone/>
              <a:defRPr sz="706">
                <a:solidFill>
                  <a:schemeClr val="tx1">
                    <a:tint val="75000"/>
                  </a:schemeClr>
                </a:solidFill>
              </a:defRPr>
            </a:lvl4pPr>
            <a:lvl5pPr marL="922081" indent="0">
              <a:buNone/>
              <a:defRPr sz="706">
                <a:solidFill>
                  <a:schemeClr val="tx1">
                    <a:tint val="75000"/>
                  </a:schemeClr>
                </a:solidFill>
              </a:defRPr>
            </a:lvl5pPr>
            <a:lvl6pPr marL="1152601" indent="0">
              <a:buNone/>
              <a:defRPr sz="706">
                <a:solidFill>
                  <a:schemeClr val="tx1">
                    <a:tint val="75000"/>
                  </a:schemeClr>
                </a:solidFill>
              </a:defRPr>
            </a:lvl6pPr>
            <a:lvl7pPr marL="1383121" indent="0">
              <a:buNone/>
              <a:defRPr sz="706">
                <a:solidFill>
                  <a:schemeClr val="tx1">
                    <a:tint val="75000"/>
                  </a:schemeClr>
                </a:solidFill>
              </a:defRPr>
            </a:lvl7pPr>
            <a:lvl8pPr marL="1613642" indent="0">
              <a:buNone/>
              <a:defRPr sz="706">
                <a:solidFill>
                  <a:schemeClr val="tx1">
                    <a:tint val="75000"/>
                  </a:schemeClr>
                </a:solidFill>
              </a:defRPr>
            </a:lvl8pPr>
            <a:lvl9pPr marL="1844162" indent="0">
              <a:buNone/>
              <a:defRPr sz="70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24/7/2013</a:t>
            </a:r>
          </a:p>
        </p:txBody>
      </p:sp>
      <p:sp>
        <p:nvSpPr>
          <p:cNvPr id="5" name="Footer Placeholder 4"/>
          <p:cNvSpPr>
            <a:spLocks noGrp="1"/>
          </p:cNvSpPr>
          <p:nvPr>
            <p:ph type="ftr" sz="quarter" idx="11"/>
          </p:nvPr>
        </p:nvSpPr>
        <p:spPr/>
        <p:txBody>
          <a:bodyPr/>
          <a:lstStyle/>
          <a:p>
            <a:r>
              <a:rPr lang="en-US" dirty="0"/>
              <a:t>AAOC </a:t>
            </a:r>
            <a:r>
              <a:rPr lang="en-US"/>
              <a:t>ZC222 Optimization</a:t>
            </a:r>
            <a:endParaRPr lang="en-US" dirty="0"/>
          </a:p>
        </p:txBody>
      </p:sp>
      <p:sp>
        <p:nvSpPr>
          <p:cNvPr id="6" name="Slide Number Placeholder 5"/>
          <p:cNvSpPr>
            <a:spLocks noGrp="1"/>
          </p:cNvSpPr>
          <p:nvPr>
            <p:ph type="sldNum" sz="quarter" idx="12"/>
          </p:nvPr>
        </p:nvSpPr>
        <p:spPr/>
        <p:txBody>
          <a:bodyPr/>
          <a:lstStyle/>
          <a:p>
            <a:fld id="{BC8D7E44-7D4F-4942-A8C9-2DF6BF8399E8}" type="slidenum">
              <a:rPr lang="en-US" smtClean="0"/>
              <a:pPr/>
              <a:t>‹#›</a:t>
            </a:fld>
            <a:endParaRPr lang="en-US"/>
          </a:p>
        </p:txBody>
      </p:sp>
      <p:cxnSp>
        <p:nvCxnSpPr>
          <p:cNvPr id="8" name="Straight Connector 7"/>
          <p:cNvCxnSpPr/>
          <p:nvPr/>
        </p:nvCxnSpPr>
        <p:spPr>
          <a:xfrm flipV="1">
            <a:off x="3171275" y="2656424"/>
            <a:ext cx="0" cy="461433"/>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1059150"/>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7249" y="295317"/>
            <a:ext cx="3675402" cy="75675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87248" y="1153583"/>
            <a:ext cx="1797939" cy="2030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64712" y="1153583"/>
            <a:ext cx="1797939" cy="2030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24/7/2013</a:t>
            </a:r>
          </a:p>
        </p:txBody>
      </p:sp>
      <p:sp>
        <p:nvSpPr>
          <p:cNvPr id="6" name="Footer Placeholder 5"/>
          <p:cNvSpPr>
            <a:spLocks noGrp="1"/>
          </p:cNvSpPr>
          <p:nvPr>
            <p:ph type="ftr" sz="quarter" idx="11"/>
          </p:nvPr>
        </p:nvSpPr>
        <p:spPr/>
        <p:txBody>
          <a:bodyPr/>
          <a:lstStyle/>
          <a:p>
            <a:r>
              <a:rPr lang="en-US" dirty="0"/>
              <a:t>AAOC </a:t>
            </a:r>
            <a:r>
              <a:rPr lang="en-US"/>
              <a:t>ZC222 Optimization</a:t>
            </a:r>
            <a:endParaRPr lang="en-US" dirty="0"/>
          </a:p>
        </p:txBody>
      </p:sp>
      <p:sp>
        <p:nvSpPr>
          <p:cNvPr id="7" name="Slide Number Placeholder 6"/>
          <p:cNvSpPr>
            <a:spLocks noGrp="1"/>
          </p:cNvSpPr>
          <p:nvPr>
            <p:ph type="sldNum" sz="quarter" idx="12"/>
          </p:nvPr>
        </p:nvSpPr>
        <p:spPr/>
        <p:txBody>
          <a:bodyPr/>
          <a:lstStyle/>
          <a:p>
            <a:fld id="{BC8D7E44-7D4F-4942-A8C9-2DF6BF8399E8}" type="slidenum">
              <a:rPr lang="en-US" smtClean="0"/>
              <a:pPr/>
              <a:t>‹#›</a:t>
            </a:fld>
            <a:endParaRPr lang="en-US"/>
          </a:p>
        </p:txBody>
      </p:sp>
    </p:spTree>
    <p:extLst>
      <p:ext uri="{BB962C8B-B14F-4D97-AF65-F5344CB8AC3E}">
        <p14:creationId xmlns:p14="http://schemas.microsoft.com/office/powerpoint/2010/main" val="248002771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387249" y="295317"/>
            <a:ext cx="3675402" cy="756751"/>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7248" y="1099909"/>
            <a:ext cx="1797939" cy="415290"/>
          </a:xfrm>
        </p:spPr>
        <p:txBody>
          <a:bodyPr lIns="137160" rIns="137160" anchor="ctr">
            <a:normAutofit/>
          </a:bodyPr>
          <a:lstStyle>
            <a:lvl1pPr marL="0" indent="0">
              <a:spcBef>
                <a:spcPts val="0"/>
              </a:spcBef>
              <a:spcAft>
                <a:spcPts val="0"/>
              </a:spcAft>
              <a:buNone/>
              <a:defRPr sz="1109" b="0" cap="none" baseline="0">
                <a:solidFill>
                  <a:schemeClr val="accent1"/>
                </a:solidFill>
                <a:latin typeface="+mn-lt"/>
              </a:defRPr>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en-US"/>
              <a:t>Click to edit Master text styles</a:t>
            </a:r>
          </a:p>
        </p:txBody>
      </p:sp>
      <p:sp>
        <p:nvSpPr>
          <p:cNvPr id="4" name="Content Placeholder 3"/>
          <p:cNvSpPr>
            <a:spLocks noGrp="1"/>
          </p:cNvSpPr>
          <p:nvPr>
            <p:ph sz="half" idx="2"/>
          </p:nvPr>
        </p:nvSpPr>
        <p:spPr>
          <a:xfrm>
            <a:off x="387248" y="1497634"/>
            <a:ext cx="1797939" cy="1686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64712" y="1099909"/>
            <a:ext cx="1797939" cy="415290"/>
          </a:xfrm>
        </p:spPr>
        <p:txBody>
          <a:bodyPr lIns="137160" rIns="137160" anchor="ctr">
            <a:normAutofit/>
          </a:bodyPr>
          <a:lstStyle>
            <a:lvl1pPr marL="0" indent="0">
              <a:spcBef>
                <a:spcPts val="0"/>
              </a:spcBef>
              <a:spcAft>
                <a:spcPts val="0"/>
              </a:spcAft>
              <a:buNone/>
              <a:defRPr lang="en-US" sz="1109" b="0" kern="1200" cap="none" baseline="0" dirty="0">
                <a:solidFill>
                  <a:schemeClr val="accent1"/>
                </a:solidFill>
                <a:latin typeface="+mn-lt"/>
                <a:ea typeface="+mn-ea"/>
                <a:cs typeface="+mn-cs"/>
              </a:defRPr>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marL="0" lvl="0" indent="0" algn="l" defTabSz="461040" rtl="0" eaLnBrk="1" latinLnBrk="0" hangingPunct="1">
              <a:lnSpc>
                <a:spcPct val="90000"/>
              </a:lnSpc>
              <a:spcBef>
                <a:spcPts val="908"/>
              </a:spcBef>
              <a:buNone/>
            </a:pPr>
            <a:r>
              <a:rPr lang="en-US"/>
              <a:t>Click to edit Master text styles</a:t>
            </a:r>
          </a:p>
        </p:txBody>
      </p:sp>
      <p:sp>
        <p:nvSpPr>
          <p:cNvPr id="6" name="Content Placeholder 5"/>
          <p:cNvSpPr>
            <a:spLocks noGrp="1"/>
          </p:cNvSpPr>
          <p:nvPr>
            <p:ph sz="quarter" idx="4"/>
          </p:nvPr>
        </p:nvSpPr>
        <p:spPr>
          <a:xfrm>
            <a:off x="2264712" y="1497634"/>
            <a:ext cx="1797939" cy="1686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24/7/2013</a:t>
            </a:r>
          </a:p>
        </p:txBody>
      </p:sp>
      <p:sp>
        <p:nvSpPr>
          <p:cNvPr id="8" name="Footer Placeholder 7"/>
          <p:cNvSpPr>
            <a:spLocks noGrp="1"/>
          </p:cNvSpPr>
          <p:nvPr>
            <p:ph type="ftr" sz="quarter" idx="11"/>
          </p:nvPr>
        </p:nvSpPr>
        <p:spPr/>
        <p:txBody>
          <a:bodyPr/>
          <a:lstStyle/>
          <a:p>
            <a:r>
              <a:rPr lang="en-US" dirty="0"/>
              <a:t>AAOC </a:t>
            </a:r>
            <a:r>
              <a:rPr lang="en-US"/>
              <a:t>ZC222 Optimization</a:t>
            </a:r>
            <a:endParaRPr lang="en-US" dirty="0"/>
          </a:p>
        </p:txBody>
      </p:sp>
      <p:sp>
        <p:nvSpPr>
          <p:cNvPr id="9" name="Slide Number Placeholder 8"/>
          <p:cNvSpPr>
            <a:spLocks noGrp="1"/>
          </p:cNvSpPr>
          <p:nvPr>
            <p:ph type="sldNum" sz="quarter" idx="12"/>
          </p:nvPr>
        </p:nvSpPr>
        <p:spPr/>
        <p:txBody>
          <a:bodyPr/>
          <a:lstStyle/>
          <a:p>
            <a:fld id="{BC8D7E44-7D4F-4942-A8C9-2DF6BF8399E8}" type="slidenum">
              <a:rPr lang="en-US" smtClean="0"/>
              <a:pPr/>
              <a:t>‹#›</a:t>
            </a:fld>
            <a:endParaRPr lang="en-US"/>
          </a:p>
        </p:txBody>
      </p:sp>
    </p:spTree>
    <p:extLst>
      <p:ext uri="{BB962C8B-B14F-4D97-AF65-F5344CB8AC3E}">
        <p14:creationId xmlns:p14="http://schemas.microsoft.com/office/powerpoint/2010/main" val="259266416"/>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24/7/2013</a:t>
            </a:r>
          </a:p>
        </p:txBody>
      </p:sp>
      <p:sp>
        <p:nvSpPr>
          <p:cNvPr id="4" name="Footer Placeholder 3"/>
          <p:cNvSpPr>
            <a:spLocks noGrp="1"/>
          </p:cNvSpPr>
          <p:nvPr>
            <p:ph type="ftr" sz="quarter" idx="11"/>
          </p:nvPr>
        </p:nvSpPr>
        <p:spPr/>
        <p:txBody>
          <a:bodyPr/>
          <a:lstStyle/>
          <a:p>
            <a:r>
              <a:rPr lang="en-US" dirty="0"/>
              <a:t>AAOC </a:t>
            </a:r>
            <a:r>
              <a:rPr lang="en-US"/>
              <a:t>ZC222 Optimization</a:t>
            </a:r>
            <a:endParaRPr lang="en-US" dirty="0"/>
          </a:p>
        </p:txBody>
      </p:sp>
      <p:sp>
        <p:nvSpPr>
          <p:cNvPr id="5" name="Slide Number Placeholder 4"/>
          <p:cNvSpPr>
            <a:spLocks noGrp="1"/>
          </p:cNvSpPr>
          <p:nvPr>
            <p:ph type="sldNum" sz="quarter" idx="12"/>
          </p:nvPr>
        </p:nvSpPr>
        <p:spPr/>
        <p:txBody>
          <a:bodyPr/>
          <a:lstStyle/>
          <a:p>
            <a:fld id="{BC8D7E44-7D4F-4942-A8C9-2DF6BF8399E8}" type="slidenum">
              <a:rPr lang="en-US" smtClean="0"/>
              <a:pPr/>
              <a:t>‹#›</a:t>
            </a:fld>
            <a:endParaRPr lang="en-US"/>
          </a:p>
        </p:txBody>
      </p:sp>
    </p:spTree>
    <p:extLst>
      <p:ext uri="{BB962C8B-B14F-4D97-AF65-F5344CB8AC3E}">
        <p14:creationId xmlns:p14="http://schemas.microsoft.com/office/powerpoint/2010/main" val="362309909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24/7/2013</a:t>
            </a:r>
          </a:p>
        </p:txBody>
      </p:sp>
      <p:sp>
        <p:nvSpPr>
          <p:cNvPr id="3" name="Footer Placeholder 2"/>
          <p:cNvSpPr>
            <a:spLocks noGrp="1"/>
          </p:cNvSpPr>
          <p:nvPr>
            <p:ph type="ftr" sz="quarter" idx="11"/>
          </p:nvPr>
        </p:nvSpPr>
        <p:spPr/>
        <p:txBody>
          <a:bodyPr/>
          <a:lstStyle/>
          <a:p>
            <a:r>
              <a:rPr lang="en-US" dirty="0"/>
              <a:t>AAOC </a:t>
            </a:r>
            <a:r>
              <a:rPr lang="en-US"/>
              <a:t>ZC222 Optimization</a:t>
            </a:r>
            <a:endParaRPr lang="en-US" dirty="0"/>
          </a:p>
        </p:txBody>
      </p:sp>
      <p:sp>
        <p:nvSpPr>
          <p:cNvPr id="4" name="Slide Number Placeholder 3"/>
          <p:cNvSpPr>
            <a:spLocks noGrp="1"/>
          </p:cNvSpPr>
          <p:nvPr>
            <p:ph type="sldNum" sz="quarter" idx="12"/>
          </p:nvPr>
        </p:nvSpPr>
        <p:spPr/>
        <p:txBody>
          <a:bodyPr/>
          <a:lstStyle/>
          <a:p>
            <a:fld id="{BC8D7E44-7D4F-4942-A8C9-2DF6BF8399E8}" type="slidenum">
              <a:rPr lang="en-US" smtClean="0"/>
              <a:pPr/>
              <a:t>‹#›</a:t>
            </a:fld>
            <a:endParaRPr lang="en-US"/>
          </a:p>
        </p:txBody>
      </p:sp>
    </p:spTree>
    <p:extLst>
      <p:ext uri="{BB962C8B-B14F-4D97-AF65-F5344CB8AC3E}">
        <p14:creationId xmlns:p14="http://schemas.microsoft.com/office/powerpoint/2010/main" val="4097319571"/>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387248" y="237938"/>
            <a:ext cx="1659636" cy="876723"/>
          </a:xfrm>
        </p:spPr>
        <p:txBody>
          <a:bodyPr>
            <a:noAutofit/>
          </a:bodyPr>
          <a:lstStyle>
            <a:lvl1pPr>
              <a:lnSpc>
                <a:spcPct val="80000"/>
              </a:lnSpc>
              <a:defRPr sz="1815"/>
            </a:lvl1pPr>
          </a:lstStyle>
          <a:p>
            <a:r>
              <a:rPr lang="en-US"/>
              <a:t>Click to edit Master title style</a:t>
            </a:r>
            <a:endParaRPr lang="en-US" dirty="0"/>
          </a:p>
        </p:txBody>
      </p:sp>
      <p:sp>
        <p:nvSpPr>
          <p:cNvPr id="3" name="Content Placeholder 2"/>
          <p:cNvSpPr>
            <a:spLocks noGrp="1"/>
          </p:cNvSpPr>
          <p:nvPr>
            <p:ph idx="1"/>
          </p:nvPr>
        </p:nvSpPr>
        <p:spPr>
          <a:xfrm>
            <a:off x="2160984" y="415290"/>
            <a:ext cx="2147154" cy="2616327"/>
          </a:xfrm>
        </p:spPr>
        <p:txBody>
          <a:bodyPr>
            <a:normAutofit/>
          </a:bodyPr>
          <a:lstStyle>
            <a:lvl1pPr>
              <a:defRPr sz="1008"/>
            </a:lvl1pPr>
            <a:lvl2pPr>
              <a:defRPr sz="807"/>
            </a:lvl2pPr>
            <a:lvl3pPr>
              <a:defRPr sz="605"/>
            </a:lvl3pPr>
            <a:lvl4pPr>
              <a:defRPr sz="605"/>
            </a:lvl4pPr>
            <a:lvl5pPr>
              <a:defRPr sz="605"/>
            </a:lvl5pPr>
            <a:lvl6pPr>
              <a:defRPr sz="605"/>
            </a:lvl6pPr>
            <a:lvl7pPr>
              <a:defRPr sz="605"/>
            </a:lvl7pPr>
            <a:lvl8pPr>
              <a:defRPr sz="605"/>
            </a:lvl8pPr>
            <a:lvl9pPr>
              <a:defRPr sz="6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7248" y="1139204"/>
            <a:ext cx="1659636" cy="1898565"/>
          </a:xfrm>
        </p:spPr>
        <p:txBody>
          <a:bodyPr lIns="91440" rIns="91440">
            <a:normAutofit/>
          </a:bodyPr>
          <a:lstStyle>
            <a:lvl1pPr marL="0" indent="0">
              <a:lnSpc>
                <a:spcPct val="108000"/>
              </a:lnSpc>
              <a:spcBef>
                <a:spcPts val="303"/>
              </a:spcBef>
              <a:buNone/>
              <a:defRPr sz="807"/>
            </a:lvl1pPr>
            <a:lvl2pPr marL="230520" indent="0">
              <a:buNone/>
              <a:defRPr sz="605"/>
            </a:lvl2pPr>
            <a:lvl3pPr marL="461040" indent="0">
              <a:buNone/>
              <a:defRPr sz="504"/>
            </a:lvl3pPr>
            <a:lvl4pPr marL="691561" indent="0">
              <a:buNone/>
              <a:defRPr sz="454"/>
            </a:lvl4pPr>
            <a:lvl5pPr marL="922081" indent="0">
              <a:buNone/>
              <a:defRPr sz="454"/>
            </a:lvl5pPr>
            <a:lvl6pPr marL="1152601" indent="0">
              <a:buNone/>
              <a:defRPr sz="454"/>
            </a:lvl6pPr>
            <a:lvl7pPr marL="1383121" indent="0">
              <a:buNone/>
              <a:defRPr sz="454"/>
            </a:lvl7pPr>
            <a:lvl8pPr marL="1613642" indent="0">
              <a:buNone/>
              <a:defRPr sz="454"/>
            </a:lvl8pPr>
            <a:lvl9pPr marL="1844162" indent="0">
              <a:buNone/>
              <a:defRPr sz="454"/>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24/7/2013</a:t>
            </a:r>
          </a:p>
        </p:txBody>
      </p:sp>
      <p:sp>
        <p:nvSpPr>
          <p:cNvPr id="6" name="Footer Placeholder 5"/>
          <p:cNvSpPr>
            <a:spLocks noGrp="1"/>
          </p:cNvSpPr>
          <p:nvPr>
            <p:ph type="ftr" sz="quarter" idx="11"/>
          </p:nvPr>
        </p:nvSpPr>
        <p:spPr/>
        <p:txBody>
          <a:bodyPr/>
          <a:lstStyle/>
          <a:p>
            <a:r>
              <a:rPr lang="en-US" dirty="0"/>
              <a:t>AAOC </a:t>
            </a:r>
            <a:r>
              <a:rPr lang="en-US"/>
              <a:t>ZC222 Optimization</a:t>
            </a:r>
            <a:endParaRPr lang="en-US" dirty="0"/>
          </a:p>
        </p:txBody>
      </p:sp>
      <p:sp>
        <p:nvSpPr>
          <p:cNvPr id="7" name="Slide Number Placeholder 6"/>
          <p:cNvSpPr>
            <a:spLocks noGrp="1"/>
          </p:cNvSpPr>
          <p:nvPr>
            <p:ph type="sldNum" sz="quarter" idx="12"/>
          </p:nvPr>
        </p:nvSpPr>
        <p:spPr/>
        <p:txBody>
          <a:bodyPr/>
          <a:lstStyle/>
          <a:p>
            <a:fld id="{BC8D7E44-7D4F-4942-A8C9-2DF6BF8399E8}" type="slidenum">
              <a:rPr lang="en-US" smtClean="0"/>
              <a:pPr/>
              <a:t>‹#›</a:t>
            </a:fld>
            <a:endParaRPr lang="en-US"/>
          </a:p>
        </p:txBody>
      </p:sp>
    </p:spTree>
    <p:extLst>
      <p:ext uri="{BB962C8B-B14F-4D97-AF65-F5344CB8AC3E}">
        <p14:creationId xmlns:p14="http://schemas.microsoft.com/office/powerpoint/2010/main" val="3108236863"/>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879" y="2503033"/>
            <a:ext cx="2938939" cy="738293"/>
          </a:xfrm>
        </p:spPr>
        <p:txBody>
          <a:bodyPr anchor="ctr">
            <a:normAutofit/>
          </a:bodyPr>
          <a:lstStyle>
            <a:lvl1pPr algn="r">
              <a:defRPr sz="2218" spc="101"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4608947" cy="2307167"/>
          </a:xfrm>
          <a:solidFill>
            <a:schemeClr val="accent1">
              <a:lumMod val="60000"/>
              <a:lumOff val="40000"/>
            </a:schemeClr>
          </a:solidFill>
        </p:spPr>
        <p:txBody>
          <a:bodyPr lIns="457200" tIns="365760" anchor="t"/>
          <a:lstStyle>
            <a:lvl1pPr marL="0" indent="0">
              <a:buNone/>
              <a:defRPr sz="1210"/>
            </a:lvl1pPr>
            <a:lvl2pPr marL="172890" indent="0">
              <a:buNone/>
              <a:defRPr sz="1059"/>
            </a:lvl2pPr>
            <a:lvl3pPr marL="345780" indent="0">
              <a:buNone/>
              <a:defRPr sz="908"/>
            </a:lvl3pPr>
            <a:lvl4pPr marL="518671" indent="0">
              <a:buNone/>
              <a:defRPr sz="756"/>
            </a:lvl4pPr>
            <a:lvl5pPr marL="691561" indent="0">
              <a:buNone/>
              <a:defRPr sz="756"/>
            </a:lvl5pPr>
            <a:lvl6pPr marL="864451" indent="0">
              <a:buNone/>
              <a:defRPr sz="756"/>
            </a:lvl6pPr>
            <a:lvl7pPr marL="1037341" indent="0">
              <a:buNone/>
              <a:defRPr sz="756"/>
            </a:lvl7pPr>
            <a:lvl8pPr marL="1210231" indent="0">
              <a:buNone/>
              <a:defRPr sz="756"/>
            </a:lvl8pPr>
            <a:lvl9pPr marL="1383121" indent="0">
              <a:buNone/>
              <a:defRPr sz="756"/>
            </a:lvl9pPr>
          </a:lstStyle>
          <a:p>
            <a:r>
              <a:rPr lang="en-US" dirty="0"/>
              <a:t>Click icon </a:t>
            </a:r>
            <a:r>
              <a:rPr lang="en-US"/>
              <a:t>to add </a:t>
            </a:r>
            <a:r>
              <a:rPr lang="en-US" dirty="0"/>
              <a:t>picture</a:t>
            </a:r>
          </a:p>
        </p:txBody>
      </p:sp>
      <p:sp>
        <p:nvSpPr>
          <p:cNvPr id="4" name="Text Placeholder 3"/>
          <p:cNvSpPr>
            <a:spLocks noGrp="1"/>
          </p:cNvSpPr>
          <p:nvPr>
            <p:ph type="body" sz="half" idx="2"/>
          </p:nvPr>
        </p:nvSpPr>
        <p:spPr>
          <a:xfrm>
            <a:off x="3255883" y="2503033"/>
            <a:ext cx="1210151" cy="738293"/>
          </a:xfrm>
        </p:spPr>
        <p:txBody>
          <a:bodyPr lIns="91440" rIns="91440" anchor="ctr">
            <a:normAutofit/>
          </a:bodyPr>
          <a:lstStyle>
            <a:lvl1pPr marL="0" indent="0">
              <a:lnSpc>
                <a:spcPct val="100000"/>
              </a:lnSpc>
              <a:spcBef>
                <a:spcPts val="0"/>
              </a:spcBef>
              <a:buNone/>
              <a:defRPr sz="807">
                <a:solidFill>
                  <a:schemeClr val="tx1">
                    <a:lumMod val="95000"/>
                    <a:lumOff val="5000"/>
                  </a:schemeClr>
                </a:solidFill>
              </a:defRPr>
            </a:lvl1pPr>
            <a:lvl2pPr marL="172890" indent="0">
              <a:buNone/>
              <a:defRPr sz="529"/>
            </a:lvl2pPr>
            <a:lvl3pPr marL="345780" indent="0">
              <a:buNone/>
              <a:defRPr sz="454"/>
            </a:lvl3pPr>
            <a:lvl4pPr marL="518671" indent="0">
              <a:buNone/>
              <a:defRPr sz="378"/>
            </a:lvl4pPr>
            <a:lvl5pPr marL="691561" indent="0">
              <a:buNone/>
              <a:defRPr sz="378"/>
            </a:lvl5pPr>
            <a:lvl6pPr marL="864451" indent="0">
              <a:buNone/>
              <a:defRPr sz="378"/>
            </a:lvl6pPr>
            <a:lvl7pPr marL="1037341" indent="0">
              <a:buNone/>
              <a:defRPr sz="378"/>
            </a:lvl7pPr>
            <a:lvl8pPr marL="1210231" indent="0">
              <a:buNone/>
              <a:defRPr sz="378"/>
            </a:lvl8pPr>
            <a:lvl9pPr marL="1383121" indent="0">
              <a:buNone/>
              <a:defRPr sz="378"/>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24/7/2013</a:t>
            </a:r>
          </a:p>
        </p:txBody>
      </p:sp>
      <p:sp>
        <p:nvSpPr>
          <p:cNvPr id="6" name="Footer Placeholder 5"/>
          <p:cNvSpPr>
            <a:spLocks noGrp="1"/>
          </p:cNvSpPr>
          <p:nvPr>
            <p:ph type="ftr" sz="quarter" idx="11"/>
          </p:nvPr>
        </p:nvSpPr>
        <p:spPr/>
        <p:txBody>
          <a:bodyPr/>
          <a:lstStyle/>
          <a:p>
            <a:r>
              <a:rPr lang="en-US" dirty="0"/>
              <a:t>AAOC </a:t>
            </a:r>
            <a:r>
              <a:rPr lang="en-US"/>
              <a:t>ZC222 Optimization</a:t>
            </a:r>
            <a:endParaRPr lang="en-US" dirty="0"/>
          </a:p>
        </p:txBody>
      </p:sp>
      <p:sp>
        <p:nvSpPr>
          <p:cNvPr id="7" name="Slide Number Placeholder 6"/>
          <p:cNvSpPr>
            <a:spLocks noGrp="1"/>
          </p:cNvSpPr>
          <p:nvPr>
            <p:ph type="sldNum" sz="quarter" idx="12"/>
          </p:nvPr>
        </p:nvSpPr>
        <p:spPr/>
        <p:txBody>
          <a:bodyPr/>
          <a:lstStyle/>
          <a:p>
            <a:fld id="{BC8D7E44-7D4F-4942-A8C9-2DF6BF8399E8}" type="slidenum">
              <a:rPr lang="en-US" smtClean="0"/>
              <a:pPr/>
              <a:t>‹#›</a:t>
            </a:fld>
            <a:endParaRPr lang="en-US"/>
          </a:p>
        </p:txBody>
      </p:sp>
      <p:cxnSp>
        <p:nvCxnSpPr>
          <p:cNvPr id="8" name="Straight Connector 7"/>
          <p:cNvCxnSpPr/>
          <p:nvPr/>
        </p:nvCxnSpPr>
        <p:spPr>
          <a:xfrm flipV="1">
            <a:off x="3171275" y="2656424"/>
            <a:ext cx="0" cy="4614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202723"/>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24/7/2013</a:t>
            </a:r>
          </a:p>
        </p:txBody>
      </p:sp>
      <p:sp>
        <p:nvSpPr>
          <p:cNvPr id="5" name="Footer Placeholder 4"/>
          <p:cNvSpPr>
            <a:spLocks noGrp="1"/>
          </p:cNvSpPr>
          <p:nvPr>
            <p:ph type="ftr" sz="quarter" idx="11"/>
          </p:nvPr>
        </p:nvSpPr>
        <p:spPr/>
        <p:txBody>
          <a:bodyPr/>
          <a:lstStyle/>
          <a:p>
            <a:r>
              <a:rPr lang="en-US" dirty="0"/>
              <a:t>AAOC </a:t>
            </a:r>
            <a:r>
              <a:rPr lang="en-US"/>
              <a:t>ZC222 Optimization</a:t>
            </a:r>
            <a:endParaRPr lang="en-US" dirty="0"/>
          </a:p>
        </p:txBody>
      </p:sp>
      <p:sp>
        <p:nvSpPr>
          <p:cNvPr id="6" name="Slide Number Placeholder 5"/>
          <p:cNvSpPr>
            <a:spLocks noGrp="1"/>
          </p:cNvSpPr>
          <p:nvPr>
            <p:ph type="sldNum" sz="quarter" idx="12"/>
          </p:nvPr>
        </p:nvSpPr>
        <p:spPr/>
        <p:txBody>
          <a:bodyPr/>
          <a:lstStyle/>
          <a:p>
            <a:fld id="{BC8D7E44-7D4F-4942-A8C9-2DF6BF8399E8}" type="slidenum">
              <a:rPr lang="en-US" smtClean="0"/>
              <a:pPr/>
              <a:t>‹#›</a:t>
            </a:fld>
            <a:endParaRPr lang="en-US"/>
          </a:p>
        </p:txBody>
      </p:sp>
    </p:spTree>
    <p:extLst>
      <p:ext uri="{BB962C8B-B14F-4D97-AF65-F5344CB8AC3E}">
        <p14:creationId xmlns:p14="http://schemas.microsoft.com/office/powerpoint/2010/main" val="1095745959"/>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99103" y="384528"/>
            <a:ext cx="994053" cy="2730147"/>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374571" y="384528"/>
            <a:ext cx="2866906" cy="273014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24/7/2013</a:t>
            </a:r>
          </a:p>
        </p:txBody>
      </p:sp>
      <p:sp>
        <p:nvSpPr>
          <p:cNvPr id="5" name="Footer Placeholder 4"/>
          <p:cNvSpPr>
            <a:spLocks noGrp="1"/>
          </p:cNvSpPr>
          <p:nvPr>
            <p:ph type="ftr" sz="quarter" idx="11"/>
          </p:nvPr>
        </p:nvSpPr>
        <p:spPr/>
        <p:txBody>
          <a:bodyPr/>
          <a:lstStyle/>
          <a:p>
            <a:r>
              <a:rPr lang="en-US" dirty="0"/>
              <a:t>AAOC </a:t>
            </a:r>
            <a:r>
              <a:rPr lang="en-US"/>
              <a:t>ZC222 Optimization</a:t>
            </a:r>
            <a:endParaRPr lang="en-US" dirty="0"/>
          </a:p>
        </p:txBody>
      </p:sp>
      <p:sp>
        <p:nvSpPr>
          <p:cNvPr id="6" name="Slide Number Placeholder 5"/>
          <p:cNvSpPr>
            <a:spLocks noGrp="1"/>
          </p:cNvSpPr>
          <p:nvPr>
            <p:ph type="sldNum" sz="quarter" idx="12"/>
          </p:nvPr>
        </p:nvSpPr>
        <p:spPr/>
        <p:txBody>
          <a:bodyPr/>
          <a:lstStyle/>
          <a:p>
            <a:fld id="{BC8D7E44-7D4F-4942-A8C9-2DF6BF8399E8}" type="slidenum">
              <a:rPr lang="en-US" smtClean="0"/>
              <a:pPr/>
              <a:t>‹#›</a:t>
            </a:fld>
            <a:endParaRPr lang="en-US"/>
          </a:p>
        </p:txBody>
      </p:sp>
      <p:cxnSp>
        <p:nvCxnSpPr>
          <p:cNvPr id="7" name="Straight Connector 6"/>
          <p:cNvCxnSpPr/>
          <p:nvPr/>
        </p:nvCxnSpPr>
        <p:spPr>
          <a:xfrm rot="5400000" flipV="1">
            <a:off x="3803333" y="87744"/>
            <a:ext cx="0" cy="34575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766551"/>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1691922"/>
            <a:ext cx="4379595" cy="13843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1459865" y="3076222"/>
            <a:ext cx="1459865" cy="38453"/>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3076222"/>
            <a:ext cx="1459865" cy="38453"/>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2919730" y="3076222"/>
            <a:ext cx="1459865" cy="38453"/>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Content Placeholder 6"/>
          <p:cNvSpPr>
            <a:spLocks noGrp="1"/>
          </p:cNvSpPr>
          <p:nvPr>
            <p:ph sz="quarter" idx="13" hasCustomPrompt="1"/>
          </p:nvPr>
        </p:nvSpPr>
        <p:spPr>
          <a:xfrm>
            <a:off x="1267777" y="2730147"/>
            <a:ext cx="3034983" cy="269169"/>
          </a:xfrm>
        </p:spPr>
        <p:txBody>
          <a:bodyPr anchor="b" anchorCtr="0">
            <a:noAutofit/>
          </a:bodyPr>
          <a:lstStyle>
            <a:lvl1pPr marL="0" indent="0" algn="r">
              <a:lnSpc>
                <a:spcPts val="908"/>
              </a:lnSpc>
              <a:spcBef>
                <a:spcPts val="0"/>
              </a:spcBef>
              <a:buNone/>
              <a:defRPr sz="908"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1267777" y="1922639"/>
            <a:ext cx="3034983" cy="769056"/>
          </a:xfrm>
        </p:spPr>
        <p:txBody>
          <a:bodyPr anchor="ctr" anchorCtr="0">
            <a:noAutofit/>
          </a:bodyPr>
          <a:lstStyle>
            <a:lvl1pPr algn="l">
              <a:lnSpc>
                <a:spcPts val="2017"/>
              </a:lnSpc>
              <a:defRPr sz="2218" baseline="0">
                <a:solidFill>
                  <a:schemeClr val="bg1"/>
                </a:solidFill>
              </a:defRPr>
            </a:lvl1pPr>
          </a:lstStyle>
          <a:p>
            <a:r>
              <a:rPr lang="en-GB" dirty="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38417" y="1691922"/>
            <a:ext cx="1037273" cy="999167"/>
          </a:xfrm>
          <a:prstGeom prst="rect">
            <a:avLst/>
          </a:prstGeom>
        </p:spPr>
      </p:pic>
      <p:sp>
        <p:nvSpPr>
          <p:cNvPr id="14" name="TextBox 13"/>
          <p:cNvSpPr txBox="1"/>
          <p:nvPr userDrawn="1"/>
        </p:nvSpPr>
        <p:spPr>
          <a:xfrm>
            <a:off x="-38418" y="2653242"/>
            <a:ext cx="1114108" cy="317331"/>
          </a:xfrm>
          <a:prstGeom prst="rect">
            <a:avLst/>
          </a:prstGeom>
          <a:noFill/>
        </p:spPr>
        <p:txBody>
          <a:bodyPr wrap="square" rtlCol="0">
            <a:spAutoFit/>
          </a:bodyPr>
          <a:lstStyle/>
          <a:p>
            <a:pPr algn="ctr"/>
            <a:r>
              <a:rPr lang="en-US" sz="1462" b="1" spc="-76">
                <a:solidFill>
                  <a:schemeClr val="bg1"/>
                </a:solidFill>
                <a:latin typeface="Arial"/>
                <a:cs typeface="Arial"/>
              </a:rPr>
              <a:t>BITS</a:t>
            </a:r>
            <a:r>
              <a:rPr lang="en-US" sz="1462" spc="-76">
                <a:solidFill>
                  <a:schemeClr val="bg1"/>
                </a:solidFill>
                <a:latin typeface="Arial"/>
                <a:cs typeface="Arial"/>
              </a:rPr>
              <a:t> Pilani</a:t>
            </a:r>
            <a:endParaRPr lang="en-US" sz="1462" spc="-76" dirty="0">
              <a:solidFill>
                <a:schemeClr val="bg1"/>
              </a:solidFill>
              <a:latin typeface="Arial"/>
              <a:cs typeface="Arial"/>
            </a:endParaRPr>
          </a:p>
        </p:txBody>
      </p:sp>
      <p:sp>
        <p:nvSpPr>
          <p:cNvPr id="16" name="TextBox 15"/>
          <p:cNvSpPr txBox="1"/>
          <p:nvPr userDrawn="1"/>
        </p:nvSpPr>
        <p:spPr>
          <a:xfrm>
            <a:off x="76835" y="2859535"/>
            <a:ext cx="960438" cy="185435"/>
          </a:xfrm>
          <a:prstGeom prst="rect">
            <a:avLst/>
          </a:prstGeom>
          <a:noFill/>
        </p:spPr>
        <p:txBody>
          <a:bodyPr wrap="square" rtlCol="0">
            <a:spAutoFit/>
          </a:bodyPr>
          <a:lstStyle/>
          <a:p>
            <a:pPr algn="l"/>
            <a:r>
              <a:rPr lang="en-US" sz="605" spc="0">
                <a:solidFill>
                  <a:srgbClr val="FFFFFF"/>
                </a:solidFill>
                <a:latin typeface="Arial"/>
                <a:cs typeface="Arial"/>
              </a:rPr>
              <a:t>Hyderabad </a:t>
            </a:r>
            <a:r>
              <a:rPr lang="en-US" sz="605" spc="0" baseline="0">
                <a:solidFill>
                  <a:srgbClr val="FFFFFF"/>
                </a:solidFill>
                <a:latin typeface="Arial"/>
                <a:cs typeface="Arial"/>
              </a:rPr>
              <a:t>Campus</a:t>
            </a:r>
            <a:endParaRPr lang="en-US" sz="605" spc="0" dirty="0">
              <a:solidFill>
                <a:srgbClr val="FFFFFF"/>
              </a:solidFill>
              <a:latin typeface="Arial"/>
              <a:cs typeface="Arial"/>
            </a:endParaRPr>
          </a:p>
        </p:txBody>
      </p:sp>
    </p:spTree>
    <p:extLst>
      <p:ext uri="{BB962C8B-B14F-4D97-AF65-F5344CB8AC3E}">
        <p14:creationId xmlns:p14="http://schemas.microsoft.com/office/powerpoint/2010/main" val="22033239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53670" y="753835"/>
            <a:ext cx="4149090" cy="2283935"/>
          </a:xfrm>
        </p:spPr>
        <p:txBody>
          <a:bodyPr/>
          <a:lstStyle>
            <a:lvl1pPr marL="172890" marR="0" indent="-172890" algn="l" defTabSz="461040" rtl="0" eaLnBrk="1" fontAlgn="auto" latinLnBrk="0" hangingPunct="1">
              <a:lnSpc>
                <a:spcPct val="100000"/>
              </a:lnSpc>
              <a:spcBef>
                <a:spcPct val="20000"/>
              </a:spcBef>
              <a:spcAft>
                <a:spcPts val="0"/>
              </a:spcAft>
              <a:buClr>
                <a:srgbClr val="101141"/>
              </a:buClr>
              <a:buSzTx/>
              <a:buFont typeface="Arial" pitchFamily="34" charset="0"/>
              <a:buNone/>
              <a:tabLst/>
              <a:defRPr sz="1210">
                <a:latin typeface="Arial" pitchFamily="34" charset="0"/>
                <a:cs typeface="Arial" pitchFamily="34" charset="0"/>
              </a:defRPr>
            </a:lvl1pPr>
            <a:lvl2pPr marL="374595" marR="0" indent="-144075" algn="l" defTabSz="461040" rtl="0" eaLnBrk="1" fontAlgn="auto" latinLnBrk="0" hangingPunct="1">
              <a:lnSpc>
                <a:spcPct val="100000"/>
              </a:lnSpc>
              <a:spcBef>
                <a:spcPct val="20000"/>
              </a:spcBef>
              <a:spcAft>
                <a:spcPts val="0"/>
              </a:spcAft>
              <a:buClrTx/>
              <a:buSzTx/>
              <a:buFont typeface="Arial" pitchFamily="34" charset="0"/>
              <a:buChar char="–"/>
              <a:tabLst/>
              <a:defRPr sz="807">
                <a:latin typeface="Arial" pitchFamily="34" charset="0"/>
                <a:cs typeface="Arial" pitchFamily="34" charset="0"/>
              </a:defRPr>
            </a:lvl2pPr>
          </a:lstStyle>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210" u="none" strike="noStrike" kern="1200" cap="none" spc="0" normalizeH="0" noProof="0" dirty="0">
              <a:ln>
                <a:noFill/>
              </a:ln>
              <a:solidFill>
                <a:srgbClr val="101141"/>
              </a:solidFill>
              <a:effectLst/>
              <a:uLnTx/>
              <a:uFillTx/>
              <a:latin typeface="Arial"/>
              <a:cs typeface="Arial"/>
            </a:endParaRPr>
          </a:p>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endParaRPr lang="en-US" dirty="0"/>
          </a:p>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endParaRPr lang="en-US" dirty="0"/>
          </a:p>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1651952" y="3328734"/>
            <a:ext cx="2958148" cy="177741"/>
          </a:xfrm>
          <a:prstGeom prst="rect">
            <a:avLst/>
          </a:prstGeom>
          <a:noFill/>
        </p:spPr>
        <p:txBody>
          <a:bodyPr wrap="square" rtlCol="0">
            <a:spAutoFit/>
          </a:bodyPr>
          <a:lstStyle/>
          <a:p>
            <a:pPr algn="r"/>
            <a:r>
              <a:rPr lang="en-US" sz="555" b="1">
                <a:solidFill>
                  <a:srgbClr val="101141"/>
                </a:solidFill>
                <a:latin typeface="Arial"/>
                <a:cs typeface="Arial"/>
              </a:rPr>
              <a:t>BITS </a:t>
            </a:r>
            <a:r>
              <a:rPr lang="en-US" sz="555">
                <a:solidFill>
                  <a:srgbClr val="101141"/>
                </a:solidFill>
                <a:latin typeface="Arial"/>
                <a:cs typeface="Arial"/>
              </a:rPr>
              <a:t>Pilani, Hyderabad Campus</a:t>
            </a:r>
            <a:endParaRPr lang="en-US" sz="555" dirty="0">
              <a:solidFill>
                <a:srgbClr val="101141"/>
              </a:solidFill>
              <a:latin typeface="Arial"/>
              <a:cs typeface="Arial"/>
            </a:endParaRPr>
          </a:p>
        </p:txBody>
      </p:sp>
      <p:grpSp>
        <p:nvGrpSpPr>
          <p:cNvPr id="12" name="Group 11"/>
          <p:cNvGrpSpPr/>
          <p:nvPr userDrawn="1"/>
        </p:nvGrpSpPr>
        <p:grpSpPr>
          <a:xfrm>
            <a:off x="1050627" y="3305663"/>
            <a:ext cx="3559473" cy="24558"/>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3342323" y="0"/>
            <a:ext cx="1105735" cy="349555"/>
          </a:xfrm>
          <a:prstGeom prst="rect">
            <a:avLst/>
          </a:prstGeom>
        </p:spPr>
      </p:pic>
      <p:grpSp>
        <p:nvGrpSpPr>
          <p:cNvPr id="19" name="Group 18"/>
          <p:cNvGrpSpPr/>
          <p:nvPr userDrawn="1"/>
        </p:nvGrpSpPr>
        <p:grpSpPr>
          <a:xfrm>
            <a:off x="1075690" y="3306939"/>
            <a:ext cx="3534410" cy="23071"/>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653698"/>
            <a:ext cx="3534410" cy="23071"/>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153670" y="76905"/>
            <a:ext cx="3188653" cy="576792"/>
          </a:xfrm>
        </p:spPr>
        <p:txBody>
          <a:bodyPr anchor="ctr" anchorCtr="0">
            <a:normAutofit/>
          </a:bodyPr>
          <a:lstStyle>
            <a:lvl1pPr marL="0">
              <a:lnSpc>
                <a:spcPts val="1815"/>
              </a:lnSpc>
              <a:spcBef>
                <a:spcPts val="0"/>
              </a:spcBef>
              <a:buNone/>
              <a:defRPr sz="1815" b="1" spc="-76" baseline="0">
                <a:latin typeface="Arial" pitchFamily="34" charset="0"/>
                <a:cs typeface="Arial" pitchFamily="34" charset="0"/>
              </a:defRPr>
            </a:lvl1pPr>
          </a:lstStyle>
          <a:p>
            <a:pPr lvl="0"/>
            <a:r>
              <a:rPr lang="en-US" dirty="0"/>
              <a:t>Slide heading here and it can run in two lines</a:t>
            </a:r>
          </a:p>
        </p:txBody>
      </p:sp>
    </p:spTree>
    <p:extLst>
      <p:ext uri="{BB962C8B-B14F-4D97-AF65-F5344CB8AC3E}">
        <p14:creationId xmlns:p14="http://schemas.microsoft.com/office/powerpoint/2010/main" val="19494168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1691922"/>
            <a:ext cx="4379595" cy="13843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1459865" y="3076222"/>
            <a:ext cx="1459865" cy="38453"/>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3076222"/>
            <a:ext cx="1459865" cy="38453"/>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2919730" y="3076222"/>
            <a:ext cx="1459865" cy="38453"/>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38417" y="1691922"/>
            <a:ext cx="1037273" cy="999167"/>
          </a:xfrm>
          <a:prstGeom prst="rect">
            <a:avLst/>
          </a:prstGeom>
        </p:spPr>
      </p:pic>
      <p:sp>
        <p:nvSpPr>
          <p:cNvPr id="30" name="TextBox 29"/>
          <p:cNvSpPr txBox="1"/>
          <p:nvPr userDrawn="1"/>
        </p:nvSpPr>
        <p:spPr>
          <a:xfrm>
            <a:off x="-38418" y="2653242"/>
            <a:ext cx="1114108" cy="317331"/>
          </a:xfrm>
          <a:prstGeom prst="rect">
            <a:avLst/>
          </a:prstGeom>
          <a:noFill/>
        </p:spPr>
        <p:txBody>
          <a:bodyPr wrap="square" rtlCol="0">
            <a:spAutoFit/>
          </a:bodyPr>
          <a:lstStyle/>
          <a:p>
            <a:pPr algn="ctr"/>
            <a:r>
              <a:rPr lang="en-US" sz="1462" b="1" spc="-76">
                <a:solidFill>
                  <a:schemeClr val="bg1"/>
                </a:solidFill>
                <a:latin typeface="Arial"/>
                <a:cs typeface="Arial"/>
              </a:rPr>
              <a:t>BITS</a:t>
            </a:r>
            <a:r>
              <a:rPr lang="en-US" sz="1462" spc="-76">
                <a:solidFill>
                  <a:schemeClr val="bg1"/>
                </a:solidFill>
                <a:latin typeface="Arial"/>
                <a:cs typeface="Arial"/>
              </a:rPr>
              <a:t> Pilani</a:t>
            </a:r>
            <a:endParaRPr lang="en-US" sz="1462" spc="-76" dirty="0">
              <a:solidFill>
                <a:schemeClr val="bg1"/>
              </a:solidFill>
              <a:latin typeface="Arial"/>
              <a:cs typeface="Arial"/>
            </a:endParaRPr>
          </a:p>
        </p:txBody>
      </p:sp>
      <p:sp>
        <p:nvSpPr>
          <p:cNvPr id="31" name="TextBox 30"/>
          <p:cNvSpPr txBox="1"/>
          <p:nvPr userDrawn="1"/>
        </p:nvSpPr>
        <p:spPr>
          <a:xfrm>
            <a:off x="76835" y="2859535"/>
            <a:ext cx="960438" cy="185435"/>
          </a:xfrm>
          <a:prstGeom prst="rect">
            <a:avLst/>
          </a:prstGeom>
          <a:noFill/>
        </p:spPr>
        <p:txBody>
          <a:bodyPr wrap="square" rtlCol="0">
            <a:spAutoFit/>
          </a:bodyPr>
          <a:lstStyle/>
          <a:p>
            <a:pPr algn="l"/>
            <a:r>
              <a:rPr lang="en-US" sz="605" spc="0">
                <a:solidFill>
                  <a:srgbClr val="FFFFFF"/>
                </a:solidFill>
                <a:latin typeface="Arial"/>
                <a:cs typeface="Arial"/>
              </a:rPr>
              <a:t>Hyderabad </a:t>
            </a:r>
            <a:r>
              <a:rPr lang="en-US" sz="605" spc="0" baseline="0">
                <a:solidFill>
                  <a:srgbClr val="FFFFFF"/>
                </a:solidFill>
                <a:latin typeface="Arial"/>
                <a:cs typeface="Arial"/>
              </a:rPr>
              <a:t>Campus</a:t>
            </a:r>
            <a:endParaRPr lang="en-US" sz="605" spc="0" dirty="0">
              <a:solidFill>
                <a:srgbClr val="FFFFFF"/>
              </a:solidFill>
              <a:latin typeface="Arial"/>
              <a:cs typeface="Arial"/>
            </a:endParaRPr>
          </a:p>
        </p:txBody>
      </p:sp>
      <p:sp>
        <p:nvSpPr>
          <p:cNvPr id="11" name="Title 1"/>
          <p:cNvSpPr>
            <a:spLocks noGrp="1"/>
          </p:cNvSpPr>
          <p:nvPr userDrawn="1">
            <p:ph type="title" hasCustomPrompt="1"/>
          </p:nvPr>
        </p:nvSpPr>
        <p:spPr>
          <a:xfrm>
            <a:off x="1267777" y="1922639"/>
            <a:ext cx="3034983" cy="769056"/>
          </a:xfrm>
        </p:spPr>
        <p:txBody>
          <a:bodyPr anchor="ctr" anchorCtr="0">
            <a:noAutofit/>
          </a:bodyPr>
          <a:lstStyle>
            <a:lvl1pPr algn="l">
              <a:lnSpc>
                <a:spcPts val="2017"/>
              </a:lnSpc>
              <a:defRPr sz="2218" baseline="0">
                <a:solidFill>
                  <a:schemeClr val="bg1"/>
                </a:solidFill>
              </a:defRPr>
            </a:lvl1pPr>
          </a:lstStyle>
          <a:p>
            <a:r>
              <a:rPr lang="en-GB" dirty="0"/>
              <a:t>Please enter the presentation title here</a:t>
            </a:r>
            <a:endParaRPr lang="en-US" dirty="0"/>
          </a:p>
        </p:txBody>
      </p:sp>
    </p:spTree>
    <p:extLst>
      <p:ext uri="{BB962C8B-B14F-4D97-AF65-F5344CB8AC3E}">
        <p14:creationId xmlns:p14="http://schemas.microsoft.com/office/powerpoint/2010/main" val="878055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4610100" cy="3460750"/>
          </a:xfrm>
          <a:prstGeom prst="rect">
            <a:avLst/>
          </a:prstGeom>
          <a:noFill/>
        </p:spPr>
      </p:pic>
      <p:sp>
        <p:nvSpPr>
          <p:cNvPr id="8" name="Rectangle 7"/>
          <p:cNvSpPr/>
          <p:nvPr userDrawn="1"/>
        </p:nvSpPr>
        <p:spPr>
          <a:xfrm>
            <a:off x="0" y="2160916"/>
            <a:ext cx="4610100" cy="1299834"/>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3342323" y="0"/>
            <a:ext cx="1105735" cy="349555"/>
          </a:xfrm>
          <a:prstGeom prst="rect">
            <a:avLst/>
          </a:prstGeom>
        </p:spPr>
      </p:pic>
      <p:sp>
        <p:nvSpPr>
          <p:cNvPr id="17" name="Content Placeholder 16"/>
          <p:cNvSpPr>
            <a:spLocks noGrp="1"/>
          </p:cNvSpPr>
          <p:nvPr>
            <p:ph sz="quarter" idx="10" hasCustomPrompt="1"/>
          </p:nvPr>
        </p:nvSpPr>
        <p:spPr>
          <a:xfrm>
            <a:off x="153670" y="2345620"/>
            <a:ext cx="4264343" cy="807508"/>
          </a:xfrm>
        </p:spPr>
        <p:txBody>
          <a:bodyPr>
            <a:noAutofit/>
          </a:bodyPr>
          <a:lstStyle>
            <a:lvl1pPr marL="0" indent="0">
              <a:lnSpc>
                <a:spcPts val="2118"/>
              </a:lnSpc>
              <a:spcBef>
                <a:spcPts val="0"/>
              </a:spcBef>
              <a:buNone/>
              <a:defRPr sz="2017" b="1" spc="-76"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1453462" y="3419093"/>
            <a:ext cx="1459865" cy="38453"/>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403" y="3419093"/>
            <a:ext cx="1459865" cy="38453"/>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2913327" y="3419093"/>
            <a:ext cx="1459865" cy="38453"/>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p:cNvSpPr txBox="1"/>
          <p:nvPr userDrawn="1"/>
        </p:nvSpPr>
        <p:spPr>
          <a:xfrm>
            <a:off x="3457575" y="384528"/>
            <a:ext cx="1114108" cy="317331"/>
          </a:xfrm>
          <a:prstGeom prst="rect">
            <a:avLst/>
          </a:prstGeom>
          <a:noFill/>
        </p:spPr>
        <p:txBody>
          <a:bodyPr wrap="square" rtlCol="0">
            <a:spAutoFit/>
          </a:bodyPr>
          <a:lstStyle/>
          <a:p>
            <a:pPr algn="ctr"/>
            <a:r>
              <a:rPr lang="en-US" sz="1462" b="1" spc="-76">
                <a:solidFill>
                  <a:schemeClr val="bg1"/>
                </a:solidFill>
                <a:latin typeface="Arial"/>
                <a:cs typeface="Arial"/>
              </a:rPr>
              <a:t>BITS</a:t>
            </a:r>
            <a:r>
              <a:rPr lang="en-US" sz="1462" spc="-76">
                <a:solidFill>
                  <a:schemeClr val="bg1"/>
                </a:solidFill>
                <a:latin typeface="Arial"/>
                <a:cs typeface="Arial"/>
              </a:rPr>
              <a:t> Pilani</a:t>
            </a:r>
            <a:endParaRPr lang="en-US" sz="1462" spc="-76" dirty="0">
              <a:solidFill>
                <a:schemeClr val="bg1"/>
              </a:solidFill>
              <a:latin typeface="Arial"/>
              <a:cs typeface="Arial"/>
            </a:endParaRPr>
          </a:p>
        </p:txBody>
      </p:sp>
      <p:sp>
        <p:nvSpPr>
          <p:cNvPr id="20" name="TextBox 19"/>
          <p:cNvSpPr txBox="1"/>
          <p:nvPr userDrawn="1"/>
        </p:nvSpPr>
        <p:spPr>
          <a:xfrm>
            <a:off x="3572827" y="590821"/>
            <a:ext cx="960438" cy="185435"/>
          </a:xfrm>
          <a:prstGeom prst="rect">
            <a:avLst/>
          </a:prstGeom>
          <a:noFill/>
        </p:spPr>
        <p:txBody>
          <a:bodyPr wrap="square" rtlCol="0">
            <a:spAutoFit/>
          </a:bodyPr>
          <a:lstStyle/>
          <a:p>
            <a:pPr algn="l"/>
            <a:r>
              <a:rPr lang="en-US" sz="605" spc="0">
                <a:solidFill>
                  <a:srgbClr val="FFFFFF"/>
                </a:solidFill>
                <a:latin typeface="Arial"/>
                <a:cs typeface="Arial"/>
              </a:rPr>
              <a:t>Hyderabad </a:t>
            </a:r>
            <a:r>
              <a:rPr lang="en-US" sz="605" spc="0" baseline="0">
                <a:solidFill>
                  <a:srgbClr val="FFFFFF"/>
                </a:solidFill>
                <a:latin typeface="Arial"/>
                <a:cs typeface="Arial"/>
              </a:rPr>
              <a:t>Campus</a:t>
            </a:r>
            <a:endParaRPr lang="en-US" sz="605" spc="0" dirty="0">
              <a:solidFill>
                <a:srgbClr val="FFFFFF"/>
              </a:solidFill>
              <a:latin typeface="Arial"/>
              <a:cs typeface="Arial"/>
            </a:endParaRPr>
          </a:p>
        </p:txBody>
      </p:sp>
    </p:spTree>
    <p:extLst>
      <p:ext uri="{BB962C8B-B14F-4D97-AF65-F5344CB8AC3E}">
        <p14:creationId xmlns:p14="http://schemas.microsoft.com/office/powerpoint/2010/main" val="7378099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3342323" y="0"/>
            <a:ext cx="1105735" cy="349555"/>
          </a:xfrm>
          <a:prstGeom prst="rect">
            <a:avLst/>
          </a:prstGeom>
        </p:spPr>
      </p:pic>
      <p:sp>
        <p:nvSpPr>
          <p:cNvPr id="3" name="Content Placeholder 2"/>
          <p:cNvSpPr>
            <a:spLocks noGrp="1"/>
          </p:cNvSpPr>
          <p:nvPr userDrawn="1">
            <p:ph sz="half" idx="1" hasCustomPrompt="1"/>
          </p:nvPr>
        </p:nvSpPr>
        <p:spPr>
          <a:xfrm>
            <a:off x="230505" y="807509"/>
            <a:ext cx="2036128" cy="2283935"/>
          </a:xfrm>
        </p:spPr>
        <p:txBody>
          <a:bodyPr/>
          <a:lstStyle>
            <a:lvl1pPr marL="172890" marR="0" indent="-172890" algn="l" defTabSz="461040" rtl="0" eaLnBrk="1" fontAlgn="auto" latinLnBrk="0" hangingPunct="1">
              <a:lnSpc>
                <a:spcPct val="100000"/>
              </a:lnSpc>
              <a:spcBef>
                <a:spcPct val="20000"/>
              </a:spcBef>
              <a:spcAft>
                <a:spcPts val="0"/>
              </a:spcAft>
              <a:buClr>
                <a:srgbClr val="101141"/>
              </a:buClr>
              <a:buSzTx/>
              <a:buFont typeface="Arial" pitchFamily="34" charset="0"/>
              <a:buNone/>
              <a:tabLst/>
              <a:defRPr sz="1412"/>
            </a:lvl1pPr>
            <a:lvl2pPr marL="374595" marR="0" indent="-144075" algn="l" defTabSz="461040" rtl="0" eaLnBrk="1" fontAlgn="auto" latinLnBrk="0" hangingPunct="1">
              <a:lnSpc>
                <a:spcPct val="100000"/>
              </a:lnSpc>
              <a:spcBef>
                <a:spcPct val="20000"/>
              </a:spcBef>
              <a:spcAft>
                <a:spcPts val="0"/>
              </a:spcAft>
              <a:buClrTx/>
              <a:buSzTx/>
              <a:buFont typeface="Arial" pitchFamily="34" charset="0"/>
              <a:buChar char="–"/>
              <a:tabLst/>
              <a:defRPr sz="807"/>
            </a:lvl2pPr>
            <a:lvl3pPr>
              <a:defRPr sz="1008"/>
            </a:lvl3pPr>
            <a:lvl4pPr>
              <a:defRPr sz="908"/>
            </a:lvl4pPr>
            <a:lvl5pPr>
              <a:defRPr sz="908"/>
            </a:lvl5pPr>
            <a:lvl6pPr>
              <a:defRPr sz="908"/>
            </a:lvl6pPr>
            <a:lvl7pPr>
              <a:defRPr sz="908"/>
            </a:lvl7pPr>
            <a:lvl8pPr>
              <a:defRPr sz="908"/>
            </a:lvl8pPr>
            <a:lvl9pPr>
              <a:defRPr sz="908"/>
            </a:lvl9pPr>
          </a:lstStyle>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210" u="none" strike="noStrike" kern="1200" cap="none" spc="0" normalizeH="0" noProof="0" dirty="0">
              <a:ln>
                <a:noFill/>
              </a:ln>
              <a:solidFill>
                <a:srgbClr val="101141"/>
              </a:solidFill>
              <a:effectLst/>
              <a:uLnTx/>
              <a:uFillTx/>
              <a:latin typeface="Arial"/>
              <a:cs typeface="Arial"/>
            </a:endParaRPr>
          </a:p>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p>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2497137" y="807509"/>
            <a:ext cx="2036128" cy="2283935"/>
          </a:xfrm>
        </p:spPr>
        <p:txBody>
          <a:bodyPr/>
          <a:lstStyle>
            <a:lvl1pPr marL="172890" marR="0" indent="-172890" algn="l" defTabSz="461040" rtl="0" eaLnBrk="1" fontAlgn="auto" latinLnBrk="0" hangingPunct="1">
              <a:lnSpc>
                <a:spcPct val="100000"/>
              </a:lnSpc>
              <a:spcBef>
                <a:spcPct val="20000"/>
              </a:spcBef>
              <a:spcAft>
                <a:spcPts val="0"/>
              </a:spcAft>
              <a:buClr>
                <a:srgbClr val="101141"/>
              </a:buClr>
              <a:buSzTx/>
              <a:buFont typeface="Arial" pitchFamily="34" charset="0"/>
              <a:buNone/>
              <a:tabLst/>
              <a:defRPr sz="1412"/>
            </a:lvl1pPr>
            <a:lvl2pPr marL="374595" marR="0" indent="-144075" algn="l" defTabSz="461040" rtl="0" eaLnBrk="1" fontAlgn="auto" latinLnBrk="0" hangingPunct="1">
              <a:lnSpc>
                <a:spcPct val="100000"/>
              </a:lnSpc>
              <a:spcBef>
                <a:spcPct val="20000"/>
              </a:spcBef>
              <a:spcAft>
                <a:spcPts val="0"/>
              </a:spcAft>
              <a:buClrTx/>
              <a:buSzTx/>
              <a:buFont typeface="Arial" pitchFamily="34" charset="0"/>
              <a:buChar char="–"/>
              <a:tabLst/>
              <a:defRPr sz="807">
                <a:latin typeface="Arial" pitchFamily="34" charset="0"/>
                <a:cs typeface="Arial" pitchFamily="34" charset="0"/>
              </a:defRPr>
            </a:lvl2pPr>
            <a:lvl3pPr>
              <a:defRPr sz="1008"/>
            </a:lvl3pPr>
            <a:lvl4pPr>
              <a:defRPr sz="908"/>
            </a:lvl4pPr>
            <a:lvl5pPr>
              <a:defRPr sz="908"/>
            </a:lvl5pPr>
            <a:lvl6pPr>
              <a:defRPr sz="908"/>
            </a:lvl6pPr>
            <a:lvl7pPr>
              <a:defRPr sz="908"/>
            </a:lvl7pPr>
            <a:lvl8pPr>
              <a:defRPr sz="908"/>
            </a:lvl8pPr>
            <a:lvl9pPr>
              <a:defRPr sz="908"/>
            </a:lvl9pPr>
          </a:lstStyle>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374595" marR="0" lvl="1" indent="-144075" algn="l" defTabSz="46104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210" u="none" strike="noStrike" kern="1200" cap="none" spc="0" normalizeH="0" noProof="0" dirty="0">
              <a:ln>
                <a:noFill/>
              </a:ln>
              <a:solidFill>
                <a:srgbClr val="101141"/>
              </a:solidFill>
              <a:effectLst/>
              <a:uLnTx/>
              <a:uFillTx/>
              <a:latin typeface="Arial"/>
              <a:cs typeface="Arial"/>
            </a:endParaRPr>
          </a:p>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p>
          <a:p>
            <a:pPr marL="172890" marR="0" lvl="0" indent="-172890" algn="l" defTabSz="46104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210" u="none" strike="noStrike" kern="1200" cap="none" spc="0" normalizeH="0" baseline="0" noProof="0" dirty="0" err="1">
                <a:ln>
                  <a:noFill/>
                </a:ln>
                <a:solidFill>
                  <a:srgbClr val="101141"/>
                </a:solidFill>
                <a:effectLst/>
                <a:uLnTx/>
                <a:uFillTx/>
                <a:latin typeface="Arial"/>
                <a:cs typeface="Arial"/>
              </a:rPr>
              <a:t>Lorem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sit </a:t>
            </a:r>
            <a:r>
              <a:rPr kumimoji="0" lang="en-GB" sz="1210" u="none" strike="noStrike" kern="1200" cap="none" spc="0" normalizeH="0" noProof="0" dirty="0" err="1">
                <a:ln>
                  <a:noFill/>
                </a:ln>
                <a:solidFill>
                  <a:srgbClr val="101141"/>
                </a:solidFill>
                <a:effectLst/>
                <a:uLnTx/>
                <a:uFillTx/>
                <a:latin typeface="Arial"/>
                <a:cs typeface="Arial"/>
              </a:rPr>
              <a:t>amet</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dolor</a:t>
            </a:r>
            <a:r>
              <a:rPr kumimoji="0" lang="en-GB" sz="1210" u="none" strike="noStrike" kern="1200" cap="none" spc="0" normalizeH="0" noProof="0" dirty="0">
                <a:ln>
                  <a:noFill/>
                </a:ln>
                <a:solidFill>
                  <a:srgbClr val="101141"/>
                </a:solidFill>
                <a:effectLst/>
                <a:uLnTx/>
                <a:uFillTx/>
                <a:latin typeface="Arial"/>
                <a:cs typeface="Arial"/>
              </a:rPr>
              <a:t> </a:t>
            </a:r>
            <a:r>
              <a:rPr kumimoji="0" lang="en-GB" sz="1210" u="none" strike="noStrike" kern="1200" cap="none" spc="0" normalizeH="0" noProof="0" dirty="0" err="1">
                <a:ln>
                  <a:noFill/>
                </a:ln>
                <a:solidFill>
                  <a:srgbClr val="101141"/>
                </a:solidFill>
                <a:effectLst/>
                <a:uLnTx/>
                <a:uFillTx/>
                <a:latin typeface="Arial"/>
                <a:cs typeface="Arial"/>
              </a:rPr>
              <a:t>ipsum</a:t>
            </a:r>
            <a:r>
              <a:rPr kumimoji="0" lang="en-GB" sz="121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153670" y="76905"/>
            <a:ext cx="3188653" cy="576792"/>
          </a:xfrm>
        </p:spPr>
        <p:txBody>
          <a:bodyPr anchor="ctr" anchorCtr="0">
            <a:normAutofit/>
          </a:bodyPr>
          <a:lstStyle>
            <a:lvl1pPr marL="0">
              <a:lnSpc>
                <a:spcPts val="1815"/>
              </a:lnSpc>
              <a:spcBef>
                <a:spcPts val="0"/>
              </a:spcBef>
              <a:buNone/>
              <a:defRPr sz="1815" b="1" spc="-76"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653698"/>
            <a:ext cx="3534410" cy="23071"/>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1075690" y="3306939"/>
            <a:ext cx="3534410" cy="23071"/>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6" name="TextBox 35"/>
          <p:cNvSpPr txBox="1"/>
          <p:nvPr userDrawn="1"/>
        </p:nvSpPr>
        <p:spPr>
          <a:xfrm>
            <a:off x="1651952" y="3328734"/>
            <a:ext cx="2958148" cy="177741"/>
          </a:xfrm>
          <a:prstGeom prst="rect">
            <a:avLst/>
          </a:prstGeom>
          <a:noFill/>
        </p:spPr>
        <p:txBody>
          <a:bodyPr wrap="square" rtlCol="0">
            <a:spAutoFit/>
          </a:bodyPr>
          <a:lstStyle/>
          <a:p>
            <a:pPr algn="r"/>
            <a:r>
              <a:rPr lang="en-US" sz="555" b="1">
                <a:solidFill>
                  <a:srgbClr val="101141"/>
                </a:solidFill>
                <a:latin typeface="Arial"/>
                <a:cs typeface="Arial"/>
              </a:rPr>
              <a:t>BITS </a:t>
            </a:r>
            <a:r>
              <a:rPr lang="en-US" sz="555">
                <a:solidFill>
                  <a:srgbClr val="101141"/>
                </a:solidFill>
                <a:latin typeface="Arial"/>
                <a:cs typeface="Arial"/>
              </a:rPr>
              <a:t>Pilani, Hyderabad Campus</a:t>
            </a:r>
            <a:endParaRPr lang="en-US" sz="555" dirty="0">
              <a:solidFill>
                <a:srgbClr val="101141"/>
              </a:solidFill>
              <a:latin typeface="Arial"/>
              <a:cs typeface="Arial"/>
            </a:endParaRPr>
          </a:p>
        </p:txBody>
      </p:sp>
    </p:spTree>
    <p:extLst>
      <p:ext uri="{BB962C8B-B14F-4D97-AF65-F5344CB8AC3E}">
        <p14:creationId xmlns:p14="http://schemas.microsoft.com/office/powerpoint/2010/main" val="23157571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0505" y="774663"/>
            <a:ext cx="2036928" cy="417373"/>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en-US"/>
              <a:t>Click to edit Master text styles</a:t>
            </a:r>
          </a:p>
        </p:txBody>
      </p:sp>
      <p:sp>
        <p:nvSpPr>
          <p:cNvPr id="4" name="Content Placeholder 3"/>
          <p:cNvSpPr>
            <a:spLocks noGrp="1"/>
          </p:cNvSpPr>
          <p:nvPr>
            <p:ph sz="half" idx="2"/>
          </p:nvPr>
        </p:nvSpPr>
        <p:spPr>
          <a:xfrm>
            <a:off x="230505" y="1192036"/>
            <a:ext cx="2036928" cy="1899407"/>
          </a:xfrm>
        </p:spPr>
        <p:txBody>
          <a:bodyPr/>
          <a:lstStyle>
            <a:lvl1pPr>
              <a:defRPr sz="1210"/>
            </a:lvl1pPr>
            <a:lvl2pPr>
              <a:defRPr sz="1008"/>
            </a:lvl2pPr>
            <a:lvl3pPr>
              <a:defRPr sz="908"/>
            </a:lvl3pPr>
            <a:lvl4pPr>
              <a:defRPr sz="807"/>
            </a:lvl4pPr>
            <a:lvl5pPr>
              <a:defRPr sz="807"/>
            </a:lvl5pPr>
            <a:lvl6pPr>
              <a:defRPr sz="807"/>
            </a:lvl6pPr>
            <a:lvl7pPr>
              <a:defRPr sz="807"/>
            </a:lvl7pPr>
            <a:lvl8pPr>
              <a:defRPr sz="807"/>
            </a:lvl8pPr>
            <a:lvl9pPr>
              <a:defRPr sz="8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341867" y="774663"/>
            <a:ext cx="2037728" cy="417373"/>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en-US"/>
              <a:t>Click to edit Master text styles</a:t>
            </a:r>
          </a:p>
        </p:txBody>
      </p:sp>
      <p:sp>
        <p:nvSpPr>
          <p:cNvPr id="6" name="Content Placeholder 5"/>
          <p:cNvSpPr>
            <a:spLocks noGrp="1"/>
          </p:cNvSpPr>
          <p:nvPr>
            <p:ph sz="quarter" idx="4"/>
          </p:nvPr>
        </p:nvSpPr>
        <p:spPr>
          <a:xfrm>
            <a:off x="2341867" y="1192036"/>
            <a:ext cx="2037728" cy="1899407"/>
          </a:xfrm>
        </p:spPr>
        <p:txBody>
          <a:bodyPr/>
          <a:lstStyle>
            <a:lvl1pPr>
              <a:defRPr sz="1210"/>
            </a:lvl1pPr>
            <a:lvl2pPr>
              <a:defRPr sz="1008"/>
            </a:lvl2pPr>
            <a:lvl3pPr>
              <a:defRPr sz="908"/>
            </a:lvl3pPr>
            <a:lvl4pPr>
              <a:defRPr sz="807"/>
            </a:lvl4pPr>
            <a:lvl5pPr>
              <a:defRPr sz="807"/>
            </a:lvl5pPr>
            <a:lvl6pPr>
              <a:defRPr sz="807"/>
            </a:lvl6pPr>
            <a:lvl7pPr>
              <a:defRPr sz="807"/>
            </a:lvl7pPr>
            <a:lvl8pPr>
              <a:defRPr sz="807"/>
            </a:lvl8pPr>
            <a:lvl9pPr>
              <a:defRPr sz="8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153670" y="76905"/>
            <a:ext cx="3188653" cy="576792"/>
          </a:xfrm>
        </p:spPr>
        <p:txBody>
          <a:bodyPr anchor="ctr" anchorCtr="0">
            <a:normAutofit/>
          </a:bodyPr>
          <a:lstStyle>
            <a:lvl1pPr marL="0">
              <a:lnSpc>
                <a:spcPts val="1815"/>
              </a:lnSpc>
              <a:spcBef>
                <a:spcPts val="0"/>
              </a:spcBef>
              <a:buNone/>
              <a:defRPr sz="1815" b="1" spc="-76"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653698"/>
            <a:ext cx="3534410" cy="23071"/>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1075690" y="3306939"/>
            <a:ext cx="3534410" cy="23071"/>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3342323" y="0"/>
            <a:ext cx="1105735" cy="349555"/>
          </a:xfrm>
          <a:prstGeom prst="rect">
            <a:avLst/>
          </a:prstGeom>
        </p:spPr>
      </p:pic>
      <p:sp>
        <p:nvSpPr>
          <p:cNvPr id="23" name="TextBox 22"/>
          <p:cNvSpPr txBox="1"/>
          <p:nvPr userDrawn="1"/>
        </p:nvSpPr>
        <p:spPr>
          <a:xfrm>
            <a:off x="1651952" y="3328734"/>
            <a:ext cx="2958148" cy="177741"/>
          </a:xfrm>
          <a:prstGeom prst="rect">
            <a:avLst/>
          </a:prstGeom>
          <a:noFill/>
        </p:spPr>
        <p:txBody>
          <a:bodyPr wrap="square" rtlCol="0">
            <a:spAutoFit/>
          </a:bodyPr>
          <a:lstStyle/>
          <a:p>
            <a:pPr algn="r"/>
            <a:r>
              <a:rPr lang="en-US" sz="555" b="1">
                <a:solidFill>
                  <a:srgbClr val="101141"/>
                </a:solidFill>
                <a:latin typeface="Arial"/>
                <a:cs typeface="Arial"/>
              </a:rPr>
              <a:t>BITS </a:t>
            </a:r>
            <a:r>
              <a:rPr lang="en-US" sz="555">
                <a:solidFill>
                  <a:srgbClr val="101141"/>
                </a:solidFill>
                <a:latin typeface="Arial"/>
                <a:cs typeface="Arial"/>
              </a:rPr>
              <a:t>Pilani, Hyderabad Campus</a:t>
            </a:r>
            <a:endParaRPr lang="en-US" sz="555" dirty="0">
              <a:solidFill>
                <a:srgbClr val="101141"/>
              </a:solidFill>
              <a:latin typeface="Arial"/>
              <a:cs typeface="Arial"/>
            </a:endParaRPr>
          </a:p>
        </p:txBody>
      </p:sp>
    </p:spTree>
    <p:extLst>
      <p:ext uri="{BB962C8B-B14F-4D97-AF65-F5344CB8AC3E}">
        <p14:creationId xmlns:p14="http://schemas.microsoft.com/office/powerpoint/2010/main" val="37091089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153670" y="76905"/>
            <a:ext cx="3188653" cy="576792"/>
          </a:xfrm>
        </p:spPr>
        <p:txBody>
          <a:bodyPr anchor="ctr" anchorCtr="0">
            <a:normAutofit/>
          </a:bodyPr>
          <a:lstStyle>
            <a:lvl1pPr marL="0">
              <a:lnSpc>
                <a:spcPts val="1815"/>
              </a:lnSpc>
              <a:spcBef>
                <a:spcPts val="0"/>
              </a:spcBef>
              <a:buNone/>
              <a:defRPr sz="1815" b="1" spc="-76"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653698"/>
            <a:ext cx="3534410" cy="23071"/>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1075690" y="3306939"/>
            <a:ext cx="3534410" cy="23071"/>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3342323" y="0"/>
            <a:ext cx="1105735" cy="349555"/>
          </a:xfrm>
          <a:prstGeom prst="rect">
            <a:avLst/>
          </a:prstGeom>
        </p:spPr>
      </p:pic>
      <p:sp>
        <p:nvSpPr>
          <p:cNvPr id="18" name="TextBox 17"/>
          <p:cNvSpPr txBox="1"/>
          <p:nvPr userDrawn="1"/>
        </p:nvSpPr>
        <p:spPr>
          <a:xfrm>
            <a:off x="1651952" y="3328734"/>
            <a:ext cx="2958148" cy="177741"/>
          </a:xfrm>
          <a:prstGeom prst="rect">
            <a:avLst/>
          </a:prstGeom>
          <a:noFill/>
        </p:spPr>
        <p:txBody>
          <a:bodyPr wrap="square" rtlCol="0">
            <a:spAutoFit/>
          </a:bodyPr>
          <a:lstStyle/>
          <a:p>
            <a:pPr algn="r"/>
            <a:r>
              <a:rPr lang="en-US" sz="555" b="1">
                <a:solidFill>
                  <a:srgbClr val="101141"/>
                </a:solidFill>
                <a:latin typeface="Arial"/>
                <a:cs typeface="Arial"/>
              </a:rPr>
              <a:t>BITS </a:t>
            </a:r>
            <a:r>
              <a:rPr lang="en-US" sz="555">
                <a:solidFill>
                  <a:srgbClr val="101141"/>
                </a:solidFill>
                <a:latin typeface="Arial"/>
                <a:cs typeface="Arial"/>
              </a:rPr>
              <a:t>Pilani, Hyderabad Campus</a:t>
            </a:r>
            <a:endParaRPr lang="en-US" sz="555" dirty="0">
              <a:solidFill>
                <a:srgbClr val="101141"/>
              </a:solidFill>
              <a:latin typeface="Arial"/>
              <a:cs typeface="Arial"/>
            </a:endParaRPr>
          </a:p>
        </p:txBody>
      </p:sp>
    </p:spTree>
    <p:extLst>
      <p:ext uri="{BB962C8B-B14F-4D97-AF65-F5344CB8AC3E}">
        <p14:creationId xmlns:p14="http://schemas.microsoft.com/office/powerpoint/2010/main" val="28950225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2421" y="807509"/>
            <a:ext cx="2577174" cy="2283935"/>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0505" y="807509"/>
            <a:ext cx="1516691" cy="2283935"/>
          </a:xfrm>
        </p:spPr>
        <p:txBody>
          <a:bodyPr/>
          <a:lstStyle>
            <a:lvl1pPr marL="0" indent="0">
              <a:buNone/>
              <a:defRPr sz="706"/>
            </a:lvl1pPr>
            <a:lvl2pPr marL="230520" indent="0">
              <a:buNone/>
              <a:defRPr sz="605"/>
            </a:lvl2pPr>
            <a:lvl3pPr marL="461040" indent="0">
              <a:buNone/>
              <a:defRPr sz="504"/>
            </a:lvl3pPr>
            <a:lvl4pPr marL="691561" indent="0">
              <a:buNone/>
              <a:defRPr sz="454"/>
            </a:lvl4pPr>
            <a:lvl5pPr marL="922081" indent="0">
              <a:buNone/>
              <a:defRPr sz="454"/>
            </a:lvl5pPr>
            <a:lvl6pPr marL="1152601" indent="0">
              <a:buNone/>
              <a:defRPr sz="454"/>
            </a:lvl6pPr>
            <a:lvl7pPr marL="1383121" indent="0">
              <a:buNone/>
              <a:defRPr sz="454"/>
            </a:lvl7pPr>
            <a:lvl8pPr marL="1613642" indent="0">
              <a:buNone/>
              <a:defRPr sz="454"/>
            </a:lvl8pPr>
            <a:lvl9pPr marL="1844162" indent="0">
              <a:buNone/>
              <a:defRPr sz="454"/>
            </a:lvl9pPr>
          </a:lstStyle>
          <a:p>
            <a:pPr lvl="0"/>
            <a:r>
              <a:rPr lang="en-US"/>
              <a:t>Click to edit Master text styles</a:t>
            </a:r>
          </a:p>
        </p:txBody>
      </p:sp>
      <p:sp>
        <p:nvSpPr>
          <p:cNvPr id="8" name="Content Placeholder 18"/>
          <p:cNvSpPr>
            <a:spLocks noGrp="1"/>
          </p:cNvSpPr>
          <p:nvPr>
            <p:ph sz="quarter" idx="13" hasCustomPrompt="1"/>
          </p:nvPr>
        </p:nvSpPr>
        <p:spPr>
          <a:xfrm>
            <a:off x="153670" y="76905"/>
            <a:ext cx="3188653" cy="576792"/>
          </a:xfrm>
        </p:spPr>
        <p:txBody>
          <a:bodyPr anchor="ctr" anchorCtr="0">
            <a:normAutofit/>
          </a:bodyPr>
          <a:lstStyle>
            <a:lvl1pPr marL="0">
              <a:lnSpc>
                <a:spcPts val="1815"/>
              </a:lnSpc>
              <a:spcBef>
                <a:spcPts val="0"/>
              </a:spcBef>
              <a:buNone/>
              <a:defRPr sz="1815" b="1" spc="-76"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653698"/>
            <a:ext cx="3534410" cy="23071"/>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1075690" y="3306939"/>
            <a:ext cx="3534410" cy="23071"/>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3342323" y="0"/>
            <a:ext cx="1105735" cy="349555"/>
          </a:xfrm>
          <a:prstGeom prst="rect">
            <a:avLst/>
          </a:prstGeom>
        </p:spPr>
      </p:pic>
      <p:sp>
        <p:nvSpPr>
          <p:cNvPr id="22" name="TextBox 21"/>
          <p:cNvSpPr txBox="1"/>
          <p:nvPr userDrawn="1"/>
        </p:nvSpPr>
        <p:spPr>
          <a:xfrm>
            <a:off x="1651952" y="3328734"/>
            <a:ext cx="2958148" cy="177741"/>
          </a:xfrm>
          <a:prstGeom prst="rect">
            <a:avLst/>
          </a:prstGeom>
          <a:noFill/>
        </p:spPr>
        <p:txBody>
          <a:bodyPr wrap="square" rtlCol="0">
            <a:spAutoFit/>
          </a:bodyPr>
          <a:lstStyle/>
          <a:p>
            <a:pPr algn="r"/>
            <a:r>
              <a:rPr lang="en-US" sz="555" b="1">
                <a:solidFill>
                  <a:srgbClr val="101141"/>
                </a:solidFill>
                <a:latin typeface="Arial"/>
                <a:cs typeface="Arial"/>
              </a:rPr>
              <a:t>BITS </a:t>
            </a:r>
            <a:r>
              <a:rPr lang="en-US" sz="555">
                <a:solidFill>
                  <a:srgbClr val="101141"/>
                </a:solidFill>
                <a:latin typeface="Arial"/>
                <a:cs typeface="Arial"/>
              </a:rPr>
              <a:t>Pilani, Hyderabad Campus</a:t>
            </a:r>
            <a:endParaRPr lang="en-US" sz="555" dirty="0">
              <a:solidFill>
                <a:srgbClr val="101141"/>
              </a:solidFill>
              <a:latin typeface="Arial"/>
              <a:cs typeface="Arial"/>
            </a:endParaRPr>
          </a:p>
        </p:txBody>
      </p:sp>
    </p:spTree>
    <p:extLst>
      <p:ext uri="{BB962C8B-B14F-4D97-AF65-F5344CB8AC3E}">
        <p14:creationId xmlns:p14="http://schemas.microsoft.com/office/powerpoint/2010/main" val="34004853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03612" y="2728545"/>
            <a:ext cx="2766060" cy="153811"/>
          </a:xfrm>
        </p:spPr>
        <p:txBody>
          <a:bodyPr anchor="b">
            <a:normAutofit/>
          </a:bodyPr>
          <a:lstStyle>
            <a:lvl1pPr algn="l">
              <a:defRPr sz="908" b="1" spc="0"/>
            </a:lvl1pPr>
          </a:lstStyle>
          <a:p>
            <a:r>
              <a:rPr lang="en-US" dirty="0"/>
              <a:t>Click to edit Master title style</a:t>
            </a:r>
          </a:p>
        </p:txBody>
      </p:sp>
      <p:sp>
        <p:nvSpPr>
          <p:cNvPr id="3" name="Picture Placeholder 2"/>
          <p:cNvSpPr>
            <a:spLocks noGrp="1"/>
          </p:cNvSpPr>
          <p:nvPr>
            <p:ph type="pic" idx="1"/>
          </p:nvPr>
        </p:nvSpPr>
        <p:spPr>
          <a:xfrm>
            <a:off x="903612" y="922867"/>
            <a:ext cx="2766060" cy="1730375"/>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en-US"/>
          </a:p>
        </p:txBody>
      </p:sp>
      <p:sp>
        <p:nvSpPr>
          <p:cNvPr id="4" name="Text Placeholder 3"/>
          <p:cNvSpPr>
            <a:spLocks noGrp="1"/>
          </p:cNvSpPr>
          <p:nvPr>
            <p:ph type="body" sz="half" idx="2"/>
          </p:nvPr>
        </p:nvSpPr>
        <p:spPr>
          <a:xfrm>
            <a:off x="903612" y="2882356"/>
            <a:ext cx="2766060" cy="153811"/>
          </a:xfrm>
        </p:spPr>
        <p:txBody>
          <a:bodyPr>
            <a:normAutofit/>
          </a:bodyPr>
          <a:lstStyle>
            <a:lvl1pPr marL="0" indent="0">
              <a:buNone/>
              <a:defRPr sz="807"/>
            </a:lvl1pPr>
            <a:lvl2pPr marL="230520" indent="0">
              <a:buNone/>
              <a:defRPr sz="605"/>
            </a:lvl2pPr>
            <a:lvl3pPr marL="461040" indent="0">
              <a:buNone/>
              <a:defRPr sz="504"/>
            </a:lvl3pPr>
            <a:lvl4pPr marL="691561" indent="0">
              <a:buNone/>
              <a:defRPr sz="454"/>
            </a:lvl4pPr>
            <a:lvl5pPr marL="922081" indent="0">
              <a:buNone/>
              <a:defRPr sz="454"/>
            </a:lvl5pPr>
            <a:lvl6pPr marL="1152601" indent="0">
              <a:buNone/>
              <a:defRPr sz="454"/>
            </a:lvl6pPr>
            <a:lvl7pPr marL="1383121" indent="0">
              <a:buNone/>
              <a:defRPr sz="454"/>
            </a:lvl7pPr>
            <a:lvl8pPr marL="1613642" indent="0">
              <a:buNone/>
              <a:defRPr sz="454"/>
            </a:lvl8pPr>
            <a:lvl9pPr marL="1844162" indent="0">
              <a:buNone/>
              <a:defRPr sz="454"/>
            </a:lvl9pPr>
          </a:lstStyle>
          <a:p>
            <a:pPr lvl="0"/>
            <a:r>
              <a:rPr lang="en-US" dirty="0"/>
              <a:t>Click to edit Master text styles</a:t>
            </a:r>
          </a:p>
        </p:txBody>
      </p:sp>
      <p:sp>
        <p:nvSpPr>
          <p:cNvPr id="5" name="Content Placeholder 18"/>
          <p:cNvSpPr>
            <a:spLocks noGrp="1"/>
          </p:cNvSpPr>
          <p:nvPr>
            <p:ph sz="quarter" idx="10" hasCustomPrompt="1"/>
          </p:nvPr>
        </p:nvSpPr>
        <p:spPr>
          <a:xfrm>
            <a:off x="153670" y="76905"/>
            <a:ext cx="3188653" cy="576792"/>
          </a:xfrm>
        </p:spPr>
        <p:txBody>
          <a:bodyPr anchor="ctr" anchorCtr="0">
            <a:normAutofit/>
          </a:bodyPr>
          <a:lstStyle>
            <a:lvl1pPr marL="0">
              <a:lnSpc>
                <a:spcPts val="1815"/>
              </a:lnSpc>
              <a:spcBef>
                <a:spcPts val="0"/>
              </a:spcBef>
              <a:buNone/>
              <a:defRPr sz="1815" b="1" spc="-76"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653698"/>
            <a:ext cx="3534410" cy="23071"/>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1075690" y="3306939"/>
            <a:ext cx="3534410" cy="23071"/>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3342323" y="0"/>
            <a:ext cx="1105735" cy="349555"/>
          </a:xfrm>
          <a:prstGeom prst="rect">
            <a:avLst/>
          </a:prstGeom>
        </p:spPr>
      </p:pic>
      <p:sp>
        <p:nvSpPr>
          <p:cNvPr id="19" name="TextBox 18"/>
          <p:cNvSpPr txBox="1"/>
          <p:nvPr userDrawn="1"/>
        </p:nvSpPr>
        <p:spPr>
          <a:xfrm>
            <a:off x="1651952" y="3328734"/>
            <a:ext cx="2958148" cy="177741"/>
          </a:xfrm>
          <a:prstGeom prst="rect">
            <a:avLst/>
          </a:prstGeom>
          <a:noFill/>
        </p:spPr>
        <p:txBody>
          <a:bodyPr wrap="square" rtlCol="0">
            <a:spAutoFit/>
          </a:bodyPr>
          <a:lstStyle/>
          <a:p>
            <a:pPr algn="r"/>
            <a:r>
              <a:rPr lang="en-US" sz="555" b="1">
                <a:solidFill>
                  <a:srgbClr val="101141"/>
                </a:solidFill>
                <a:latin typeface="Arial"/>
                <a:cs typeface="Arial"/>
              </a:rPr>
              <a:t>BITS </a:t>
            </a:r>
            <a:r>
              <a:rPr lang="en-US" sz="555">
                <a:solidFill>
                  <a:srgbClr val="101141"/>
                </a:solidFill>
                <a:latin typeface="Arial"/>
                <a:cs typeface="Arial"/>
              </a:rPr>
              <a:t>Pilani, Hyderabad Campus</a:t>
            </a:r>
            <a:endParaRPr lang="en-US" sz="555" dirty="0">
              <a:solidFill>
                <a:srgbClr val="101141"/>
              </a:solidFill>
              <a:latin typeface="Arial"/>
              <a:cs typeface="Arial"/>
            </a:endParaRPr>
          </a:p>
        </p:txBody>
      </p:sp>
    </p:spTree>
    <p:extLst>
      <p:ext uri="{BB962C8B-B14F-4D97-AF65-F5344CB8AC3E}">
        <p14:creationId xmlns:p14="http://schemas.microsoft.com/office/powerpoint/2010/main" val="29635594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153670" y="76905"/>
            <a:ext cx="3188653" cy="576792"/>
          </a:xfrm>
        </p:spPr>
        <p:txBody>
          <a:bodyPr anchor="ctr" anchorCtr="0">
            <a:normAutofit/>
          </a:bodyPr>
          <a:lstStyle>
            <a:lvl1pPr marL="0">
              <a:lnSpc>
                <a:spcPts val="1815"/>
              </a:lnSpc>
              <a:spcBef>
                <a:spcPts val="0"/>
              </a:spcBef>
              <a:buNone/>
              <a:defRPr sz="1815" b="1" spc="-76"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653698"/>
            <a:ext cx="3534410" cy="23071"/>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1075690" y="3306939"/>
            <a:ext cx="3534410" cy="23071"/>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3342323" y="0"/>
            <a:ext cx="1105735" cy="349555"/>
          </a:xfrm>
          <a:prstGeom prst="rect">
            <a:avLst/>
          </a:prstGeom>
        </p:spPr>
      </p:pic>
      <p:sp>
        <p:nvSpPr>
          <p:cNvPr id="33" name="TextBox 32"/>
          <p:cNvSpPr txBox="1"/>
          <p:nvPr userDrawn="1"/>
        </p:nvSpPr>
        <p:spPr>
          <a:xfrm>
            <a:off x="1651952" y="3328734"/>
            <a:ext cx="2958148" cy="177741"/>
          </a:xfrm>
          <a:prstGeom prst="rect">
            <a:avLst/>
          </a:prstGeom>
          <a:noFill/>
        </p:spPr>
        <p:txBody>
          <a:bodyPr wrap="square" rtlCol="0">
            <a:spAutoFit/>
          </a:bodyPr>
          <a:lstStyle/>
          <a:p>
            <a:pPr algn="r"/>
            <a:r>
              <a:rPr lang="en-US" sz="555" b="1">
                <a:solidFill>
                  <a:srgbClr val="101141"/>
                </a:solidFill>
                <a:latin typeface="Arial"/>
                <a:cs typeface="Arial"/>
              </a:rPr>
              <a:t>BITS </a:t>
            </a:r>
            <a:r>
              <a:rPr lang="en-US" sz="555">
                <a:solidFill>
                  <a:srgbClr val="101141"/>
                </a:solidFill>
                <a:latin typeface="Arial"/>
                <a:cs typeface="Arial"/>
              </a:rPr>
              <a:t>Pilani, Hyderabad Campus</a:t>
            </a:r>
            <a:endParaRPr lang="en-US" sz="555" dirty="0">
              <a:solidFill>
                <a:srgbClr val="101141"/>
              </a:solidFill>
              <a:latin typeface="Arial"/>
              <a:cs typeface="Arial"/>
            </a:endParaRPr>
          </a:p>
        </p:txBody>
      </p:sp>
    </p:spTree>
    <p:extLst>
      <p:ext uri="{BB962C8B-B14F-4D97-AF65-F5344CB8AC3E}">
        <p14:creationId xmlns:p14="http://schemas.microsoft.com/office/powerpoint/2010/main" val="3353899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14680" y="192264"/>
            <a:ext cx="3034983" cy="2952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2726284" y="1384564"/>
            <a:ext cx="2960864" cy="576263"/>
          </a:xfrm>
        </p:spPr>
        <p:txBody>
          <a:bodyPr anchor="ctr" anchorCtr="0">
            <a:normAutofit/>
          </a:bodyPr>
          <a:lstStyle>
            <a:lvl1pPr marL="0">
              <a:lnSpc>
                <a:spcPts val="1815"/>
              </a:lnSpc>
              <a:spcBef>
                <a:spcPts val="0"/>
              </a:spcBef>
              <a:buNone/>
              <a:defRPr sz="1815" b="1" spc="-76"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2522830" y="1295869"/>
            <a:ext cx="2614789" cy="23050"/>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383026" y="571022"/>
            <a:ext cx="1106750" cy="349235"/>
          </a:xfrm>
          <a:prstGeom prst="rect">
            <a:avLst/>
          </a:prstGeom>
        </p:spPr>
      </p:pic>
      <p:sp>
        <p:nvSpPr>
          <p:cNvPr id="18" name="TextBox 17"/>
          <p:cNvSpPr txBox="1"/>
          <p:nvPr userDrawn="1"/>
        </p:nvSpPr>
        <p:spPr>
          <a:xfrm rot="5400000">
            <a:off x="-1410216" y="1899206"/>
            <a:ext cx="2960864" cy="162224"/>
          </a:xfrm>
          <a:prstGeom prst="rect">
            <a:avLst/>
          </a:prstGeom>
          <a:noFill/>
        </p:spPr>
        <p:txBody>
          <a:bodyPr wrap="square" rtlCol="0">
            <a:spAutoFit/>
          </a:bodyPr>
          <a:lstStyle/>
          <a:p>
            <a:pPr algn="r"/>
            <a:r>
              <a:rPr lang="en-US" sz="454" b="1">
                <a:solidFill>
                  <a:srgbClr val="101141"/>
                </a:solidFill>
                <a:latin typeface="Arial"/>
                <a:cs typeface="Arial"/>
              </a:rPr>
              <a:t>BITS </a:t>
            </a:r>
            <a:r>
              <a:rPr lang="en-US" sz="454">
                <a:solidFill>
                  <a:srgbClr val="101141"/>
                </a:solidFill>
                <a:latin typeface="Arial"/>
                <a:cs typeface="Arial"/>
              </a:rPr>
              <a:t>Pilani, Hyderabad</a:t>
            </a:r>
            <a:r>
              <a:rPr lang="en-US" sz="454" baseline="0">
                <a:solidFill>
                  <a:srgbClr val="101141"/>
                </a:solidFill>
                <a:latin typeface="Arial"/>
                <a:cs typeface="Arial"/>
              </a:rPr>
              <a:t> </a:t>
            </a:r>
            <a:r>
              <a:rPr lang="en-US" sz="454">
                <a:solidFill>
                  <a:srgbClr val="101141"/>
                </a:solidFill>
                <a:latin typeface="Arial"/>
                <a:cs typeface="Arial"/>
              </a:rPr>
              <a:t>Campus</a:t>
            </a:r>
            <a:endParaRPr lang="en-US" sz="454" dirty="0">
              <a:solidFill>
                <a:srgbClr val="101141"/>
              </a:solidFill>
              <a:latin typeface="Arial"/>
              <a:cs typeface="Arial"/>
            </a:endParaRPr>
          </a:p>
        </p:txBody>
      </p:sp>
    </p:spTree>
    <p:extLst>
      <p:ext uri="{BB962C8B-B14F-4D97-AF65-F5344CB8AC3E}">
        <p14:creationId xmlns:p14="http://schemas.microsoft.com/office/powerpoint/2010/main" val="28648338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theme" Target="../theme/theme2.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70380"/>
            <a:ext cx="4571961" cy="3218993"/>
          </a:xfrm>
          <a:prstGeom prst="rect">
            <a:avLst/>
          </a:prstGeom>
        </p:spPr>
      </p:pic>
      <p:sp>
        <p:nvSpPr>
          <p:cNvPr id="17" name="bg object 17"/>
          <p:cNvSpPr/>
          <p:nvPr/>
        </p:nvSpPr>
        <p:spPr>
          <a:xfrm>
            <a:off x="3069083"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89465"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67268" y="3367265"/>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23614"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60445"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20326" y="3373615"/>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31425"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607626"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78593"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80239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78593"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a:p>
        </p:txBody>
      </p:sp>
      <p:sp>
        <p:nvSpPr>
          <p:cNvPr id="28" name="bg object 28"/>
          <p:cNvSpPr/>
          <p:nvPr/>
        </p:nvSpPr>
        <p:spPr>
          <a:xfrm>
            <a:off x="4149573"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72527"/>
            <a:ext cx="3277870" cy="244475"/>
          </a:xfrm>
          <a:prstGeom prst="rect">
            <a:avLst/>
          </a:prstGeom>
        </p:spPr>
        <p:txBody>
          <a:bodyPr wrap="square" lIns="0" tIns="0" rIns="0" bIns="0">
            <a:spAutoFit/>
          </a:bodyPr>
          <a:lstStyle>
            <a:lvl1pPr>
              <a:defRPr sz="1400" b="0" i="0">
                <a:solidFill>
                  <a:srgbClr val="3333B2"/>
                </a:solidFill>
                <a:latin typeface="Tahoma"/>
                <a:cs typeface="Tahoma"/>
              </a:defRPr>
            </a:lvl1pPr>
          </a:lstStyle>
          <a:p>
            <a:endParaRPr/>
          </a:p>
        </p:txBody>
      </p:sp>
      <p:sp>
        <p:nvSpPr>
          <p:cNvPr id="3" name="Holder 3"/>
          <p:cNvSpPr>
            <a:spLocks noGrp="1"/>
          </p:cNvSpPr>
          <p:nvPr>
            <p:ph type="body" idx="1"/>
          </p:nvPr>
        </p:nvSpPr>
        <p:spPr>
          <a:xfrm>
            <a:off x="421957" y="954175"/>
            <a:ext cx="3864610" cy="1510664"/>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9/4/2025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7249" y="295317"/>
            <a:ext cx="3675402" cy="7567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7249" y="1153583"/>
            <a:ext cx="3675403" cy="2030307"/>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7249" y="3265309"/>
            <a:ext cx="814535" cy="138430"/>
          </a:xfrm>
          <a:prstGeom prst="rect">
            <a:avLst/>
          </a:prstGeom>
        </p:spPr>
        <p:txBody>
          <a:bodyPr vert="horz" lIns="91440" tIns="45720" rIns="91440" bIns="45720" rtlCol="0" anchor="ctr"/>
          <a:lstStyle>
            <a:lvl1pPr algn="l">
              <a:defRPr sz="504">
                <a:solidFill>
                  <a:schemeClr val="tx1">
                    <a:lumMod val="95000"/>
                    <a:lumOff val="5000"/>
                  </a:schemeClr>
                </a:solidFill>
                <a:latin typeface="+mj-lt"/>
              </a:defRPr>
            </a:lvl1pPr>
          </a:lstStyle>
          <a:p>
            <a:r>
              <a:rPr lang="en-US"/>
              <a:t>24/7/2013</a:t>
            </a:r>
          </a:p>
        </p:txBody>
      </p:sp>
      <p:sp>
        <p:nvSpPr>
          <p:cNvPr id="5" name="Footer Placeholder 4"/>
          <p:cNvSpPr>
            <a:spLocks noGrp="1"/>
          </p:cNvSpPr>
          <p:nvPr>
            <p:ph type="ftr" sz="quarter" idx="3"/>
          </p:nvPr>
        </p:nvSpPr>
        <p:spPr>
          <a:xfrm>
            <a:off x="1831234" y="3265309"/>
            <a:ext cx="2231489" cy="138430"/>
          </a:xfrm>
          <a:prstGeom prst="rect">
            <a:avLst/>
          </a:prstGeom>
        </p:spPr>
        <p:txBody>
          <a:bodyPr vert="horz" lIns="91440" tIns="45720" rIns="91440" bIns="45720" rtlCol="0" anchor="ctr"/>
          <a:lstStyle>
            <a:lvl1pPr algn="r">
              <a:defRPr sz="504" cap="all" baseline="0">
                <a:solidFill>
                  <a:schemeClr val="tx1">
                    <a:lumMod val="95000"/>
                    <a:lumOff val="5000"/>
                  </a:schemeClr>
                </a:solidFill>
                <a:latin typeface="+mj-lt"/>
              </a:defRPr>
            </a:lvl1pPr>
          </a:lstStyle>
          <a:p>
            <a:r>
              <a:rPr lang="en-US" dirty="0"/>
              <a:t>AAOC </a:t>
            </a:r>
            <a:r>
              <a:rPr lang="en-US"/>
              <a:t>ZC222 Optimization</a:t>
            </a:r>
            <a:endParaRPr lang="en-US" dirty="0"/>
          </a:p>
        </p:txBody>
      </p:sp>
      <p:sp>
        <p:nvSpPr>
          <p:cNvPr id="6" name="Slide Number Placeholder 5"/>
          <p:cNvSpPr>
            <a:spLocks noGrp="1"/>
          </p:cNvSpPr>
          <p:nvPr>
            <p:ph type="sldNum" sz="quarter" idx="4"/>
          </p:nvPr>
        </p:nvSpPr>
        <p:spPr>
          <a:xfrm>
            <a:off x="4097867" y="3265309"/>
            <a:ext cx="368168" cy="138430"/>
          </a:xfrm>
          <a:prstGeom prst="rect">
            <a:avLst/>
          </a:prstGeom>
        </p:spPr>
        <p:txBody>
          <a:bodyPr vert="horz" lIns="91440" tIns="45720" rIns="91440" bIns="45720" rtlCol="0" anchor="ctr"/>
          <a:lstStyle>
            <a:lvl1pPr algn="l">
              <a:defRPr sz="504">
                <a:solidFill>
                  <a:schemeClr val="tx1">
                    <a:lumMod val="95000"/>
                    <a:lumOff val="5000"/>
                  </a:schemeClr>
                </a:solidFill>
                <a:latin typeface="+mj-lt"/>
              </a:defRPr>
            </a:lvl1pPr>
          </a:lstStyle>
          <a:p>
            <a:fld id="{BC8D7E44-7D4F-4942-A8C9-2DF6BF8399E8}" type="slidenum">
              <a:rPr lang="en-US" smtClean="0"/>
              <a:pPr/>
              <a:t>‹#›</a:t>
            </a:fld>
            <a:endParaRPr lang="en-US"/>
          </a:p>
        </p:txBody>
      </p:sp>
      <p:cxnSp>
        <p:nvCxnSpPr>
          <p:cNvPr id="7" name="Straight Connector 6"/>
          <p:cNvCxnSpPr/>
          <p:nvPr/>
        </p:nvCxnSpPr>
        <p:spPr>
          <a:xfrm flipV="1">
            <a:off x="288131" y="416988"/>
            <a:ext cx="0" cy="4614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133739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Lst>
  <p:hf hdr="0"/>
  <p:txStyles>
    <p:titleStyle>
      <a:lvl1pPr algn="l" defTabSz="461040" rtl="0" eaLnBrk="1" latinLnBrk="0" hangingPunct="1">
        <a:lnSpc>
          <a:spcPct val="80000"/>
        </a:lnSpc>
        <a:spcBef>
          <a:spcPct val="0"/>
        </a:spcBef>
        <a:buNone/>
        <a:defRPr sz="2218" kern="1200" cap="all" spc="50" baseline="0">
          <a:solidFill>
            <a:schemeClr val="tx1">
              <a:lumMod val="95000"/>
              <a:lumOff val="5000"/>
            </a:schemeClr>
          </a:solidFill>
          <a:latin typeface="+mj-lt"/>
          <a:ea typeface="+mj-ea"/>
          <a:cs typeface="+mj-cs"/>
        </a:defRPr>
      </a:lvl1pPr>
    </p:titleStyle>
    <p:bodyStyle>
      <a:lvl1pPr marL="46104" indent="-46104" algn="l" defTabSz="461040" rtl="0" eaLnBrk="1" latinLnBrk="0" hangingPunct="1">
        <a:lnSpc>
          <a:spcPct val="90000"/>
        </a:lnSpc>
        <a:spcBef>
          <a:spcPts val="605"/>
        </a:spcBef>
        <a:spcAft>
          <a:spcPts val="101"/>
        </a:spcAft>
        <a:buClr>
          <a:schemeClr val="accent1"/>
        </a:buClr>
        <a:buSzPct val="100000"/>
        <a:buFont typeface="Tw Cen MT" panose="020B0602020104020603" pitchFamily="34" charset="0"/>
        <a:buChar char=" "/>
        <a:defRPr sz="1008" kern="1200">
          <a:solidFill>
            <a:schemeClr val="tx1"/>
          </a:solidFill>
          <a:latin typeface="+mn-lt"/>
          <a:ea typeface="+mn-ea"/>
          <a:cs typeface="+mn-cs"/>
        </a:defRPr>
      </a:lvl1pPr>
      <a:lvl2pPr marL="133702" indent="-69156" algn="l" defTabSz="461040" rtl="0" eaLnBrk="1" latinLnBrk="0" hangingPunct="1">
        <a:lnSpc>
          <a:spcPct val="90000"/>
        </a:lnSpc>
        <a:spcBef>
          <a:spcPts val="101"/>
        </a:spcBef>
        <a:spcAft>
          <a:spcPts val="202"/>
        </a:spcAft>
        <a:buClr>
          <a:schemeClr val="accent1"/>
        </a:buClr>
        <a:buFont typeface="Wingdings 3" pitchFamily="18" charset="2"/>
        <a:buChar char=""/>
        <a:defRPr sz="807" kern="1200">
          <a:solidFill>
            <a:schemeClr val="tx1"/>
          </a:solidFill>
          <a:latin typeface="+mn-lt"/>
          <a:ea typeface="+mn-ea"/>
          <a:cs typeface="+mn-cs"/>
        </a:defRPr>
      </a:lvl2pPr>
      <a:lvl3pPr marL="225910" indent="-69156" algn="l" defTabSz="461040" rtl="0" eaLnBrk="1" latinLnBrk="0" hangingPunct="1">
        <a:lnSpc>
          <a:spcPct val="90000"/>
        </a:lnSpc>
        <a:spcBef>
          <a:spcPts val="101"/>
        </a:spcBef>
        <a:spcAft>
          <a:spcPts val="202"/>
        </a:spcAft>
        <a:buClr>
          <a:schemeClr val="accent1"/>
        </a:buClr>
        <a:buFont typeface="Wingdings 3" pitchFamily="18" charset="2"/>
        <a:buChar char=""/>
        <a:defRPr sz="605" kern="1200">
          <a:solidFill>
            <a:schemeClr val="tx1"/>
          </a:solidFill>
          <a:latin typeface="+mn-lt"/>
          <a:ea typeface="+mn-ea"/>
          <a:cs typeface="+mn-cs"/>
        </a:defRPr>
      </a:lvl3pPr>
      <a:lvl4pPr marL="299676" indent="-69156" algn="l" defTabSz="461040" rtl="0" eaLnBrk="1" latinLnBrk="0" hangingPunct="1">
        <a:lnSpc>
          <a:spcPct val="90000"/>
        </a:lnSpc>
        <a:spcBef>
          <a:spcPts val="101"/>
        </a:spcBef>
        <a:spcAft>
          <a:spcPts val="202"/>
        </a:spcAft>
        <a:buClr>
          <a:schemeClr val="accent1"/>
        </a:buClr>
        <a:buFont typeface="Wingdings 3" pitchFamily="18" charset="2"/>
        <a:buChar char=""/>
        <a:defRPr sz="605" kern="1200">
          <a:solidFill>
            <a:schemeClr val="tx1"/>
          </a:solidFill>
          <a:latin typeface="+mn-lt"/>
          <a:ea typeface="+mn-ea"/>
          <a:cs typeface="+mn-cs"/>
        </a:defRPr>
      </a:lvl4pPr>
      <a:lvl5pPr marL="391884" indent="-69156" algn="l" defTabSz="461040" rtl="0" eaLnBrk="1" latinLnBrk="0" hangingPunct="1">
        <a:lnSpc>
          <a:spcPct val="90000"/>
        </a:lnSpc>
        <a:spcBef>
          <a:spcPts val="101"/>
        </a:spcBef>
        <a:spcAft>
          <a:spcPts val="202"/>
        </a:spcAft>
        <a:buClr>
          <a:schemeClr val="accent1"/>
        </a:buClr>
        <a:buFont typeface="Wingdings 3" pitchFamily="18" charset="2"/>
        <a:buChar char=""/>
        <a:defRPr sz="605" kern="1200">
          <a:solidFill>
            <a:schemeClr val="tx1"/>
          </a:solidFill>
          <a:latin typeface="+mn-lt"/>
          <a:ea typeface="+mn-ea"/>
          <a:cs typeface="+mn-cs"/>
        </a:defRPr>
      </a:lvl5pPr>
      <a:lvl6pPr marL="461040" indent="-69156" algn="l" defTabSz="461040" rtl="0" eaLnBrk="1" latinLnBrk="0" hangingPunct="1">
        <a:lnSpc>
          <a:spcPct val="90000"/>
        </a:lnSpc>
        <a:spcBef>
          <a:spcPts val="101"/>
        </a:spcBef>
        <a:spcAft>
          <a:spcPts val="202"/>
        </a:spcAft>
        <a:buClr>
          <a:schemeClr val="accent1"/>
        </a:buClr>
        <a:buFont typeface="Wingdings 3" pitchFamily="18" charset="2"/>
        <a:buChar char=""/>
        <a:defRPr sz="605" kern="1200">
          <a:solidFill>
            <a:schemeClr val="tx1"/>
          </a:solidFill>
          <a:latin typeface="+mn-lt"/>
          <a:ea typeface="+mn-ea"/>
          <a:cs typeface="+mn-cs"/>
        </a:defRPr>
      </a:lvl6pPr>
      <a:lvl7pPr marL="534807" indent="-69156" algn="l" defTabSz="461040" rtl="0" eaLnBrk="1" latinLnBrk="0" hangingPunct="1">
        <a:lnSpc>
          <a:spcPct val="90000"/>
        </a:lnSpc>
        <a:spcBef>
          <a:spcPts val="101"/>
        </a:spcBef>
        <a:spcAft>
          <a:spcPts val="202"/>
        </a:spcAft>
        <a:buClr>
          <a:schemeClr val="accent1"/>
        </a:buClr>
        <a:buFont typeface="Wingdings 3" pitchFamily="18" charset="2"/>
        <a:buChar char=""/>
        <a:defRPr sz="605" kern="1200">
          <a:solidFill>
            <a:schemeClr val="tx1"/>
          </a:solidFill>
          <a:latin typeface="+mn-lt"/>
          <a:ea typeface="+mn-ea"/>
          <a:cs typeface="+mn-cs"/>
        </a:defRPr>
      </a:lvl7pPr>
      <a:lvl8pPr marL="613184" indent="-69156" algn="l" defTabSz="461040" rtl="0" eaLnBrk="1" latinLnBrk="0" hangingPunct="1">
        <a:lnSpc>
          <a:spcPct val="90000"/>
        </a:lnSpc>
        <a:spcBef>
          <a:spcPts val="101"/>
        </a:spcBef>
        <a:spcAft>
          <a:spcPts val="202"/>
        </a:spcAft>
        <a:buClr>
          <a:schemeClr val="accent1"/>
        </a:buClr>
        <a:buFont typeface="Wingdings 3" pitchFamily="18" charset="2"/>
        <a:buChar char=""/>
        <a:defRPr sz="605" kern="1200">
          <a:solidFill>
            <a:schemeClr val="tx1"/>
          </a:solidFill>
          <a:latin typeface="+mn-lt"/>
          <a:ea typeface="+mn-ea"/>
          <a:cs typeface="+mn-cs"/>
        </a:defRPr>
      </a:lvl8pPr>
      <a:lvl9pPr marL="686950" indent="-69156" algn="l" defTabSz="461040" rtl="0" eaLnBrk="1" latinLnBrk="0" hangingPunct="1">
        <a:lnSpc>
          <a:spcPct val="90000"/>
        </a:lnSpc>
        <a:spcBef>
          <a:spcPts val="101"/>
        </a:spcBef>
        <a:spcAft>
          <a:spcPts val="202"/>
        </a:spcAft>
        <a:buClr>
          <a:schemeClr val="accent1"/>
        </a:buClr>
        <a:buFont typeface="Wingdings 3" pitchFamily="18" charset="2"/>
        <a:buChar char=""/>
        <a:defRPr sz="605" kern="1200">
          <a:solidFill>
            <a:schemeClr val="tx1"/>
          </a:solidFill>
          <a:latin typeface="+mn-lt"/>
          <a:ea typeface="+mn-ea"/>
          <a:cs typeface="+mn-cs"/>
        </a:defRPr>
      </a:lvl9pPr>
    </p:bodyStyle>
    <p:otherStyle>
      <a:defPPr>
        <a:defRPr lang="en-US"/>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tensorflow.org/hub/tutorials/semantic_similarity_with_tf_hub_universal_encod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18.xml"/><Relationship Id="rId4" Type="http://schemas.openxmlformats.org/officeDocument/2006/relationships/image" Target="../media/image14.emf"/></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5.emf"/><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78559" y="1772688"/>
            <a:ext cx="1450975" cy="685165"/>
          </a:xfrm>
          <a:prstGeom prst="rect">
            <a:avLst/>
          </a:prstGeom>
        </p:spPr>
        <p:txBody>
          <a:bodyPr vert="horz" wrap="square" lIns="0" tIns="17145" rIns="0" bIns="0" rtlCol="0">
            <a:spAutoFit/>
          </a:bodyPr>
          <a:lstStyle/>
          <a:p>
            <a:pPr algn="ctr">
              <a:lnSpc>
                <a:spcPct val="100000"/>
              </a:lnSpc>
              <a:spcBef>
                <a:spcPts val="135"/>
              </a:spcBef>
            </a:pPr>
            <a:r>
              <a:rPr sz="1400" spc="-25" dirty="0">
                <a:solidFill>
                  <a:srgbClr val="FFFFFF"/>
                </a:solidFill>
                <a:latin typeface="Tahoma"/>
                <a:cs typeface="Tahoma"/>
              </a:rPr>
              <a:t>Lecture</a:t>
            </a:r>
            <a:r>
              <a:rPr sz="1400" spc="-70" dirty="0">
                <a:solidFill>
                  <a:srgbClr val="FFFFFF"/>
                </a:solidFill>
                <a:latin typeface="Tahoma"/>
                <a:cs typeface="Tahoma"/>
              </a:rPr>
              <a:t> </a:t>
            </a:r>
            <a:r>
              <a:rPr sz="1400" spc="-50" dirty="0">
                <a:solidFill>
                  <a:srgbClr val="FFFFFF"/>
                </a:solidFill>
                <a:latin typeface="Tahoma"/>
                <a:cs typeface="Tahoma"/>
              </a:rPr>
              <a:t>2</a:t>
            </a:r>
            <a:endParaRPr sz="1400">
              <a:latin typeface="Tahoma"/>
              <a:cs typeface="Tahoma"/>
            </a:endParaRPr>
          </a:p>
          <a:p>
            <a:pPr>
              <a:lnSpc>
                <a:spcPct val="100000"/>
              </a:lnSpc>
              <a:spcBef>
                <a:spcPts val="470"/>
              </a:spcBef>
            </a:pPr>
            <a:endParaRPr sz="1400">
              <a:latin typeface="Tahoma"/>
              <a:cs typeface="Tahoma"/>
            </a:endParaRPr>
          </a:p>
          <a:p>
            <a:pPr algn="ctr">
              <a:lnSpc>
                <a:spcPct val="100000"/>
              </a:lnSpc>
            </a:pPr>
            <a:r>
              <a:rPr sz="1100" dirty="0">
                <a:solidFill>
                  <a:srgbClr val="FFFFFF"/>
                </a:solidFill>
                <a:latin typeface="Tahoma"/>
                <a:cs typeface="Tahoma"/>
              </a:rPr>
              <a:t>Math</a:t>
            </a:r>
            <a:r>
              <a:rPr sz="1100" spc="20" dirty="0">
                <a:solidFill>
                  <a:srgbClr val="FFFFFF"/>
                </a:solidFill>
                <a:latin typeface="Tahoma"/>
                <a:cs typeface="Tahoma"/>
              </a:rPr>
              <a:t> </a:t>
            </a:r>
            <a:r>
              <a:rPr sz="1100" spc="-35" dirty="0">
                <a:solidFill>
                  <a:srgbClr val="FFFFFF"/>
                </a:solidFill>
                <a:latin typeface="Tahoma"/>
                <a:cs typeface="Tahoma"/>
              </a:rPr>
              <a:t>Foundations</a:t>
            </a:r>
            <a:r>
              <a:rPr sz="1100" spc="25" dirty="0">
                <a:solidFill>
                  <a:srgbClr val="FFFFFF"/>
                </a:solidFill>
                <a:latin typeface="Tahoma"/>
                <a:cs typeface="Tahoma"/>
              </a:rPr>
              <a:t> </a:t>
            </a:r>
            <a:r>
              <a:rPr sz="1100" spc="-20" dirty="0">
                <a:solidFill>
                  <a:srgbClr val="FFFFFF"/>
                </a:solidFill>
                <a:latin typeface="Tahoma"/>
                <a:cs typeface="Tahoma"/>
              </a:rPr>
              <a:t>Team</a:t>
            </a:r>
            <a:endParaRPr sz="1100">
              <a:latin typeface="Tahoma"/>
              <a:cs typeface="Tahoma"/>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Vector</a:t>
            </a:r>
            <a:r>
              <a:rPr spc="-90" dirty="0"/>
              <a:t> </a:t>
            </a:r>
            <a:r>
              <a:rPr spc="-55" dirty="0"/>
              <a:t>Spaces</a:t>
            </a:r>
          </a:p>
        </p:txBody>
      </p:sp>
      <p:sp>
        <p:nvSpPr>
          <p:cNvPr id="3" name="object 3"/>
          <p:cNvSpPr txBox="1"/>
          <p:nvPr/>
        </p:nvSpPr>
        <p:spPr>
          <a:xfrm>
            <a:off x="421957" y="1247761"/>
            <a:ext cx="3785870" cy="784225"/>
          </a:xfrm>
          <a:prstGeom prst="rect">
            <a:avLst/>
          </a:prstGeom>
        </p:spPr>
        <p:txBody>
          <a:bodyPr vert="horz" wrap="square" lIns="0" tIns="6985" rIns="0" bIns="0" rtlCol="0">
            <a:spAutoFit/>
          </a:bodyPr>
          <a:lstStyle/>
          <a:p>
            <a:pPr marL="214629" marR="30480" indent="-177165">
              <a:lnSpc>
                <a:spcPct val="102600"/>
              </a:lnSpc>
              <a:spcBef>
                <a:spcPts val="55"/>
              </a:spcBef>
              <a:buClr>
                <a:srgbClr val="3333B2"/>
              </a:buClr>
              <a:buFont typeface="Lucida Sans Unicode"/>
              <a:buChar char="►"/>
              <a:tabLst>
                <a:tab pos="214629" algn="l"/>
              </a:tabLst>
            </a:pPr>
            <a:r>
              <a:rPr sz="1100" dirty="0">
                <a:latin typeface="Tahoma"/>
                <a:cs typeface="Tahoma"/>
              </a:rPr>
              <a:t>We</a:t>
            </a:r>
            <a:r>
              <a:rPr sz="1100" spc="-50" dirty="0">
                <a:latin typeface="Tahoma"/>
                <a:cs typeface="Tahoma"/>
              </a:rPr>
              <a:t> </a:t>
            </a:r>
            <a:r>
              <a:rPr sz="1100" spc="-45" dirty="0">
                <a:latin typeface="Tahoma"/>
                <a:cs typeface="Tahoma"/>
              </a:rPr>
              <a:t>would</a:t>
            </a:r>
            <a:r>
              <a:rPr sz="1100" spc="-35" dirty="0">
                <a:latin typeface="Tahoma"/>
                <a:cs typeface="Tahoma"/>
              </a:rPr>
              <a:t> </a:t>
            </a:r>
            <a:r>
              <a:rPr sz="1100" spc="-10" dirty="0">
                <a:latin typeface="Tahoma"/>
                <a:cs typeface="Tahoma"/>
              </a:rPr>
              <a:t>like</a:t>
            </a:r>
            <a:r>
              <a:rPr sz="1100" spc="-40" dirty="0">
                <a:latin typeface="Tahoma"/>
                <a:cs typeface="Tahoma"/>
              </a:rPr>
              <a:t> </a:t>
            </a:r>
            <a:r>
              <a:rPr sz="1100" dirty="0">
                <a:latin typeface="Tahoma"/>
                <a:cs typeface="Tahoma"/>
              </a:rPr>
              <a:t>to</a:t>
            </a:r>
            <a:r>
              <a:rPr sz="1100" spc="-45" dirty="0">
                <a:latin typeface="Tahoma"/>
                <a:cs typeface="Tahoma"/>
              </a:rPr>
              <a:t> </a:t>
            </a:r>
            <a:r>
              <a:rPr sz="1100" spc="-10" dirty="0">
                <a:latin typeface="Tahoma"/>
                <a:cs typeface="Tahoma"/>
              </a:rPr>
              <a:t>shift</a:t>
            </a:r>
            <a:r>
              <a:rPr sz="1100" spc="-45" dirty="0">
                <a:latin typeface="Tahoma"/>
                <a:cs typeface="Tahoma"/>
              </a:rPr>
              <a:t> </a:t>
            </a:r>
            <a:r>
              <a:rPr sz="1100" spc="-30" dirty="0">
                <a:latin typeface="Tahoma"/>
                <a:cs typeface="Tahoma"/>
              </a:rPr>
              <a:t>focus</a:t>
            </a:r>
            <a:r>
              <a:rPr sz="1100" spc="-40" dirty="0">
                <a:latin typeface="Tahoma"/>
                <a:cs typeface="Tahoma"/>
              </a:rPr>
              <a:t> </a:t>
            </a:r>
            <a:r>
              <a:rPr sz="1100" spc="-20" dirty="0">
                <a:latin typeface="Tahoma"/>
                <a:cs typeface="Tahoma"/>
              </a:rPr>
              <a:t>from</a:t>
            </a:r>
            <a:r>
              <a:rPr sz="1100" spc="-40" dirty="0">
                <a:latin typeface="Tahoma"/>
                <a:cs typeface="Tahoma"/>
              </a:rPr>
              <a:t> </a:t>
            </a:r>
            <a:r>
              <a:rPr sz="1100" spc="-50" dirty="0">
                <a:latin typeface="Tahoma"/>
                <a:cs typeface="Tahoma"/>
              </a:rPr>
              <a:t>systems</a:t>
            </a:r>
            <a:r>
              <a:rPr sz="1100" spc="-40" dirty="0">
                <a:latin typeface="Tahoma"/>
                <a:cs typeface="Tahoma"/>
              </a:rPr>
              <a:t> </a:t>
            </a:r>
            <a:r>
              <a:rPr sz="1100" dirty="0">
                <a:latin typeface="Tahoma"/>
                <a:cs typeface="Tahoma"/>
              </a:rPr>
              <a:t>of</a:t>
            </a:r>
            <a:r>
              <a:rPr sz="1100" spc="-35" dirty="0">
                <a:latin typeface="Tahoma"/>
                <a:cs typeface="Tahoma"/>
              </a:rPr>
              <a:t> </a:t>
            </a:r>
            <a:r>
              <a:rPr sz="1100" spc="-30" dirty="0">
                <a:latin typeface="Tahoma"/>
                <a:cs typeface="Tahoma"/>
              </a:rPr>
              <a:t>linear</a:t>
            </a:r>
            <a:r>
              <a:rPr sz="1100" spc="-40" dirty="0">
                <a:latin typeface="Tahoma"/>
                <a:cs typeface="Tahoma"/>
              </a:rPr>
              <a:t> </a:t>
            </a:r>
            <a:r>
              <a:rPr sz="1100" spc="-45" dirty="0">
                <a:latin typeface="Tahoma"/>
                <a:cs typeface="Tahoma"/>
              </a:rPr>
              <a:t>equations </a:t>
            </a:r>
            <a:r>
              <a:rPr sz="1100" spc="-35" dirty="0">
                <a:latin typeface="Tahoma"/>
                <a:cs typeface="Tahoma"/>
              </a:rPr>
              <a:t>and </a:t>
            </a:r>
            <a:r>
              <a:rPr sz="1100" spc="-10" dirty="0">
                <a:latin typeface="Tahoma"/>
                <a:cs typeface="Tahoma"/>
              </a:rPr>
              <a:t>their</a:t>
            </a:r>
            <a:r>
              <a:rPr sz="1100" spc="-30" dirty="0">
                <a:latin typeface="Tahoma"/>
                <a:cs typeface="Tahoma"/>
              </a:rPr>
              <a:t> </a:t>
            </a:r>
            <a:r>
              <a:rPr sz="1100" spc="-35" dirty="0">
                <a:latin typeface="Tahoma"/>
                <a:cs typeface="Tahoma"/>
              </a:rPr>
              <a:t>solutions</a:t>
            </a:r>
            <a:r>
              <a:rPr sz="1100" spc="-30" dirty="0">
                <a:latin typeface="Tahoma"/>
                <a:cs typeface="Tahoma"/>
              </a:rPr>
              <a:t> </a:t>
            </a:r>
            <a:r>
              <a:rPr sz="1100" dirty="0">
                <a:latin typeface="Tahoma"/>
                <a:cs typeface="Tahoma"/>
              </a:rPr>
              <a:t>to</a:t>
            </a:r>
            <a:r>
              <a:rPr sz="1100" spc="-35" dirty="0">
                <a:latin typeface="Tahoma"/>
                <a:cs typeface="Tahoma"/>
              </a:rPr>
              <a:t> vector</a:t>
            </a:r>
            <a:r>
              <a:rPr sz="1100" spc="-30" dirty="0">
                <a:latin typeface="Tahoma"/>
                <a:cs typeface="Tahoma"/>
              </a:rPr>
              <a:t> </a:t>
            </a:r>
            <a:r>
              <a:rPr sz="1100" spc="-10" dirty="0">
                <a:latin typeface="Tahoma"/>
                <a:cs typeface="Tahoma"/>
              </a:rPr>
              <a:t>spaces.</a:t>
            </a:r>
            <a:endParaRPr sz="1100" dirty="0">
              <a:latin typeface="Tahoma"/>
              <a:cs typeface="Tahoma"/>
            </a:endParaRPr>
          </a:p>
          <a:p>
            <a:pPr marL="215265" indent="-177165">
              <a:lnSpc>
                <a:spcPct val="100000"/>
              </a:lnSpc>
              <a:spcBef>
                <a:spcPts val="335"/>
              </a:spcBef>
              <a:buClr>
                <a:srgbClr val="3333B2"/>
              </a:buClr>
              <a:buFont typeface="Lucida Sans Unicode"/>
              <a:buChar char="►"/>
              <a:tabLst>
                <a:tab pos="215265" algn="l"/>
              </a:tabLst>
            </a:pPr>
            <a:r>
              <a:rPr sz="1100" spc="-20" dirty="0">
                <a:latin typeface="Tahoma"/>
                <a:cs typeface="Tahoma"/>
              </a:rPr>
              <a:t>Vector</a:t>
            </a:r>
            <a:r>
              <a:rPr sz="1100" spc="-15" dirty="0">
                <a:latin typeface="Tahoma"/>
                <a:cs typeface="Tahoma"/>
              </a:rPr>
              <a:t> </a:t>
            </a:r>
            <a:r>
              <a:rPr sz="1100" spc="-65" dirty="0">
                <a:latin typeface="Tahoma"/>
                <a:cs typeface="Tahoma"/>
              </a:rPr>
              <a:t>spaces</a:t>
            </a:r>
            <a:r>
              <a:rPr sz="1100" spc="-15" dirty="0">
                <a:latin typeface="Tahoma"/>
                <a:cs typeface="Tahoma"/>
              </a:rPr>
              <a:t> </a:t>
            </a:r>
            <a:r>
              <a:rPr sz="1100" spc="-60" dirty="0">
                <a:latin typeface="Tahoma"/>
                <a:cs typeface="Tahoma"/>
              </a:rPr>
              <a:t>are</a:t>
            </a:r>
            <a:r>
              <a:rPr sz="1100" spc="-10" dirty="0">
                <a:latin typeface="Tahoma"/>
                <a:cs typeface="Tahoma"/>
              </a:rPr>
              <a:t> </a:t>
            </a:r>
            <a:r>
              <a:rPr sz="1100" spc="-30" dirty="0">
                <a:latin typeface="Tahoma"/>
                <a:cs typeface="Tahoma"/>
              </a:rPr>
              <a:t>structured</a:t>
            </a:r>
            <a:r>
              <a:rPr sz="1100" spc="-10" dirty="0">
                <a:latin typeface="Tahoma"/>
                <a:cs typeface="Tahoma"/>
              </a:rPr>
              <a:t> </a:t>
            </a:r>
            <a:r>
              <a:rPr sz="1100" spc="-65" dirty="0">
                <a:latin typeface="Tahoma"/>
                <a:cs typeface="Tahoma"/>
              </a:rPr>
              <a:t>spaces</a:t>
            </a:r>
            <a:r>
              <a:rPr sz="1100" spc="-15" dirty="0">
                <a:latin typeface="Tahoma"/>
                <a:cs typeface="Tahoma"/>
              </a:rPr>
              <a:t> </a:t>
            </a:r>
            <a:r>
              <a:rPr lang="en-IN" sz="1100" spc="-15" dirty="0">
                <a:latin typeface="Tahoma"/>
                <a:cs typeface="Tahoma"/>
              </a:rPr>
              <a:t>which contain vectors.</a:t>
            </a:r>
            <a:r>
              <a:rPr sz="1100" spc="-10" dirty="0">
                <a:latin typeface="Tahoma"/>
                <a:cs typeface="Tahoma"/>
              </a:rPr>
              <a:t>.</a:t>
            </a:r>
            <a:endParaRPr sz="1100" dirty="0">
              <a:latin typeface="Tahoma"/>
              <a:cs typeface="Tahoma"/>
            </a:endParaRPr>
          </a:p>
          <a:p>
            <a:pPr marL="215265" indent="-177165">
              <a:lnSpc>
                <a:spcPct val="100000"/>
              </a:lnSpc>
              <a:spcBef>
                <a:spcPts val="334"/>
              </a:spcBef>
              <a:buClr>
                <a:srgbClr val="3333B2"/>
              </a:buClr>
              <a:buFont typeface="Lucida Sans Unicode"/>
              <a:buChar char="►"/>
              <a:tabLst>
                <a:tab pos="215265" algn="l"/>
              </a:tabLst>
            </a:pPr>
            <a:r>
              <a:rPr sz="1100" dirty="0">
                <a:latin typeface="Tahoma"/>
                <a:cs typeface="Tahoma"/>
              </a:rPr>
              <a:t>What</a:t>
            </a:r>
            <a:r>
              <a:rPr sz="1100" spc="-55" dirty="0">
                <a:latin typeface="Tahoma"/>
                <a:cs typeface="Tahoma"/>
              </a:rPr>
              <a:t> </a:t>
            </a:r>
            <a:r>
              <a:rPr sz="1100" spc="-10" dirty="0">
                <a:latin typeface="Tahoma"/>
                <a:cs typeface="Tahoma"/>
              </a:rPr>
              <a:t>do</a:t>
            </a:r>
            <a:r>
              <a:rPr sz="1100" spc="-20" dirty="0">
                <a:latin typeface="Tahoma"/>
                <a:cs typeface="Tahoma"/>
              </a:rPr>
              <a:t> </a:t>
            </a:r>
            <a:r>
              <a:rPr sz="1100" spc="-95" dirty="0">
                <a:latin typeface="Tahoma"/>
                <a:cs typeface="Tahoma"/>
              </a:rPr>
              <a:t>we</a:t>
            </a:r>
            <a:r>
              <a:rPr sz="1100" spc="10" dirty="0">
                <a:latin typeface="Tahoma"/>
                <a:cs typeface="Tahoma"/>
              </a:rPr>
              <a:t> </a:t>
            </a:r>
            <a:r>
              <a:rPr sz="1100" spc="-60" dirty="0">
                <a:latin typeface="Tahoma"/>
                <a:cs typeface="Tahoma"/>
              </a:rPr>
              <a:t>mean</a:t>
            </a:r>
            <a:r>
              <a:rPr sz="1100" spc="-20" dirty="0">
                <a:latin typeface="Tahoma"/>
                <a:cs typeface="Tahoma"/>
              </a:rPr>
              <a:t> </a:t>
            </a:r>
            <a:r>
              <a:rPr sz="1100" spc="-35" dirty="0">
                <a:latin typeface="Tahoma"/>
                <a:cs typeface="Tahoma"/>
              </a:rPr>
              <a:t>by</a:t>
            </a:r>
            <a:r>
              <a:rPr sz="1100" spc="-25" dirty="0">
                <a:latin typeface="Tahoma"/>
                <a:cs typeface="Tahoma"/>
              </a:rPr>
              <a:t> </a:t>
            </a:r>
            <a:r>
              <a:rPr sz="1100" spc="-10" dirty="0">
                <a:latin typeface="Tahoma"/>
                <a:cs typeface="Tahoma"/>
              </a:rPr>
              <a:t>”structure”</a:t>
            </a:r>
            <a:r>
              <a:rPr sz="1100" spc="-25" dirty="0">
                <a:latin typeface="Tahoma"/>
                <a:cs typeface="Tahoma"/>
              </a:rPr>
              <a:t> </a:t>
            </a:r>
            <a:r>
              <a:rPr sz="1100" spc="-10" dirty="0">
                <a:latin typeface="Tahoma"/>
                <a:cs typeface="Tahoma"/>
              </a:rPr>
              <a:t>here?</a:t>
            </a:r>
            <a:endParaRPr sz="1100" dirty="0">
              <a:latin typeface="Tahoma"/>
              <a:cs typeface="Tahoma"/>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72527"/>
            <a:ext cx="546100" cy="244475"/>
          </a:xfrm>
          <a:prstGeom prst="rect">
            <a:avLst/>
          </a:prstGeom>
        </p:spPr>
        <p:txBody>
          <a:bodyPr vert="horz" wrap="square" lIns="0" tIns="17145" rIns="0" bIns="0" rtlCol="0">
            <a:spAutoFit/>
          </a:bodyPr>
          <a:lstStyle/>
          <a:p>
            <a:pPr marL="12700">
              <a:lnSpc>
                <a:spcPct val="100000"/>
              </a:lnSpc>
              <a:spcBef>
                <a:spcPts val="135"/>
              </a:spcBef>
            </a:pPr>
            <a:r>
              <a:rPr spc="-45" dirty="0"/>
              <a:t>Groups</a:t>
            </a:r>
          </a:p>
        </p:txBody>
      </p:sp>
      <p:sp>
        <p:nvSpPr>
          <p:cNvPr id="3" name="object 3"/>
          <p:cNvSpPr txBox="1"/>
          <p:nvPr/>
        </p:nvSpPr>
        <p:spPr>
          <a:xfrm>
            <a:off x="421957" y="656588"/>
            <a:ext cx="3825875" cy="2443361"/>
          </a:xfrm>
          <a:prstGeom prst="rect">
            <a:avLst/>
          </a:prstGeom>
        </p:spPr>
        <p:txBody>
          <a:bodyPr vert="horz" wrap="square" lIns="0" tIns="6985" rIns="0" bIns="0" rtlCol="0">
            <a:spAutoFit/>
          </a:bodyPr>
          <a:lstStyle/>
          <a:p>
            <a:pPr marL="214629" marR="60960" indent="-177165">
              <a:lnSpc>
                <a:spcPct val="102600"/>
              </a:lnSpc>
              <a:spcBef>
                <a:spcPts val="55"/>
              </a:spcBef>
              <a:buClr>
                <a:srgbClr val="3333B2"/>
              </a:buClr>
              <a:buFont typeface="Lucida Sans Unicode"/>
              <a:buChar char="►"/>
              <a:tabLst>
                <a:tab pos="214629" algn="l"/>
              </a:tabLst>
            </a:pPr>
            <a:endParaRPr lang="en-IN" sz="1100" dirty="0">
              <a:latin typeface="Tahoma"/>
              <a:cs typeface="Tahoma"/>
            </a:endParaRPr>
          </a:p>
          <a:p>
            <a:pPr marL="214629" marR="60960" indent="-177165">
              <a:lnSpc>
                <a:spcPct val="102600"/>
              </a:lnSpc>
              <a:spcBef>
                <a:spcPts val="55"/>
              </a:spcBef>
              <a:buClr>
                <a:srgbClr val="3333B2"/>
              </a:buClr>
              <a:buFont typeface="Lucida Sans Unicode"/>
              <a:buChar char="►"/>
              <a:tabLst>
                <a:tab pos="214629" algn="l"/>
              </a:tabLst>
            </a:pPr>
            <a:r>
              <a:rPr sz="1100" dirty="0">
                <a:latin typeface="Tahoma"/>
                <a:cs typeface="Tahoma"/>
              </a:rPr>
              <a:t>We</a:t>
            </a:r>
            <a:r>
              <a:rPr sz="1100" spc="-55" dirty="0">
                <a:latin typeface="Tahoma"/>
                <a:cs typeface="Tahoma"/>
              </a:rPr>
              <a:t> </a:t>
            </a:r>
            <a:r>
              <a:rPr sz="1100" spc="-40" dirty="0">
                <a:latin typeface="Tahoma"/>
                <a:cs typeface="Tahoma"/>
              </a:rPr>
              <a:t>already</a:t>
            </a:r>
            <a:r>
              <a:rPr sz="1100" spc="-45" dirty="0">
                <a:latin typeface="Tahoma"/>
                <a:cs typeface="Tahoma"/>
              </a:rPr>
              <a:t> </a:t>
            </a:r>
            <a:r>
              <a:rPr sz="1100" spc="-55" dirty="0">
                <a:latin typeface="Tahoma"/>
                <a:cs typeface="Tahoma"/>
              </a:rPr>
              <a:t>have</a:t>
            </a:r>
            <a:r>
              <a:rPr sz="1100" spc="-30" dirty="0">
                <a:latin typeface="Tahoma"/>
                <a:cs typeface="Tahoma"/>
              </a:rPr>
              <a:t> </a:t>
            </a:r>
            <a:r>
              <a:rPr sz="1100" spc="-60" dirty="0">
                <a:latin typeface="Tahoma"/>
                <a:cs typeface="Tahoma"/>
              </a:rPr>
              <a:t>some</a:t>
            </a:r>
            <a:r>
              <a:rPr sz="1100" spc="-30" dirty="0">
                <a:latin typeface="Tahoma"/>
                <a:cs typeface="Tahoma"/>
              </a:rPr>
              <a:t> </a:t>
            </a:r>
            <a:r>
              <a:rPr sz="1100" spc="-20" dirty="0">
                <a:latin typeface="Tahoma"/>
                <a:cs typeface="Tahoma"/>
              </a:rPr>
              <a:t>notion</a:t>
            </a:r>
            <a:r>
              <a:rPr sz="1100" spc="-35" dirty="0">
                <a:latin typeface="Tahoma"/>
                <a:cs typeface="Tahoma"/>
              </a:rPr>
              <a:t> </a:t>
            </a:r>
            <a:r>
              <a:rPr sz="1100" spc="-20" dirty="0">
                <a:latin typeface="Tahoma"/>
                <a:cs typeface="Tahoma"/>
              </a:rPr>
              <a:t>about</a:t>
            </a:r>
            <a:r>
              <a:rPr sz="1100" spc="-45" dirty="0">
                <a:latin typeface="Tahoma"/>
                <a:cs typeface="Tahoma"/>
              </a:rPr>
              <a:t> </a:t>
            </a:r>
            <a:r>
              <a:rPr sz="1100" spc="-10" dirty="0">
                <a:latin typeface="Tahoma"/>
                <a:cs typeface="Tahoma"/>
              </a:rPr>
              <a:t>the</a:t>
            </a:r>
            <a:r>
              <a:rPr sz="1100" spc="-35" dirty="0">
                <a:latin typeface="Tahoma"/>
                <a:cs typeface="Tahoma"/>
              </a:rPr>
              <a:t> </a:t>
            </a:r>
            <a:r>
              <a:rPr sz="1100" spc="-30" dirty="0">
                <a:latin typeface="Tahoma"/>
                <a:cs typeface="Tahoma"/>
              </a:rPr>
              <a:t>structure</a:t>
            </a:r>
            <a:r>
              <a:rPr sz="1100" spc="-40" dirty="0">
                <a:latin typeface="Tahoma"/>
                <a:cs typeface="Tahoma"/>
              </a:rPr>
              <a:t> </a:t>
            </a:r>
            <a:r>
              <a:rPr sz="1100" dirty="0">
                <a:latin typeface="Tahoma"/>
                <a:cs typeface="Tahoma"/>
              </a:rPr>
              <a:t>of</a:t>
            </a:r>
            <a:r>
              <a:rPr sz="1100" spc="-35" dirty="0">
                <a:latin typeface="Tahoma"/>
                <a:cs typeface="Tahoma"/>
              </a:rPr>
              <a:t> </a:t>
            </a:r>
            <a:r>
              <a:rPr sz="1100" dirty="0">
                <a:latin typeface="Tahoma"/>
                <a:cs typeface="Tahoma"/>
              </a:rPr>
              <a:t>a</a:t>
            </a:r>
            <a:r>
              <a:rPr sz="1100" spc="-40" dirty="0">
                <a:latin typeface="Tahoma"/>
                <a:cs typeface="Tahoma"/>
              </a:rPr>
              <a:t> vector </a:t>
            </a:r>
            <a:r>
              <a:rPr sz="1100" spc="-55" dirty="0">
                <a:latin typeface="Tahoma"/>
                <a:cs typeface="Tahoma"/>
              </a:rPr>
              <a:t>space,</a:t>
            </a:r>
            <a:r>
              <a:rPr sz="1100" spc="-30" dirty="0">
                <a:latin typeface="Tahoma"/>
                <a:cs typeface="Tahoma"/>
              </a:rPr>
              <a:t> </a:t>
            </a:r>
            <a:r>
              <a:rPr sz="1100" spc="-20" dirty="0">
                <a:latin typeface="Tahoma"/>
                <a:cs typeface="Tahoma"/>
              </a:rPr>
              <a:t>i.e</a:t>
            </a:r>
            <a:r>
              <a:rPr sz="1100" spc="-30" dirty="0">
                <a:latin typeface="Tahoma"/>
                <a:cs typeface="Tahoma"/>
              </a:rPr>
              <a:t> </a:t>
            </a:r>
            <a:r>
              <a:rPr sz="1100" spc="-35" dirty="0">
                <a:latin typeface="Tahoma"/>
                <a:cs typeface="Tahoma"/>
              </a:rPr>
              <a:t>adding </a:t>
            </a:r>
            <a:r>
              <a:rPr sz="1100" spc="-40" dirty="0">
                <a:latin typeface="Tahoma"/>
                <a:cs typeface="Tahoma"/>
              </a:rPr>
              <a:t>two</a:t>
            </a:r>
            <a:r>
              <a:rPr sz="1100" spc="-30" dirty="0">
                <a:latin typeface="Tahoma"/>
                <a:cs typeface="Tahoma"/>
              </a:rPr>
              <a:t> </a:t>
            </a:r>
            <a:r>
              <a:rPr sz="1100" spc="-45" dirty="0">
                <a:latin typeface="Tahoma"/>
                <a:cs typeface="Tahoma"/>
              </a:rPr>
              <a:t>vectors</a:t>
            </a:r>
            <a:r>
              <a:rPr sz="1100" spc="-30" dirty="0">
                <a:latin typeface="Tahoma"/>
                <a:cs typeface="Tahoma"/>
              </a:rPr>
              <a:t> </a:t>
            </a:r>
            <a:r>
              <a:rPr sz="1100" spc="-35" dirty="0">
                <a:latin typeface="Tahoma"/>
                <a:cs typeface="Tahoma"/>
              </a:rPr>
              <a:t>returns</a:t>
            </a:r>
            <a:r>
              <a:rPr sz="1100" spc="-30" dirty="0">
                <a:latin typeface="Tahoma"/>
                <a:cs typeface="Tahoma"/>
              </a:rPr>
              <a:t> </a:t>
            </a:r>
            <a:r>
              <a:rPr sz="1100" dirty="0">
                <a:latin typeface="Tahoma"/>
                <a:cs typeface="Tahoma"/>
              </a:rPr>
              <a:t>a</a:t>
            </a:r>
            <a:r>
              <a:rPr sz="1100" spc="-30" dirty="0">
                <a:latin typeface="Tahoma"/>
                <a:cs typeface="Tahoma"/>
              </a:rPr>
              <a:t> </a:t>
            </a:r>
            <a:r>
              <a:rPr sz="1100" spc="-35" dirty="0">
                <a:latin typeface="Tahoma"/>
                <a:cs typeface="Tahoma"/>
              </a:rPr>
              <a:t>vector,</a:t>
            </a:r>
            <a:r>
              <a:rPr sz="1100" spc="-30" dirty="0">
                <a:latin typeface="Tahoma"/>
                <a:cs typeface="Tahoma"/>
              </a:rPr>
              <a:t> </a:t>
            </a:r>
            <a:r>
              <a:rPr sz="1100" spc="-20" dirty="0">
                <a:latin typeface="Tahoma"/>
                <a:cs typeface="Tahoma"/>
              </a:rPr>
              <a:t>multiplying</a:t>
            </a:r>
            <a:r>
              <a:rPr sz="1100" spc="-30" dirty="0">
                <a:latin typeface="Tahoma"/>
                <a:cs typeface="Tahoma"/>
              </a:rPr>
              <a:t> </a:t>
            </a:r>
            <a:r>
              <a:rPr sz="1100" spc="-50" dirty="0">
                <a:latin typeface="Tahoma"/>
                <a:cs typeface="Tahoma"/>
              </a:rPr>
              <a:t>a </a:t>
            </a:r>
            <a:r>
              <a:rPr sz="1100" spc="-35" dirty="0">
                <a:latin typeface="Tahoma"/>
                <a:cs typeface="Tahoma"/>
              </a:rPr>
              <a:t>vector</a:t>
            </a:r>
            <a:r>
              <a:rPr sz="1100" spc="-45" dirty="0">
                <a:latin typeface="Tahoma"/>
                <a:cs typeface="Tahoma"/>
              </a:rPr>
              <a:t> </a:t>
            </a:r>
            <a:r>
              <a:rPr sz="1100" spc="-35" dirty="0">
                <a:latin typeface="Tahoma"/>
                <a:cs typeface="Tahoma"/>
              </a:rPr>
              <a:t>by</a:t>
            </a:r>
            <a:r>
              <a:rPr sz="1100" spc="-40" dirty="0">
                <a:latin typeface="Tahoma"/>
                <a:cs typeface="Tahoma"/>
              </a:rPr>
              <a:t> </a:t>
            </a:r>
            <a:r>
              <a:rPr sz="1100" dirty="0">
                <a:latin typeface="Tahoma"/>
                <a:cs typeface="Tahoma"/>
              </a:rPr>
              <a:t>a</a:t>
            </a:r>
            <a:r>
              <a:rPr sz="1100" spc="-45" dirty="0">
                <a:latin typeface="Tahoma"/>
                <a:cs typeface="Tahoma"/>
              </a:rPr>
              <a:t> </a:t>
            </a:r>
            <a:r>
              <a:rPr sz="1100" spc="-35" dirty="0">
                <a:latin typeface="Tahoma"/>
                <a:cs typeface="Tahoma"/>
              </a:rPr>
              <a:t>scalar</a:t>
            </a:r>
            <a:r>
              <a:rPr sz="1100" spc="-40" dirty="0">
                <a:latin typeface="Tahoma"/>
                <a:cs typeface="Tahoma"/>
              </a:rPr>
              <a:t> </a:t>
            </a:r>
            <a:r>
              <a:rPr sz="1100" spc="-25" dirty="0">
                <a:latin typeface="Tahoma"/>
                <a:cs typeface="Tahoma"/>
              </a:rPr>
              <a:t>also</a:t>
            </a:r>
            <a:r>
              <a:rPr sz="1100" spc="-45" dirty="0">
                <a:latin typeface="Tahoma"/>
                <a:cs typeface="Tahoma"/>
              </a:rPr>
              <a:t> </a:t>
            </a:r>
            <a:r>
              <a:rPr sz="1100" spc="-35" dirty="0">
                <a:latin typeface="Tahoma"/>
                <a:cs typeface="Tahoma"/>
              </a:rPr>
              <a:t>returns</a:t>
            </a:r>
            <a:r>
              <a:rPr sz="1100" spc="-40" dirty="0">
                <a:latin typeface="Tahoma"/>
                <a:cs typeface="Tahoma"/>
              </a:rPr>
              <a:t> </a:t>
            </a:r>
            <a:r>
              <a:rPr sz="1100" dirty="0">
                <a:latin typeface="Tahoma"/>
                <a:cs typeface="Tahoma"/>
              </a:rPr>
              <a:t>a</a:t>
            </a:r>
            <a:r>
              <a:rPr sz="1100" spc="-40" dirty="0">
                <a:latin typeface="Tahoma"/>
                <a:cs typeface="Tahoma"/>
              </a:rPr>
              <a:t> </a:t>
            </a:r>
            <a:r>
              <a:rPr sz="1100" spc="-10" dirty="0">
                <a:latin typeface="Tahoma"/>
                <a:cs typeface="Tahoma"/>
              </a:rPr>
              <a:t>vector.</a:t>
            </a:r>
            <a:endParaRPr sz="1100" dirty="0">
              <a:latin typeface="Tahoma"/>
              <a:cs typeface="Tahoma"/>
            </a:endParaRPr>
          </a:p>
          <a:p>
            <a:pPr marL="215265" indent="-177165">
              <a:lnSpc>
                <a:spcPct val="100000"/>
              </a:lnSpc>
              <a:spcBef>
                <a:spcPts val="335"/>
              </a:spcBef>
              <a:buClr>
                <a:srgbClr val="3333B2"/>
              </a:buClr>
              <a:buFont typeface="Lucida Sans Unicode"/>
              <a:buChar char="►"/>
              <a:tabLst>
                <a:tab pos="215265" algn="l"/>
              </a:tabLst>
            </a:pPr>
            <a:r>
              <a:rPr sz="1100" dirty="0">
                <a:latin typeface="Tahoma"/>
                <a:cs typeface="Tahoma"/>
              </a:rPr>
              <a:t>To</a:t>
            </a:r>
            <a:r>
              <a:rPr sz="1100" spc="-70" dirty="0">
                <a:latin typeface="Tahoma"/>
                <a:cs typeface="Tahoma"/>
              </a:rPr>
              <a:t> </a:t>
            </a:r>
            <a:r>
              <a:rPr sz="1100" spc="-35" dirty="0">
                <a:latin typeface="Tahoma"/>
                <a:cs typeface="Tahoma"/>
              </a:rPr>
              <a:t>formalize</a:t>
            </a:r>
            <a:r>
              <a:rPr sz="1100" spc="-30" dirty="0">
                <a:latin typeface="Tahoma"/>
                <a:cs typeface="Tahoma"/>
              </a:rPr>
              <a:t> </a:t>
            </a:r>
            <a:r>
              <a:rPr sz="1100" spc="-50" dirty="0">
                <a:latin typeface="Tahoma"/>
                <a:cs typeface="Tahoma"/>
              </a:rPr>
              <a:t>these</a:t>
            </a:r>
            <a:r>
              <a:rPr sz="1100" spc="-25" dirty="0">
                <a:latin typeface="Tahoma"/>
                <a:cs typeface="Tahoma"/>
              </a:rPr>
              <a:t> </a:t>
            </a:r>
            <a:r>
              <a:rPr sz="1100" spc="-35" dirty="0">
                <a:latin typeface="Tahoma"/>
                <a:cs typeface="Tahoma"/>
              </a:rPr>
              <a:t>notions,</a:t>
            </a:r>
            <a:r>
              <a:rPr sz="1100" spc="-30" dirty="0">
                <a:latin typeface="Tahoma"/>
                <a:cs typeface="Tahoma"/>
              </a:rPr>
              <a:t> </a:t>
            </a:r>
            <a:r>
              <a:rPr sz="1100" spc="-95" dirty="0">
                <a:latin typeface="Tahoma"/>
                <a:cs typeface="Tahoma"/>
              </a:rPr>
              <a:t>we</a:t>
            </a:r>
            <a:r>
              <a:rPr sz="1100" spc="10" dirty="0">
                <a:latin typeface="Tahoma"/>
                <a:cs typeface="Tahoma"/>
              </a:rPr>
              <a:t> </a:t>
            </a:r>
            <a:r>
              <a:rPr sz="1100" spc="-60" dirty="0">
                <a:latin typeface="Tahoma"/>
                <a:cs typeface="Tahoma"/>
              </a:rPr>
              <a:t>need</a:t>
            </a:r>
            <a:r>
              <a:rPr sz="1100" spc="-30" dirty="0">
                <a:latin typeface="Tahoma"/>
                <a:cs typeface="Tahoma"/>
              </a:rPr>
              <a:t> </a:t>
            </a:r>
            <a:r>
              <a:rPr sz="1100" spc="-10" dirty="0">
                <a:latin typeface="Tahoma"/>
                <a:cs typeface="Tahoma"/>
              </a:rPr>
              <a:t>the</a:t>
            </a:r>
            <a:r>
              <a:rPr sz="1100" spc="-25" dirty="0">
                <a:latin typeface="Tahoma"/>
                <a:cs typeface="Tahoma"/>
              </a:rPr>
              <a:t> </a:t>
            </a:r>
            <a:r>
              <a:rPr sz="1100" spc="-35" dirty="0">
                <a:latin typeface="Tahoma"/>
                <a:cs typeface="Tahoma"/>
              </a:rPr>
              <a:t>concept </a:t>
            </a:r>
            <a:r>
              <a:rPr sz="1100" dirty="0">
                <a:latin typeface="Tahoma"/>
                <a:cs typeface="Tahoma"/>
              </a:rPr>
              <a:t>of</a:t>
            </a:r>
            <a:r>
              <a:rPr sz="1100" spc="-25" dirty="0">
                <a:latin typeface="Tahoma"/>
                <a:cs typeface="Tahoma"/>
              </a:rPr>
              <a:t> </a:t>
            </a:r>
            <a:r>
              <a:rPr sz="1100" dirty="0">
                <a:latin typeface="Tahoma"/>
                <a:cs typeface="Tahoma"/>
              </a:rPr>
              <a:t>a</a:t>
            </a:r>
            <a:r>
              <a:rPr sz="1100" spc="-30" dirty="0">
                <a:latin typeface="Tahoma"/>
                <a:cs typeface="Tahoma"/>
              </a:rPr>
              <a:t> </a:t>
            </a:r>
            <a:r>
              <a:rPr sz="1100" i="1" spc="-10" dirty="0">
                <a:latin typeface="Arial"/>
                <a:cs typeface="Arial"/>
              </a:rPr>
              <a:t>Group</a:t>
            </a:r>
            <a:endParaRPr sz="1100" dirty="0">
              <a:latin typeface="Arial"/>
              <a:cs typeface="Arial"/>
            </a:endParaRPr>
          </a:p>
          <a:p>
            <a:pPr marL="214629" marR="30480" indent="-177165">
              <a:lnSpc>
                <a:spcPts val="1200"/>
              </a:lnSpc>
              <a:spcBef>
                <a:spcPts val="315"/>
              </a:spcBef>
              <a:buClr>
                <a:srgbClr val="3333B2"/>
              </a:buClr>
              <a:buFont typeface="Lucida Sans Unicode"/>
              <a:buChar char="►"/>
              <a:tabLst>
                <a:tab pos="214629" algn="l"/>
              </a:tabLst>
            </a:pPr>
            <a:r>
              <a:rPr sz="1100" i="1" dirty="0">
                <a:latin typeface="Arial"/>
                <a:cs typeface="Arial"/>
              </a:rPr>
              <a:t>A</a:t>
            </a:r>
            <a:r>
              <a:rPr sz="1100" i="1" spc="-70" dirty="0">
                <a:latin typeface="Arial"/>
                <a:cs typeface="Arial"/>
              </a:rPr>
              <a:t> </a:t>
            </a:r>
            <a:r>
              <a:rPr sz="1100" i="1" spc="-45" dirty="0">
                <a:latin typeface="Arial"/>
                <a:cs typeface="Arial"/>
              </a:rPr>
              <a:t>Group</a:t>
            </a:r>
            <a:r>
              <a:rPr sz="1100" i="1" spc="-30" dirty="0">
                <a:latin typeface="Arial"/>
                <a:cs typeface="Arial"/>
              </a:rPr>
              <a:t> </a:t>
            </a:r>
            <a:r>
              <a:rPr sz="1100" i="1" spc="-10" dirty="0">
                <a:latin typeface="Arial"/>
                <a:cs typeface="Arial"/>
              </a:rPr>
              <a:t>is</a:t>
            </a:r>
            <a:r>
              <a:rPr sz="1100" i="1" spc="-65" dirty="0">
                <a:latin typeface="Arial"/>
                <a:cs typeface="Arial"/>
              </a:rPr>
              <a:t> </a:t>
            </a:r>
            <a:r>
              <a:rPr sz="1100" i="1" dirty="0">
                <a:latin typeface="Arial"/>
                <a:cs typeface="Arial"/>
              </a:rPr>
              <a:t>a</a:t>
            </a:r>
            <a:r>
              <a:rPr sz="1100" i="1" spc="-40" dirty="0">
                <a:latin typeface="Arial"/>
                <a:cs typeface="Arial"/>
              </a:rPr>
              <a:t> </a:t>
            </a:r>
            <a:r>
              <a:rPr sz="1100" i="1" spc="-25" dirty="0">
                <a:latin typeface="Arial"/>
                <a:cs typeface="Arial"/>
              </a:rPr>
              <a:t>set</a:t>
            </a:r>
            <a:r>
              <a:rPr sz="1100" i="1" spc="-15" dirty="0">
                <a:latin typeface="Arial"/>
                <a:cs typeface="Arial"/>
              </a:rPr>
              <a:t> </a:t>
            </a:r>
            <a:r>
              <a:rPr sz="1100" i="1" dirty="0">
                <a:latin typeface="Arial"/>
                <a:cs typeface="Arial"/>
              </a:rPr>
              <a:t>G</a:t>
            </a:r>
            <a:r>
              <a:rPr sz="1100" i="1" spc="85" dirty="0">
                <a:latin typeface="Arial"/>
                <a:cs typeface="Arial"/>
              </a:rPr>
              <a:t> </a:t>
            </a:r>
            <a:r>
              <a:rPr sz="1100" i="1" spc="-45" dirty="0">
                <a:latin typeface="Arial"/>
                <a:cs typeface="Arial"/>
              </a:rPr>
              <a:t>and</a:t>
            </a:r>
            <a:r>
              <a:rPr sz="1100" i="1" spc="-15" dirty="0">
                <a:latin typeface="Arial"/>
                <a:cs typeface="Arial"/>
              </a:rPr>
              <a:t> </a:t>
            </a:r>
            <a:r>
              <a:rPr sz="1100" i="1" spc="-20" dirty="0">
                <a:latin typeface="Arial"/>
                <a:cs typeface="Arial"/>
              </a:rPr>
              <a:t>an</a:t>
            </a:r>
            <a:r>
              <a:rPr sz="1100" i="1" spc="-15" dirty="0">
                <a:latin typeface="Arial"/>
                <a:cs typeface="Arial"/>
              </a:rPr>
              <a:t> </a:t>
            </a:r>
            <a:r>
              <a:rPr sz="1100" i="1" spc="-30" dirty="0">
                <a:latin typeface="Arial"/>
                <a:cs typeface="Arial"/>
              </a:rPr>
              <a:t>operation</a:t>
            </a:r>
            <a:r>
              <a:rPr sz="1100" i="1" spc="-15" dirty="0">
                <a:latin typeface="Arial"/>
                <a:cs typeface="Arial"/>
              </a:rPr>
              <a:t> </a:t>
            </a:r>
            <a:r>
              <a:rPr sz="1100" dirty="0">
                <a:latin typeface="Lucida Sans Unicode"/>
                <a:cs typeface="Lucida Sans Unicode"/>
              </a:rPr>
              <a:t>⊗</a:t>
            </a:r>
            <a:r>
              <a:rPr sz="1100" spc="-85" dirty="0">
                <a:latin typeface="Lucida Sans Unicode"/>
                <a:cs typeface="Lucida Sans Unicode"/>
              </a:rPr>
              <a:t> </a:t>
            </a:r>
            <a:r>
              <a:rPr sz="1100" spc="-90" dirty="0">
                <a:latin typeface="Tahoma"/>
                <a:cs typeface="Tahoma"/>
              </a:rPr>
              <a:t>:</a:t>
            </a:r>
            <a:r>
              <a:rPr sz="1100" spc="-40" dirty="0">
                <a:latin typeface="Tahoma"/>
                <a:cs typeface="Tahoma"/>
              </a:rPr>
              <a:t> </a:t>
            </a:r>
            <a:r>
              <a:rPr sz="1100" i="1" dirty="0">
                <a:latin typeface="Arial"/>
                <a:cs typeface="Arial"/>
              </a:rPr>
              <a:t>G</a:t>
            </a:r>
            <a:r>
              <a:rPr sz="1100" i="1" spc="-5" dirty="0">
                <a:latin typeface="Arial"/>
                <a:cs typeface="Arial"/>
              </a:rPr>
              <a:t> </a:t>
            </a:r>
            <a:r>
              <a:rPr sz="1100" spc="-35" dirty="0">
                <a:latin typeface="Lucida Sans Unicode"/>
                <a:cs typeface="Lucida Sans Unicode"/>
              </a:rPr>
              <a:t>×</a:t>
            </a:r>
            <a:r>
              <a:rPr sz="1100" spc="-105" dirty="0">
                <a:latin typeface="Lucida Sans Unicode"/>
                <a:cs typeface="Lucida Sans Unicode"/>
              </a:rPr>
              <a:t> </a:t>
            </a:r>
            <a:r>
              <a:rPr sz="1100" i="1" dirty="0">
                <a:latin typeface="Arial"/>
                <a:cs typeface="Arial"/>
              </a:rPr>
              <a:t>G</a:t>
            </a:r>
            <a:r>
              <a:rPr sz="1100" i="1" spc="40" dirty="0">
                <a:latin typeface="Arial"/>
                <a:cs typeface="Arial"/>
              </a:rPr>
              <a:t> </a:t>
            </a:r>
            <a:r>
              <a:rPr sz="1100" dirty="0">
                <a:latin typeface="Lucida Sans Unicode"/>
                <a:cs typeface="Lucida Sans Unicode"/>
              </a:rPr>
              <a:t>→</a:t>
            </a:r>
            <a:r>
              <a:rPr sz="1100" spc="-90" dirty="0">
                <a:latin typeface="Lucida Sans Unicode"/>
                <a:cs typeface="Lucida Sans Unicode"/>
              </a:rPr>
              <a:t> </a:t>
            </a:r>
            <a:r>
              <a:rPr sz="1100" i="1" dirty="0">
                <a:latin typeface="Arial"/>
                <a:cs typeface="Arial"/>
              </a:rPr>
              <a:t>G</a:t>
            </a:r>
            <a:r>
              <a:rPr sz="1100" i="1" spc="90" dirty="0">
                <a:latin typeface="Arial"/>
                <a:cs typeface="Arial"/>
              </a:rPr>
              <a:t> </a:t>
            </a:r>
            <a:r>
              <a:rPr sz="1100" i="1" spc="-30" dirty="0">
                <a:latin typeface="Arial"/>
                <a:cs typeface="Arial"/>
              </a:rPr>
              <a:t>defined </a:t>
            </a:r>
            <a:r>
              <a:rPr sz="1100" i="1" dirty="0">
                <a:latin typeface="Arial"/>
                <a:cs typeface="Arial"/>
              </a:rPr>
              <a:t>on</a:t>
            </a:r>
            <a:r>
              <a:rPr sz="1100" i="1" spc="-35" dirty="0">
                <a:latin typeface="Arial"/>
                <a:cs typeface="Arial"/>
              </a:rPr>
              <a:t> </a:t>
            </a:r>
            <a:r>
              <a:rPr sz="1100" i="1" dirty="0">
                <a:latin typeface="Arial"/>
                <a:cs typeface="Arial"/>
              </a:rPr>
              <a:t>G.</a:t>
            </a:r>
            <a:r>
              <a:rPr sz="1100" i="1" spc="90" dirty="0">
                <a:latin typeface="Arial"/>
                <a:cs typeface="Arial"/>
              </a:rPr>
              <a:t> </a:t>
            </a:r>
            <a:r>
              <a:rPr sz="1100" i="1" spc="-20" dirty="0">
                <a:latin typeface="Arial"/>
                <a:cs typeface="Arial"/>
              </a:rPr>
              <a:t>Then</a:t>
            </a:r>
            <a:r>
              <a:rPr sz="1100" i="1" spc="-5" dirty="0">
                <a:latin typeface="Arial"/>
                <a:cs typeface="Arial"/>
              </a:rPr>
              <a:t> </a:t>
            </a:r>
            <a:r>
              <a:rPr sz="1100" dirty="0">
                <a:latin typeface="Tahoma"/>
                <a:cs typeface="Tahoma"/>
              </a:rPr>
              <a:t>(</a:t>
            </a:r>
            <a:r>
              <a:rPr sz="1100" i="1" dirty="0">
                <a:latin typeface="Arial"/>
                <a:cs typeface="Arial"/>
              </a:rPr>
              <a:t>G</a:t>
            </a:r>
            <a:r>
              <a:rPr sz="1100" i="1" dirty="0">
                <a:latin typeface="Calibri"/>
                <a:cs typeface="Calibri"/>
              </a:rPr>
              <a:t>,</a:t>
            </a:r>
            <a:r>
              <a:rPr sz="1100" i="1" spc="-70" dirty="0">
                <a:latin typeface="Calibri"/>
                <a:cs typeface="Calibri"/>
              </a:rPr>
              <a:t> </a:t>
            </a:r>
            <a:r>
              <a:rPr sz="1100" dirty="0">
                <a:latin typeface="Lucida Sans Unicode"/>
                <a:cs typeface="Lucida Sans Unicode"/>
              </a:rPr>
              <a:t>⊗</a:t>
            </a:r>
            <a:r>
              <a:rPr sz="1100" dirty="0">
                <a:latin typeface="Tahoma"/>
                <a:cs typeface="Tahoma"/>
              </a:rPr>
              <a:t>)</a:t>
            </a:r>
            <a:r>
              <a:rPr sz="1100" spc="-40" dirty="0">
                <a:latin typeface="Tahoma"/>
                <a:cs typeface="Tahoma"/>
              </a:rPr>
              <a:t> </a:t>
            </a:r>
            <a:r>
              <a:rPr sz="1100" i="1" spc="-10" dirty="0">
                <a:latin typeface="Arial"/>
                <a:cs typeface="Arial"/>
              </a:rPr>
              <a:t>is</a:t>
            </a:r>
            <a:r>
              <a:rPr sz="1100" i="1" spc="-5" dirty="0">
                <a:latin typeface="Arial"/>
                <a:cs typeface="Arial"/>
              </a:rPr>
              <a:t> </a:t>
            </a:r>
            <a:r>
              <a:rPr sz="1100" i="1" spc="-40" dirty="0">
                <a:latin typeface="Arial"/>
                <a:cs typeface="Arial"/>
              </a:rPr>
              <a:t>called</a:t>
            </a:r>
            <a:r>
              <a:rPr sz="1100" i="1" spc="-5" dirty="0">
                <a:latin typeface="Arial"/>
                <a:cs typeface="Arial"/>
              </a:rPr>
              <a:t> </a:t>
            </a:r>
            <a:r>
              <a:rPr sz="1100" i="1" dirty="0">
                <a:latin typeface="Arial"/>
                <a:cs typeface="Arial"/>
              </a:rPr>
              <a:t>a</a:t>
            </a:r>
            <a:r>
              <a:rPr sz="1100" i="1" spc="-5" dirty="0">
                <a:latin typeface="Arial"/>
                <a:cs typeface="Arial"/>
              </a:rPr>
              <a:t> </a:t>
            </a:r>
            <a:r>
              <a:rPr sz="1100" i="1" spc="-30" dirty="0">
                <a:latin typeface="Arial"/>
                <a:cs typeface="Arial"/>
              </a:rPr>
              <a:t>group</a:t>
            </a:r>
            <a:r>
              <a:rPr sz="1100" i="1" dirty="0">
                <a:latin typeface="Arial"/>
                <a:cs typeface="Arial"/>
              </a:rPr>
              <a:t> if</a:t>
            </a:r>
            <a:r>
              <a:rPr sz="1100" i="1" spc="-5" dirty="0">
                <a:latin typeface="Arial"/>
                <a:cs typeface="Arial"/>
              </a:rPr>
              <a:t> </a:t>
            </a:r>
            <a:r>
              <a:rPr sz="1100" i="1" dirty="0">
                <a:latin typeface="Arial"/>
                <a:cs typeface="Arial"/>
              </a:rPr>
              <a:t>the</a:t>
            </a:r>
            <a:r>
              <a:rPr sz="1100" i="1" spc="-5" dirty="0">
                <a:latin typeface="Arial"/>
                <a:cs typeface="Arial"/>
              </a:rPr>
              <a:t> </a:t>
            </a:r>
            <a:r>
              <a:rPr sz="1100" i="1" spc="-10" dirty="0">
                <a:latin typeface="Arial"/>
                <a:cs typeface="Arial"/>
              </a:rPr>
              <a:t>following </a:t>
            </a:r>
            <a:r>
              <a:rPr sz="1100" i="1" spc="-40" dirty="0">
                <a:latin typeface="Arial"/>
                <a:cs typeface="Arial"/>
              </a:rPr>
              <a:t>properties</a:t>
            </a:r>
            <a:r>
              <a:rPr sz="1100" i="1" spc="-10" dirty="0">
                <a:latin typeface="Arial"/>
                <a:cs typeface="Arial"/>
              </a:rPr>
              <a:t> </a:t>
            </a:r>
            <a:r>
              <a:rPr sz="1100" i="1" spc="-20" dirty="0">
                <a:latin typeface="Arial"/>
                <a:cs typeface="Arial"/>
              </a:rPr>
              <a:t>hold:</a:t>
            </a:r>
            <a:endParaRPr sz="1100" dirty="0">
              <a:latin typeface="Arial"/>
              <a:cs typeface="Arial"/>
            </a:endParaRPr>
          </a:p>
          <a:p>
            <a:pPr marL="490220" lvl="1" indent="-165735">
              <a:lnSpc>
                <a:spcPts val="1200"/>
              </a:lnSpc>
              <a:spcBef>
                <a:spcPts val="145"/>
              </a:spcBef>
              <a:buClr>
                <a:srgbClr val="3333B2"/>
              </a:buClr>
              <a:buFont typeface="Lucida Sans Unicode"/>
              <a:buChar char="►"/>
              <a:tabLst>
                <a:tab pos="490220" algn="l"/>
              </a:tabLst>
            </a:pPr>
            <a:r>
              <a:rPr sz="1000" i="1" spc="-50" dirty="0">
                <a:latin typeface="Arial"/>
                <a:cs typeface="Arial"/>
              </a:rPr>
              <a:t>Closure</a:t>
            </a:r>
            <a:r>
              <a:rPr sz="1000" i="1" spc="-20" dirty="0">
                <a:latin typeface="Arial"/>
                <a:cs typeface="Arial"/>
              </a:rPr>
              <a:t> </a:t>
            </a:r>
            <a:r>
              <a:rPr sz="1000" i="1" dirty="0">
                <a:latin typeface="Arial"/>
                <a:cs typeface="Arial"/>
              </a:rPr>
              <a:t>of</a:t>
            </a:r>
            <a:r>
              <a:rPr sz="1000" i="1" spc="-50" dirty="0">
                <a:latin typeface="Arial"/>
                <a:cs typeface="Arial"/>
              </a:rPr>
              <a:t> </a:t>
            </a:r>
            <a:r>
              <a:rPr sz="1000" i="1" dirty="0">
                <a:latin typeface="Arial"/>
                <a:cs typeface="Arial"/>
              </a:rPr>
              <a:t>G</a:t>
            </a:r>
            <a:r>
              <a:rPr sz="1000" i="1" spc="125" dirty="0">
                <a:latin typeface="Arial"/>
                <a:cs typeface="Arial"/>
              </a:rPr>
              <a:t> </a:t>
            </a:r>
            <a:r>
              <a:rPr sz="1000" i="1" spc="-30" dirty="0">
                <a:latin typeface="Arial"/>
                <a:cs typeface="Arial"/>
              </a:rPr>
              <a:t>under</a:t>
            </a:r>
            <a:r>
              <a:rPr sz="1000" i="1" spc="20" dirty="0">
                <a:latin typeface="Arial"/>
                <a:cs typeface="Arial"/>
              </a:rPr>
              <a:t> </a:t>
            </a:r>
            <a:r>
              <a:rPr sz="1000" dirty="0">
                <a:latin typeface="Lucida Sans Unicode"/>
                <a:cs typeface="Lucida Sans Unicode"/>
              </a:rPr>
              <a:t>⊗</a:t>
            </a:r>
            <a:r>
              <a:rPr sz="1000" i="1" dirty="0">
                <a:latin typeface="Arial"/>
                <a:cs typeface="Arial"/>
              </a:rPr>
              <a:t>:</a:t>
            </a:r>
            <a:r>
              <a:rPr sz="1000" i="1" spc="120" dirty="0">
                <a:latin typeface="Arial"/>
                <a:cs typeface="Arial"/>
              </a:rPr>
              <a:t> </a:t>
            </a:r>
            <a:r>
              <a:rPr sz="1000" spc="-95" dirty="0">
                <a:latin typeface="Lucida Sans Unicode"/>
                <a:cs typeface="Lucida Sans Unicode"/>
              </a:rPr>
              <a:t>∀</a:t>
            </a:r>
            <a:r>
              <a:rPr sz="1000" i="1" spc="-95" dirty="0">
                <a:latin typeface="Arial"/>
                <a:cs typeface="Arial"/>
              </a:rPr>
              <a:t>x</a:t>
            </a:r>
            <a:r>
              <a:rPr sz="1000" i="1" spc="-95" dirty="0">
                <a:latin typeface="Calibri"/>
                <a:cs typeface="Calibri"/>
              </a:rPr>
              <a:t>,</a:t>
            </a:r>
            <a:r>
              <a:rPr sz="1000" i="1" spc="-60" dirty="0">
                <a:latin typeface="Calibri"/>
                <a:cs typeface="Calibri"/>
              </a:rPr>
              <a:t> </a:t>
            </a:r>
            <a:r>
              <a:rPr sz="1000" i="1" dirty="0">
                <a:latin typeface="Arial"/>
                <a:cs typeface="Arial"/>
              </a:rPr>
              <a:t>y</a:t>
            </a:r>
            <a:r>
              <a:rPr sz="1000" i="1" spc="65" dirty="0">
                <a:latin typeface="Arial"/>
                <a:cs typeface="Arial"/>
              </a:rPr>
              <a:t> </a:t>
            </a:r>
            <a:r>
              <a:rPr sz="1000" spc="-150" dirty="0">
                <a:latin typeface="Lucida Sans Unicode"/>
                <a:cs typeface="Lucida Sans Unicode"/>
              </a:rPr>
              <a:t>∈</a:t>
            </a:r>
            <a:r>
              <a:rPr sz="1000" spc="-40" dirty="0">
                <a:latin typeface="Lucida Sans Unicode"/>
                <a:cs typeface="Lucida Sans Unicode"/>
              </a:rPr>
              <a:t> </a:t>
            </a:r>
            <a:r>
              <a:rPr sz="1000" i="1" dirty="0">
                <a:latin typeface="Arial"/>
                <a:cs typeface="Arial"/>
              </a:rPr>
              <a:t>G</a:t>
            </a:r>
            <a:r>
              <a:rPr sz="1000" i="1" dirty="0">
                <a:latin typeface="Calibri"/>
                <a:cs typeface="Calibri"/>
              </a:rPr>
              <a:t>,</a:t>
            </a:r>
            <a:r>
              <a:rPr sz="1000" i="1" spc="-60" dirty="0">
                <a:latin typeface="Calibri"/>
                <a:cs typeface="Calibri"/>
              </a:rPr>
              <a:t> </a:t>
            </a:r>
            <a:r>
              <a:rPr sz="1000" i="1" dirty="0">
                <a:latin typeface="Arial"/>
                <a:cs typeface="Arial"/>
              </a:rPr>
              <a:t>x</a:t>
            </a:r>
            <a:r>
              <a:rPr sz="1000" i="1" spc="5" dirty="0">
                <a:latin typeface="Arial"/>
                <a:cs typeface="Arial"/>
              </a:rPr>
              <a:t> </a:t>
            </a:r>
            <a:r>
              <a:rPr sz="1000" spc="-40" dirty="0">
                <a:latin typeface="Lucida Sans Unicode"/>
                <a:cs typeface="Lucida Sans Unicode"/>
              </a:rPr>
              <a:t>⊗</a:t>
            </a:r>
            <a:r>
              <a:rPr sz="1000" spc="-95" dirty="0">
                <a:latin typeface="Lucida Sans Unicode"/>
                <a:cs typeface="Lucida Sans Unicode"/>
              </a:rPr>
              <a:t> </a:t>
            </a:r>
            <a:r>
              <a:rPr sz="1000" i="1" dirty="0">
                <a:latin typeface="Arial"/>
                <a:cs typeface="Arial"/>
              </a:rPr>
              <a:t>y</a:t>
            </a:r>
            <a:r>
              <a:rPr sz="1000" i="1" spc="70" dirty="0">
                <a:latin typeface="Arial"/>
                <a:cs typeface="Arial"/>
              </a:rPr>
              <a:t> </a:t>
            </a:r>
            <a:r>
              <a:rPr sz="1000" spc="-150" dirty="0">
                <a:latin typeface="Lucida Sans Unicode"/>
                <a:cs typeface="Lucida Sans Unicode"/>
              </a:rPr>
              <a:t>∈</a:t>
            </a:r>
            <a:r>
              <a:rPr sz="1000" spc="-40" dirty="0">
                <a:latin typeface="Lucida Sans Unicode"/>
                <a:cs typeface="Lucida Sans Unicode"/>
              </a:rPr>
              <a:t> </a:t>
            </a:r>
            <a:r>
              <a:rPr sz="1000" i="1" spc="-50" dirty="0">
                <a:latin typeface="Arial"/>
                <a:cs typeface="Arial"/>
              </a:rPr>
              <a:t>G</a:t>
            </a:r>
            <a:endParaRPr sz="1000" dirty="0">
              <a:latin typeface="Arial"/>
              <a:cs typeface="Arial"/>
            </a:endParaRPr>
          </a:p>
          <a:p>
            <a:pPr marL="490220" lvl="1" indent="-165735">
              <a:lnSpc>
                <a:spcPts val="1195"/>
              </a:lnSpc>
              <a:buClr>
                <a:srgbClr val="3333B2"/>
              </a:buClr>
              <a:buFont typeface="Lucida Sans Unicode"/>
              <a:buChar char="►"/>
              <a:tabLst>
                <a:tab pos="490220" algn="l"/>
              </a:tabLst>
            </a:pPr>
            <a:r>
              <a:rPr sz="1000" i="1" spc="-20" dirty="0">
                <a:latin typeface="Arial"/>
                <a:cs typeface="Arial"/>
              </a:rPr>
              <a:t>Associativity:</a:t>
            </a:r>
            <a:r>
              <a:rPr sz="1000" i="1" spc="95" dirty="0">
                <a:latin typeface="Arial"/>
                <a:cs typeface="Arial"/>
              </a:rPr>
              <a:t> </a:t>
            </a:r>
            <a:r>
              <a:rPr sz="1000" spc="-95" dirty="0">
                <a:latin typeface="Lucida Sans Unicode"/>
                <a:cs typeface="Lucida Sans Unicode"/>
              </a:rPr>
              <a:t>∀</a:t>
            </a:r>
            <a:r>
              <a:rPr sz="1000" i="1" spc="-95" dirty="0">
                <a:latin typeface="Arial"/>
                <a:cs typeface="Arial"/>
              </a:rPr>
              <a:t>x</a:t>
            </a:r>
            <a:r>
              <a:rPr sz="1000" i="1" spc="-95" dirty="0">
                <a:latin typeface="Calibri"/>
                <a:cs typeface="Calibri"/>
              </a:rPr>
              <a:t>,</a:t>
            </a:r>
            <a:r>
              <a:rPr sz="1000" i="1" spc="-60" dirty="0">
                <a:latin typeface="Calibri"/>
                <a:cs typeface="Calibri"/>
              </a:rPr>
              <a:t> </a:t>
            </a:r>
            <a:r>
              <a:rPr sz="1000" i="1" dirty="0">
                <a:latin typeface="Arial"/>
                <a:cs typeface="Arial"/>
              </a:rPr>
              <a:t>y</a:t>
            </a:r>
            <a:r>
              <a:rPr sz="1000" i="1" dirty="0">
                <a:latin typeface="Calibri"/>
                <a:cs typeface="Calibri"/>
              </a:rPr>
              <a:t>,</a:t>
            </a:r>
            <a:r>
              <a:rPr sz="1000" i="1" spc="-60" dirty="0">
                <a:latin typeface="Calibri"/>
                <a:cs typeface="Calibri"/>
              </a:rPr>
              <a:t> </a:t>
            </a:r>
            <a:r>
              <a:rPr sz="1000" i="1" dirty="0">
                <a:latin typeface="Arial"/>
                <a:cs typeface="Arial"/>
              </a:rPr>
              <a:t>z</a:t>
            </a:r>
            <a:r>
              <a:rPr sz="1000" i="1" spc="75" dirty="0">
                <a:latin typeface="Arial"/>
                <a:cs typeface="Arial"/>
              </a:rPr>
              <a:t> </a:t>
            </a:r>
            <a:r>
              <a:rPr sz="1000" spc="-150" dirty="0">
                <a:latin typeface="Lucida Sans Unicode"/>
                <a:cs typeface="Lucida Sans Unicode"/>
              </a:rPr>
              <a:t>∈</a:t>
            </a:r>
            <a:r>
              <a:rPr sz="1000" spc="-40" dirty="0">
                <a:latin typeface="Lucida Sans Unicode"/>
                <a:cs typeface="Lucida Sans Unicode"/>
              </a:rPr>
              <a:t> </a:t>
            </a:r>
            <a:r>
              <a:rPr sz="1000" i="1" dirty="0">
                <a:latin typeface="Arial"/>
                <a:cs typeface="Arial"/>
              </a:rPr>
              <a:t>G</a:t>
            </a:r>
            <a:r>
              <a:rPr sz="1000" i="1" dirty="0">
                <a:latin typeface="Calibri"/>
                <a:cs typeface="Calibri"/>
              </a:rPr>
              <a:t>,</a:t>
            </a:r>
            <a:r>
              <a:rPr sz="1000" i="1" spc="-60" dirty="0">
                <a:latin typeface="Calibri"/>
                <a:cs typeface="Calibri"/>
              </a:rPr>
              <a:t> </a:t>
            </a:r>
            <a:r>
              <a:rPr sz="1000" dirty="0">
                <a:latin typeface="Tahoma"/>
                <a:cs typeface="Tahoma"/>
              </a:rPr>
              <a:t>(</a:t>
            </a:r>
            <a:r>
              <a:rPr sz="1000" i="1" dirty="0">
                <a:latin typeface="Arial"/>
                <a:cs typeface="Arial"/>
              </a:rPr>
              <a:t>x</a:t>
            </a:r>
            <a:r>
              <a:rPr sz="1000" i="1" spc="25" dirty="0">
                <a:latin typeface="Arial"/>
                <a:cs typeface="Arial"/>
              </a:rPr>
              <a:t> </a:t>
            </a:r>
            <a:r>
              <a:rPr sz="1000" spc="-40" dirty="0">
                <a:latin typeface="Lucida Sans Unicode"/>
                <a:cs typeface="Lucida Sans Unicode"/>
              </a:rPr>
              <a:t>⊗</a:t>
            </a:r>
            <a:r>
              <a:rPr sz="1000" spc="-95" dirty="0">
                <a:latin typeface="Lucida Sans Unicode"/>
                <a:cs typeface="Lucida Sans Unicode"/>
              </a:rPr>
              <a:t> </a:t>
            </a:r>
            <a:r>
              <a:rPr sz="1000" i="1" spc="-45" dirty="0">
                <a:latin typeface="Arial"/>
                <a:cs typeface="Arial"/>
              </a:rPr>
              <a:t>y</a:t>
            </a:r>
            <a:r>
              <a:rPr sz="1000" i="1" spc="-170" dirty="0">
                <a:latin typeface="Arial"/>
                <a:cs typeface="Arial"/>
              </a:rPr>
              <a:t> </a:t>
            </a:r>
            <a:r>
              <a:rPr sz="1000" spc="-10" dirty="0">
                <a:latin typeface="Tahoma"/>
                <a:cs typeface="Tahoma"/>
              </a:rPr>
              <a:t>)</a:t>
            </a:r>
            <a:r>
              <a:rPr sz="1000" spc="-95" dirty="0">
                <a:latin typeface="Tahoma"/>
                <a:cs typeface="Tahoma"/>
              </a:rPr>
              <a:t> </a:t>
            </a:r>
            <a:r>
              <a:rPr sz="1000" spc="-40" dirty="0">
                <a:latin typeface="Lucida Sans Unicode"/>
                <a:cs typeface="Lucida Sans Unicode"/>
              </a:rPr>
              <a:t>⊗</a:t>
            </a:r>
            <a:r>
              <a:rPr sz="1000" spc="-95" dirty="0">
                <a:latin typeface="Lucida Sans Unicode"/>
                <a:cs typeface="Lucida Sans Unicode"/>
              </a:rPr>
              <a:t> </a:t>
            </a:r>
            <a:r>
              <a:rPr sz="1000" i="1" dirty="0">
                <a:latin typeface="Arial"/>
                <a:cs typeface="Arial"/>
              </a:rPr>
              <a:t>z</a:t>
            </a:r>
            <a:r>
              <a:rPr sz="1000" i="1" spc="75" dirty="0">
                <a:latin typeface="Arial"/>
                <a:cs typeface="Arial"/>
              </a:rPr>
              <a:t> </a:t>
            </a:r>
            <a:r>
              <a:rPr sz="1000" dirty="0">
                <a:latin typeface="Tahoma"/>
                <a:cs typeface="Tahoma"/>
              </a:rPr>
              <a:t>=</a:t>
            </a:r>
            <a:r>
              <a:rPr sz="1000" spc="-40" dirty="0">
                <a:latin typeface="Tahoma"/>
                <a:cs typeface="Tahoma"/>
              </a:rPr>
              <a:t> </a:t>
            </a:r>
            <a:r>
              <a:rPr sz="1000" i="1" dirty="0">
                <a:latin typeface="Arial"/>
                <a:cs typeface="Arial"/>
              </a:rPr>
              <a:t>x</a:t>
            </a:r>
            <a:r>
              <a:rPr sz="1000" i="1" spc="25" dirty="0">
                <a:latin typeface="Arial"/>
                <a:cs typeface="Arial"/>
              </a:rPr>
              <a:t> </a:t>
            </a:r>
            <a:r>
              <a:rPr sz="1000" spc="-40" dirty="0">
                <a:latin typeface="Lucida Sans Unicode"/>
                <a:cs typeface="Lucida Sans Unicode"/>
              </a:rPr>
              <a:t>⊗</a:t>
            </a:r>
            <a:r>
              <a:rPr sz="1000" spc="-95" dirty="0">
                <a:latin typeface="Lucida Sans Unicode"/>
                <a:cs typeface="Lucida Sans Unicode"/>
              </a:rPr>
              <a:t> </a:t>
            </a:r>
            <a:r>
              <a:rPr sz="1000" dirty="0">
                <a:latin typeface="Tahoma"/>
                <a:cs typeface="Tahoma"/>
              </a:rPr>
              <a:t>(</a:t>
            </a:r>
            <a:r>
              <a:rPr sz="1000" i="1" dirty="0">
                <a:latin typeface="Arial"/>
                <a:cs typeface="Arial"/>
              </a:rPr>
              <a:t>y</a:t>
            </a:r>
            <a:r>
              <a:rPr sz="1000" i="1" spc="40" dirty="0">
                <a:latin typeface="Arial"/>
                <a:cs typeface="Arial"/>
              </a:rPr>
              <a:t> </a:t>
            </a:r>
            <a:r>
              <a:rPr sz="1000" spc="-40" dirty="0">
                <a:latin typeface="Lucida Sans Unicode"/>
                <a:cs typeface="Lucida Sans Unicode"/>
              </a:rPr>
              <a:t>⊗</a:t>
            </a:r>
            <a:r>
              <a:rPr sz="1000" spc="-95" dirty="0">
                <a:latin typeface="Lucida Sans Unicode"/>
                <a:cs typeface="Lucida Sans Unicode"/>
              </a:rPr>
              <a:t> </a:t>
            </a:r>
            <a:r>
              <a:rPr sz="1000" i="1" spc="-70" dirty="0">
                <a:latin typeface="Arial"/>
                <a:cs typeface="Arial"/>
              </a:rPr>
              <a:t>z</a:t>
            </a:r>
            <a:r>
              <a:rPr sz="1000" i="1" spc="-190" dirty="0">
                <a:latin typeface="Arial"/>
                <a:cs typeface="Arial"/>
              </a:rPr>
              <a:t> </a:t>
            </a:r>
            <a:r>
              <a:rPr sz="1000" spc="-50" dirty="0">
                <a:latin typeface="Tahoma"/>
                <a:cs typeface="Tahoma"/>
              </a:rPr>
              <a:t>)</a:t>
            </a:r>
            <a:endParaRPr sz="1000" dirty="0">
              <a:latin typeface="Tahoma"/>
              <a:cs typeface="Tahoma"/>
            </a:endParaRPr>
          </a:p>
          <a:p>
            <a:pPr marL="490220" lvl="1" indent="-165735">
              <a:lnSpc>
                <a:spcPts val="1195"/>
              </a:lnSpc>
              <a:buClr>
                <a:srgbClr val="3333B2"/>
              </a:buClr>
              <a:buFont typeface="Lucida Sans Unicode"/>
              <a:buChar char="►"/>
              <a:tabLst>
                <a:tab pos="490220" algn="l"/>
              </a:tabLst>
            </a:pPr>
            <a:r>
              <a:rPr sz="1000" i="1" spc="-10" dirty="0">
                <a:latin typeface="Arial"/>
                <a:cs typeface="Arial"/>
              </a:rPr>
              <a:t>Neutral</a:t>
            </a:r>
            <a:r>
              <a:rPr sz="1000" i="1" spc="-60" dirty="0">
                <a:latin typeface="Arial"/>
                <a:cs typeface="Arial"/>
              </a:rPr>
              <a:t> </a:t>
            </a:r>
            <a:r>
              <a:rPr sz="1000" i="1" dirty="0">
                <a:latin typeface="Arial"/>
                <a:cs typeface="Arial"/>
              </a:rPr>
              <a:t>or</a:t>
            </a:r>
            <a:r>
              <a:rPr sz="1000" i="1" spc="-65" dirty="0">
                <a:latin typeface="Arial"/>
                <a:cs typeface="Arial"/>
              </a:rPr>
              <a:t> </a:t>
            </a:r>
            <a:r>
              <a:rPr sz="1000" i="1" dirty="0">
                <a:latin typeface="Arial"/>
                <a:cs typeface="Arial"/>
              </a:rPr>
              <a:t>Identity</a:t>
            </a:r>
            <a:r>
              <a:rPr sz="1000" i="1" spc="-60" dirty="0">
                <a:latin typeface="Arial"/>
                <a:cs typeface="Arial"/>
              </a:rPr>
              <a:t> </a:t>
            </a:r>
            <a:r>
              <a:rPr sz="1000" i="1" spc="-30" dirty="0">
                <a:latin typeface="Arial"/>
                <a:cs typeface="Arial"/>
              </a:rPr>
              <a:t>element:</a:t>
            </a:r>
            <a:r>
              <a:rPr sz="1000" i="1" spc="105" dirty="0">
                <a:latin typeface="Arial"/>
                <a:cs typeface="Arial"/>
              </a:rPr>
              <a:t> </a:t>
            </a:r>
            <a:r>
              <a:rPr sz="1000" spc="-150" dirty="0">
                <a:latin typeface="Lucida Sans Unicode"/>
                <a:cs typeface="Lucida Sans Unicode"/>
              </a:rPr>
              <a:t>∋</a:t>
            </a:r>
            <a:r>
              <a:rPr sz="1000" spc="-40" dirty="0">
                <a:latin typeface="Lucida Sans Unicode"/>
                <a:cs typeface="Lucida Sans Unicode"/>
              </a:rPr>
              <a:t> </a:t>
            </a:r>
            <a:r>
              <a:rPr sz="1000" i="1" dirty="0">
                <a:latin typeface="Arial"/>
                <a:cs typeface="Arial"/>
              </a:rPr>
              <a:t>e</a:t>
            </a:r>
            <a:r>
              <a:rPr sz="1000" i="1" spc="20" dirty="0">
                <a:latin typeface="Arial"/>
                <a:cs typeface="Arial"/>
              </a:rPr>
              <a:t> </a:t>
            </a:r>
            <a:r>
              <a:rPr sz="1000" spc="-150" dirty="0">
                <a:latin typeface="Lucida Sans Unicode"/>
                <a:cs typeface="Lucida Sans Unicode"/>
              </a:rPr>
              <a:t>∈</a:t>
            </a:r>
            <a:r>
              <a:rPr sz="1000" spc="-40" dirty="0">
                <a:latin typeface="Lucida Sans Unicode"/>
                <a:cs typeface="Lucida Sans Unicode"/>
              </a:rPr>
              <a:t> </a:t>
            </a:r>
            <a:r>
              <a:rPr sz="1000" i="1" dirty="0">
                <a:latin typeface="Arial"/>
                <a:cs typeface="Arial"/>
              </a:rPr>
              <a:t>G</a:t>
            </a:r>
            <a:r>
              <a:rPr sz="1000" i="1" dirty="0">
                <a:latin typeface="Calibri"/>
                <a:cs typeface="Calibri"/>
              </a:rPr>
              <a:t>,</a:t>
            </a:r>
            <a:r>
              <a:rPr sz="1000" i="1" spc="-60" dirty="0">
                <a:latin typeface="Calibri"/>
                <a:cs typeface="Calibri"/>
              </a:rPr>
              <a:t> </a:t>
            </a:r>
            <a:r>
              <a:rPr sz="1000" spc="-200" dirty="0">
                <a:latin typeface="Lucida Sans Unicode"/>
                <a:cs typeface="Lucida Sans Unicode"/>
              </a:rPr>
              <a:t>∀</a:t>
            </a:r>
            <a:r>
              <a:rPr sz="1000" i="1" spc="-200" dirty="0">
                <a:latin typeface="Arial"/>
                <a:cs typeface="Arial"/>
              </a:rPr>
              <a:t>x</a:t>
            </a:r>
            <a:r>
              <a:rPr sz="1000" i="1" spc="90" dirty="0">
                <a:latin typeface="Arial"/>
                <a:cs typeface="Arial"/>
              </a:rPr>
              <a:t> </a:t>
            </a:r>
            <a:r>
              <a:rPr sz="1000" spc="-150" dirty="0">
                <a:latin typeface="Lucida Sans Unicode"/>
                <a:cs typeface="Lucida Sans Unicode"/>
              </a:rPr>
              <a:t>∈</a:t>
            </a:r>
            <a:r>
              <a:rPr sz="1000" spc="-40" dirty="0">
                <a:latin typeface="Lucida Sans Unicode"/>
                <a:cs typeface="Lucida Sans Unicode"/>
              </a:rPr>
              <a:t> </a:t>
            </a:r>
            <a:r>
              <a:rPr sz="1000" i="1" dirty="0">
                <a:latin typeface="Arial"/>
                <a:cs typeface="Arial"/>
              </a:rPr>
              <a:t>G</a:t>
            </a:r>
            <a:r>
              <a:rPr sz="1000" i="1" spc="65" dirty="0">
                <a:latin typeface="Arial"/>
                <a:cs typeface="Arial"/>
              </a:rPr>
              <a:t> </a:t>
            </a:r>
            <a:r>
              <a:rPr sz="1000" i="1" dirty="0">
                <a:latin typeface="Arial"/>
                <a:cs typeface="Arial"/>
              </a:rPr>
              <a:t>x</a:t>
            </a:r>
            <a:r>
              <a:rPr sz="1000" i="1" spc="-5" dirty="0">
                <a:latin typeface="Arial"/>
                <a:cs typeface="Arial"/>
              </a:rPr>
              <a:t> </a:t>
            </a:r>
            <a:r>
              <a:rPr sz="1000" spc="-40" dirty="0">
                <a:latin typeface="Lucida Sans Unicode"/>
                <a:cs typeface="Lucida Sans Unicode"/>
              </a:rPr>
              <a:t>⊗</a:t>
            </a:r>
            <a:r>
              <a:rPr sz="1000" spc="-95" dirty="0">
                <a:latin typeface="Lucida Sans Unicode"/>
                <a:cs typeface="Lucida Sans Unicode"/>
              </a:rPr>
              <a:t> </a:t>
            </a:r>
            <a:r>
              <a:rPr sz="1000" i="1" dirty="0">
                <a:latin typeface="Arial"/>
                <a:cs typeface="Arial"/>
              </a:rPr>
              <a:t>e</a:t>
            </a:r>
            <a:r>
              <a:rPr sz="1000" i="1" spc="20" dirty="0">
                <a:latin typeface="Arial"/>
                <a:cs typeface="Arial"/>
              </a:rPr>
              <a:t> </a:t>
            </a:r>
            <a:r>
              <a:rPr sz="1000" dirty="0">
                <a:latin typeface="Tahoma"/>
                <a:cs typeface="Tahoma"/>
              </a:rPr>
              <a:t>=</a:t>
            </a:r>
            <a:r>
              <a:rPr sz="1000" spc="-70" dirty="0">
                <a:latin typeface="Tahoma"/>
                <a:cs typeface="Tahoma"/>
              </a:rPr>
              <a:t> </a:t>
            </a:r>
            <a:r>
              <a:rPr sz="1000" i="1" spc="-50" dirty="0">
                <a:latin typeface="Arial"/>
                <a:cs typeface="Arial"/>
              </a:rPr>
              <a:t>x</a:t>
            </a:r>
            <a:endParaRPr sz="1000" dirty="0">
              <a:latin typeface="Arial"/>
              <a:cs typeface="Arial"/>
            </a:endParaRPr>
          </a:p>
          <a:p>
            <a:pPr marL="490220" lvl="1" indent="-165735">
              <a:lnSpc>
                <a:spcPts val="1200"/>
              </a:lnSpc>
              <a:buClr>
                <a:srgbClr val="3333B2"/>
              </a:buClr>
              <a:buFont typeface="Lucida Sans Unicode"/>
              <a:buChar char="►"/>
              <a:tabLst>
                <a:tab pos="490220" algn="l"/>
              </a:tabLst>
            </a:pPr>
            <a:r>
              <a:rPr sz="1000" i="1" spc="-60" dirty="0">
                <a:latin typeface="Arial"/>
                <a:cs typeface="Arial"/>
              </a:rPr>
              <a:t>Inverse</a:t>
            </a:r>
            <a:r>
              <a:rPr sz="1000" i="1" spc="-10" dirty="0">
                <a:latin typeface="Arial"/>
                <a:cs typeface="Arial"/>
              </a:rPr>
              <a:t> </a:t>
            </a:r>
            <a:r>
              <a:rPr sz="1000" i="1" spc="-30" dirty="0">
                <a:latin typeface="Arial"/>
                <a:cs typeface="Arial"/>
              </a:rPr>
              <a:t>element:</a:t>
            </a:r>
            <a:r>
              <a:rPr sz="1000" i="1" spc="150" dirty="0">
                <a:latin typeface="Arial"/>
                <a:cs typeface="Arial"/>
              </a:rPr>
              <a:t> </a:t>
            </a:r>
            <a:r>
              <a:rPr sz="1000" spc="-200" dirty="0">
                <a:latin typeface="Lucida Sans Unicode"/>
                <a:cs typeface="Lucida Sans Unicode"/>
              </a:rPr>
              <a:t>∀</a:t>
            </a:r>
            <a:r>
              <a:rPr sz="1000" i="1" spc="-200" dirty="0">
                <a:latin typeface="Arial"/>
                <a:cs typeface="Arial"/>
              </a:rPr>
              <a:t>x</a:t>
            </a:r>
            <a:r>
              <a:rPr sz="1000" i="1" spc="90" dirty="0">
                <a:latin typeface="Arial"/>
                <a:cs typeface="Arial"/>
              </a:rPr>
              <a:t> </a:t>
            </a:r>
            <a:r>
              <a:rPr sz="1000" spc="-150" dirty="0">
                <a:latin typeface="Lucida Sans Unicode"/>
                <a:cs typeface="Lucida Sans Unicode"/>
              </a:rPr>
              <a:t>∈</a:t>
            </a:r>
            <a:r>
              <a:rPr sz="1000" spc="-40" dirty="0">
                <a:latin typeface="Lucida Sans Unicode"/>
                <a:cs typeface="Lucida Sans Unicode"/>
              </a:rPr>
              <a:t> </a:t>
            </a:r>
            <a:r>
              <a:rPr sz="1000" i="1" dirty="0">
                <a:latin typeface="Arial"/>
                <a:cs typeface="Arial"/>
              </a:rPr>
              <a:t>G</a:t>
            </a:r>
            <a:r>
              <a:rPr sz="1000" i="1" dirty="0">
                <a:latin typeface="Calibri"/>
                <a:cs typeface="Calibri"/>
              </a:rPr>
              <a:t>,</a:t>
            </a:r>
            <a:r>
              <a:rPr sz="1000" i="1" spc="-60" dirty="0">
                <a:latin typeface="Calibri"/>
                <a:cs typeface="Calibri"/>
              </a:rPr>
              <a:t> </a:t>
            </a:r>
            <a:r>
              <a:rPr sz="1000" spc="-150" dirty="0">
                <a:latin typeface="Lucida Sans Unicode"/>
                <a:cs typeface="Lucida Sans Unicode"/>
              </a:rPr>
              <a:t>∋</a:t>
            </a:r>
            <a:r>
              <a:rPr sz="1000" spc="-40" dirty="0">
                <a:latin typeface="Lucida Sans Unicode"/>
                <a:cs typeface="Lucida Sans Unicode"/>
              </a:rPr>
              <a:t> </a:t>
            </a:r>
            <a:r>
              <a:rPr sz="1000" i="1" dirty="0">
                <a:latin typeface="Arial"/>
                <a:cs typeface="Arial"/>
              </a:rPr>
              <a:t>y</a:t>
            </a:r>
            <a:r>
              <a:rPr sz="1000" i="1" spc="95" dirty="0">
                <a:latin typeface="Arial"/>
                <a:cs typeface="Arial"/>
              </a:rPr>
              <a:t> </a:t>
            </a:r>
            <a:r>
              <a:rPr sz="1000" spc="-150" dirty="0">
                <a:latin typeface="Lucida Sans Unicode"/>
                <a:cs typeface="Lucida Sans Unicode"/>
              </a:rPr>
              <a:t>∈</a:t>
            </a:r>
            <a:r>
              <a:rPr sz="1000" spc="-40" dirty="0">
                <a:latin typeface="Lucida Sans Unicode"/>
                <a:cs typeface="Lucida Sans Unicode"/>
              </a:rPr>
              <a:t> </a:t>
            </a:r>
            <a:r>
              <a:rPr sz="1000" i="1" dirty="0">
                <a:latin typeface="Arial"/>
                <a:cs typeface="Arial"/>
              </a:rPr>
              <a:t>G</a:t>
            </a:r>
            <a:r>
              <a:rPr sz="1000" i="1" dirty="0">
                <a:latin typeface="Calibri"/>
                <a:cs typeface="Calibri"/>
              </a:rPr>
              <a:t>,</a:t>
            </a:r>
            <a:r>
              <a:rPr sz="1000" i="1" spc="-60" dirty="0">
                <a:latin typeface="Calibri"/>
                <a:cs typeface="Calibri"/>
              </a:rPr>
              <a:t> </a:t>
            </a:r>
            <a:r>
              <a:rPr sz="1000" i="1" dirty="0">
                <a:latin typeface="Arial"/>
                <a:cs typeface="Arial"/>
              </a:rPr>
              <a:t>x</a:t>
            </a:r>
            <a:r>
              <a:rPr sz="1000" i="1" spc="25" dirty="0">
                <a:latin typeface="Arial"/>
                <a:cs typeface="Arial"/>
              </a:rPr>
              <a:t> </a:t>
            </a:r>
            <a:r>
              <a:rPr sz="1000" spc="-40" dirty="0">
                <a:latin typeface="Lucida Sans Unicode"/>
                <a:cs typeface="Lucida Sans Unicode"/>
              </a:rPr>
              <a:t>⊗</a:t>
            </a:r>
            <a:r>
              <a:rPr sz="1000" spc="-95" dirty="0">
                <a:latin typeface="Lucida Sans Unicode"/>
                <a:cs typeface="Lucida Sans Unicode"/>
              </a:rPr>
              <a:t> </a:t>
            </a:r>
            <a:r>
              <a:rPr sz="1000" i="1" dirty="0">
                <a:latin typeface="Arial"/>
                <a:cs typeface="Arial"/>
              </a:rPr>
              <a:t>y</a:t>
            </a:r>
            <a:r>
              <a:rPr sz="1000" i="1" spc="95" dirty="0">
                <a:latin typeface="Arial"/>
                <a:cs typeface="Arial"/>
              </a:rPr>
              <a:t> </a:t>
            </a:r>
            <a:r>
              <a:rPr sz="1000" dirty="0">
                <a:latin typeface="Tahoma"/>
                <a:cs typeface="Tahoma"/>
              </a:rPr>
              <a:t>=</a:t>
            </a:r>
            <a:r>
              <a:rPr sz="1000" spc="-40" dirty="0">
                <a:latin typeface="Tahoma"/>
                <a:cs typeface="Tahoma"/>
              </a:rPr>
              <a:t> </a:t>
            </a:r>
            <a:r>
              <a:rPr sz="1000" i="1" dirty="0">
                <a:latin typeface="Arial"/>
                <a:cs typeface="Arial"/>
              </a:rPr>
              <a:t>y</a:t>
            </a:r>
            <a:r>
              <a:rPr sz="1000" i="1" spc="40" dirty="0">
                <a:latin typeface="Arial"/>
                <a:cs typeface="Arial"/>
              </a:rPr>
              <a:t> </a:t>
            </a:r>
            <a:r>
              <a:rPr sz="1000" spc="-40" dirty="0">
                <a:latin typeface="Lucida Sans Unicode"/>
                <a:cs typeface="Lucida Sans Unicode"/>
              </a:rPr>
              <a:t>⊗</a:t>
            </a:r>
            <a:r>
              <a:rPr sz="1000" spc="-95" dirty="0">
                <a:latin typeface="Lucida Sans Unicode"/>
                <a:cs typeface="Lucida Sans Unicode"/>
              </a:rPr>
              <a:t> </a:t>
            </a:r>
            <a:r>
              <a:rPr sz="1000" i="1" dirty="0">
                <a:latin typeface="Arial"/>
                <a:cs typeface="Arial"/>
              </a:rPr>
              <a:t>x</a:t>
            </a:r>
            <a:r>
              <a:rPr sz="1000" i="1" spc="80" dirty="0">
                <a:latin typeface="Arial"/>
                <a:cs typeface="Arial"/>
              </a:rPr>
              <a:t> </a:t>
            </a:r>
            <a:r>
              <a:rPr sz="1000" dirty="0">
                <a:latin typeface="Tahoma"/>
                <a:cs typeface="Tahoma"/>
              </a:rPr>
              <a:t>=</a:t>
            </a:r>
            <a:r>
              <a:rPr sz="1000" spc="-40" dirty="0">
                <a:latin typeface="Tahoma"/>
                <a:cs typeface="Tahoma"/>
              </a:rPr>
              <a:t> </a:t>
            </a:r>
            <a:r>
              <a:rPr sz="1000" i="1" spc="-50" dirty="0">
                <a:latin typeface="Arial"/>
                <a:cs typeface="Arial"/>
              </a:rPr>
              <a:t>e</a:t>
            </a:r>
            <a:endParaRPr sz="1000" dirty="0">
              <a:latin typeface="Arial"/>
              <a:cs typeface="Arial"/>
            </a:endParaRPr>
          </a:p>
          <a:p>
            <a:pPr marL="215265" indent="-177165">
              <a:lnSpc>
                <a:spcPct val="100000"/>
              </a:lnSpc>
              <a:spcBef>
                <a:spcPts val="355"/>
              </a:spcBef>
              <a:buClr>
                <a:srgbClr val="3333B2"/>
              </a:buClr>
              <a:buFont typeface="Lucida Sans Unicode"/>
              <a:buChar char="►"/>
              <a:tabLst>
                <a:tab pos="215265" algn="l"/>
              </a:tabLst>
            </a:pPr>
            <a:r>
              <a:rPr sz="1100" i="1" dirty="0">
                <a:latin typeface="Arial"/>
                <a:cs typeface="Arial"/>
              </a:rPr>
              <a:t>If</a:t>
            </a:r>
            <a:r>
              <a:rPr sz="1100" i="1" spc="5" dirty="0">
                <a:latin typeface="Arial"/>
                <a:cs typeface="Arial"/>
              </a:rPr>
              <a:t> </a:t>
            </a:r>
            <a:r>
              <a:rPr sz="1100" i="1" dirty="0">
                <a:latin typeface="Arial"/>
                <a:cs typeface="Arial"/>
              </a:rPr>
              <a:t>in</a:t>
            </a:r>
            <a:r>
              <a:rPr sz="1100" i="1" spc="15" dirty="0">
                <a:latin typeface="Arial"/>
                <a:cs typeface="Arial"/>
              </a:rPr>
              <a:t> </a:t>
            </a:r>
            <a:r>
              <a:rPr sz="1100" i="1" spc="-20" dirty="0">
                <a:latin typeface="Arial"/>
                <a:cs typeface="Arial"/>
              </a:rPr>
              <a:t>addition</a:t>
            </a:r>
            <a:r>
              <a:rPr sz="1100" i="1" spc="15" dirty="0">
                <a:latin typeface="Arial"/>
                <a:cs typeface="Arial"/>
              </a:rPr>
              <a:t> </a:t>
            </a:r>
            <a:r>
              <a:rPr sz="1100" i="1" dirty="0">
                <a:latin typeface="Arial"/>
                <a:cs typeface="Arial"/>
              </a:rPr>
              <a:t>to</a:t>
            </a:r>
            <a:r>
              <a:rPr sz="1100" i="1" spc="15" dirty="0">
                <a:latin typeface="Arial"/>
                <a:cs typeface="Arial"/>
              </a:rPr>
              <a:t> </a:t>
            </a:r>
            <a:r>
              <a:rPr sz="1100" i="1" dirty="0">
                <a:latin typeface="Arial"/>
                <a:cs typeface="Arial"/>
              </a:rPr>
              <a:t>all</a:t>
            </a:r>
            <a:r>
              <a:rPr sz="1100" i="1" spc="15" dirty="0">
                <a:latin typeface="Arial"/>
                <a:cs typeface="Arial"/>
              </a:rPr>
              <a:t> </a:t>
            </a:r>
            <a:r>
              <a:rPr sz="1100" i="1" dirty="0">
                <a:latin typeface="Arial"/>
                <a:cs typeface="Arial"/>
              </a:rPr>
              <a:t>the</a:t>
            </a:r>
            <a:r>
              <a:rPr sz="1100" i="1" spc="10" dirty="0">
                <a:latin typeface="Arial"/>
                <a:cs typeface="Arial"/>
              </a:rPr>
              <a:t> </a:t>
            </a:r>
            <a:r>
              <a:rPr sz="1100" i="1" spc="-65" dirty="0">
                <a:latin typeface="Arial"/>
                <a:cs typeface="Arial"/>
              </a:rPr>
              <a:t>above</a:t>
            </a:r>
            <a:r>
              <a:rPr sz="1100" i="1" spc="15" dirty="0">
                <a:latin typeface="Arial"/>
                <a:cs typeface="Arial"/>
              </a:rPr>
              <a:t> </a:t>
            </a:r>
            <a:r>
              <a:rPr sz="1100" i="1" spc="-40" dirty="0">
                <a:latin typeface="Arial"/>
                <a:cs typeface="Arial"/>
              </a:rPr>
              <a:t>properties</a:t>
            </a:r>
            <a:r>
              <a:rPr sz="1100" i="1" spc="15" dirty="0">
                <a:latin typeface="Arial"/>
                <a:cs typeface="Arial"/>
              </a:rPr>
              <a:t> </a:t>
            </a:r>
            <a:r>
              <a:rPr sz="1100" i="1" spc="-95" dirty="0">
                <a:latin typeface="Arial"/>
                <a:cs typeface="Arial"/>
              </a:rPr>
              <a:t>we</a:t>
            </a:r>
            <a:r>
              <a:rPr sz="1100" i="1" spc="20" dirty="0">
                <a:latin typeface="Arial"/>
                <a:cs typeface="Arial"/>
              </a:rPr>
              <a:t> </a:t>
            </a:r>
            <a:r>
              <a:rPr sz="1100" i="1" spc="-20" dirty="0">
                <a:latin typeface="Arial"/>
                <a:cs typeface="Arial"/>
              </a:rPr>
              <a:t>have</a:t>
            </a:r>
            <a:endParaRPr sz="1100" dirty="0">
              <a:latin typeface="Arial"/>
              <a:cs typeface="Arial"/>
            </a:endParaRPr>
          </a:p>
          <a:p>
            <a:pPr marL="214629">
              <a:lnSpc>
                <a:spcPct val="100000"/>
              </a:lnSpc>
              <a:spcBef>
                <a:spcPts val="35"/>
              </a:spcBef>
            </a:pPr>
            <a:r>
              <a:rPr sz="1100" spc="-105" dirty="0">
                <a:latin typeface="Lucida Sans Unicode"/>
                <a:cs typeface="Lucida Sans Unicode"/>
              </a:rPr>
              <a:t>∀</a:t>
            </a:r>
            <a:r>
              <a:rPr sz="1100" i="1" spc="-105" dirty="0">
                <a:latin typeface="Arial"/>
                <a:cs typeface="Arial"/>
              </a:rPr>
              <a:t>x</a:t>
            </a:r>
            <a:r>
              <a:rPr sz="1100" i="1" spc="-105" dirty="0">
                <a:latin typeface="Calibri"/>
                <a:cs typeface="Calibri"/>
              </a:rPr>
              <a:t>,</a:t>
            </a:r>
            <a:r>
              <a:rPr sz="1100" i="1" spc="-70" dirty="0">
                <a:latin typeface="Calibri"/>
                <a:cs typeface="Calibri"/>
              </a:rPr>
              <a:t> </a:t>
            </a:r>
            <a:r>
              <a:rPr sz="1100" i="1" dirty="0">
                <a:latin typeface="Arial"/>
                <a:cs typeface="Arial"/>
              </a:rPr>
              <a:t>y</a:t>
            </a:r>
            <a:r>
              <a:rPr sz="1100" i="1" spc="-35" dirty="0">
                <a:latin typeface="Arial"/>
                <a:cs typeface="Arial"/>
              </a:rPr>
              <a:t> </a:t>
            </a:r>
            <a:r>
              <a:rPr sz="1100" spc="-155" dirty="0">
                <a:latin typeface="Lucida Sans Unicode"/>
                <a:cs typeface="Lucida Sans Unicode"/>
              </a:rPr>
              <a:t>∈</a:t>
            </a:r>
            <a:r>
              <a:rPr sz="1100" spc="-45" dirty="0">
                <a:latin typeface="Lucida Sans Unicode"/>
                <a:cs typeface="Lucida Sans Unicode"/>
              </a:rPr>
              <a:t> </a:t>
            </a:r>
            <a:r>
              <a:rPr sz="1100" i="1" dirty="0">
                <a:latin typeface="Arial"/>
                <a:cs typeface="Arial"/>
              </a:rPr>
              <a:t>G</a:t>
            </a:r>
            <a:r>
              <a:rPr sz="1100" i="1" dirty="0">
                <a:latin typeface="Calibri"/>
                <a:cs typeface="Calibri"/>
              </a:rPr>
              <a:t>,</a:t>
            </a:r>
            <a:r>
              <a:rPr sz="1100" i="1" spc="-70" dirty="0">
                <a:latin typeface="Calibri"/>
                <a:cs typeface="Calibri"/>
              </a:rPr>
              <a:t> </a:t>
            </a:r>
            <a:r>
              <a:rPr sz="1100" i="1" dirty="0">
                <a:latin typeface="Arial"/>
                <a:cs typeface="Arial"/>
              </a:rPr>
              <a:t>x</a:t>
            </a:r>
            <a:r>
              <a:rPr sz="1100" i="1" spc="-40" dirty="0">
                <a:latin typeface="Arial"/>
                <a:cs typeface="Arial"/>
              </a:rPr>
              <a:t> </a:t>
            </a:r>
            <a:r>
              <a:rPr sz="1100" spc="-35" dirty="0">
                <a:latin typeface="Lucida Sans Unicode"/>
                <a:cs typeface="Lucida Sans Unicode"/>
              </a:rPr>
              <a:t>⊗</a:t>
            </a:r>
            <a:r>
              <a:rPr sz="1100" spc="-105" dirty="0">
                <a:latin typeface="Lucida Sans Unicode"/>
                <a:cs typeface="Lucida Sans Unicode"/>
              </a:rPr>
              <a:t> </a:t>
            </a:r>
            <a:r>
              <a:rPr sz="1100" i="1" dirty="0">
                <a:latin typeface="Arial"/>
                <a:cs typeface="Arial"/>
              </a:rPr>
              <a:t>y</a:t>
            </a:r>
            <a:r>
              <a:rPr sz="1100" i="1" spc="70" dirty="0">
                <a:latin typeface="Arial"/>
                <a:cs typeface="Arial"/>
              </a:rPr>
              <a:t> </a:t>
            </a:r>
            <a:r>
              <a:rPr sz="1100" dirty="0">
                <a:latin typeface="Tahoma"/>
                <a:cs typeface="Tahoma"/>
              </a:rPr>
              <a:t>=</a:t>
            </a:r>
            <a:r>
              <a:rPr sz="1100" spc="-75" dirty="0">
                <a:latin typeface="Tahoma"/>
                <a:cs typeface="Tahoma"/>
              </a:rPr>
              <a:t> </a:t>
            </a:r>
            <a:r>
              <a:rPr sz="1100" i="1" dirty="0">
                <a:latin typeface="Arial"/>
                <a:cs typeface="Arial"/>
              </a:rPr>
              <a:t>y</a:t>
            </a:r>
            <a:r>
              <a:rPr sz="1100" i="1" spc="20" dirty="0">
                <a:latin typeface="Arial"/>
                <a:cs typeface="Arial"/>
              </a:rPr>
              <a:t> </a:t>
            </a:r>
            <a:r>
              <a:rPr sz="1100" spc="-35" dirty="0">
                <a:latin typeface="Lucida Sans Unicode"/>
                <a:cs typeface="Lucida Sans Unicode"/>
              </a:rPr>
              <a:t>⊗</a:t>
            </a:r>
            <a:r>
              <a:rPr sz="1100" spc="-105" dirty="0">
                <a:latin typeface="Lucida Sans Unicode"/>
                <a:cs typeface="Lucida Sans Unicode"/>
              </a:rPr>
              <a:t> </a:t>
            </a:r>
            <a:r>
              <a:rPr sz="1100" i="1" dirty="0">
                <a:latin typeface="Arial"/>
                <a:cs typeface="Arial"/>
              </a:rPr>
              <a:t>x</a:t>
            </a:r>
            <a:r>
              <a:rPr sz="1100" i="1" spc="100" dirty="0">
                <a:latin typeface="Arial"/>
                <a:cs typeface="Arial"/>
              </a:rPr>
              <a:t> </a:t>
            </a:r>
            <a:r>
              <a:rPr sz="1100" i="1" spc="-10" dirty="0">
                <a:latin typeface="Arial"/>
                <a:cs typeface="Arial"/>
              </a:rPr>
              <a:t>then</a:t>
            </a:r>
            <a:r>
              <a:rPr sz="1100" i="1" spc="15" dirty="0">
                <a:latin typeface="Arial"/>
                <a:cs typeface="Arial"/>
              </a:rPr>
              <a:t> </a:t>
            </a:r>
            <a:r>
              <a:rPr sz="1100" dirty="0">
                <a:latin typeface="Tahoma"/>
                <a:cs typeface="Tahoma"/>
              </a:rPr>
              <a:t>(</a:t>
            </a:r>
            <a:r>
              <a:rPr sz="1100" i="1" dirty="0">
                <a:latin typeface="Arial"/>
                <a:cs typeface="Arial"/>
              </a:rPr>
              <a:t>G</a:t>
            </a:r>
            <a:r>
              <a:rPr sz="1100" i="1" dirty="0">
                <a:latin typeface="Calibri"/>
                <a:cs typeface="Calibri"/>
              </a:rPr>
              <a:t>,</a:t>
            </a:r>
            <a:r>
              <a:rPr sz="1100" i="1" spc="-70" dirty="0">
                <a:latin typeface="Calibri"/>
                <a:cs typeface="Calibri"/>
              </a:rPr>
              <a:t> </a:t>
            </a:r>
            <a:r>
              <a:rPr sz="1100" dirty="0">
                <a:latin typeface="Lucida Sans Unicode"/>
                <a:cs typeface="Lucida Sans Unicode"/>
              </a:rPr>
              <a:t>⊗</a:t>
            </a:r>
            <a:r>
              <a:rPr sz="1100" dirty="0">
                <a:latin typeface="Tahoma"/>
                <a:cs typeface="Tahoma"/>
              </a:rPr>
              <a:t>)</a:t>
            </a:r>
            <a:r>
              <a:rPr sz="1100" spc="-20" dirty="0">
                <a:latin typeface="Tahoma"/>
                <a:cs typeface="Tahoma"/>
              </a:rPr>
              <a:t> </a:t>
            </a:r>
            <a:r>
              <a:rPr sz="1100" i="1" spc="-10" dirty="0">
                <a:latin typeface="Arial"/>
                <a:cs typeface="Arial"/>
              </a:rPr>
              <a:t>is</a:t>
            </a:r>
            <a:r>
              <a:rPr sz="1100" i="1" spc="20" dirty="0">
                <a:latin typeface="Arial"/>
                <a:cs typeface="Arial"/>
              </a:rPr>
              <a:t> </a:t>
            </a:r>
            <a:r>
              <a:rPr sz="1100" i="1" spc="-20" dirty="0">
                <a:latin typeface="Arial"/>
                <a:cs typeface="Arial"/>
              </a:rPr>
              <a:t>an</a:t>
            </a:r>
            <a:r>
              <a:rPr sz="1100" i="1" spc="15" dirty="0">
                <a:latin typeface="Arial"/>
                <a:cs typeface="Arial"/>
              </a:rPr>
              <a:t> </a:t>
            </a:r>
            <a:r>
              <a:rPr sz="1100" i="1" spc="-30" dirty="0">
                <a:latin typeface="Arial"/>
                <a:cs typeface="Arial"/>
              </a:rPr>
              <a:t>Abelian</a:t>
            </a:r>
            <a:r>
              <a:rPr sz="1100" i="1" spc="20" dirty="0">
                <a:latin typeface="Arial"/>
                <a:cs typeface="Arial"/>
              </a:rPr>
              <a:t> </a:t>
            </a:r>
            <a:r>
              <a:rPr sz="1100" i="1" spc="-10" dirty="0">
                <a:latin typeface="Arial"/>
                <a:cs typeface="Arial"/>
              </a:rPr>
              <a:t>group</a:t>
            </a:r>
            <a:endParaRPr sz="1100" dirty="0">
              <a:latin typeface="Arial"/>
              <a:cs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72527"/>
            <a:ext cx="1162050" cy="244475"/>
          </a:xfrm>
          <a:prstGeom prst="rect">
            <a:avLst/>
          </a:prstGeom>
        </p:spPr>
        <p:txBody>
          <a:bodyPr vert="horz" wrap="square" lIns="0" tIns="17145" rIns="0" bIns="0" rtlCol="0">
            <a:spAutoFit/>
          </a:bodyPr>
          <a:lstStyle/>
          <a:p>
            <a:pPr marL="12700">
              <a:lnSpc>
                <a:spcPct val="100000"/>
              </a:lnSpc>
              <a:spcBef>
                <a:spcPts val="135"/>
              </a:spcBef>
            </a:pPr>
            <a:r>
              <a:rPr spc="-35" dirty="0"/>
              <a:t>Some</a:t>
            </a:r>
            <a:r>
              <a:rPr spc="-75" dirty="0"/>
              <a:t> </a:t>
            </a:r>
            <a:r>
              <a:rPr spc="-65" dirty="0"/>
              <a:t>examples</a:t>
            </a:r>
          </a:p>
        </p:txBody>
      </p:sp>
      <p:sp>
        <p:nvSpPr>
          <p:cNvPr id="3" name="object 3"/>
          <p:cNvSpPr txBox="1"/>
          <p:nvPr/>
        </p:nvSpPr>
        <p:spPr>
          <a:xfrm>
            <a:off x="421957" y="1052041"/>
            <a:ext cx="3754120" cy="1638462"/>
          </a:xfrm>
          <a:prstGeom prst="rect">
            <a:avLst/>
          </a:prstGeom>
        </p:spPr>
        <p:txBody>
          <a:bodyPr vert="horz" wrap="square" lIns="0" tIns="6985" rIns="0" bIns="0" rtlCol="0">
            <a:spAutoFit/>
          </a:bodyPr>
          <a:lstStyle/>
          <a:p>
            <a:pPr marL="214629" marR="530860" indent="-177165">
              <a:lnSpc>
                <a:spcPct val="102600"/>
              </a:lnSpc>
              <a:spcBef>
                <a:spcPts val="55"/>
              </a:spcBef>
              <a:buClr>
                <a:srgbClr val="3333B2"/>
              </a:buClr>
              <a:buFont typeface="Lucida Sans Unicode"/>
              <a:buChar char="►"/>
              <a:tabLst>
                <a:tab pos="214629" algn="l"/>
              </a:tabLst>
            </a:pPr>
            <a:r>
              <a:rPr sz="1100" dirty="0">
                <a:latin typeface="Tahoma"/>
                <a:cs typeface="Tahoma"/>
              </a:rPr>
              <a:t>(</a:t>
            </a:r>
            <a:r>
              <a:rPr sz="1100" i="1" dirty="0">
                <a:latin typeface="Arial"/>
                <a:cs typeface="Arial"/>
              </a:rPr>
              <a:t>Z</a:t>
            </a:r>
            <a:r>
              <a:rPr sz="1100" i="1" dirty="0">
                <a:latin typeface="Calibri"/>
                <a:cs typeface="Calibri"/>
              </a:rPr>
              <a:t>,</a:t>
            </a:r>
            <a:r>
              <a:rPr sz="1100" i="1" spc="-70" dirty="0">
                <a:latin typeface="Calibri"/>
                <a:cs typeface="Calibri"/>
              </a:rPr>
              <a:t> </a:t>
            </a:r>
            <a:r>
              <a:rPr sz="1100" dirty="0">
                <a:latin typeface="Tahoma"/>
                <a:cs typeface="Tahoma"/>
              </a:rPr>
              <a:t>+)</a:t>
            </a:r>
            <a:r>
              <a:rPr sz="1100" spc="-65" dirty="0">
                <a:latin typeface="Tahoma"/>
                <a:cs typeface="Tahoma"/>
              </a:rPr>
              <a:t> </a:t>
            </a:r>
            <a:r>
              <a:rPr lang="en-IN" sz="1100" spc="-65" dirty="0">
                <a:latin typeface="Tahoma"/>
                <a:cs typeface="Tahoma"/>
              </a:rPr>
              <a:t>where Z denotes the set of all integers </a:t>
            </a:r>
            <a:r>
              <a:rPr sz="1100" dirty="0">
                <a:latin typeface="Tahoma"/>
                <a:cs typeface="Tahoma"/>
              </a:rPr>
              <a:t>is</a:t>
            </a:r>
            <a:r>
              <a:rPr sz="1100" spc="-25" dirty="0">
                <a:latin typeface="Tahoma"/>
                <a:cs typeface="Tahoma"/>
              </a:rPr>
              <a:t> </a:t>
            </a:r>
            <a:r>
              <a:rPr sz="1100" dirty="0">
                <a:latin typeface="Tahoma"/>
                <a:cs typeface="Tahoma"/>
              </a:rPr>
              <a:t>an</a:t>
            </a:r>
            <a:r>
              <a:rPr sz="1100" spc="-20" dirty="0">
                <a:latin typeface="Tahoma"/>
                <a:cs typeface="Tahoma"/>
              </a:rPr>
              <a:t> </a:t>
            </a:r>
            <a:r>
              <a:rPr sz="1100" spc="-10" dirty="0">
                <a:latin typeface="Tahoma"/>
                <a:cs typeface="Tahoma"/>
              </a:rPr>
              <a:t>Abelian</a:t>
            </a:r>
            <a:r>
              <a:rPr sz="1100" spc="-25" dirty="0">
                <a:latin typeface="Tahoma"/>
                <a:cs typeface="Tahoma"/>
              </a:rPr>
              <a:t> group.</a:t>
            </a:r>
            <a:r>
              <a:rPr sz="1100" spc="85" dirty="0">
                <a:latin typeface="Tahoma"/>
                <a:cs typeface="Tahoma"/>
              </a:rPr>
              <a:t> </a:t>
            </a:r>
            <a:r>
              <a:rPr sz="1100" dirty="0">
                <a:latin typeface="Tahoma"/>
                <a:cs typeface="Tahoma"/>
              </a:rPr>
              <a:t>We</a:t>
            </a:r>
            <a:r>
              <a:rPr sz="1100" spc="-20" dirty="0">
                <a:latin typeface="Tahoma"/>
                <a:cs typeface="Tahoma"/>
              </a:rPr>
              <a:t> can</a:t>
            </a:r>
            <a:r>
              <a:rPr sz="1100" spc="-25" dirty="0">
                <a:latin typeface="Tahoma"/>
                <a:cs typeface="Tahoma"/>
              </a:rPr>
              <a:t> </a:t>
            </a:r>
            <a:r>
              <a:rPr sz="1100" spc="-85" dirty="0">
                <a:latin typeface="Tahoma"/>
                <a:cs typeface="Tahoma"/>
              </a:rPr>
              <a:t>see</a:t>
            </a:r>
            <a:r>
              <a:rPr sz="1100" dirty="0">
                <a:latin typeface="Tahoma"/>
                <a:cs typeface="Tahoma"/>
              </a:rPr>
              <a:t> that</a:t>
            </a:r>
            <a:r>
              <a:rPr sz="1100" spc="-30" dirty="0">
                <a:latin typeface="Tahoma"/>
                <a:cs typeface="Tahoma"/>
              </a:rPr>
              <a:t> </a:t>
            </a:r>
            <a:r>
              <a:rPr sz="1100" dirty="0">
                <a:latin typeface="Tahoma"/>
                <a:cs typeface="Tahoma"/>
              </a:rPr>
              <a:t>all</a:t>
            </a:r>
            <a:r>
              <a:rPr sz="1100" spc="-20" dirty="0">
                <a:latin typeface="Tahoma"/>
                <a:cs typeface="Tahoma"/>
              </a:rPr>
              <a:t> </a:t>
            </a:r>
            <a:r>
              <a:rPr sz="1100" spc="-35" dirty="0">
                <a:latin typeface="Tahoma"/>
                <a:cs typeface="Tahoma"/>
              </a:rPr>
              <a:t>the </a:t>
            </a:r>
            <a:r>
              <a:rPr sz="1100" spc="-50" dirty="0">
                <a:latin typeface="Tahoma"/>
                <a:cs typeface="Tahoma"/>
              </a:rPr>
              <a:t>aforementioned</a:t>
            </a:r>
            <a:r>
              <a:rPr sz="1100" spc="-10" dirty="0">
                <a:latin typeface="Tahoma"/>
                <a:cs typeface="Tahoma"/>
              </a:rPr>
              <a:t> </a:t>
            </a:r>
            <a:r>
              <a:rPr sz="1100" spc="-40" dirty="0">
                <a:latin typeface="Tahoma"/>
                <a:cs typeface="Tahoma"/>
              </a:rPr>
              <a:t>properties</a:t>
            </a:r>
            <a:r>
              <a:rPr sz="1100" spc="-10" dirty="0">
                <a:latin typeface="Tahoma"/>
                <a:cs typeface="Tahoma"/>
              </a:rPr>
              <a:t> hold.</a:t>
            </a:r>
            <a:endParaRPr sz="1100" dirty="0">
              <a:latin typeface="Tahoma"/>
              <a:cs typeface="Tahoma"/>
            </a:endParaRPr>
          </a:p>
          <a:p>
            <a:pPr marL="214629" marR="130175" indent="-177165">
              <a:lnSpc>
                <a:spcPct val="102699"/>
              </a:lnSpc>
              <a:spcBef>
                <a:spcPts val="300"/>
              </a:spcBef>
              <a:buClr>
                <a:srgbClr val="3333B2"/>
              </a:buClr>
              <a:buFont typeface="Lucida Sans Unicode"/>
              <a:buChar char="►"/>
              <a:tabLst>
                <a:tab pos="214629" algn="l"/>
              </a:tabLst>
            </a:pPr>
            <a:r>
              <a:rPr sz="1100" dirty="0">
                <a:latin typeface="Tahoma"/>
                <a:cs typeface="Tahoma"/>
              </a:rPr>
              <a:t>What</a:t>
            </a:r>
            <a:r>
              <a:rPr sz="1100" spc="-45" dirty="0">
                <a:latin typeface="Tahoma"/>
                <a:cs typeface="Tahoma"/>
              </a:rPr>
              <a:t> </a:t>
            </a:r>
            <a:r>
              <a:rPr sz="1100" spc="-20" dirty="0">
                <a:latin typeface="Tahoma"/>
                <a:cs typeface="Tahoma"/>
              </a:rPr>
              <a:t>about</a:t>
            </a:r>
            <a:r>
              <a:rPr sz="1100" spc="-25" dirty="0">
                <a:latin typeface="Tahoma"/>
                <a:cs typeface="Tahoma"/>
              </a:rPr>
              <a:t> </a:t>
            </a:r>
            <a:r>
              <a:rPr sz="1100" dirty="0">
                <a:latin typeface="Tahoma"/>
                <a:cs typeface="Tahoma"/>
              </a:rPr>
              <a:t>(</a:t>
            </a:r>
            <a:r>
              <a:rPr sz="1100" i="1" dirty="0">
                <a:latin typeface="Arial"/>
                <a:cs typeface="Arial"/>
              </a:rPr>
              <a:t>N</a:t>
            </a:r>
            <a:r>
              <a:rPr sz="1200" baseline="-10416" dirty="0">
                <a:latin typeface="Tahoma"/>
                <a:cs typeface="Tahoma"/>
              </a:rPr>
              <a:t>0</a:t>
            </a:r>
            <a:r>
              <a:rPr sz="1100" i="1" dirty="0">
                <a:latin typeface="Calibri"/>
                <a:cs typeface="Calibri"/>
              </a:rPr>
              <a:t>,</a:t>
            </a:r>
            <a:r>
              <a:rPr sz="1100" i="1" spc="-70" dirty="0">
                <a:latin typeface="Calibri"/>
                <a:cs typeface="Calibri"/>
              </a:rPr>
              <a:t> </a:t>
            </a:r>
            <a:r>
              <a:rPr sz="1100" dirty="0">
                <a:latin typeface="Tahoma"/>
                <a:cs typeface="Tahoma"/>
              </a:rPr>
              <a:t>+)?</a:t>
            </a:r>
            <a:r>
              <a:rPr sz="1100" spc="90" dirty="0">
                <a:latin typeface="Tahoma"/>
                <a:cs typeface="Tahoma"/>
              </a:rPr>
              <a:t> </a:t>
            </a:r>
            <a:r>
              <a:rPr lang="en-IN" sz="1100" spc="90" dirty="0">
                <a:latin typeface="Tahoma"/>
                <a:cs typeface="Tahoma"/>
              </a:rPr>
              <a:t>Here N</a:t>
            </a:r>
            <a:r>
              <a:rPr lang="en-IN" sz="1100" spc="90" baseline="-25000" dirty="0">
                <a:latin typeface="Tahoma"/>
                <a:cs typeface="Tahoma"/>
              </a:rPr>
              <a:t>0 </a:t>
            </a:r>
            <a:r>
              <a:rPr lang="en-IN" sz="1100" spc="90" dirty="0">
                <a:latin typeface="Tahoma"/>
                <a:cs typeface="Tahoma"/>
              </a:rPr>
              <a:t>={0,1,2,3….}.</a:t>
            </a:r>
            <a:r>
              <a:rPr sz="1100" dirty="0">
                <a:latin typeface="Tahoma"/>
                <a:cs typeface="Tahoma"/>
              </a:rPr>
              <a:t>This</a:t>
            </a:r>
            <a:r>
              <a:rPr sz="1100" spc="-20" dirty="0">
                <a:latin typeface="Tahoma"/>
                <a:cs typeface="Tahoma"/>
              </a:rPr>
              <a:t> </a:t>
            </a:r>
            <a:r>
              <a:rPr sz="1100" dirty="0">
                <a:latin typeface="Tahoma"/>
                <a:cs typeface="Tahoma"/>
              </a:rPr>
              <a:t>is</a:t>
            </a:r>
            <a:r>
              <a:rPr sz="1100" spc="-25" dirty="0">
                <a:latin typeface="Tahoma"/>
                <a:cs typeface="Tahoma"/>
              </a:rPr>
              <a:t> </a:t>
            </a:r>
            <a:r>
              <a:rPr sz="1100" dirty="0">
                <a:latin typeface="Tahoma"/>
                <a:cs typeface="Tahoma"/>
              </a:rPr>
              <a:t>not</a:t>
            </a:r>
            <a:r>
              <a:rPr sz="1100" spc="-20" dirty="0">
                <a:latin typeface="Tahoma"/>
                <a:cs typeface="Tahoma"/>
              </a:rPr>
              <a:t> </a:t>
            </a:r>
            <a:r>
              <a:rPr sz="1100" dirty="0">
                <a:latin typeface="Tahoma"/>
                <a:cs typeface="Tahoma"/>
              </a:rPr>
              <a:t>a</a:t>
            </a:r>
            <a:r>
              <a:rPr sz="1100" spc="-20" dirty="0">
                <a:latin typeface="Tahoma"/>
                <a:cs typeface="Tahoma"/>
              </a:rPr>
              <a:t> </a:t>
            </a:r>
            <a:r>
              <a:rPr sz="1100" spc="-45" dirty="0">
                <a:latin typeface="Tahoma"/>
                <a:cs typeface="Tahoma"/>
              </a:rPr>
              <a:t>group</a:t>
            </a:r>
            <a:r>
              <a:rPr sz="1100" spc="-20" dirty="0">
                <a:latin typeface="Tahoma"/>
                <a:cs typeface="Tahoma"/>
              </a:rPr>
              <a:t> </a:t>
            </a:r>
            <a:r>
              <a:rPr sz="1100" spc="-35" dirty="0">
                <a:latin typeface="Tahoma"/>
                <a:cs typeface="Tahoma"/>
              </a:rPr>
              <a:t>since</a:t>
            </a:r>
            <a:r>
              <a:rPr sz="1100" spc="-20" dirty="0">
                <a:latin typeface="Tahoma"/>
                <a:cs typeface="Tahoma"/>
              </a:rPr>
              <a:t> </a:t>
            </a:r>
            <a:r>
              <a:rPr sz="1100" spc="-45" dirty="0">
                <a:latin typeface="Tahoma"/>
                <a:cs typeface="Tahoma"/>
              </a:rPr>
              <a:t>there</a:t>
            </a:r>
            <a:r>
              <a:rPr sz="1100" spc="-20" dirty="0">
                <a:latin typeface="Tahoma"/>
                <a:cs typeface="Tahoma"/>
              </a:rPr>
              <a:t> </a:t>
            </a:r>
            <a:r>
              <a:rPr sz="1100" dirty="0">
                <a:latin typeface="Tahoma"/>
                <a:cs typeface="Tahoma"/>
              </a:rPr>
              <a:t>is</a:t>
            </a:r>
            <a:r>
              <a:rPr sz="1100" spc="-25" dirty="0">
                <a:latin typeface="Tahoma"/>
                <a:cs typeface="Tahoma"/>
              </a:rPr>
              <a:t> no </a:t>
            </a:r>
            <a:r>
              <a:rPr sz="1100" spc="-55" dirty="0">
                <a:latin typeface="Tahoma"/>
                <a:cs typeface="Tahoma"/>
              </a:rPr>
              <a:t>inverse</a:t>
            </a:r>
            <a:r>
              <a:rPr sz="1100" spc="-20" dirty="0">
                <a:latin typeface="Tahoma"/>
                <a:cs typeface="Tahoma"/>
              </a:rPr>
              <a:t> </a:t>
            </a:r>
            <a:r>
              <a:rPr sz="1100" spc="-55" dirty="0">
                <a:latin typeface="Tahoma"/>
                <a:cs typeface="Tahoma"/>
              </a:rPr>
              <a:t>element</a:t>
            </a:r>
            <a:r>
              <a:rPr sz="1100" spc="-20" dirty="0">
                <a:latin typeface="Tahoma"/>
                <a:cs typeface="Tahoma"/>
              </a:rPr>
              <a:t> for</a:t>
            </a:r>
            <a:r>
              <a:rPr sz="1100" spc="-15" dirty="0">
                <a:latin typeface="Tahoma"/>
                <a:cs typeface="Tahoma"/>
              </a:rPr>
              <a:t> </a:t>
            </a:r>
            <a:r>
              <a:rPr sz="1100" dirty="0">
                <a:latin typeface="Tahoma"/>
                <a:cs typeface="Tahoma"/>
              </a:rPr>
              <a:t>an</a:t>
            </a:r>
            <a:r>
              <a:rPr sz="1100" spc="-20" dirty="0">
                <a:latin typeface="Tahoma"/>
                <a:cs typeface="Tahoma"/>
              </a:rPr>
              <a:t> </a:t>
            </a:r>
            <a:r>
              <a:rPr sz="1100" spc="-30" dirty="0">
                <a:latin typeface="Tahoma"/>
                <a:cs typeface="Tahoma"/>
              </a:rPr>
              <a:t>arbitrary</a:t>
            </a:r>
            <a:r>
              <a:rPr sz="1100" spc="-20" dirty="0">
                <a:latin typeface="Tahoma"/>
                <a:cs typeface="Tahoma"/>
              </a:rPr>
              <a:t> </a:t>
            </a:r>
            <a:r>
              <a:rPr sz="1100" spc="-50" dirty="0">
                <a:latin typeface="Tahoma"/>
                <a:cs typeface="Tahoma"/>
              </a:rPr>
              <a:t>element</a:t>
            </a:r>
            <a:r>
              <a:rPr sz="1100" spc="-20" dirty="0">
                <a:latin typeface="Tahoma"/>
                <a:cs typeface="Tahoma"/>
              </a:rPr>
              <a:t> </a:t>
            </a:r>
            <a:r>
              <a:rPr sz="1100" dirty="0">
                <a:latin typeface="Tahoma"/>
                <a:cs typeface="Tahoma"/>
              </a:rPr>
              <a:t>in</a:t>
            </a:r>
            <a:r>
              <a:rPr sz="1100" spc="-15" dirty="0">
                <a:latin typeface="Tahoma"/>
                <a:cs typeface="Tahoma"/>
              </a:rPr>
              <a:t> </a:t>
            </a:r>
            <a:r>
              <a:rPr sz="1100" spc="-25" dirty="0">
                <a:latin typeface="Tahoma"/>
                <a:cs typeface="Tahoma"/>
              </a:rPr>
              <a:t>it.</a:t>
            </a:r>
            <a:endParaRPr sz="1100" dirty="0">
              <a:latin typeface="Tahoma"/>
              <a:cs typeface="Tahoma"/>
            </a:endParaRPr>
          </a:p>
          <a:p>
            <a:pPr marL="214629" marR="30480" indent="-177165" algn="just">
              <a:lnSpc>
                <a:spcPct val="102600"/>
              </a:lnSpc>
              <a:spcBef>
                <a:spcPts val="300"/>
              </a:spcBef>
              <a:buClr>
                <a:srgbClr val="3333B2"/>
              </a:buClr>
              <a:buFont typeface="Lucida Sans Unicode"/>
              <a:buChar char="►"/>
              <a:tabLst>
                <a:tab pos="214629" algn="l"/>
              </a:tabLst>
            </a:pPr>
            <a:r>
              <a:rPr sz="1100" dirty="0">
                <a:latin typeface="Tahoma"/>
                <a:cs typeface="Tahoma"/>
              </a:rPr>
              <a:t>(</a:t>
            </a:r>
            <a:r>
              <a:rPr sz="1100" i="1" dirty="0">
                <a:latin typeface="Arial"/>
                <a:cs typeface="Arial"/>
              </a:rPr>
              <a:t>Z</a:t>
            </a:r>
            <a:r>
              <a:rPr sz="1100" i="1" dirty="0">
                <a:latin typeface="Calibri"/>
                <a:cs typeface="Calibri"/>
              </a:rPr>
              <a:t>,</a:t>
            </a:r>
            <a:r>
              <a:rPr sz="1100" i="1" spc="-65" dirty="0">
                <a:latin typeface="Calibri"/>
                <a:cs typeface="Calibri"/>
              </a:rPr>
              <a:t> </a:t>
            </a:r>
            <a:r>
              <a:rPr sz="1100" i="1" dirty="0">
                <a:latin typeface="Calibri"/>
                <a:cs typeface="Calibri"/>
              </a:rPr>
              <a:t>.</a:t>
            </a:r>
            <a:r>
              <a:rPr sz="1100" dirty="0">
                <a:latin typeface="Tahoma"/>
                <a:cs typeface="Tahoma"/>
              </a:rPr>
              <a:t>)</a:t>
            </a:r>
            <a:r>
              <a:rPr sz="1100" spc="-55" dirty="0">
                <a:latin typeface="Tahoma"/>
                <a:cs typeface="Tahoma"/>
              </a:rPr>
              <a:t> </a:t>
            </a:r>
            <a:r>
              <a:rPr sz="1100" spc="-60" dirty="0">
                <a:latin typeface="Tahoma"/>
                <a:cs typeface="Tahoma"/>
              </a:rPr>
              <a:t>where</a:t>
            </a:r>
            <a:r>
              <a:rPr sz="1100" spc="-30" dirty="0">
                <a:latin typeface="Tahoma"/>
                <a:cs typeface="Tahoma"/>
              </a:rPr>
              <a:t> </a:t>
            </a:r>
            <a:r>
              <a:rPr sz="1100" i="1" dirty="0">
                <a:latin typeface="Arial"/>
                <a:cs typeface="Arial"/>
              </a:rPr>
              <a:t>Z</a:t>
            </a:r>
            <a:r>
              <a:rPr sz="1100" i="1" spc="120" dirty="0">
                <a:latin typeface="Arial"/>
                <a:cs typeface="Arial"/>
              </a:rPr>
              <a:t> </a:t>
            </a:r>
            <a:r>
              <a:rPr sz="1100" dirty="0">
                <a:latin typeface="Tahoma"/>
                <a:cs typeface="Tahoma"/>
              </a:rPr>
              <a:t>is</a:t>
            </a:r>
            <a:r>
              <a:rPr sz="1100" spc="-30" dirty="0">
                <a:latin typeface="Tahoma"/>
                <a:cs typeface="Tahoma"/>
              </a:rPr>
              <a:t> </a:t>
            </a:r>
            <a:r>
              <a:rPr sz="1100" spc="-10" dirty="0">
                <a:latin typeface="Tahoma"/>
                <a:cs typeface="Tahoma"/>
              </a:rPr>
              <a:t>the</a:t>
            </a:r>
            <a:r>
              <a:rPr sz="1100" spc="-25" dirty="0">
                <a:latin typeface="Tahoma"/>
                <a:cs typeface="Tahoma"/>
              </a:rPr>
              <a:t> </a:t>
            </a:r>
            <a:r>
              <a:rPr sz="1100" spc="-20" dirty="0">
                <a:latin typeface="Tahoma"/>
                <a:cs typeface="Tahoma"/>
              </a:rPr>
              <a:t>set</a:t>
            </a:r>
            <a:r>
              <a:rPr sz="1100" spc="-30" dirty="0">
                <a:latin typeface="Tahoma"/>
                <a:cs typeface="Tahoma"/>
              </a:rPr>
              <a:t> </a:t>
            </a:r>
            <a:r>
              <a:rPr sz="1100" dirty="0">
                <a:latin typeface="Tahoma"/>
                <a:cs typeface="Tahoma"/>
              </a:rPr>
              <a:t>of</a:t>
            </a:r>
            <a:r>
              <a:rPr sz="1100" spc="-30" dirty="0">
                <a:latin typeface="Tahoma"/>
                <a:cs typeface="Tahoma"/>
              </a:rPr>
              <a:t> </a:t>
            </a:r>
            <a:r>
              <a:rPr sz="1100" spc="-40" dirty="0">
                <a:latin typeface="Tahoma"/>
                <a:cs typeface="Tahoma"/>
              </a:rPr>
              <a:t>integers,</a:t>
            </a:r>
            <a:r>
              <a:rPr sz="1100" spc="-25" dirty="0">
                <a:latin typeface="Tahoma"/>
                <a:cs typeface="Tahoma"/>
              </a:rPr>
              <a:t> </a:t>
            </a:r>
            <a:r>
              <a:rPr sz="1100" spc="-35" dirty="0">
                <a:latin typeface="Tahoma"/>
                <a:cs typeface="Tahoma"/>
              </a:rPr>
              <a:t>and</a:t>
            </a:r>
            <a:r>
              <a:rPr sz="1100" spc="-25" dirty="0">
                <a:latin typeface="Tahoma"/>
                <a:cs typeface="Tahoma"/>
              </a:rPr>
              <a:t> </a:t>
            </a:r>
            <a:r>
              <a:rPr sz="1100" i="1" dirty="0">
                <a:latin typeface="Calibri"/>
                <a:cs typeface="Calibri"/>
              </a:rPr>
              <a:t>.</a:t>
            </a:r>
            <a:r>
              <a:rPr sz="1100" i="1" spc="65" dirty="0">
                <a:latin typeface="Calibri"/>
                <a:cs typeface="Calibri"/>
              </a:rPr>
              <a:t> </a:t>
            </a:r>
            <a:r>
              <a:rPr sz="1100" dirty="0">
                <a:latin typeface="Tahoma"/>
                <a:cs typeface="Tahoma"/>
              </a:rPr>
              <a:t>is</a:t>
            </a:r>
            <a:r>
              <a:rPr sz="1100" spc="-30" dirty="0">
                <a:latin typeface="Tahoma"/>
                <a:cs typeface="Tahoma"/>
              </a:rPr>
              <a:t> </a:t>
            </a:r>
            <a:r>
              <a:rPr sz="1100" spc="-10" dirty="0">
                <a:latin typeface="Tahoma"/>
                <a:cs typeface="Tahoma"/>
              </a:rPr>
              <a:t>product.</a:t>
            </a:r>
            <a:r>
              <a:rPr sz="1100" spc="80" dirty="0">
                <a:latin typeface="Tahoma"/>
                <a:cs typeface="Tahoma"/>
              </a:rPr>
              <a:t> </a:t>
            </a:r>
            <a:r>
              <a:rPr sz="1100" dirty="0">
                <a:latin typeface="Tahoma"/>
                <a:cs typeface="Tahoma"/>
              </a:rPr>
              <a:t>It</a:t>
            </a:r>
            <a:r>
              <a:rPr sz="1100" spc="-30" dirty="0">
                <a:latin typeface="Tahoma"/>
                <a:cs typeface="Tahoma"/>
              </a:rPr>
              <a:t> </a:t>
            </a:r>
            <a:r>
              <a:rPr sz="1100" spc="-25" dirty="0">
                <a:latin typeface="Tahoma"/>
                <a:cs typeface="Tahoma"/>
              </a:rPr>
              <a:t>has </a:t>
            </a:r>
            <a:r>
              <a:rPr sz="1100" spc="-10" dirty="0">
                <a:latin typeface="Tahoma"/>
                <a:cs typeface="Tahoma"/>
              </a:rPr>
              <a:t>the</a:t>
            </a:r>
            <a:r>
              <a:rPr sz="1100" spc="-25" dirty="0">
                <a:latin typeface="Tahoma"/>
                <a:cs typeface="Tahoma"/>
              </a:rPr>
              <a:t> </a:t>
            </a:r>
            <a:r>
              <a:rPr sz="1100" spc="-20" dirty="0">
                <a:latin typeface="Tahoma"/>
                <a:cs typeface="Tahoma"/>
              </a:rPr>
              <a:t>identity</a:t>
            </a:r>
            <a:r>
              <a:rPr sz="1100" spc="-30" dirty="0">
                <a:latin typeface="Tahoma"/>
                <a:cs typeface="Tahoma"/>
              </a:rPr>
              <a:t> </a:t>
            </a:r>
            <a:r>
              <a:rPr sz="1100" spc="-45" dirty="0">
                <a:latin typeface="Tahoma"/>
                <a:cs typeface="Tahoma"/>
              </a:rPr>
              <a:t>element</a:t>
            </a:r>
            <a:r>
              <a:rPr sz="1100" spc="-30" dirty="0">
                <a:latin typeface="Tahoma"/>
                <a:cs typeface="Tahoma"/>
              </a:rPr>
              <a:t> </a:t>
            </a:r>
            <a:r>
              <a:rPr sz="1100" dirty="0">
                <a:latin typeface="Tahoma"/>
                <a:cs typeface="Tahoma"/>
              </a:rPr>
              <a:t>but</a:t>
            </a:r>
            <a:r>
              <a:rPr sz="1100" spc="-25" dirty="0">
                <a:latin typeface="Tahoma"/>
                <a:cs typeface="Tahoma"/>
              </a:rPr>
              <a:t> </a:t>
            </a:r>
            <a:r>
              <a:rPr sz="1100" spc="-45" dirty="0">
                <a:latin typeface="Tahoma"/>
                <a:cs typeface="Tahoma"/>
              </a:rPr>
              <a:t>there</a:t>
            </a:r>
            <a:r>
              <a:rPr sz="1100" spc="-25" dirty="0">
                <a:latin typeface="Tahoma"/>
                <a:cs typeface="Tahoma"/>
              </a:rPr>
              <a:t> exist</a:t>
            </a:r>
            <a:r>
              <a:rPr sz="1100" spc="-30" dirty="0">
                <a:latin typeface="Tahoma"/>
                <a:cs typeface="Tahoma"/>
              </a:rPr>
              <a:t> </a:t>
            </a:r>
            <a:r>
              <a:rPr sz="1100" spc="-45" dirty="0">
                <a:latin typeface="Tahoma"/>
                <a:cs typeface="Tahoma"/>
              </a:rPr>
              <a:t>elements</a:t>
            </a:r>
            <a:r>
              <a:rPr sz="1100" spc="-25" dirty="0">
                <a:latin typeface="Tahoma"/>
                <a:cs typeface="Tahoma"/>
              </a:rPr>
              <a:t> </a:t>
            </a:r>
            <a:r>
              <a:rPr sz="1100" dirty="0">
                <a:latin typeface="Tahoma"/>
                <a:cs typeface="Tahoma"/>
              </a:rPr>
              <a:t>in</a:t>
            </a:r>
            <a:r>
              <a:rPr sz="1100" spc="-25" dirty="0">
                <a:latin typeface="Tahoma"/>
                <a:cs typeface="Tahoma"/>
              </a:rPr>
              <a:t> </a:t>
            </a:r>
            <a:r>
              <a:rPr sz="1100" dirty="0">
                <a:latin typeface="Tahoma"/>
                <a:cs typeface="Tahoma"/>
              </a:rPr>
              <a:t>it</a:t>
            </a:r>
            <a:r>
              <a:rPr sz="1100" spc="-25" dirty="0">
                <a:latin typeface="Tahoma"/>
                <a:cs typeface="Tahoma"/>
              </a:rPr>
              <a:t> </a:t>
            </a:r>
            <a:r>
              <a:rPr sz="1100" dirty="0">
                <a:latin typeface="Tahoma"/>
                <a:cs typeface="Tahoma"/>
              </a:rPr>
              <a:t>that</a:t>
            </a:r>
            <a:r>
              <a:rPr sz="1100" spc="-25" dirty="0">
                <a:latin typeface="Tahoma"/>
                <a:cs typeface="Tahoma"/>
              </a:rPr>
              <a:t> </a:t>
            </a:r>
            <a:r>
              <a:rPr sz="1100" spc="-10" dirty="0">
                <a:latin typeface="Tahoma"/>
                <a:cs typeface="Tahoma"/>
              </a:rPr>
              <a:t>don’t </a:t>
            </a:r>
            <a:r>
              <a:rPr sz="1100" spc="-55" dirty="0">
                <a:latin typeface="Tahoma"/>
                <a:cs typeface="Tahoma"/>
              </a:rPr>
              <a:t>have</a:t>
            </a:r>
            <a:r>
              <a:rPr sz="1100" spc="-35" dirty="0">
                <a:latin typeface="Tahoma"/>
                <a:cs typeface="Tahoma"/>
              </a:rPr>
              <a:t> </a:t>
            </a:r>
            <a:r>
              <a:rPr sz="1100" dirty="0">
                <a:latin typeface="Tahoma"/>
                <a:cs typeface="Tahoma"/>
              </a:rPr>
              <a:t>an</a:t>
            </a:r>
            <a:r>
              <a:rPr sz="1100" spc="-70" dirty="0">
                <a:latin typeface="Tahoma"/>
                <a:cs typeface="Tahoma"/>
              </a:rPr>
              <a:t> </a:t>
            </a:r>
            <a:r>
              <a:rPr sz="1100" spc="-10" dirty="0">
                <a:latin typeface="Tahoma"/>
                <a:cs typeface="Tahoma"/>
              </a:rPr>
              <a:t>inverse.</a:t>
            </a:r>
            <a:endParaRPr sz="1100" dirty="0">
              <a:latin typeface="Tahoma"/>
              <a:cs typeface="Tahoma"/>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Vector</a:t>
            </a:r>
            <a:r>
              <a:rPr spc="-90" dirty="0"/>
              <a:t> </a:t>
            </a:r>
            <a:r>
              <a:rPr spc="-55" dirty="0"/>
              <a:t>Spaces</a:t>
            </a:r>
          </a:p>
        </p:txBody>
      </p:sp>
      <p:sp>
        <p:nvSpPr>
          <p:cNvPr id="3" name="object 3"/>
          <p:cNvSpPr txBox="1"/>
          <p:nvPr/>
        </p:nvSpPr>
        <p:spPr>
          <a:xfrm>
            <a:off x="421957" y="615059"/>
            <a:ext cx="3863975" cy="2561150"/>
          </a:xfrm>
          <a:prstGeom prst="rect">
            <a:avLst/>
          </a:prstGeom>
        </p:spPr>
        <p:txBody>
          <a:bodyPr vert="horz" wrap="square" lIns="0" tIns="6985" rIns="0" bIns="0" rtlCol="0">
            <a:spAutoFit/>
          </a:bodyPr>
          <a:lstStyle/>
          <a:p>
            <a:pPr marL="214629" marR="52069" indent="-177165">
              <a:lnSpc>
                <a:spcPct val="102600"/>
              </a:lnSpc>
              <a:spcBef>
                <a:spcPts val="55"/>
              </a:spcBef>
              <a:buClr>
                <a:srgbClr val="3333B2"/>
              </a:buClr>
              <a:buFont typeface="Lucida Sans Unicode"/>
              <a:buChar char="►"/>
              <a:tabLst>
                <a:tab pos="214629" algn="l"/>
              </a:tabLst>
            </a:pPr>
            <a:endParaRPr lang="en-IN" sz="1100" dirty="0">
              <a:latin typeface="Tahoma"/>
              <a:cs typeface="Tahoma"/>
            </a:endParaRPr>
          </a:p>
          <a:p>
            <a:pPr marL="214629" marR="52069" indent="-177165">
              <a:lnSpc>
                <a:spcPct val="102600"/>
              </a:lnSpc>
              <a:spcBef>
                <a:spcPts val="55"/>
              </a:spcBef>
              <a:buClr>
                <a:srgbClr val="3333B2"/>
              </a:buClr>
              <a:buFont typeface="Lucida Sans Unicode"/>
              <a:buChar char="►"/>
              <a:tabLst>
                <a:tab pos="214629" algn="l"/>
              </a:tabLst>
            </a:pPr>
            <a:r>
              <a:rPr sz="1100" dirty="0">
                <a:latin typeface="Tahoma"/>
                <a:cs typeface="Tahoma"/>
              </a:rPr>
              <a:t>We</a:t>
            </a:r>
            <a:r>
              <a:rPr sz="1100" spc="-45" dirty="0">
                <a:latin typeface="Tahoma"/>
                <a:cs typeface="Tahoma"/>
              </a:rPr>
              <a:t> </a:t>
            </a:r>
            <a:r>
              <a:rPr sz="1100" dirty="0">
                <a:latin typeface="Tahoma"/>
                <a:cs typeface="Tahoma"/>
              </a:rPr>
              <a:t>will</a:t>
            </a:r>
            <a:r>
              <a:rPr sz="1100" spc="-35" dirty="0">
                <a:latin typeface="Tahoma"/>
                <a:cs typeface="Tahoma"/>
              </a:rPr>
              <a:t> </a:t>
            </a:r>
            <a:r>
              <a:rPr sz="1100" spc="-55" dirty="0">
                <a:latin typeface="Tahoma"/>
                <a:cs typeface="Tahoma"/>
              </a:rPr>
              <a:t>now</a:t>
            </a:r>
            <a:r>
              <a:rPr sz="1100" spc="-30" dirty="0">
                <a:latin typeface="Tahoma"/>
                <a:cs typeface="Tahoma"/>
              </a:rPr>
              <a:t> </a:t>
            </a:r>
            <a:r>
              <a:rPr sz="1100" spc="-40" dirty="0">
                <a:latin typeface="Tahoma"/>
                <a:cs typeface="Tahoma"/>
              </a:rPr>
              <a:t>consider</a:t>
            </a:r>
            <a:r>
              <a:rPr sz="1100" spc="-35" dirty="0">
                <a:latin typeface="Tahoma"/>
                <a:cs typeface="Tahoma"/>
              </a:rPr>
              <a:t> </a:t>
            </a:r>
            <a:r>
              <a:rPr sz="1100" spc="-45" dirty="0">
                <a:latin typeface="Tahoma"/>
                <a:cs typeface="Tahoma"/>
              </a:rPr>
              <a:t>sets</a:t>
            </a:r>
            <a:r>
              <a:rPr sz="1100" spc="-35" dirty="0">
                <a:latin typeface="Tahoma"/>
                <a:cs typeface="Tahoma"/>
              </a:rPr>
              <a:t> </a:t>
            </a:r>
            <a:r>
              <a:rPr sz="1100" dirty="0">
                <a:latin typeface="Tahoma"/>
                <a:cs typeface="Tahoma"/>
              </a:rPr>
              <a:t>that</a:t>
            </a:r>
            <a:r>
              <a:rPr sz="1100" spc="-30" dirty="0">
                <a:latin typeface="Tahoma"/>
                <a:cs typeface="Tahoma"/>
              </a:rPr>
              <a:t> </a:t>
            </a:r>
            <a:r>
              <a:rPr sz="1100" spc="-60" dirty="0">
                <a:latin typeface="Tahoma"/>
                <a:cs typeface="Tahoma"/>
              </a:rPr>
              <a:t>are</a:t>
            </a:r>
            <a:r>
              <a:rPr sz="1100" spc="-30" dirty="0">
                <a:latin typeface="Tahoma"/>
                <a:cs typeface="Tahoma"/>
              </a:rPr>
              <a:t> </a:t>
            </a:r>
            <a:r>
              <a:rPr sz="1100" spc="-10" dirty="0">
                <a:latin typeface="Tahoma"/>
                <a:cs typeface="Tahoma"/>
              </a:rPr>
              <a:t>just</a:t>
            </a:r>
            <a:r>
              <a:rPr sz="1100" spc="-35" dirty="0">
                <a:latin typeface="Tahoma"/>
                <a:cs typeface="Tahoma"/>
              </a:rPr>
              <a:t> </a:t>
            </a:r>
            <a:r>
              <a:rPr sz="1100" spc="-10" dirty="0">
                <a:latin typeface="Tahoma"/>
                <a:cs typeface="Tahoma"/>
              </a:rPr>
              <a:t>like</a:t>
            </a:r>
            <a:r>
              <a:rPr sz="1100" spc="-35" dirty="0">
                <a:latin typeface="Tahoma"/>
                <a:cs typeface="Tahoma"/>
              </a:rPr>
              <a:t> </a:t>
            </a:r>
            <a:r>
              <a:rPr sz="1100" spc="-55" dirty="0">
                <a:latin typeface="Tahoma"/>
                <a:cs typeface="Tahoma"/>
              </a:rPr>
              <a:t>groups</a:t>
            </a:r>
            <a:r>
              <a:rPr sz="1100" spc="-30" dirty="0">
                <a:latin typeface="Tahoma"/>
                <a:cs typeface="Tahoma"/>
              </a:rPr>
              <a:t> </a:t>
            </a:r>
            <a:r>
              <a:rPr sz="1100" dirty="0">
                <a:latin typeface="Tahoma"/>
                <a:cs typeface="Tahoma"/>
              </a:rPr>
              <a:t>in</a:t>
            </a:r>
            <a:r>
              <a:rPr sz="1100" spc="-35" dirty="0">
                <a:latin typeface="Tahoma"/>
                <a:cs typeface="Tahoma"/>
              </a:rPr>
              <a:t> </a:t>
            </a:r>
            <a:r>
              <a:rPr sz="1100" spc="-30" dirty="0">
                <a:latin typeface="Tahoma"/>
                <a:cs typeface="Tahoma"/>
              </a:rPr>
              <a:t>terms</a:t>
            </a:r>
            <a:r>
              <a:rPr sz="1100" spc="-35" dirty="0">
                <a:latin typeface="Tahoma"/>
                <a:cs typeface="Tahoma"/>
              </a:rPr>
              <a:t> </a:t>
            </a:r>
            <a:r>
              <a:rPr sz="1100" spc="-25" dirty="0">
                <a:latin typeface="Tahoma"/>
                <a:cs typeface="Tahoma"/>
              </a:rPr>
              <a:t>of </a:t>
            </a:r>
            <a:r>
              <a:rPr sz="1100" dirty="0">
                <a:latin typeface="Tahoma"/>
                <a:cs typeface="Tahoma"/>
              </a:rPr>
              <a:t>its</a:t>
            </a:r>
            <a:r>
              <a:rPr sz="1100" spc="-35" dirty="0">
                <a:latin typeface="Tahoma"/>
                <a:cs typeface="Tahoma"/>
              </a:rPr>
              <a:t> </a:t>
            </a:r>
            <a:r>
              <a:rPr sz="1100" spc="-40" dirty="0">
                <a:latin typeface="Tahoma"/>
                <a:cs typeface="Tahoma"/>
              </a:rPr>
              <a:t>properties</a:t>
            </a:r>
            <a:r>
              <a:rPr sz="1100" spc="-30" dirty="0">
                <a:latin typeface="Tahoma"/>
                <a:cs typeface="Tahoma"/>
              </a:rPr>
              <a:t> </a:t>
            </a:r>
            <a:r>
              <a:rPr sz="1100" dirty="0">
                <a:latin typeface="Tahoma"/>
                <a:cs typeface="Tahoma"/>
              </a:rPr>
              <a:t>with</a:t>
            </a:r>
            <a:r>
              <a:rPr sz="1100" spc="-30" dirty="0">
                <a:latin typeface="Tahoma"/>
                <a:cs typeface="Tahoma"/>
              </a:rPr>
              <a:t> </a:t>
            </a:r>
            <a:r>
              <a:rPr sz="1100" spc="-40" dirty="0">
                <a:latin typeface="Tahoma"/>
                <a:cs typeface="Tahoma"/>
              </a:rPr>
              <a:t>respect</a:t>
            </a:r>
            <a:r>
              <a:rPr sz="1100" spc="-30" dirty="0">
                <a:latin typeface="Tahoma"/>
                <a:cs typeface="Tahoma"/>
              </a:rPr>
              <a:t> </a:t>
            </a:r>
            <a:r>
              <a:rPr sz="1100" dirty="0">
                <a:latin typeface="Tahoma"/>
                <a:cs typeface="Tahoma"/>
              </a:rPr>
              <a:t>to</a:t>
            </a:r>
            <a:r>
              <a:rPr sz="1100" spc="-30" dirty="0">
                <a:latin typeface="Tahoma"/>
                <a:cs typeface="Tahoma"/>
              </a:rPr>
              <a:t> </a:t>
            </a:r>
            <a:r>
              <a:rPr sz="1100" dirty="0">
                <a:latin typeface="Tahoma"/>
                <a:cs typeface="Tahoma"/>
              </a:rPr>
              <a:t>an</a:t>
            </a:r>
            <a:r>
              <a:rPr sz="1100" spc="-30" dirty="0">
                <a:latin typeface="Tahoma"/>
                <a:cs typeface="Tahoma"/>
              </a:rPr>
              <a:t> inner operation </a:t>
            </a:r>
            <a:r>
              <a:rPr sz="1100" dirty="0">
                <a:latin typeface="Tahoma"/>
                <a:cs typeface="Tahoma"/>
              </a:rPr>
              <a:t>+,</a:t>
            </a:r>
            <a:r>
              <a:rPr sz="1100" spc="-25" dirty="0">
                <a:latin typeface="Tahoma"/>
                <a:cs typeface="Tahoma"/>
              </a:rPr>
              <a:t> </a:t>
            </a:r>
            <a:r>
              <a:rPr sz="1100" spc="-35" dirty="0">
                <a:latin typeface="Tahoma"/>
                <a:cs typeface="Tahoma"/>
              </a:rPr>
              <a:t>and</a:t>
            </a:r>
            <a:r>
              <a:rPr sz="1100" spc="-30" dirty="0">
                <a:latin typeface="Tahoma"/>
                <a:cs typeface="Tahoma"/>
              </a:rPr>
              <a:t> </a:t>
            </a:r>
            <a:r>
              <a:rPr sz="1100" spc="-20" dirty="0">
                <a:latin typeface="Tahoma"/>
                <a:cs typeface="Tahoma"/>
              </a:rPr>
              <a:t>also </a:t>
            </a:r>
            <a:r>
              <a:rPr sz="1100" spc="-55" dirty="0">
                <a:latin typeface="Tahoma"/>
                <a:cs typeface="Tahoma"/>
              </a:rPr>
              <a:t>have</a:t>
            </a:r>
            <a:r>
              <a:rPr sz="1100" spc="-30" dirty="0">
                <a:latin typeface="Tahoma"/>
                <a:cs typeface="Tahoma"/>
              </a:rPr>
              <a:t> </a:t>
            </a:r>
            <a:r>
              <a:rPr sz="1100" dirty="0">
                <a:latin typeface="Tahoma"/>
                <a:cs typeface="Tahoma"/>
              </a:rPr>
              <a:t>an</a:t>
            </a:r>
            <a:r>
              <a:rPr sz="1100" spc="-30" dirty="0">
                <a:latin typeface="Tahoma"/>
                <a:cs typeface="Tahoma"/>
              </a:rPr>
              <a:t> </a:t>
            </a:r>
            <a:r>
              <a:rPr sz="1100" spc="-25" dirty="0">
                <a:latin typeface="Tahoma"/>
                <a:cs typeface="Tahoma"/>
              </a:rPr>
              <a:t>outer </a:t>
            </a:r>
            <a:r>
              <a:rPr sz="1100" spc="-30" dirty="0">
                <a:latin typeface="Tahoma"/>
                <a:cs typeface="Tahoma"/>
              </a:rPr>
              <a:t>operation </a:t>
            </a:r>
            <a:r>
              <a:rPr sz="1100" spc="-25" dirty="0">
                <a:latin typeface="Tahoma"/>
                <a:cs typeface="Tahoma"/>
              </a:rPr>
              <a:t>called</a:t>
            </a:r>
            <a:r>
              <a:rPr sz="1100" spc="-30" dirty="0">
                <a:latin typeface="Tahoma"/>
                <a:cs typeface="Tahoma"/>
              </a:rPr>
              <a:t> </a:t>
            </a:r>
            <a:r>
              <a:rPr sz="1100" i="1" dirty="0">
                <a:latin typeface="Calibri"/>
                <a:cs typeface="Calibri"/>
              </a:rPr>
              <a:t>.</a:t>
            </a:r>
            <a:r>
              <a:rPr sz="1100" i="1" spc="65" dirty="0">
                <a:latin typeface="Calibri"/>
                <a:cs typeface="Calibri"/>
              </a:rPr>
              <a:t> </a:t>
            </a:r>
            <a:r>
              <a:rPr sz="1100" spc="-25" dirty="0">
                <a:latin typeface="Tahoma"/>
                <a:cs typeface="Tahoma"/>
              </a:rPr>
              <a:t>which </a:t>
            </a:r>
            <a:r>
              <a:rPr sz="1100" spc="-55" dirty="0">
                <a:latin typeface="Tahoma"/>
                <a:cs typeface="Tahoma"/>
              </a:rPr>
              <a:t>denotes</a:t>
            </a:r>
            <a:r>
              <a:rPr sz="1100" spc="-30" dirty="0">
                <a:latin typeface="Tahoma"/>
                <a:cs typeface="Tahoma"/>
              </a:rPr>
              <a:t> </a:t>
            </a:r>
            <a:r>
              <a:rPr sz="1100" spc="-25" dirty="0">
                <a:latin typeface="Tahoma"/>
                <a:cs typeface="Tahoma"/>
              </a:rPr>
              <a:t>the </a:t>
            </a:r>
            <a:r>
              <a:rPr sz="1100" spc="-20" dirty="0">
                <a:latin typeface="Tahoma"/>
                <a:cs typeface="Tahoma"/>
              </a:rPr>
              <a:t>multiplication</a:t>
            </a:r>
            <a:r>
              <a:rPr sz="1100" spc="-70" dirty="0">
                <a:latin typeface="Tahoma"/>
                <a:cs typeface="Tahoma"/>
              </a:rPr>
              <a:t> </a:t>
            </a:r>
            <a:r>
              <a:rPr sz="1100" dirty="0">
                <a:latin typeface="Tahoma"/>
                <a:cs typeface="Tahoma"/>
              </a:rPr>
              <a:t>of</a:t>
            </a:r>
            <a:r>
              <a:rPr sz="1100" spc="-55" dirty="0">
                <a:latin typeface="Tahoma"/>
                <a:cs typeface="Tahoma"/>
              </a:rPr>
              <a:t> </a:t>
            </a:r>
            <a:r>
              <a:rPr sz="1100" dirty="0">
                <a:latin typeface="Tahoma"/>
                <a:cs typeface="Tahoma"/>
              </a:rPr>
              <a:t>a</a:t>
            </a:r>
            <a:r>
              <a:rPr sz="1100" spc="-25" dirty="0">
                <a:latin typeface="Tahoma"/>
                <a:cs typeface="Tahoma"/>
              </a:rPr>
              <a:t> </a:t>
            </a:r>
            <a:r>
              <a:rPr sz="1100" spc="-35" dirty="0">
                <a:latin typeface="Tahoma"/>
                <a:cs typeface="Tahoma"/>
              </a:rPr>
              <a:t>vector</a:t>
            </a:r>
            <a:r>
              <a:rPr sz="1100" spc="-25" dirty="0">
                <a:latin typeface="Tahoma"/>
                <a:cs typeface="Tahoma"/>
              </a:rPr>
              <a:t> </a:t>
            </a:r>
            <a:r>
              <a:rPr sz="1100" i="1" dirty="0">
                <a:latin typeface="Arial"/>
                <a:cs typeface="Arial"/>
              </a:rPr>
              <a:t>x</a:t>
            </a:r>
            <a:r>
              <a:rPr sz="1100" i="1" spc="45" dirty="0">
                <a:latin typeface="Arial"/>
                <a:cs typeface="Arial"/>
              </a:rPr>
              <a:t> </a:t>
            </a:r>
            <a:r>
              <a:rPr sz="1100" spc="-155" dirty="0">
                <a:latin typeface="Lucida Sans Unicode"/>
                <a:cs typeface="Lucida Sans Unicode"/>
              </a:rPr>
              <a:t>∈</a:t>
            </a:r>
            <a:r>
              <a:rPr sz="1100" spc="-45" dirty="0">
                <a:latin typeface="Lucida Sans Unicode"/>
                <a:cs typeface="Lucida Sans Unicode"/>
              </a:rPr>
              <a:t> </a:t>
            </a:r>
            <a:r>
              <a:rPr sz="1100" i="1" dirty="0">
                <a:latin typeface="Arial"/>
                <a:cs typeface="Arial"/>
              </a:rPr>
              <a:t>G</a:t>
            </a:r>
            <a:r>
              <a:rPr sz="1100" i="1" spc="125" dirty="0">
                <a:latin typeface="Arial"/>
                <a:cs typeface="Arial"/>
              </a:rPr>
              <a:t> </a:t>
            </a:r>
            <a:r>
              <a:rPr sz="1100" spc="-30" dirty="0">
                <a:latin typeface="Tahoma"/>
                <a:cs typeface="Tahoma"/>
              </a:rPr>
              <a:t>by</a:t>
            </a:r>
            <a:r>
              <a:rPr sz="1100" spc="-25" dirty="0">
                <a:latin typeface="Tahoma"/>
                <a:cs typeface="Tahoma"/>
              </a:rPr>
              <a:t> </a:t>
            </a:r>
            <a:r>
              <a:rPr sz="1100" dirty="0">
                <a:latin typeface="Tahoma"/>
                <a:cs typeface="Tahoma"/>
              </a:rPr>
              <a:t>a</a:t>
            </a:r>
            <a:r>
              <a:rPr sz="1100" spc="-25" dirty="0">
                <a:latin typeface="Tahoma"/>
                <a:cs typeface="Tahoma"/>
              </a:rPr>
              <a:t> </a:t>
            </a:r>
            <a:r>
              <a:rPr sz="1100" spc="-30" dirty="0">
                <a:latin typeface="Tahoma"/>
                <a:cs typeface="Tahoma"/>
              </a:rPr>
              <a:t>scalar</a:t>
            </a:r>
            <a:r>
              <a:rPr sz="1100" spc="-25" dirty="0">
                <a:latin typeface="Tahoma"/>
                <a:cs typeface="Tahoma"/>
              </a:rPr>
              <a:t> </a:t>
            </a:r>
            <a:r>
              <a:rPr sz="1100" i="1" spc="120" dirty="0">
                <a:latin typeface="Calibri"/>
                <a:cs typeface="Calibri"/>
              </a:rPr>
              <a:t>λ</a:t>
            </a:r>
            <a:r>
              <a:rPr sz="1100" i="1" spc="15"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i="1" spc="-25" dirty="0">
                <a:latin typeface="Arial"/>
                <a:cs typeface="Arial"/>
              </a:rPr>
              <a:t>R</a:t>
            </a:r>
            <a:r>
              <a:rPr sz="1100" spc="-25" dirty="0">
                <a:latin typeface="Tahoma"/>
                <a:cs typeface="Tahoma"/>
              </a:rPr>
              <a:t>.</a:t>
            </a:r>
            <a:endParaRPr sz="1100" dirty="0">
              <a:latin typeface="Tahoma"/>
              <a:cs typeface="Tahoma"/>
            </a:endParaRPr>
          </a:p>
          <a:p>
            <a:pPr marL="214629" marR="32384" indent="-177165">
              <a:lnSpc>
                <a:spcPct val="102600"/>
              </a:lnSpc>
              <a:spcBef>
                <a:spcPts val="300"/>
              </a:spcBef>
              <a:buClr>
                <a:srgbClr val="3333B2"/>
              </a:buClr>
              <a:buFont typeface="Lucida Sans Unicode"/>
              <a:buChar char="►"/>
              <a:tabLst>
                <a:tab pos="214629" algn="l"/>
              </a:tabLst>
            </a:pPr>
            <a:r>
              <a:rPr sz="1100" dirty="0">
                <a:latin typeface="Tahoma"/>
                <a:cs typeface="Tahoma"/>
              </a:rPr>
              <a:t>The</a:t>
            </a:r>
            <a:r>
              <a:rPr sz="1100" spc="-45" dirty="0">
                <a:latin typeface="Tahoma"/>
                <a:cs typeface="Tahoma"/>
              </a:rPr>
              <a:t> </a:t>
            </a:r>
            <a:r>
              <a:rPr sz="1100" spc="-30" dirty="0">
                <a:latin typeface="Tahoma"/>
                <a:cs typeface="Tahoma"/>
              </a:rPr>
              <a:t>inner</a:t>
            </a:r>
            <a:r>
              <a:rPr sz="1100" spc="-35" dirty="0">
                <a:latin typeface="Tahoma"/>
                <a:cs typeface="Tahoma"/>
              </a:rPr>
              <a:t> </a:t>
            </a:r>
            <a:r>
              <a:rPr sz="1100" spc="-30" dirty="0">
                <a:latin typeface="Tahoma"/>
                <a:cs typeface="Tahoma"/>
              </a:rPr>
              <a:t>operation</a:t>
            </a:r>
            <a:r>
              <a:rPr sz="1100" spc="-40" dirty="0">
                <a:latin typeface="Tahoma"/>
                <a:cs typeface="Tahoma"/>
              </a:rPr>
              <a:t> </a:t>
            </a:r>
            <a:r>
              <a:rPr sz="1100" spc="-20" dirty="0">
                <a:latin typeface="Tahoma"/>
                <a:cs typeface="Tahoma"/>
              </a:rPr>
              <a:t>can</a:t>
            </a:r>
            <a:r>
              <a:rPr sz="1100" spc="-35" dirty="0">
                <a:latin typeface="Tahoma"/>
                <a:cs typeface="Tahoma"/>
              </a:rPr>
              <a:t> </a:t>
            </a:r>
            <a:r>
              <a:rPr sz="1100" spc="-10" dirty="0">
                <a:latin typeface="Tahoma"/>
                <a:cs typeface="Tahoma"/>
              </a:rPr>
              <a:t>be</a:t>
            </a:r>
            <a:r>
              <a:rPr sz="1100" spc="-35" dirty="0">
                <a:latin typeface="Tahoma"/>
                <a:cs typeface="Tahoma"/>
              </a:rPr>
              <a:t> </a:t>
            </a:r>
            <a:r>
              <a:rPr sz="1100" spc="-60" dirty="0">
                <a:latin typeface="Tahoma"/>
                <a:cs typeface="Tahoma"/>
              </a:rPr>
              <a:t>viewed</a:t>
            </a:r>
            <a:r>
              <a:rPr sz="1100" spc="-25" dirty="0">
                <a:latin typeface="Tahoma"/>
                <a:cs typeface="Tahoma"/>
              </a:rPr>
              <a:t> </a:t>
            </a:r>
            <a:r>
              <a:rPr sz="1100" spc="-30" dirty="0">
                <a:latin typeface="Tahoma"/>
                <a:cs typeface="Tahoma"/>
              </a:rPr>
              <a:t>as</a:t>
            </a:r>
            <a:r>
              <a:rPr sz="1100" spc="-40" dirty="0">
                <a:latin typeface="Tahoma"/>
                <a:cs typeface="Tahoma"/>
              </a:rPr>
              <a:t> </a:t>
            </a:r>
            <a:r>
              <a:rPr sz="1100" dirty="0">
                <a:latin typeface="Tahoma"/>
                <a:cs typeface="Tahoma"/>
              </a:rPr>
              <a:t>a</a:t>
            </a:r>
            <a:r>
              <a:rPr sz="1100" spc="-35" dirty="0">
                <a:latin typeface="Tahoma"/>
                <a:cs typeface="Tahoma"/>
              </a:rPr>
              <a:t> </a:t>
            </a:r>
            <a:r>
              <a:rPr sz="1100" spc="-40" dirty="0">
                <a:latin typeface="Tahoma"/>
                <a:cs typeface="Tahoma"/>
              </a:rPr>
              <a:t>form </a:t>
            </a:r>
            <a:r>
              <a:rPr sz="1100" dirty="0">
                <a:latin typeface="Tahoma"/>
                <a:cs typeface="Tahoma"/>
              </a:rPr>
              <a:t>of</a:t>
            </a:r>
            <a:r>
              <a:rPr sz="1100" spc="-35" dirty="0">
                <a:latin typeface="Tahoma"/>
                <a:cs typeface="Tahoma"/>
              </a:rPr>
              <a:t> </a:t>
            </a:r>
            <a:r>
              <a:rPr sz="1100" spc="-25" dirty="0">
                <a:latin typeface="Tahoma"/>
                <a:cs typeface="Tahoma"/>
              </a:rPr>
              <a:t>addition</a:t>
            </a:r>
            <a:r>
              <a:rPr sz="1100" spc="-35" dirty="0">
                <a:latin typeface="Tahoma"/>
                <a:cs typeface="Tahoma"/>
              </a:rPr>
              <a:t> </a:t>
            </a:r>
            <a:r>
              <a:rPr sz="1100" spc="-40" dirty="0">
                <a:latin typeface="Tahoma"/>
                <a:cs typeface="Tahoma"/>
              </a:rPr>
              <a:t>while </a:t>
            </a:r>
            <a:r>
              <a:rPr sz="1100" spc="-10" dirty="0">
                <a:latin typeface="Tahoma"/>
                <a:cs typeface="Tahoma"/>
              </a:rPr>
              <a:t>the</a:t>
            </a:r>
            <a:r>
              <a:rPr sz="1100" spc="-65" dirty="0">
                <a:latin typeface="Tahoma"/>
                <a:cs typeface="Tahoma"/>
              </a:rPr>
              <a:t> </a:t>
            </a:r>
            <a:r>
              <a:rPr sz="1100" spc="-25" dirty="0">
                <a:latin typeface="Tahoma"/>
                <a:cs typeface="Tahoma"/>
              </a:rPr>
              <a:t>outer</a:t>
            </a:r>
            <a:r>
              <a:rPr sz="1100" spc="-40" dirty="0">
                <a:latin typeface="Tahoma"/>
                <a:cs typeface="Tahoma"/>
              </a:rPr>
              <a:t> </a:t>
            </a:r>
            <a:r>
              <a:rPr sz="1100" spc="-30" dirty="0">
                <a:latin typeface="Tahoma"/>
                <a:cs typeface="Tahoma"/>
              </a:rPr>
              <a:t>operation</a:t>
            </a:r>
            <a:r>
              <a:rPr sz="1100" spc="-45" dirty="0">
                <a:latin typeface="Tahoma"/>
                <a:cs typeface="Tahoma"/>
              </a:rPr>
              <a:t> </a:t>
            </a:r>
            <a:r>
              <a:rPr sz="1100" spc="-20" dirty="0">
                <a:latin typeface="Tahoma"/>
                <a:cs typeface="Tahoma"/>
              </a:rPr>
              <a:t>can</a:t>
            </a:r>
            <a:r>
              <a:rPr sz="1100" spc="-45" dirty="0">
                <a:latin typeface="Tahoma"/>
                <a:cs typeface="Tahoma"/>
              </a:rPr>
              <a:t> </a:t>
            </a:r>
            <a:r>
              <a:rPr sz="1100" spc="-10" dirty="0">
                <a:latin typeface="Tahoma"/>
                <a:cs typeface="Tahoma"/>
              </a:rPr>
              <a:t>be</a:t>
            </a:r>
            <a:r>
              <a:rPr sz="1100" spc="-45" dirty="0">
                <a:latin typeface="Tahoma"/>
                <a:cs typeface="Tahoma"/>
              </a:rPr>
              <a:t> </a:t>
            </a:r>
            <a:r>
              <a:rPr sz="1100" spc="-60" dirty="0">
                <a:latin typeface="Tahoma"/>
                <a:cs typeface="Tahoma"/>
              </a:rPr>
              <a:t>viewed</a:t>
            </a:r>
            <a:r>
              <a:rPr sz="1100" spc="-25" dirty="0">
                <a:latin typeface="Tahoma"/>
                <a:cs typeface="Tahoma"/>
              </a:rPr>
              <a:t> </a:t>
            </a:r>
            <a:r>
              <a:rPr sz="1100" spc="-30" dirty="0">
                <a:latin typeface="Tahoma"/>
                <a:cs typeface="Tahoma"/>
              </a:rPr>
              <a:t>as</a:t>
            </a:r>
            <a:r>
              <a:rPr sz="1100" spc="-50" dirty="0">
                <a:latin typeface="Tahoma"/>
                <a:cs typeface="Tahoma"/>
              </a:rPr>
              <a:t> </a:t>
            </a:r>
            <a:r>
              <a:rPr sz="1100" dirty="0">
                <a:latin typeface="Tahoma"/>
                <a:cs typeface="Tahoma"/>
              </a:rPr>
              <a:t>a</a:t>
            </a:r>
            <a:r>
              <a:rPr sz="1100" spc="-45" dirty="0">
                <a:latin typeface="Tahoma"/>
                <a:cs typeface="Tahoma"/>
              </a:rPr>
              <a:t> </a:t>
            </a:r>
            <a:r>
              <a:rPr sz="1100" spc="-40" dirty="0">
                <a:latin typeface="Tahoma"/>
                <a:cs typeface="Tahoma"/>
              </a:rPr>
              <a:t>form</a:t>
            </a:r>
            <a:r>
              <a:rPr sz="1100" spc="-45" dirty="0">
                <a:latin typeface="Tahoma"/>
                <a:cs typeface="Tahoma"/>
              </a:rPr>
              <a:t> </a:t>
            </a:r>
            <a:r>
              <a:rPr sz="1100" dirty="0">
                <a:latin typeface="Tahoma"/>
                <a:cs typeface="Tahoma"/>
              </a:rPr>
              <a:t>of</a:t>
            </a:r>
            <a:r>
              <a:rPr sz="1100" spc="-40" dirty="0">
                <a:latin typeface="Tahoma"/>
                <a:cs typeface="Tahoma"/>
              </a:rPr>
              <a:t> </a:t>
            </a:r>
            <a:r>
              <a:rPr sz="1100" spc="-10" dirty="0">
                <a:latin typeface="Tahoma"/>
                <a:cs typeface="Tahoma"/>
              </a:rPr>
              <a:t>scaling.</a:t>
            </a:r>
            <a:endParaRPr sz="1100" dirty="0">
              <a:latin typeface="Tahoma"/>
              <a:cs typeface="Tahoma"/>
            </a:endParaRPr>
          </a:p>
          <a:p>
            <a:pPr marL="214629" marR="30480" indent="-177165">
              <a:lnSpc>
                <a:spcPts val="1200"/>
              </a:lnSpc>
              <a:spcBef>
                <a:spcPts val="315"/>
              </a:spcBef>
              <a:buClr>
                <a:srgbClr val="3333B2"/>
              </a:buClr>
              <a:buFont typeface="Lucida Sans Unicode"/>
              <a:buChar char="►"/>
              <a:tabLst>
                <a:tab pos="214629" algn="l"/>
              </a:tabLst>
            </a:pPr>
            <a:r>
              <a:rPr sz="1100" spc="55" dirty="0">
                <a:latin typeface="Tahoma"/>
                <a:cs typeface="Tahoma"/>
              </a:rPr>
              <a:t>A</a:t>
            </a:r>
            <a:r>
              <a:rPr sz="1100" dirty="0">
                <a:latin typeface="Tahoma"/>
                <a:cs typeface="Tahoma"/>
              </a:rPr>
              <a:t> </a:t>
            </a:r>
            <a:r>
              <a:rPr sz="1100" spc="-45" dirty="0">
                <a:latin typeface="Tahoma"/>
                <a:cs typeface="Tahoma"/>
              </a:rPr>
              <a:t>real-valued</a:t>
            </a:r>
            <a:r>
              <a:rPr sz="1100" spc="10" dirty="0">
                <a:latin typeface="Tahoma"/>
                <a:cs typeface="Tahoma"/>
              </a:rPr>
              <a:t> </a:t>
            </a:r>
            <a:r>
              <a:rPr sz="1100" spc="-35" dirty="0">
                <a:latin typeface="Tahoma"/>
                <a:cs typeface="Tahoma"/>
              </a:rPr>
              <a:t>vector</a:t>
            </a:r>
            <a:r>
              <a:rPr sz="1100" spc="5" dirty="0">
                <a:latin typeface="Tahoma"/>
                <a:cs typeface="Tahoma"/>
              </a:rPr>
              <a:t> </a:t>
            </a:r>
            <a:r>
              <a:rPr sz="1100" spc="-55" dirty="0">
                <a:latin typeface="Tahoma"/>
                <a:cs typeface="Tahoma"/>
              </a:rPr>
              <a:t>space</a:t>
            </a:r>
            <a:r>
              <a:rPr sz="1100" spc="10" dirty="0">
                <a:latin typeface="Tahoma"/>
                <a:cs typeface="Tahoma"/>
              </a:rPr>
              <a:t> </a:t>
            </a:r>
            <a:r>
              <a:rPr sz="1100" dirty="0">
                <a:latin typeface="Tahoma"/>
                <a:cs typeface="Tahoma"/>
              </a:rPr>
              <a:t>is</a:t>
            </a:r>
            <a:r>
              <a:rPr sz="1100" spc="5" dirty="0">
                <a:latin typeface="Tahoma"/>
                <a:cs typeface="Tahoma"/>
              </a:rPr>
              <a:t> </a:t>
            </a:r>
            <a:r>
              <a:rPr sz="1100" dirty="0">
                <a:latin typeface="Tahoma"/>
                <a:cs typeface="Tahoma"/>
              </a:rPr>
              <a:t>a</a:t>
            </a:r>
            <a:r>
              <a:rPr sz="1100" spc="10" dirty="0">
                <a:latin typeface="Tahoma"/>
                <a:cs typeface="Tahoma"/>
              </a:rPr>
              <a:t> </a:t>
            </a:r>
            <a:r>
              <a:rPr sz="1100" spc="-20" dirty="0">
                <a:latin typeface="Tahoma"/>
                <a:cs typeface="Tahoma"/>
              </a:rPr>
              <a:t>set</a:t>
            </a:r>
            <a:r>
              <a:rPr sz="1100" spc="10" dirty="0">
                <a:latin typeface="Tahoma"/>
                <a:cs typeface="Tahoma"/>
              </a:rPr>
              <a:t> </a:t>
            </a:r>
            <a:r>
              <a:rPr sz="1100" i="1" dirty="0">
                <a:latin typeface="Arial"/>
                <a:cs typeface="Arial"/>
              </a:rPr>
              <a:t>V</a:t>
            </a:r>
            <a:r>
              <a:rPr sz="1100" i="1" spc="155" dirty="0">
                <a:latin typeface="Arial"/>
                <a:cs typeface="Arial"/>
              </a:rPr>
              <a:t> </a:t>
            </a:r>
            <a:r>
              <a:rPr sz="1100" dirty="0">
                <a:latin typeface="Tahoma"/>
                <a:cs typeface="Tahoma"/>
              </a:rPr>
              <a:t>=</a:t>
            </a:r>
            <a:r>
              <a:rPr sz="1100" spc="-50" dirty="0">
                <a:latin typeface="Tahoma"/>
                <a:cs typeface="Tahoma"/>
              </a:rPr>
              <a:t> </a:t>
            </a:r>
            <a:r>
              <a:rPr sz="1100" dirty="0">
                <a:latin typeface="Tahoma"/>
                <a:cs typeface="Tahoma"/>
              </a:rPr>
              <a:t>(</a:t>
            </a:r>
            <a:r>
              <a:rPr sz="1100" dirty="0">
                <a:latin typeface="Lucida Sans Unicode"/>
                <a:cs typeface="Lucida Sans Unicode"/>
              </a:rPr>
              <a:t>V</a:t>
            </a:r>
            <a:r>
              <a:rPr sz="1100" i="1" dirty="0">
                <a:latin typeface="Calibri"/>
                <a:cs typeface="Calibri"/>
              </a:rPr>
              <a:t>,</a:t>
            </a:r>
            <a:r>
              <a:rPr sz="1100" i="1" spc="-70" dirty="0">
                <a:latin typeface="Calibri"/>
                <a:cs typeface="Calibri"/>
              </a:rPr>
              <a:t> </a:t>
            </a:r>
            <a:r>
              <a:rPr sz="1100" dirty="0">
                <a:latin typeface="Tahoma"/>
                <a:cs typeface="Tahoma"/>
              </a:rPr>
              <a:t>+</a:t>
            </a:r>
            <a:r>
              <a:rPr sz="1100" i="1" dirty="0">
                <a:latin typeface="Calibri"/>
                <a:cs typeface="Calibri"/>
              </a:rPr>
              <a:t>,</a:t>
            </a:r>
            <a:r>
              <a:rPr sz="1100" i="1" spc="-70" dirty="0">
                <a:latin typeface="Calibri"/>
                <a:cs typeface="Calibri"/>
              </a:rPr>
              <a:t> </a:t>
            </a:r>
            <a:r>
              <a:rPr sz="1100" i="1" dirty="0">
                <a:latin typeface="Calibri"/>
                <a:cs typeface="Calibri"/>
              </a:rPr>
              <a:t>.</a:t>
            </a:r>
            <a:r>
              <a:rPr sz="1100" dirty="0">
                <a:latin typeface="Tahoma"/>
                <a:cs typeface="Tahoma"/>
              </a:rPr>
              <a:t>)</a:t>
            </a:r>
            <a:r>
              <a:rPr sz="1100" spc="10" dirty="0">
                <a:latin typeface="Tahoma"/>
                <a:cs typeface="Tahoma"/>
              </a:rPr>
              <a:t> </a:t>
            </a:r>
            <a:r>
              <a:rPr sz="1100" spc="-20" dirty="0">
                <a:latin typeface="Tahoma"/>
                <a:cs typeface="Tahoma"/>
              </a:rPr>
              <a:t>with </a:t>
            </a:r>
            <a:r>
              <a:rPr sz="1100" spc="-35" dirty="0">
                <a:latin typeface="Tahoma"/>
                <a:cs typeface="Tahoma"/>
              </a:rPr>
              <a:t>operations</a:t>
            </a:r>
            <a:r>
              <a:rPr sz="1100" spc="-45" dirty="0">
                <a:latin typeface="Tahoma"/>
                <a:cs typeface="Tahoma"/>
              </a:rPr>
              <a:t> </a:t>
            </a:r>
            <a:r>
              <a:rPr sz="1100" dirty="0">
                <a:latin typeface="Tahoma"/>
                <a:cs typeface="Tahoma"/>
              </a:rPr>
              <a:t>+</a:t>
            </a:r>
            <a:r>
              <a:rPr sz="1100" i="1" dirty="0">
                <a:latin typeface="Calibri"/>
                <a:cs typeface="Calibri"/>
              </a:rPr>
              <a:t>,</a:t>
            </a:r>
            <a:r>
              <a:rPr sz="1100" i="1" spc="-70" dirty="0">
                <a:latin typeface="Calibri"/>
                <a:cs typeface="Calibri"/>
              </a:rPr>
              <a:t> </a:t>
            </a:r>
            <a:r>
              <a:rPr sz="1100" i="1" dirty="0">
                <a:latin typeface="Calibri"/>
                <a:cs typeface="Calibri"/>
              </a:rPr>
              <a:t>.</a:t>
            </a:r>
            <a:r>
              <a:rPr sz="1100" i="1" spc="105" dirty="0">
                <a:latin typeface="Calibri"/>
                <a:cs typeface="Calibri"/>
              </a:rPr>
              <a:t> </a:t>
            </a:r>
            <a:r>
              <a:rPr sz="1100" spc="-40" dirty="0">
                <a:latin typeface="Tahoma"/>
                <a:cs typeface="Tahoma"/>
              </a:rPr>
              <a:t>such</a:t>
            </a:r>
            <a:r>
              <a:rPr sz="1100" spc="10" dirty="0">
                <a:latin typeface="Tahoma"/>
                <a:cs typeface="Tahoma"/>
              </a:rPr>
              <a:t> </a:t>
            </a:r>
            <a:r>
              <a:rPr sz="1100" dirty="0">
                <a:latin typeface="Tahoma"/>
                <a:cs typeface="Tahoma"/>
              </a:rPr>
              <a:t>that</a:t>
            </a:r>
            <a:r>
              <a:rPr sz="1100" spc="10" dirty="0">
                <a:latin typeface="Tahoma"/>
                <a:cs typeface="Tahoma"/>
              </a:rPr>
              <a:t> </a:t>
            </a:r>
            <a:r>
              <a:rPr sz="1100" dirty="0">
                <a:latin typeface="Tahoma"/>
                <a:cs typeface="Tahoma"/>
              </a:rPr>
              <a:t>+</a:t>
            </a:r>
            <a:r>
              <a:rPr sz="1100" spc="-55" dirty="0">
                <a:latin typeface="Tahoma"/>
                <a:cs typeface="Tahoma"/>
              </a:rPr>
              <a:t> </a:t>
            </a:r>
            <a:r>
              <a:rPr sz="1100" spc="-90" dirty="0">
                <a:latin typeface="Tahoma"/>
                <a:cs typeface="Tahoma"/>
              </a:rPr>
              <a:t>:</a:t>
            </a:r>
            <a:r>
              <a:rPr sz="1100" spc="-40" dirty="0">
                <a:latin typeface="Tahoma"/>
                <a:cs typeface="Tahoma"/>
              </a:rPr>
              <a:t> </a:t>
            </a:r>
            <a:r>
              <a:rPr sz="1100" dirty="0">
                <a:latin typeface="Lucida Sans Unicode"/>
                <a:cs typeface="Lucida Sans Unicode"/>
              </a:rPr>
              <a:t>V</a:t>
            </a:r>
            <a:r>
              <a:rPr sz="1100" spc="-30" dirty="0">
                <a:latin typeface="Lucida Sans Unicode"/>
                <a:cs typeface="Lucida Sans Unicode"/>
              </a:rPr>
              <a:t> </a:t>
            </a:r>
            <a:r>
              <a:rPr sz="1100" spc="-35" dirty="0">
                <a:latin typeface="Lucida Sans Unicode"/>
                <a:cs typeface="Lucida Sans Unicode"/>
              </a:rPr>
              <a:t>×</a:t>
            </a:r>
            <a:r>
              <a:rPr sz="1100" spc="-105" dirty="0">
                <a:latin typeface="Lucida Sans Unicode"/>
                <a:cs typeface="Lucida Sans Unicode"/>
              </a:rPr>
              <a:t> </a:t>
            </a:r>
            <a:r>
              <a:rPr sz="1100" dirty="0">
                <a:latin typeface="Lucida Sans Unicode"/>
                <a:cs typeface="Lucida Sans Unicode"/>
              </a:rPr>
              <a:t>V</a:t>
            </a:r>
            <a:r>
              <a:rPr sz="1100" spc="35" dirty="0">
                <a:latin typeface="Lucida Sans Unicode"/>
                <a:cs typeface="Lucida Sans Unicode"/>
              </a:rPr>
              <a:t> </a:t>
            </a:r>
            <a:r>
              <a:rPr sz="1100" dirty="0">
                <a:latin typeface="Lucida Sans Unicode"/>
                <a:cs typeface="Lucida Sans Unicode"/>
              </a:rPr>
              <a:t>→</a:t>
            </a:r>
            <a:r>
              <a:rPr sz="1100" spc="-55" dirty="0">
                <a:latin typeface="Lucida Sans Unicode"/>
                <a:cs typeface="Lucida Sans Unicode"/>
              </a:rPr>
              <a:t> </a:t>
            </a:r>
            <a:r>
              <a:rPr sz="1100" dirty="0">
                <a:latin typeface="Lucida Sans Unicode"/>
                <a:cs typeface="Lucida Sans Unicode"/>
              </a:rPr>
              <a:t>V</a:t>
            </a:r>
            <a:r>
              <a:rPr sz="1100" spc="90" dirty="0">
                <a:latin typeface="Lucida Sans Unicode"/>
                <a:cs typeface="Lucida Sans Unicode"/>
              </a:rPr>
              <a:t> </a:t>
            </a:r>
            <a:r>
              <a:rPr sz="1100" spc="-35" dirty="0">
                <a:latin typeface="Tahoma"/>
                <a:cs typeface="Tahoma"/>
              </a:rPr>
              <a:t>and</a:t>
            </a:r>
            <a:r>
              <a:rPr sz="1100" spc="10" dirty="0">
                <a:latin typeface="Tahoma"/>
                <a:cs typeface="Tahoma"/>
              </a:rPr>
              <a:t> </a:t>
            </a:r>
            <a:r>
              <a:rPr sz="1100" i="1" dirty="0">
                <a:latin typeface="Calibri"/>
                <a:cs typeface="Calibri"/>
              </a:rPr>
              <a:t>.</a:t>
            </a:r>
            <a:r>
              <a:rPr sz="1100" i="1" spc="50" dirty="0">
                <a:latin typeface="Calibri"/>
                <a:cs typeface="Calibri"/>
              </a:rPr>
              <a:t> </a:t>
            </a:r>
            <a:r>
              <a:rPr sz="1100" spc="-90" dirty="0">
                <a:latin typeface="Tahoma"/>
                <a:cs typeface="Tahoma"/>
              </a:rPr>
              <a:t>:</a:t>
            </a:r>
            <a:r>
              <a:rPr sz="1100" spc="-40" dirty="0">
                <a:latin typeface="Tahoma"/>
                <a:cs typeface="Tahoma"/>
              </a:rPr>
              <a:t> </a:t>
            </a:r>
            <a:r>
              <a:rPr sz="1100" i="1" spc="-110" dirty="0">
                <a:latin typeface="Arial"/>
                <a:cs typeface="Arial"/>
              </a:rPr>
              <a:t>R</a:t>
            </a:r>
            <a:r>
              <a:rPr sz="1100" i="1" spc="25" dirty="0">
                <a:latin typeface="Arial"/>
                <a:cs typeface="Arial"/>
              </a:rPr>
              <a:t> </a:t>
            </a:r>
            <a:r>
              <a:rPr sz="1100" spc="-35" dirty="0">
                <a:latin typeface="Lucida Sans Unicode"/>
                <a:cs typeface="Lucida Sans Unicode"/>
              </a:rPr>
              <a:t>×</a:t>
            </a:r>
            <a:r>
              <a:rPr sz="1100" spc="-105" dirty="0">
                <a:latin typeface="Lucida Sans Unicode"/>
                <a:cs typeface="Lucida Sans Unicode"/>
              </a:rPr>
              <a:t> </a:t>
            </a:r>
            <a:r>
              <a:rPr sz="1100" dirty="0">
                <a:latin typeface="Lucida Sans Unicode"/>
                <a:cs typeface="Lucida Sans Unicode"/>
              </a:rPr>
              <a:t>V</a:t>
            </a:r>
            <a:r>
              <a:rPr sz="1100" spc="30" dirty="0">
                <a:latin typeface="Lucida Sans Unicode"/>
                <a:cs typeface="Lucida Sans Unicode"/>
              </a:rPr>
              <a:t> </a:t>
            </a:r>
            <a:r>
              <a:rPr sz="1100" dirty="0">
                <a:latin typeface="Lucida Sans Unicode"/>
                <a:cs typeface="Lucida Sans Unicode"/>
              </a:rPr>
              <a:t>→</a:t>
            </a:r>
            <a:r>
              <a:rPr sz="1100" spc="-50" dirty="0">
                <a:latin typeface="Lucida Sans Unicode"/>
                <a:cs typeface="Lucida Sans Unicode"/>
              </a:rPr>
              <a:t> V </a:t>
            </a:r>
            <a:r>
              <a:rPr sz="1100" spc="-65" dirty="0">
                <a:latin typeface="Tahoma"/>
                <a:cs typeface="Tahoma"/>
              </a:rPr>
              <a:t>where</a:t>
            </a:r>
            <a:r>
              <a:rPr sz="1100" spc="-25" dirty="0">
                <a:latin typeface="Tahoma"/>
                <a:cs typeface="Tahoma"/>
              </a:rPr>
              <a:t> </a:t>
            </a:r>
            <a:r>
              <a:rPr sz="1100" dirty="0">
                <a:latin typeface="Tahoma"/>
                <a:cs typeface="Tahoma"/>
              </a:rPr>
              <a:t>(</a:t>
            </a:r>
            <a:r>
              <a:rPr sz="1100" dirty="0">
                <a:latin typeface="Lucida Sans Unicode"/>
                <a:cs typeface="Lucida Sans Unicode"/>
              </a:rPr>
              <a:t>V</a:t>
            </a:r>
            <a:r>
              <a:rPr sz="1100" i="1" dirty="0">
                <a:latin typeface="Calibri"/>
                <a:cs typeface="Calibri"/>
              </a:rPr>
              <a:t>,</a:t>
            </a:r>
            <a:r>
              <a:rPr sz="1100" i="1" spc="-70" dirty="0">
                <a:latin typeface="Calibri"/>
                <a:cs typeface="Calibri"/>
              </a:rPr>
              <a:t> </a:t>
            </a:r>
            <a:r>
              <a:rPr sz="1100" dirty="0">
                <a:latin typeface="Tahoma"/>
                <a:cs typeface="Tahoma"/>
              </a:rPr>
              <a:t>+)</a:t>
            </a:r>
            <a:r>
              <a:rPr sz="1100" spc="-40" dirty="0">
                <a:latin typeface="Tahoma"/>
                <a:cs typeface="Tahoma"/>
              </a:rPr>
              <a:t> </a:t>
            </a:r>
            <a:r>
              <a:rPr sz="1100" dirty="0">
                <a:latin typeface="Tahoma"/>
                <a:cs typeface="Tahoma"/>
              </a:rPr>
              <a:t>is</a:t>
            </a:r>
            <a:r>
              <a:rPr sz="1100" spc="-30" dirty="0">
                <a:latin typeface="Tahoma"/>
                <a:cs typeface="Tahoma"/>
              </a:rPr>
              <a:t> </a:t>
            </a:r>
            <a:r>
              <a:rPr sz="1100" spc="-10" dirty="0">
                <a:latin typeface="Tahoma"/>
                <a:cs typeface="Tahoma"/>
              </a:rPr>
              <a:t>an</a:t>
            </a:r>
            <a:r>
              <a:rPr sz="1100" spc="-20" dirty="0">
                <a:latin typeface="Tahoma"/>
                <a:cs typeface="Tahoma"/>
              </a:rPr>
              <a:t> </a:t>
            </a:r>
            <a:r>
              <a:rPr sz="1100" spc="-10" dirty="0">
                <a:latin typeface="Tahoma"/>
                <a:cs typeface="Tahoma"/>
              </a:rPr>
              <a:t>Abelian</a:t>
            </a:r>
            <a:r>
              <a:rPr sz="1100" spc="-30" dirty="0">
                <a:latin typeface="Tahoma"/>
                <a:cs typeface="Tahoma"/>
              </a:rPr>
              <a:t> </a:t>
            </a:r>
            <a:r>
              <a:rPr sz="1100" spc="-40" dirty="0">
                <a:latin typeface="Tahoma"/>
                <a:cs typeface="Tahoma"/>
              </a:rPr>
              <a:t>group,</a:t>
            </a:r>
            <a:r>
              <a:rPr sz="1100" spc="-20" dirty="0">
                <a:latin typeface="Tahoma"/>
                <a:cs typeface="Tahoma"/>
              </a:rPr>
              <a:t> </a:t>
            </a:r>
            <a:r>
              <a:rPr sz="1100" spc="-40" dirty="0">
                <a:latin typeface="Tahoma"/>
                <a:cs typeface="Tahoma"/>
              </a:rPr>
              <a:t>and</a:t>
            </a:r>
            <a:r>
              <a:rPr sz="1100" spc="-30" dirty="0">
                <a:latin typeface="Tahoma"/>
                <a:cs typeface="Tahoma"/>
              </a:rPr>
              <a:t> </a:t>
            </a:r>
            <a:r>
              <a:rPr sz="1100" spc="-20" dirty="0">
                <a:latin typeface="Tahoma"/>
                <a:cs typeface="Tahoma"/>
              </a:rPr>
              <a:t>the </a:t>
            </a:r>
            <a:r>
              <a:rPr sz="1100" spc="-35" dirty="0">
                <a:latin typeface="Tahoma"/>
                <a:cs typeface="Tahoma"/>
              </a:rPr>
              <a:t>following</a:t>
            </a:r>
            <a:r>
              <a:rPr sz="1100" spc="-30" dirty="0">
                <a:latin typeface="Tahoma"/>
                <a:cs typeface="Tahoma"/>
              </a:rPr>
              <a:t> </a:t>
            </a:r>
            <a:r>
              <a:rPr sz="1100" spc="-45" dirty="0">
                <a:latin typeface="Tahoma"/>
                <a:cs typeface="Tahoma"/>
              </a:rPr>
              <a:t>properties </a:t>
            </a:r>
            <a:r>
              <a:rPr sz="1100" spc="-10" dirty="0">
                <a:latin typeface="Tahoma"/>
                <a:cs typeface="Tahoma"/>
              </a:rPr>
              <a:t>hold:</a:t>
            </a:r>
            <a:endParaRPr sz="1100" dirty="0">
              <a:latin typeface="Tahoma"/>
              <a:cs typeface="Tahoma"/>
            </a:endParaRPr>
          </a:p>
          <a:p>
            <a:pPr marL="490220" lvl="1" indent="-165735">
              <a:lnSpc>
                <a:spcPts val="1200"/>
              </a:lnSpc>
              <a:spcBef>
                <a:spcPts val="140"/>
              </a:spcBef>
              <a:buClr>
                <a:srgbClr val="3333B2"/>
              </a:buClr>
              <a:buFont typeface="Lucida Sans Unicode"/>
              <a:buChar char="►"/>
              <a:tabLst>
                <a:tab pos="490220" algn="l"/>
              </a:tabLst>
            </a:pPr>
            <a:r>
              <a:rPr sz="1000" spc="-10" dirty="0">
                <a:latin typeface="Tahoma"/>
                <a:cs typeface="Tahoma"/>
              </a:rPr>
              <a:t>Distributivity</a:t>
            </a:r>
            <a:endParaRPr sz="1000" dirty="0">
              <a:latin typeface="Tahoma"/>
              <a:cs typeface="Tahoma"/>
            </a:endParaRPr>
          </a:p>
          <a:p>
            <a:pPr marL="490220" lvl="1" indent="-165735">
              <a:lnSpc>
                <a:spcPts val="1195"/>
              </a:lnSpc>
              <a:buClr>
                <a:srgbClr val="3333B2"/>
              </a:buClr>
              <a:buFont typeface="Lucida Sans Unicode"/>
              <a:buChar char="►"/>
              <a:tabLst>
                <a:tab pos="490220" algn="l"/>
              </a:tabLst>
            </a:pPr>
            <a:r>
              <a:rPr sz="1000" spc="-25" dirty="0">
                <a:latin typeface="Tahoma"/>
                <a:cs typeface="Tahoma"/>
              </a:rPr>
              <a:t>associativity</a:t>
            </a:r>
            <a:r>
              <a:rPr sz="1000" spc="-35" dirty="0">
                <a:latin typeface="Tahoma"/>
                <a:cs typeface="Tahoma"/>
              </a:rPr>
              <a:t> </a:t>
            </a:r>
            <a:r>
              <a:rPr sz="1000" dirty="0">
                <a:latin typeface="Tahoma"/>
                <a:cs typeface="Tahoma"/>
              </a:rPr>
              <a:t>with</a:t>
            </a:r>
            <a:r>
              <a:rPr sz="1000" spc="-25" dirty="0">
                <a:latin typeface="Tahoma"/>
                <a:cs typeface="Tahoma"/>
              </a:rPr>
              <a:t> </a:t>
            </a:r>
            <a:r>
              <a:rPr sz="1000" spc="-35" dirty="0">
                <a:latin typeface="Tahoma"/>
                <a:cs typeface="Tahoma"/>
              </a:rPr>
              <a:t>respect</a:t>
            </a:r>
            <a:r>
              <a:rPr sz="1000" spc="-30" dirty="0">
                <a:latin typeface="Tahoma"/>
                <a:cs typeface="Tahoma"/>
              </a:rPr>
              <a:t> </a:t>
            </a:r>
            <a:r>
              <a:rPr sz="1000" dirty="0">
                <a:latin typeface="Tahoma"/>
                <a:cs typeface="Tahoma"/>
              </a:rPr>
              <a:t>to</a:t>
            </a:r>
            <a:r>
              <a:rPr sz="1000" spc="-30" dirty="0">
                <a:latin typeface="Tahoma"/>
                <a:cs typeface="Tahoma"/>
              </a:rPr>
              <a:t> </a:t>
            </a:r>
            <a:r>
              <a:rPr sz="1000" spc="-10" dirty="0">
                <a:latin typeface="Tahoma"/>
                <a:cs typeface="Tahoma"/>
              </a:rPr>
              <a:t>the</a:t>
            </a:r>
            <a:r>
              <a:rPr sz="1000" spc="-25" dirty="0">
                <a:latin typeface="Tahoma"/>
                <a:cs typeface="Tahoma"/>
              </a:rPr>
              <a:t> outer</a:t>
            </a:r>
            <a:r>
              <a:rPr sz="1000" spc="-30" dirty="0">
                <a:latin typeface="Tahoma"/>
                <a:cs typeface="Tahoma"/>
              </a:rPr>
              <a:t> </a:t>
            </a:r>
            <a:r>
              <a:rPr sz="1000" spc="-10" dirty="0">
                <a:latin typeface="Tahoma"/>
                <a:cs typeface="Tahoma"/>
              </a:rPr>
              <a:t>operation.</a:t>
            </a:r>
            <a:endParaRPr sz="1000" dirty="0">
              <a:latin typeface="Tahoma"/>
              <a:cs typeface="Tahoma"/>
            </a:endParaRPr>
          </a:p>
          <a:p>
            <a:pPr marL="489584" marR="173990" lvl="1" indent="-165735">
              <a:lnSpc>
                <a:spcPts val="1200"/>
              </a:lnSpc>
              <a:spcBef>
                <a:spcPts val="40"/>
              </a:spcBef>
              <a:buClr>
                <a:srgbClr val="3333B2"/>
              </a:buClr>
              <a:buFont typeface="Lucida Sans Unicode"/>
              <a:buChar char="►"/>
              <a:tabLst>
                <a:tab pos="492125" algn="l"/>
              </a:tabLst>
            </a:pPr>
            <a:r>
              <a:rPr sz="1000" spc="-35" dirty="0">
                <a:latin typeface="Tahoma"/>
                <a:cs typeface="Tahoma"/>
              </a:rPr>
              <a:t>there exists</a:t>
            </a:r>
            <a:r>
              <a:rPr sz="1000" spc="-25" dirty="0">
                <a:latin typeface="Tahoma"/>
                <a:cs typeface="Tahoma"/>
              </a:rPr>
              <a:t> </a:t>
            </a:r>
            <a:r>
              <a:rPr sz="1000" dirty="0">
                <a:latin typeface="Tahoma"/>
                <a:cs typeface="Tahoma"/>
              </a:rPr>
              <a:t>a</a:t>
            </a:r>
            <a:r>
              <a:rPr sz="1000" spc="-35" dirty="0">
                <a:latin typeface="Tahoma"/>
                <a:cs typeface="Tahoma"/>
              </a:rPr>
              <a:t> </a:t>
            </a:r>
            <a:r>
              <a:rPr sz="1000" spc="-25" dirty="0">
                <a:latin typeface="Tahoma"/>
                <a:cs typeface="Tahoma"/>
              </a:rPr>
              <a:t>neutral </a:t>
            </a:r>
            <a:r>
              <a:rPr sz="1000" spc="-10" dirty="0">
                <a:latin typeface="Tahoma"/>
                <a:cs typeface="Tahoma"/>
              </a:rPr>
              <a:t>or</a:t>
            </a:r>
            <a:r>
              <a:rPr sz="1000" spc="-30" dirty="0">
                <a:latin typeface="Tahoma"/>
                <a:cs typeface="Tahoma"/>
              </a:rPr>
              <a:t> </a:t>
            </a:r>
            <a:r>
              <a:rPr sz="1000" spc="-20" dirty="0">
                <a:latin typeface="Tahoma"/>
                <a:cs typeface="Tahoma"/>
              </a:rPr>
              <a:t>identity</a:t>
            </a:r>
            <a:r>
              <a:rPr sz="1000" spc="-30" dirty="0">
                <a:latin typeface="Tahoma"/>
                <a:cs typeface="Tahoma"/>
              </a:rPr>
              <a:t> </a:t>
            </a:r>
            <a:r>
              <a:rPr sz="1000" spc="-40" dirty="0">
                <a:latin typeface="Tahoma"/>
                <a:cs typeface="Tahoma"/>
              </a:rPr>
              <a:t>element</a:t>
            </a:r>
            <a:r>
              <a:rPr sz="1000" spc="-30" dirty="0">
                <a:latin typeface="Tahoma"/>
                <a:cs typeface="Tahoma"/>
              </a:rPr>
              <a:t> </a:t>
            </a:r>
            <a:r>
              <a:rPr sz="1000" dirty="0">
                <a:latin typeface="Tahoma"/>
                <a:cs typeface="Tahoma"/>
              </a:rPr>
              <a:t>with</a:t>
            </a:r>
            <a:r>
              <a:rPr sz="1000" spc="-30" dirty="0">
                <a:latin typeface="Tahoma"/>
                <a:cs typeface="Tahoma"/>
              </a:rPr>
              <a:t> </a:t>
            </a:r>
            <a:r>
              <a:rPr sz="1000" spc="-35" dirty="0">
                <a:latin typeface="Tahoma"/>
                <a:cs typeface="Tahoma"/>
              </a:rPr>
              <a:t>respect</a:t>
            </a:r>
            <a:r>
              <a:rPr sz="1000" spc="-25" dirty="0">
                <a:latin typeface="Tahoma"/>
                <a:cs typeface="Tahoma"/>
              </a:rPr>
              <a:t> </a:t>
            </a:r>
            <a:r>
              <a:rPr sz="1000" dirty="0">
                <a:latin typeface="Tahoma"/>
                <a:cs typeface="Tahoma"/>
              </a:rPr>
              <a:t>to</a:t>
            </a:r>
            <a:r>
              <a:rPr sz="1000" spc="-30" dirty="0">
                <a:latin typeface="Tahoma"/>
                <a:cs typeface="Tahoma"/>
              </a:rPr>
              <a:t> </a:t>
            </a:r>
            <a:r>
              <a:rPr sz="1000" spc="-25" dirty="0">
                <a:latin typeface="Tahoma"/>
                <a:cs typeface="Tahoma"/>
              </a:rPr>
              <a:t>the 	outer</a:t>
            </a:r>
            <a:r>
              <a:rPr sz="1000" spc="-45" dirty="0">
                <a:latin typeface="Tahoma"/>
                <a:cs typeface="Tahoma"/>
              </a:rPr>
              <a:t> </a:t>
            </a:r>
            <a:r>
              <a:rPr sz="1000" spc="-10" dirty="0">
                <a:latin typeface="Tahoma"/>
                <a:cs typeface="Tahoma"/>
              </a:rPr>
              <a:t>operation.</a:t>
            </a:r>
            <a:endParaRPr sz="1000" dirty="0">
              <a:latin typeface="Tahoma"/>
              <a:cs typeface="Tahoma"/>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Vector</a:t>
            </a:r>
            <a:r>
              <a:rPr spc="-90" dirty="0"/>
              <a:t> </a:t>
            </a:r>
            <a:r>
              <a:rPr spc="-55" dirty="0"/>
              <a:t>Spaces</a:t>
            </a:r>
          </a:p>
        </p:txBody>
      </p:sp>
      <p:sp>
        <p:nvSpPr>
          <p:cNvPr id="3" name="object 3"/>
          <p:cNvSpPr txBox="1"/>
          <p:nvPr/>
        </p:nvSpPr>
        <p:spPr>
          <a:xfrm>
            <a:off x="321894" y="719605"/>
            <a:ext cx="3911600" cy="1974214"/>
          </a:xfrm>
          <a:prstGeom prst="rect">
            <a:avLst/>
          </a:prstGeom>
        </p:spPr>
        <p:txBody>
          <a:bodyPr vert="horz" wrap="square" lIns="0" tIns="55244" rIns="0" bIns="0" rtlCol="0">
            <a:spAutoFit/>
          </a:bodyPr>
          <a:lstStyle/>
          <a:p>
            <a:pPr marR="245745" algn="r">
              <a:lnSpc>
                <a:spcPct val="100000"/>
              </a:lnSpc>
              <a:spcBef>
                <a:spcPts val="434"/>
              </a:spcBef>
            </a:pPr>
            <a:r>
              <a:rPr sz="1100" dirty="0">
                <a:latin typeface="Tahoma"/>
                <a:cs typeface="Tahoma"/>
              </a:rPr>
              <a:t>Let</a:t>
            </a:r>
            <a:r>
              <a:rPr sz="1100" spc="-55" dirty="0">
                <a:latin typeface="Tahoma"/>
                <a:cs typeface="Tahoma"/>
              </a:rPr>
              <a:t> </a:t>
            </a:r>
            <a:r>
              <a:rPr sz="1100" spc="-20" dirty="0">
                <a:latin typeface="Tahoma"/>
                <a:cs typeface="Tahoma"/>
              </a:rPr>
              <a:t>us</a:t>
            </a:r>
            <a:r>
              <a:rPr sz="1100" spc="-40" dirty="0">
                <a:latin typeface="Tahoma"/>
                <a:cs typeface="Tahoma"/>
              </a:rPr>
              <a:t> </a:t>
            </a:r>
            <a:r>
              <a:rPr sz="1100" dirty="0">
                <a:latin typeface="Tahoma"/>
                <a:cs typeface="Tahoma"/>
              </a:rPr>
              <a:t>look</a:t>
            </a:r>
            <a:r>
              <a:rPr sz="1100" spc="-35" dirty="0">
                <a:latin typeface="Tahoma"/>
                <a:cs typeface="Tahoma"/>
              </a:rPr>
              <a:t> </a:t>
            </a:r>
            <a:r>
              <a:rPr sz="1100" dirty="0">
                <a:latin typeface="Tahoma"/>
                <a:cs typeface="Tahoma"/>
              </a:rPr>
              <a:t>at</a:t>
            </a:r>
            <a:r>
              <a:rPr sz="1100" spc="-45" dirty="0">
                <a:latin typeface="Tahoma"/>
                <a:cs typeface="Tahoma"/>
              </a:rPr>
              <a:t> </a:t>
            </a:r>
            <a:r>
              <a:rPr sz="1100" spc="-10" dirty="0">
                <a:latin typeface="Tahoma"/>
                <a:cs typeface="Tahoma"/>
              </a:rPr>
              <a:t>the</a:t>
            </a:r>
            <a:r>
              <a:rPr sz="1100" spc="-35" dirty="0">
                <a:latin typeface="Tahoma"/>
                <a:cs typeface="Tahoma"/>
              </a:rPr>
              <a:t> </a:t>
            </a:r>
            <a:r>
              <a:rPr sz="1100" spc="-40" dirty="0">
                <a:latin typeface="Tahoma"/>
                <a:cs typeface="Tahoma"/>
              </a:rPr>
              <a:t>properties </a:t>
            </a:r>
            <a:r>
              <a:rPr sz="1100" dirty="0">
                <a:latin typeface="Tahoma"/>
                <a:cs typeface="Tahoma"/>
              </a:rPr>
              <a:t>of</a:t>
            </a:r>
            <a:r>
              <a:rPr sz="1100" spc="-40" dirty="0">
                <a:latin typeface="Tahoma"/>
                <a:cs typeface="Tahoma"/>
              </a:rPr>
              <a:t> </a:t>
            </a:r>
            <a:r>
              <a:rPr sz="1100" dirty="0">
                <a:latin typeface="Tahoma"/>
                <a:cs typeface="Tahoma"/>
              </a:rPr>
              <a:t>a</a:t>
            </a:r>
            <a:r>
              <a:rPr sz="1100" spc="-35" dirty="0">
                <a:latin typeface="Tahoma"/>
                <a:cs typeface="Tahoma"/>
              </a:rPr>
              <a:t> </a:t>
            </a:r>
            <a:r>
              <a:rPr sz="1100" spc="-20" dirty="0">
                <a:latin typeface="Tahoma"/>
                <a:cs typeface="Tahoma"/>
              </a:rPr>
              <a:t>Vector</a:t>
            </a:r>
            <a:r>
              <a:rPr sz="1100" spc="-40" dirty="0">
                <a:latin typeface="Tahoma"/>
                <a:cs typeface="Tahoma"/>
              </a:rPr>
              <a:t> Space</a:t>
            </a:r>
            <a:r>
              <a:rPr sz="1100" spc="-35" dirty="0">
                <a:latin typeface="Tahoma"/>
                <a:cs typeface="Tahoma"/>
              </a:rPr>
              <a:t> </a:t>
            </a:r>
            <a:r>
              <a:rPr sz="1100" spc="-60" dirty="0">
                <a:latin typeface="Tahoma"/>
                <a:cs typeface="Tahoma"/>
              </a:rPr>
              <a:t>more</a:t>
            </a:r>
            <a:r>
              <a:rPr sz="1100" spc="-30" dirty="0">
                <a:latin typeface="Tahoma"/>
                <a:cs typeface="Tahoma"/>
              </a:rPr>
              <a:t> </a:t>
            </a:r>
            <a:r>
              <a:rPr sz="1100" spc="-10" dirty="0">
                <a:latin typeface="Tahoma"/>
                <a:cs typeface="Tahoma"/>
              </a:rPr>
              <a:t>carefully:</a:t>
            </a:r>
            <a:endParaRPr sz="1100" dirty="0">
              <a:latin typeface="Tahoma"/>
              <a:cs typeface="Tahoma"/>
            </a:endParaRPr>
          </a:p>
          <a:p>
            <a:pPr marL="177165" marR="192405" indent="-177165" algn="r">
              <a:lnSpc>
                <a:spcPct val="100000"/>
              </a:lnSpc>
              <a:spcBef>
                <a:spcPts val="334"/>
              </a:spcBef>
              <a:buClr>
                <a:srgbClr val="3333B2"/>
              </a:buClr>
              <a:buFont typeface="Lucida Sans Unicode"/>
              <a:buChar char="►"/>
              <a:tabLst>
                <a:tab pos="177165" algn="l"/>
              </a:tabLst>
            </a:pPr>
            <a:r>
              <a:rPr sz="1100" spc="-10" dirty="0">
                <a:latin typeface="Tahoma"/>
                <a:cs typeface="Tahoma"/>
              </a:rPr>
              <a:t>Distributivity:</a:t>
            </a:r>
            <a:r>
              <a:rPr sz="1100" spc="175" dirty="0">
                <a:latin typeface="Tahoma"/>
                <a:cs typeface="Tahoma"/>
              </a:rPr>
              <a:t> </a:t>
            </a:r>
            <a:r>
              <a:rPr sz="1100" spc="-125" dirty="0">
                <a:latin typeface="Lucida Sans Unicode"/>
                <a:cs typeface="Lucida Sans Unicode"/>
              </a:rPr>
              <a:t>∀</a:t>
            </a:r>
            <a:r>
              <a:rPr sz="1100" i="1" spc="-125" dirty="0">
                <a:latin typeface="Calibri"/>
                <a:cs typeface="Calibri"/>
              </a:rPr>
              <a:t>λ</a:t>
            </a:r>
            <a:r>
              <a:rPr sz="1100" i="1" spc="65" dirty="0">
                <a:latin typeface="Calibri"/>
                <a:cs typeface="Calibri"/>
              </a:rPr>
              <a:t> </a:t>
            </a:r>
            <a:r>
              <a:rPr sz="1100" spc="-155" dirty="0">
                <a:latin typeface="Lucida Sans Unicode"/>
                <a:cs typeface="Lucida Sans Unicode"/>
              </a:rPr>
              <a:t>∈</a:t>
            </a:r>
            <a:r>
              <a:rPr sz="1100" spc="-25" dirty="0">
                <a:latin typeface="Lucida Sans Unicode"/>
                <a:cs typeface="Lucida Sans Unicode"/>
              </a:rPr>
              <a:t> </a:t>
            </a:r>
            <a:r>
              <a:rPr sz="1100" i="1" dirty="0">
                <a:latin typeface="Arial"/>
                <a:cs typeface="Arial"/>
              </a:rPr>
              <a:t>R</a:t>
            </a:r>
            <a:r>
              <a:rPr sz="1100" i="1" dirty="0">
                <a:latin typeface="Calibri"/>
                <a:cs typeface="Calibri"/>
              </a:rPr>
              <a:t>,</a:t>
            </a:r>
            <a:r>
              <a:rPr sz="1100" i="1" spc="-60" dirty="0">
                <a:latin typeface="Calibri"/>
                <a:cs typeface="Calibri"/>
              </a:rPr>
              <a:t> </a:t>
            </a:r>
            <a:r>
              <a:rPr sz="1100" b="1" spc="-30" dirty="0">
                <a:latin typeface="Trebuchet MS"/>
                <a:cs typeface="Trebuchet MS"/>
              </a:rPr>
              <a:t>x</a:t>
            </a:r>
            <a:r>
              <a:rPr sz="1100" i="1" spc="-30" dirty="0">
                <a:latin typeface="Calibri"/>
                <a:cs typeface="Calibri"/>
              </a:rPr>
              <a:t>,</a:t>
            </a:r>
            <a:r>
              <a:rPr sz="1100" i="1" spc="-60" dirty="0">
                <a:latin typeface="Calibri"/>
                <a:cs typeface="Calibri"/>
              </a:rPr>
              <a:t> </a:t>
            </a:r>
            <a:r>
              <a:rPr sz="1100" b="1" dirty="0">
                <a:latin typeface="Trebuchet MS"/>
                <a:cs typeface="Trebuchet MS"/>
              </a:rPr>
              <a:t>y</a:t>
            </a:r>
            <a:r>
              <a:rPr sz="1100" b="1" spc="5" dirty="0">
                <a:latin typeface="Trebuchet MS"/>
                <a:cs typeface="Trebuchet MS"/>
              </a:rPr>
              <a:t> </a:t>
            </a:r>
            <a:r>
              <a:rPr sz="1100" spc="-155" dirty="0">
                <a:latin typeface="Lucida Sans Unicode"/>
                <a:cs typeface="Lucida Sans Unicode"/>
              </a:rPr>
              <a:t>∈</a:t>
            </a:r>
            <a:r>
              <a:rPr sz="1100" spc="-25" dirty="0">
                <a:latin typeface="Lucida Sans Unicode"/>
                <a:cs typeface="Lucida Sans Unicode"/>
              </a:rPr>
              <a:t> </a:t>
            </a:r>
            <a:r>
              <a:rPr sz="1100" dirty="0">
                <a:latin typeface="Lucida Sans Unicode"/>
                <a:cs typeface="Lucida Sans Unicode"/>
              </a:rPr>
              <a:t>V</a:t>
            </a:r>
            <a:r>
              <a:rPr sz="1100" i="1" dirty="0">
                <a:latin typeface="Calibri"/>
                <a:cs typeface="Calibri"/>
              </a:rPr>
              <a:t>,</a:t>
            </a:r>
            <a:r>
              <a:rPr sz="1100" i="1" spc="-60" dirty="0">
                <a:latin typeface="Calibri"/>
                <a:cs typeface="Calibri"/>
              </a:rPr>
              <a:t> </a:t>
            </a:r>
            <a:r>
              <a:rPr sz="1100" i="1" dirty="0">
                <a:latin typeface="Calibri"/>
                <a:cs typeface="Calibri"/>
              </a:rPr>
              <a:t>λ.</a:t>
            </a:r>
            <a:r>
              <a:rPr sz="1100" dirty="0">
                <a:latin typeface="Tahoma"/>
                <a:cs typeface="Tahoma"/>
              </a:rPr>
              <a:t>(</a:t>
            </a:r>
            <a:r>
              <a:rPr sz="1100" b="1" dirty="0">
                <a:latin typeface="Trebuchet MS"/>
                <a:cs typeface="Trebuchet MS"/>
              </a:rPr>
              <a:t>x</a:t>
            </a:r>
            <a:r>
              <a:rPr sz="1100" b="1" spc="-75" dirty="0">
                <a:latin typeface="Trebuchet MS"/>
                <a:cs typeface="Trebuchet MS"/>
              </a:rPr>
              <a:t> </a:t>
            </a:r>
            <a:r>
              <a:rPr sz="1100" dirty="0">
                <a:latin typeface="Tahoma"/>
                <a:cs typeface="Tahoma"/>
              </a:rPr>
              <a:t>+</a:t>
            </a:r>
            <a:r>
              <a:rPr sz="1100" spc="-90" dirty="0">
                <a:latin typeface="Tahoma"/>
                <a:cs typeface="Tahoma"/>
              </a:rPr>
              <a:t> </a:t>
            </a:r>
            <a:r>
              <a:rPr sz="1100" b="1" dirty="0">
                <a:latin typeface="Trebuchet MS"/>
                <a:cs typeface="Trebuchet MS"/>
              </a:rPr>
              <a:t>y</a:t>
            </a:r>
            <a:r>
              <a:rPr sz="1100" dirty="0">
                <a:latin typeface="Tahoma"/>
                <a:cs typeface="Tahoma"/>
              </a:rPr>
              <a:t>)</a:t>
            </a:r>
            <a:r>
              <a:rPr sz="1100" spc="-20" dirty="0">
                <a:latin typeface="Tahoma"/>
                <a:cs typeface="Tahoma"/>
              </a:rPr>
              <a:t> </a:t>
            </a:r>
            <a:r>
              <a:rPr sz="1100" dirty="0">
                <a:latin typeface="Tahoma"/>
                <a:cs typeface="Tahoma"/>
              </a:rPr>
              <a:t>=</a:t>
            </a:r>
            <a:r>
              <a:rPr sz="1100" spc="-25" dirty="0">
                <a:latin typeface="Tahoma"/>
                <a:cs typeface="Tahoma"/>
              </a:rPr>
              <a:t> </a:t>
            </a:r>
            <a:r>
              <a:rPr sz="1100" i="1" dirty="0">
                <a:latin typeface="Calibri"/>
                <a:cs typeface="Calibri"/>
              </a:rPr>
              <a:t>λ.</a:t>
            </a:r>
            <a:r>
              <a:rPr sz="1100" b="1" dirty="0">
                <a:latin typeface="Trebuchet MS"/>
                <a:cs typeface="Trebuchet MS"/>
              </a:rPr>
              <a:t>x</a:t>
            </a:r>
            <a:r>
              <a:rPr sz="1100" b="1" spc="-75" dirty="0">
                <a:latin typeface="Trebuchet MS"/>
                <a:cs typeface="Trebuchet MS"/>
              </a:rPr>
              <a:t> </a:t>
            </a:r>
            <a:r>
              <a:rPr sz="1100" dirty="0">
                <a:latin typeface="Tahoma"/>
                <a:cs typeface="Tahoma"/>
              </a:rPr>
              <a:t>+</a:t>
            </a:r>
            <a:r>
              <a:rPr sz="1100" spc="-90" dirty="0">
                <a:latin typeface="Tahoma"/>
                <a:cs typeface="Tahoma"/>
              </a:rPr>
              <a:t> </a:t>
            </a:r>
            <a:r>
              <a:rPr sz="1100" i="1" dirty="0">
                <a:latin typeface="Calibri"/>
                <a:cs typeface="Calibri"/>
              </a:rPr>
              <a:t>λ.</a:t>
            </a:r>
            <a:r>
              <a:rPr sz="1100" b="1" dirty="0">
                <a:latin typeface="Trebuchet MS"/>
                <a:cs typeface="Trebuchet MS"/>
              </a:rPr>
              <a:t>y</a:t>
            </a:r>
            <a:r>
              <a:rPr sz="1100" b="1" spc="65" dirty="0">
                <a:latin typeface="Trebuchet MS"/>
                <a:cs typeface="Trebuchet MS"/>
              </a:rPr>
              <a:t> </a:t>
            </a:r>
            <a:r>
              <a:rPr sz="1100" spc="-25" dirty="0">
                <a:latin typeface="Tahoma"/>
                <a:cs typeface="Tahoma"/>
              </a:rPr>
              <a:t>and</a:t>
            </a:r>
            <a:endParaRPr sz="1100" dirty="0">
              <a:latin typeface="Tahoma"/>
              <a:cs typeface="Tahoma"/>
            </a:endParaRPr>
          </a:p>
          <a:p>
            <a:pPr marL="314960">
              <a:lnSpc>
                <a:spcPct val="100000"/>
              </a:lnSpc>
              <a:spcBef>
                <a:spcPts val="35"/>
              </a:spcBef>
            </a:pPr>
            <a:r>
              <a:rPr sz="1100" spc="-80" dirty="0">
                <a:latin typeface="Lucida Sans Unicode"/>
                <a:cs typeface="Lucida Sans Unicode"/>
              </a:rPr>
              <a:t>∀</a:t>
            </a:r>
            <a:r>
              <a:rPr sz="1100" i="1" spc="-80" dirty="0">
                <a:latin typeface="Calibri"/>
                <a:cs typeface="Calibri"/>
              </a:rPr>
              <a:t>λ,</a:t>
            </a:r>
            <a:r>
              <a:rPr sz="1100" i="1" spc="-65" dirty="0">
                <a:latin typeface="Calibri"/>
                <a:cs typeface="Calibri"/>
              </a:rPr>
              <a:t> </a:t>
            </a:r>
            <a:r>
              <a:rPr sz="1100" i="1" dirty="0">
                <a:latin typeface="Calibri"/>
                <a:cs typeface="Calibri"/>
              </a:rPr>
              <a:t>ψ</a:t>
            </a:r>
            <a:r>
              <a:rPr sz="1100" i="1" spc="110" dirty="0">
                <a:latin typeface="Calibri"/>
                <a:cs typeface="Calibri"/>
              </a:rPr>
              <a:t> </a:t>
            </a:r>
            <a:r>
              <a:rPr sz="1100" spc="-155" dirty="0">
                <a:latin typeface="Lucida Sans Unicode"/>
                <a:cs typeface="Lucida Sans Unicode"/>
              </a:rPr>
              <a:t>∈</a:t>
            </a:r>
            <a:r>
              <a:rPr sz="1100" spc="-30" dirty="0">
                <a:latin typeface="Lucida Sans Unicode"/>
                <a:cs typeface="Lucida Sans Unicode"/>
              </a:rPr>
              <a:t> </a:t>
            </a:r>
            <a:r>
              <a:rPr sz="1100" i="1" dirty="0">
                <a:latin typeface="Arial"/>
                <a:cs typeface="Arial"/>
              </a:rPr>
              <a:t>R</a:t>
            </a:r>
            <a:r>
              <a:rPr sz="1100" i="1" dirty="0">
                <a:latin typeface="Calibri"/>
                <a:cs typeface="Calibri"/>
              </a:rPr>
              <a:t>,</a:t>
            </a:r>
            <a:r>
              <a:rPr sz="1100" i="1" spc="-60" dirty="0">
                <a:latin typeface="Calibri"/>
                <a:cs typeface="Calibri"/>
              </a:rPr>
              <a:t> </a:t>
            </a:r>
            <a:r>
              <a:rPr sz="1100" spc="55" dirty="0">
                <a:latin typeface="Tahoma"/>
                <a:cs typeface="Tahoma"/>
              </a:rPr>
              <a:t>(</a:t>
            </a:r>
            <a:r>
              <a:rPr sz="1100" i="1" spc="55" dirty="0">
                <a:latin typeface="Calibri"/>
                <a:cs typeface="Calibri"/>
              </a:rPr>
              <a:t>λ</a:t>
            </a:r>
            <a:r>
              <a:rPr sz="1100" i="1" spc="5" dirty="0">
                <a:latin typeface="Calibri"/>
                <a:cs typeface="Calibri"/>
              </a:rPr>
              <a:t> </a:t>
            </a:r>
            <a:r>
              <a:rPr sz="1100" dirty="0">
                <a:latin typeface="Tahoma"/>
                <a:cs typeface="Tahoma"/>
              </a:rPr>
              <a:t>+</a:t>
            </a:r>
            <a:r>
              <a:rPr sz="1100" spc="-95" dirty="0">
                <a:latin typeface="Tahoma"/>
                <a:cs typeface="Tahoma"/>
              </a:rPr>
              <a:t> </a:t>
            </a:r>
            <a:r>
              <a:rPr sz="1100" i="1" spc="-10" dirty="0">
                <a:latin typeface="Calibri"/>
                <a:cs typeface="Calibri"/>
              </a:rPr>
              <a:t>ψ</a:t>
            </a:r>
            <a:r>
              <a:rPr sz="1100" spc="-10" dirty="0">
                <a:latin typeface="Tahoma"/>
                <a:cs typeface="Tahoma"/>
              </a:rPr>
              <a:t>)</a:t>
            </a:r>
            <a:r>
              <a:rPr sz="1100" i="1" spc="-10" dirty="0">
                <a:latin typeface="Calibri"/>
                <a:cs typeface="Calibri"/>
              </a:rPr>
              <a:t>.</a:t>
            </a:r>
            <a:r>
              <a:rPr sz="1100" b="1" spc="-10" dirty="0">
                <a:latin typeface="Trebuchet MS"/>
                <a:cs typeface="Trebuchet MS"/>
              </a:rPr>
              <a:t>x</a:t>
            </a:r>
            <a:r>
              <a:rPr sz="1100" b="1" spc="-15" dirty="0">
                <a:latin typeface="Trebuchet MS"/>
                <a:cs typeface="Trebuchet MS"/>
              </a:rPr>
              <a:t> </a:t>
            </a:r>
            <a:r>
              <a:rPr sz="1100" dirty="0">
                <a:latin typeface="Tahoma"/>
                <a:cs typeface="Tahoma"/>
              </a:rPr>
              <a:t>=</a:t>
            </a:r>
            <a:r>
              <a:rPr sz="1100" spc="-20" dirty="0">
                <a:latin typeface="Tahoma"/>
                <a:cs typeface="Tahoma"/>
              </a:rPr>
              <a:t> </a:t>
            </a:r>
            <a:r>
              <a:rPr sz="1100" i="1" dirty="0">
                <a:latin typeface="Calibri"/>
                <a:cs typeface="Calibri"/>
              </a:rPr>
              <a:t>λ.</a:t>
            </a:r>
            <a:r>
              <a:rPr sz="1100" b="1" dirty="0">
                <a:latin typeface="Trebuchet MS"/>
                <a:cs typeface="Trebuchet MS"/>
              </a:rPr>
              <a:t>x</a:t>
            </a:r>
            <a:r>
              <a:rPr sz="1100" b="1" spc="-80" dirty="0">
                <a:latin typeface="Trebuchet MS"/>
                <a:cs typeface="Trebuchet MS"/>
              </a:rPr>
              <a:t> </a:t>
            </a:r>
            <a:r>
              <a:rPr sz="1100" dirty="0">
                <a:latin typeface="Tahoma"/>
                <a:cs typeface="Tahoma"/>
              </a:rPr>
              <a:t>+</a:t>
            </a:r>
            <a:r>
              <a:rPr sz="1100" spc="-90" dirty="0">
                <a:latin typeface="Tahoma"/>
                <a:cs typeface="Tahoma"/>
              </a:rPr>
              <a:t> </a:t>
            </a:r>
            <a:r>
              <a:rPr sz="1100" i="1" spc="-25" dirty="0">
                <a:latin typeface="Calibri"/>
                <a:cs typeface="Calibri"/>
              </a:rPr>
              <a:t>ψ.</a:t>
            </a:r>
            <a:r>
              <a:rPr sz="1100" b="1" spc="-25" dirty="0">
                <a:latin typeface="Trebuchet MS"/>
                <a:cs typeface="Trebuchet MS"/>
              </a:rPr>
              <a:t>x</a:t>
            </a:r>
            <a:endParaRPr sz="1100" dirty="0">
              <a:latin typeface="Trebuchet MS"/>
              <a:cs typeface="Trebuchet MS"/>
            </a:endParaRPr>
          </a:p>
          <a:p>
            <a:pPr marL="314960" indent="-177165">
              <a:lnSpc>
                <a:spcPct val="100000"/>
              </a:lnSpc>
              <a:spcBef>
                <a:spcPts val="330"/>
              </a:spcBef>
              <a:buClr>
                <a:srgbClr val="3333B2"/>
              </a:buClr>
              <a:buFont typeface="Lucida Sans Unicode"/>
              <a:buChar char="►"/>
              <a:tabLst>
                <a:tab pos="314960" algn="l"/>
              </a:tabLst>
            </a:pPr>
            <a:r>
              <a:rPr sz="1100" spc="-20" dirty="0">
                <a:latin typeface="Tahoma"/>
                <a:cs typeface="Tahoma"/>
              </a:rPr>
              <a:t>Associativity</a:t>
            </a:r>
            <a:r>
              <a:rPr sz="1100" spc="-45" dirty="0">
                <a:latin typeface="Tahoma"/>
                <a:cs typeface="Tahoma"/>
              </a:rPr>
              <a:t> </a:t>
            </a:r>
            <a:r>
              <a:rPr sz="1100" dirty="0">
                <a:latin typeface="Tahoma"/>
                <a:cs typeface="Tahoma"/>
              </a:rPr>
              <a:t>with</a:t>
            </a:r>
            <a:r>
              <a:rPr sz="1100" spc="-35" dirty="0">
                <a:latin typeface="Tahoma"/>
                <a:cs typeface="Tahoma"/>
              </a:rPr>
              <a:t> respect</a:t>
            </a:r>
            <a:r>
              <a:rPr sz="1100" spc="-40" dirty="0">
                <a:latin typeface="Tahoma"/>
                <a:cs typeface="Tahoma"/>
              </a:rPr>
              <a:t> </a:t>
            </a:r>
            <a:r>
              <a:rPr sz="1100" dirty="0">
                <a:latin typeface="Tahoma"/>
                <a:cs typeface="Tahoma"/>
              </a:rPr>
              <a:t>to</a:t>
            </a:r>
            <a:r>
              <a:rPr sz="1100" spc="-45" dirty="0">
                <a:latin typeface="Tahoma"/>
                <a:cs typeface="Tahoma"/>
              </a:rPr>
              <a:t> </a:t>
            </a:r>
            <a:r>
              <a:rPr sz="1100" spc="-10" dirty="0">
                <a:latin typeface="Tahoma"/>
                <a:cs typeface="Tahoma"/>
              </a:rPr>
              <a:t>the</a:t>
            </a:r>
            <a:r>
              <a:rPr sz="1100" spc="-35" dirty="0">
                <a:latin typeface="Tahoma"/>
                <a:cs typeface="Tahoma"/>
              </a:rPr>
              <a:t> </a:t>
            </a:r>
            <a:r>
              <a:rPr sz="1100" spc="-25" dirty="0">
                <a:latin typeface="Tahoma"/>
                <a:cs typeface="Tahoma"/>
              </a:rPr>
              <a:t>outer</a:t>
            </a:r>
            <a:r>
              <a:rPr sz="1100" spc="-40" dirty="0">
                <a:latin typeface="Tahoma"/>
                <a:cs typeface="Tahoma"/>
              </a:rPr>
              <a:t> </a:t>
            </a:r>
            <a:r>
              <a:rPr sz="1100" spc="-10" dirty="0">
                <a:latin typeface="Tahoma"/>
                <a:cs typeface="Tahoma"/>
              </a:rPr>
              <a:t>operation:</a:t>
            </a:r>
            <a:endParaRPr sz="1100" dirty="0">
              <a:latin typeface="Tahoma"/>
              <a:cs typeface="Tahoma"/>
            </a:endParaRPr>
          </a:p>
          <a:p>
            <a:pPr marL="314960">
              <a:lnSpc>
                <a:spcPct val="100000"/>
              </a:lnSpc>
              <a:spcBef>
                <a:spcPts val="35"/>
              </a:spcBef>
            </a:pPr>
            <a:r>
              <a:rPr sz="1100" spc="-80" dirty="0">
                <a:latin typeface="Lucida Sans Unicode"/>
                <a:cs typeface="Lucida Sans Unicode"/>
              </a:rPr>
              <a:t>∀</a:t>
            </a:r>
            <a:r>
              <a:rPr sz="1100" i="1" spc="-80" dirty="0">
                <a:latin typeface="Calibri"/>
                <a:cs typeface="Calibri"/>
              </a:rPr>
              <a:t>λ,</a:t>
            </a:r>
            <a:r>
              <a:rPr sz="1100" i="1" spc="-60" dirty="0">
                <a:latin typeface="Calibri"/>
                <a:cs typeface="Calibri"/>
              </a:rPr>
              <a:t> </a:t>
            </a:r>
            <a:r>
              <a:rPr sz="1100" i="1" dirty="0">
                <a:latin typeface="Calibri"/>
                <a:cs typeface="Calibri"/>
              </a:rPr>
              <a:t>ψ</a:t>
            </a:r>
            <a:r>
              <a:rPr sz="1100" i="1" spc="105" dirty="0">
                <a:latin typeface="Calibri"/>
                <a:cs typeface="Calibri"/>
              </a:rPr>
              <a:t> </a:t>
            </a:r>
            <a:r>
              <a:rPr sz="1100" spc="-155" dirty="0">
                <a:latin typeface="Lucida Sans Unicode"/>
                <a:cs typeface="Lucida Sans Unicode"/>
              </a:rPr>
              <a:t>∈</a:t>
            </a:r>
            <a:r>
              <a:rPr sz="1100" spc="-25" dirty="0">
                <a:latin typeface="Lucida Sans Unicode"/>
                <a:cs typeface="Lucida Sans Unicode"/>
              </a:rPr>
              <a:t> </a:t>
            </a:r>
            <a:r>
              <a:rPr sz="1100" i="1" dirty="0">
                <a:latin typeface="Arial"/>
                <a:cs typeface="Arial"/>
              </a:rPr>
              <a:t>R</a:t>
            </a:r>
            <a:r>
              <a:rPr sz="1100" i="1" dirty="0">
                <a:latin typeface="Calibri"/>
                <a:cs typeface="Calibri"/>
              </a:rPr>
              <a:t>,</a:t>
            </a:r>
            <a:r>
              <a:rPr sz="1100" i="1" spc="-60" dirty="0">
                <a:latin typeface="Calibri"/>
                <a:cs typeface="Calibri"/>
              </a:rPr>
              <a:t> </a:t>
            </a:r>
            <a:r>
              <a:rPr sz="1100" b="1" spc="-70" dirty="0">
                <a:latin typeface="Trebuchet MS"/>
                <a:cs typeface="Trebuchet MS"/>
              </a:rPr>
              <a:t>x</a:t>
            </a:r>
            <a:r>
              <a:rPr sz="1100" b="1" spc="-15" dirty="0">
                <a:latin typeface="Trebuchet MS"/>
                <a:cs typeface="Trebuchet MS"/>
              </a:rPr>
              <a:t> </a:t>
            </a:r>
            <a:r>
              <a:rPr sz="1100" spc="-155" dirty="0">
                <a:latin typeface="Lucida Sans Unicode"/>
                <a:cs typeface="Lucida Sans Unicode"/>
              </a:rPr>
              <a:t>∈</a:t>
            </a:r>
            <a:r>
              <a:rPr sz="1100" spc="-25" dirty="0">
                <a:latin typeface="Lucida Sans Unicode"/>
                <a:cs typeface="Lucida Sans Unicode"/>
              </a:rPr>
              <a:t> </a:t>
            </a:r>
            <a:r>
              <a:rPr sz="1100" dirty="0">
                <a:latin typeface="Lucida Sans Unicode"/>
                <a:cs typeface="Lucida Sans Unicode"/>
              </a:rPr>
              <a:t>V</a:t>
            </a:r>
            <a:r>
              <a:rPr sz="1100" i="1" dirty="0">
                <a:latin typeface="Calibri"/>
                <a:cs typeface="Calibri"/>
              </a:rPr>
              <a:t>,</a:t>
            </a:r>
            <a:r>
              <a:rPr sz="1100" i="1" spc="-60" dirty="0">
                <a:latin typeface="Calibri"/>
                <a:cs typeface="Calibri"/>
              </a:rPr>
              <a:t> </a:t>
            </a:r>
            <a:r>
              <a:rPr sz="1100" i="1" dirty="0">
                <a:latin typeface="Calibri"/>
                <a:cs typeface="Calibri"/>
              </a:rPr>
              <a:t>λ.</a:t>
            </a:r>
            <a:r>
              <a:rPr sz="1100" dirty="0">
                <a:latin typeface="Tahoma"/>
                <a:cs typeface="Tahoma"/>
              </a:rPr>
              <a:t>(</a:t>
            </a:r>
            <a:r>
              <a:rPr sz="1100" i="1" dirty="0">
                <a:latin typeface="Calibri"/>
                <a:cs typeface="Calibri"/>
              </a:rPr>
              <a:t>ψ.</a:t>
            </a:r>
            <a:r>
              <a:rPr sz="1100" b="1" dirty="0">
                <a:latin typeface="Trebuchet MS"/>
                <a:cs typeface="Trebuchet MS"/>
              </a:rPr>
              <a:t>x</a:t>
            </a:r>
            <a:r>
              <a:rPr sz="1100" dirty="0">
                <a:latin typeface="Tahoma"/>
                <a:cs typeface="Tahoma"/>
              </a:rPr>
              <a:t>)</a:t>
            </a:r>
            <a:r>
              <a:rPr sz="1100" spc="-25" dirty="0">
                <a:latin typeface="Tahoma"/>
                <a:cs typeface="Tahoma"/>
              </a:rPr>
              <a:t> </a:t>
            </a:r>
            <a:r>
              <a:rPr sz="1100" dirty="0">
                <a:latin typeface="Tahoma"/>
                <a:cs typeface="Tahoma"/>
              </a:rPr>
              <a:t>=</a:t>
            </a:r>
            <a:r>
              <a:rPr sz="1100" spc="-25" dirty="0">
                <a:latin typeface="Tahoma"/>
                <a:cs typeface="Tahoma"/>
              </a:rPr>
              <a:t> </a:t>
            </a:r>
            <a:r>
              <a:rPr sz="1100" spc="-10" dirty="0">
                <a:latin typeface="Tahoma"/>
                <a:cs typeface="Tahoma"/>
              </a:rPr>
              <a:t>(</a:t>
            </a:r>
            <a:r>
              <a:rPr sz="1100" i="1" spc="-10" dirty="0">
                <a:latin typeface="Calibri"/>
                <a:cs typeface="Calibri"/>
              </a:rPr>
              <a:t>λψ</a:t>
            </a:r>
            <a:r>
              <a:rPr sz="1100" spc="-10" dirty="0">
                <a:latin typeface="Tahoma"/>
                <a:cs typeface="Tahoma"/>
              </a:rPr>
              <a:t>)</a:t>
            </a:r>
            <a:r>
              <a:rPr sz="1100" i="1" spc="-10" dirty="0">
                <a:latin typeface="Calibri"/>
                <a:cs typeface="Calibri"/>
              </a:rPr>
              <a:t>.</a:t>
            </a:r>
            <a:r>
              <a:rPr sz="1100" b="1" spc="-10" dirty="0">
                <a:latin typeface="Trebuchet MS"/>
                <a:cs typeface="Trebuchet MS"/>
              </a:rPr>
              <a:t>x</a:t>
            </a:r>
            <a:endParaRPr sz="1100" dirty="0">
              <a:latin typeface="Trebuchet MS"/>
              <a:cs typeface="Trebuchet MS"/>
            </a:endParaRPr>
          </a:p>
          <a:p>
            <a:pPr marL="314960" indent="-177165">
              <a:lnSpc>
                <a:spcPct val="100000"/>
              </a:lnSpc>
              <a:spcBef>
                <a:spcPts val="335"/>
              </a:spcBef>
              <a:buClr>
                <a:srgbClr val="3333B2"/>
              </a:buClr>
              <a:buFont typeface="Lucida Sans Unicode"/>
              <a:buChar char="►"/>
              <a:tabLst>
                <a:tab pos="314960" algn="l"/>
              </a:tabLst>
            </a:pPr>
            <a:r>
              <a:rPr sz="1100" spc="-20" dirty="0">
                <a:latin typeface="Tahoma"/>
                <a:cs typeface="Tahoma"/>
              </a:rPr>
              <a:t>Neutral</a:t>
            </a:r>
            <a:r>
              <a:rPr sz="1100" spc="-70" dirty="0">
                <a:latin typeface="Tahoma"/>
                <a:cs typeface="Tahoma"/>
              </a:rPr>
              <a:t> </a:t>
            </a:r>
            <a:r>
              <a:rPr sz="1100" spc="-50" dirty="0">
                <a:latin typeface="Tahoma"/>
                <a:cs typeface="Tahoma"/>
              </a:rPr>
              <a:t>element</a:t>
            </a:r>
            <a:r>
              <a:rPr sz="1100" spc="-35" dirty="0">
                <a:latin typeface="Tahoma"/>
                <a:cs typeface="Tahoma"/>
              </a:rPr>
              <a:t> </a:t>
            </a:r>
            <a:r>
              <a:rPr sz="1100" dirty="0">
                <a:latin typeface="Tahoma"/>
                <a:cs typeface="Tahoma"/>
              </a:rPr>
              <a:t>with</a:t>
            </a:r>
            <a:r>
              <a:rPr sz="1100" spc="-50" dirty="0">
                <a:latin typeface="Tahoma"/>
                <a:cs typeface="Tahoma"/>
              </a:rPr>
              <a:t> </a:t>
            </a:r>
            <a:r>
              <a:rPr sz="1100" spc="-40" dirty="0">
                <a:latin typeface="Tahoma"/>
                <a:cs typeface="Tahoma"/>
              </a:rPr>
              <a:t>respect</a:t>
            </a:r>
            <a:r>
              <a:rPr sz="1100" spc="-30" dirty="0">
                <a:latin typeface="Tahoma"/>
                <a:cs typeface="Tahoma"/>
              </a:rPr>
              <a:t> </a:t>
            </a:r>
            <a:r>
              <a:rPr sz="1100" dirty="0">
                <a:latin typeface="Tahoma"/>
                <a:cs typeface="Tahoma"/>
              </a:rPr>
              <a:t>to</a:t>
            </a:r>
            <a:r>
              <a:rPr sz="1100" spc="-30" dirty="0">
                <a:latin typeface="Tahoma"/>
                <a:cs typeface="Tahoma"/>
              </a:rPr>
              <a:t> </a:t>
            </a:r>
            <a:r>
              <a:rPr sz="1100" spc="-10" dirty="0">
                <a:latin typeface="Tahoma"/>
                <a:cs typeface="Tahoma"/>
              </a:rPr>
              <a:t>the</a:t>
            </a:r>
            <a:r>
              <a:rPr sz="1100" spc="-25" dirty="0">
                <a:latin typeface="Tahoma"/>
                <a:cs typeface="Tahoma"/>
              </a:rPr>
              <a:t> outer </a:t>
            </a:r>
            <a:r>
              <a:rPr sz="1100" spc="-30" dirty="0">
                <a:latin typeface="Tahoma"/>
                <a:cs typeface="Tahoma"/>
              </a:rPr>
              <a:t>operation:</a:t>
            </a:r>
            <a:r>
              <a:rPr sz="1100" spc="75" dirty="0">
                <a:latin typeface="Tahoma"/>
                <a:cs typeface="Tahoma"/>
              </a:rPr>
              <a:t> </a:t>
            </a:r>
            <a:r>
              <a:rPr sz="1100" spc="-225" dirty="0">
                <a:latin typeface="Lucida Sans Unicode"/>
                <a:cs typeface="Lucida Sans Unicode"/>
              </a:rPr>
              <a:t>∀</a:t>
            </a:r>
            <a:r>
              <a:rPr sz="1100" b="1" spc="-225" dirty="0">
                <a:latin typeface="Trebuchet MS"/>
                <a:cs typeface="Trebuchet MS"/>
              </a:rPr>
              <a:t>x</a:t>
            </a:r>
            <a:r>
              <a:rPr sz="1100" b="1" spc="-30" dirty="0">
                <a:latin typeface="Trebuchet MS"/>
                <a:cs typeface="Trebuchet MS"/>
              </a:rPr>
              <a:t> </a:t>
            </a:r>
            <a:r>
              <a:rPr sz="1100" spc="-155" dirty="0">
                <a:latin typeface="Lucida Sans Unicode"/>
                <a:cs typeface="Lucida Sans Unicode"/>
              </a:rPr>
              <a:t>∈</a:t>
            </a:r>
            <a:r>
              <a:rPr sz="1100" spc="-45" dirty="0">
                <a:latin typeface="Lucida Sans Unicode"/>
                <a:cs typeface="Lucida Sans Unicode"/>
              </a:rPr>
              <a:t> </a:t>
            </a:r>
            <a:r>
              <a:rPr sz="1100" spc="-25" dirty="0">
                <a:latin typeface="Lucida Sans Unicode"/>
                <a:cs typeface="Lucida Sans Unicode"/>
              </a:rPr>
              <a:t>V</a:t>
            </a:r>
            <a:r>
              <a:rPr sz="1100" spc="-25" dirty="0">
                <a:latin typeface="Tahoma"/>
                <a:cs typeface="Tahoma"/>
              </a:rPr>
              <a:t>,</a:t>
            </a:r>
            <a:endParaRPr sz="1100" dirty="0">
              <a:latin typeface="Tahoma"/>
              <a:cs typeface="Tahoma"/>
            </a:endParaRPr>
          </a:p>
          <a:p>
            <a:pPr marL="314960">
              <a:lnSpc>
                <a:spcPct val="100000"/>
              </a:lnSpc>
              <a:spcBef>
                <a:spcPts val="35"/>
              </a:spcBef>
            </a:pPr>
            <a:r>
              <a:rPr sz="1100" spc="-35" dirty="0">
                <a:latin typeface="Tahoma"/>
                <a:cs typeface="Tahoma"/>
              </a:rPr>
              <a:t>1</a:t>
            </a:r>
            <a:r>
              <a:rPr sz="1100" i="1" spc="-35" dirty="0">
                <a:latin typeface="Calibri"/>
                <a:cs typeface="Calibri"/>
              </a:rPr>
              <a:t>.</a:t>
            </a:r>
            <a:r>
              <a:rPr sz="1100" b="1" spc="-35" dirty="0">
                <a:latin typeface="Trebuchet MS"/>
                <a:cs typeface="Trebuchet MS"/>
              </a:rPr>
              <a:t>x</a:t>
            </a:r>
            <a:r>
              <a:rPr sz="1100" b="1" spc="-15" dirty="0">
                <a:latin typeface="Trebuchet MS"/>
                <a:cs typeface="Trebuchet MS"/>
              </a:rPr>
              <a:t> </a:t>
            </a:r>
            <a:r>
              <a:rPr sz="1100" dirty="0">
                <a:latin typeface="Tahoma"/>
                <a:cs typeface="Tahoma"/>
              </a:rPr>
              <a:t>=</a:t>
            </a:r>
            <a:r>
              <a:rPr sz="1100" spc="-20" dirty="0">
                <a:latin typeface="Tahoma"/>
                <a:cs typeface="Tahoma"/>
              </a:rPr>
              <a:t> </a:t>
            </a:r>
            <a:r>
              <a:rPr sz="1100" b="1" spc="-50" dirty="0">
                <a:latin typeface="Trebuchet MS"/>
                <a:cs typeface="Trebuchet MS"/>
              </a:rPr>
              <a:t>x</a:t>
            </a:r>
            <a:endParaRPr sz="1100" dirty="0">
              <a:latin typeface="Trebuchet MS"/>
              <a:cs typeface="Trebuchet MS"/>
            </a:endParaRPr>
          </a:p>
          <a:p>
            <a:pPr marL="314960" indent="-177165">
              <a:lnSpc>
                <a:spcPct val="100000"/>
              </a:lnSpc>
              <a:spcBef>
                <a:spcPts val="335"/>
              </a:spcBef>
              <a:buClr>
                <a:srgbClr val="3333B2"/>
              </a:buClr>
              <a:buFont typeface="Lucida Sans Unicode"/>
              <a:buChar char="►"/>
              <a:tabLst>
                <a:tab pos="314960" algn="l"/>
              </a:tabLst>
            </a:pPr>
            <a:r>
              <a:rPr sz="1100" dirty="0">
                <a:latin typeface="Tahoma"/>
                <a:cs typeface="Tahoma"/>
              </a:rPr>
              <a:t>The</a:t>
            </a:r>
            <a:r>
              <a:rPr sz="1100" spc="-70" dirty="0">
                <a:latin typeface="Tahoma"/>
                <a:cs typeface="Tahoma"/>
              </a:rPr>
              <a:t> </a:t>
            </a:r>
            <a:r>
              <a:rPr sz="1100" spc="-50" dirty="0">
                <a:latin typeface="Tahoma"/>
                <a:cs typeface="Tahoma"/>
              </a:rPr>
              <a:t>elements</a:t>
            </a:r>
            <a:r>
              <a:rPr sz="1100" spc="-10" dirty="0">
                <a:latin typeface="Tahoma"/>
                <a:cs typeface="Tahoma"/>
              </a:rPr>
              <a:t> </a:t>
            </a:r>
            <a:r>
              <a:rPr sz="1100" b="1" spc="-70" dirty="0">
                <a:latin typeface="Trebuchet MS"/>
                <a:cs typeface="Trebuchet MS"/>
              </a:rPr>
              <a:t>x</a:t>
            </a:r>
            <a:r>
              <a:rPr sz="1100" b="1" spc="-30" dirty="0">
                <a:latin typeface="Trebuchet MS"/>
                <a:cs typeface="Trebuchet MS"/>
              </a:rPr>
              <a:t> </a:t>
            </a:r>
            <a:r>
              <a:rPr sz="1100" spc="-155" dirty="0">
                <a:latin typeface="Lucida Sans Unicode"/>
                <a:cs typeface="Lucida Sans Unicode"/>
              </a:rPr>
              <a:t>∈</a:t>
            </a:r>
            <a:r>
              <a:rPr sz="1100" spc="-45" dirty="0">
                <a:latin typeface="Lucida Sans Unicode"/>
                <a:cs typeface="Lucida Sans Unicode"/>
              </a:rPr>
              <a:t> </a:t>
            </a:r>
            <a:r>
              <a:rPr sz="1100" dirty="0">
                <a:latin typeface="Lucida Sans Unicode"/>
                <a:cs typeface="Lucida Sans Unicode"/>
              </a:rPr>
              <a:t>V</a:t>
            </a:r>
            <a:r>
              <a:rPr sz="1100" spc="65" dirty="0">
                <a:latin typeface="Lucida Sans Unicode"/>
                <a:cs typeface="Lucida Sans Unicode"/>
              </a:rPr>
              <a:t> </a:t>
            </a:r>
            <a:r>
              <a:rPr sz="1100" spc="-60" dirty="0">
                <a:latin typeface="Tahoma"/>
                <a:cs typeface="Tahoma"/>
              </a:rPr>
              <a:t>are</a:t>
            </a:r>
            <a:r>
              <a:rPr sz="1100" spc="-15" dirty="0">
                <a:latin typeface="Tahoma"/>
                <a:cs typeface="Tahoma"/>
              </a:rPr>
              <a:t> </a:t>
            </a:r>
            <a:r>
              <a:rPr sz="1100" spc="-25" dirty="0">
                <a:latin typeface="Tahoma"/>
                <a:cs typeface="Tahoma"/>
              </a:rPr>
              <a:t>called</a:t>
            </a:r>
            <a:r>
              <a:rPr sz="1100" spc="-10" dirty="0">
                <a:latin typeface="Tahoma"/>
                <a:cs typeface="Tahoma"/>
              </a:rPr>
              <a:t> vectors.</a:t>
            </a:r>
            <a:endParaRPr sz="1100" dirty="0">
              <a:latin typeface="Tahoma"/>
              <a:cs typeface="Tahoma"/>
            </a:endParaRPr>
          </a:p>
          <a:p>
            <a:pPr marL="314960" marR="37465" indent="-177165">
              <a:lnSpc>
                <a:spcPct val="102600"/>
              </a:lnSpc>
              <a:spcBef>
                <a:spcPts val="300"/>
              </a:spcBef>
              <a:buClr>
                <a:srgbClr val="3333B2"/>
              </a:buClr>
              <a:buFont typeface="Lucida Sans Unicode"/>
              <a:buChar char="►"/>
              <a:tabLst>
                <a:tab pos="314960" algn="l"/>
              </a:tabLst>
            </a:pPr>
            <a:r>
              <a:rPr sz="1100" dirty="0">
                <a:latin typeface="Tahoma"/>
                <a:cs typeface="Tahoma"/>
              </a:rPr>
              <a:t>The</a:t>
            </a:r>
            <a:r>
              <a:rPr sz="1100" spc="-40" dirty="0">
                <a:latin typeface="Tahoma"/>
                <a:cs typeface="Tahoma"/>
              </a:rPr>
              <a:t> </a:t>
            </a:r>
            <a:r>
              <a:rPr sz="1100" spc="-25" dirty="0">
                <a:latin typeface="Tahoma"/>
                <a:cs typeface="Tahoma"/>
              </a:rPr>
              <a:t>neutral </a:t>
            </a:r>
            <a:r>
              <a:rPr sz="1100" spc="-45" dirty="0">
                <a:latin typeface="Tahoma"/>
                <a:cs typeface="Tahoma"/>
              </a:rPr>
              <a:t>element</a:t>
            </a:r>
            <a:r>
              <a:rPr sz="1100" spc="-20" dirty="0">
                <a:latin typeface="Tahoma"/>
                <a:cs typeface="Tahoma"/>
              </a:rPr>
              <a:t> </a:t>
            </a:r>
            <a:r>
              <a:rPr sz="1100" dirty="0">
                <a:latin typeface="Tahoma"/>
                <a:cs typeface="Tahoma"/>
              </a:rPr>
              <a:t>with</a:t>
            </a:r>
            <a:r>
              <a:rPr sz="1100" spc="-25" dirty="0">
                <a:latin typeface="Tahoma"/>
                <a:cs typeface="Tahoma"/>
              </a:rPr>
              <a:t> </a:t>
            </a:r>
            <a:r>
              <a:rPr sz="1100" spc="-40" dirty="0">
                <a:latin typeface="Tahoma"/>
                <a:cs typeface="Tahoma"/>
              </a:rPr>
              <a:t>respect</a:t>
            </a:r>
            <a:r>
              <a:rPr sz="1100" spc="-20" dirty="0">
                <a:latin typeface="Tahoma"/>
                <a:cs typeface="Tahoma"/>
              </a:rPr>
              <a:t> </a:t>
            </a:r>
            <a:r>
              <a:rPr sz="1100" dirty="0">
                <a:latin typeface="Tahoma"/>
                <a:cs typeface="Tahoma"/>
              </a:rPr>
              <a:t>to</a:t>
            </a:r>
            <a:r>
              <a:rPr sz="1100" spc="-25" dirty="0">
                <a:latin typeface="Tahoma"/>
                <a:cs typeface="Tahoma"/>
              </a:rPr>
              <a:t> </a:t>
            </a:r>
            <a:r>
              <a:rPr sz="1100" dirty="0">
                <a:latin typeface="Tahoma"/>
                <a:cs typeface="Tahoma"/>
              </a:rPr>
              <a:t>(</a:t>
            </a:r>
            <a:r>
              <a:rPr sz="1100" dirty="0">
                <a:latin typeface="Lucida Sans Unicode"/>
                <a:cs typeface="Lucida Sans Unicode"/>
              </a:rPr>
              <a:t>V</a:t>
            </a:r>
            <a:r>
              <a:rPr sz="1100" i="1" dirty="0">
                <a:latin typeface="Calibri"/>
                <a:cs typeface="Calibri"/>
              </a:rPr>
              <a:t>,</a:t>
            </a:r>
            <a:r>
              <a:rPr sz="1100" i="1" spc="-70" dirty="0">
                <a:latin typeface="Calibri"/>
                <a:cs typeface="Calibri"/>
              </a:rPr>
              <a:t> </a:t>
            </a:r>
            <a:r>
              <a:rPr sz="1100" dirty="0">
                <a:latin typeface="Tahoma"/>
                <a:cs typeface="Tahoma"/>
              </a:rPr>
              <a:t>+)</a:t>
            </a:r>
            <a:r>
              <a:rPr sz="1100" spc="-20" dirty="0">
                <a:latin typeface="Tahoma"/>
                <a:cs typeface="Tahoma"/>
              </a:rPr>
              <a:t> </a:t>
            </a:r>
            <a:r>
              <a:rPr sz="1100" dirty="0">
                <a:latin typeface="Tahoma"/>
                <a:cs typeface="Tahoma"/>
              </a:rPr>
              <a:t>is</a:t>
            </a:r>
            <a:r>
              <a:rPr sz="1100" spc="-20" dirty="0">
                <a:latin typeface="Tahoma"/>
                <a:cs typeface="Tahoma"/>
              </a:rPr>
              <a:t> </a:t>
            </a:r>
            <a:r>
              <a:rPr sz="1100" spc="-10" dirty="0">
                <a:latin typeface="Tahoma"/>
                <a:cs typeface="Tahoma"/>
              </a:rPr>
              <a:t>the</a:t>
            </a:r>
            <a:r>
              <a:rPr sz="1100" spc="-20" dirty="0">
                <a:latin typeface="Tahoma"/>
                <a:cs typeface="Tahoma"/>
              </a:rPr>
              <a:t> </a:t>
            </a:r>
            <a:r>
              <a:rPr sz="1100" spc="-35" dirty="0">
                <a:latin typeface="Tahoma"/>
                <a:cs typeface="Tahoma"/>
              </a:rPr>
              <a:t>zero</a:t>
            </a:r>
            <a:r>
              <a:rPr sz="1100" spc="-25" dirty="0">
                <a:latin typeface="Tahoma"/>
                <a:cs typeface="Tahoma"/>
              </a:rPr>
              <a:t> </a:t>
            </a:r>
            <a:r>
              <a:rPr sz="1100" spc="-40" dirty="0">
                <a:latin typeface="Tahoma"/>
                <a:cs typeface="Tahoma"/>
              </a:rPr>
              <a:t>vector </a:t>
            </a:r>
            <a:r>
              <a:rPr lang="en-IN" sz="1100" b="1" spc="-40" dirty="0">
                <a:latin typeface="Tahoma"/>
                <a:cs typeface="Tahoma"/>
              </a:rPr>
              <a:t>0 </a:t>
            </a:r>
            <a:r>
              <a:rPr sz="1100" spc="-35" dirty="0">
                <a:latin typeface="Tahoma"/>
                <a:cs typeface="Tahoma"/>
              </a:rPr>
              <a:t>and</a:t>
            </a:r>
            <a:r>
              <a:rPr sz="1100" spc="-25" dirty="0">
                <a:latin typeface="Tahoma"/>
                <a:cs typeface="Tahoma"/>
              </a:rPr>
              <a:t> </a:t>
            </a:r>
            <a:r>
              <a:rPr sz="1100" spc="-10" dirty="0">
                <a:latin typeface="Tahoma"/>
                <a:cs typeface="Tahoma"/>
              </a:rPr>
              <a:t>the</a:t>
            </a:r>
            <a:r>
              <a:rPr sz="1100" spc="-20" dirty="0">
                <a:latin typeface="Tahoma"/>
                <a:cs typeface="Tahoma"/>
              </a:rPr>
              <a:t> </a:t>
            </a:r>
            <a:r>
              <a:rPr sz="1100" spc="-30" dirty="0">
                <a:latin typeface="Tahoma"/>
                <a:cs typeface="Tahoma"/>
              </a:rPr>
              <a:t>inner</a:t>
            </a:r>
            <a:r>
              <a:rPr sz="1100" spc="-20" dirty="0">
                <a:latin typeface="Tahoma"/>
                <a:cs typeface="Tahoma"/>
              </a:rPr>
              <a:t> </a:t>
            </a:r>
            <a:r>
              <a:rPr sz="1100" spc="-30" dirty="0">
                <a:latin typeface="Tahoma"/>
                <a:cs typeface="Tahoma"/>
              </a:rPr>
              <a:t>operation</a:t>
            </a:r>
            <a:r>
              <a:rPr sz="1100" spc="-20" dirty="0">
                <a:latin typeface="Tahoma"/>
                <a:cs typeface="Tahoma"/>
              </a:rPr>
              <a:t> </a:t>
            </a:r>
            <a:r>
              <a:rPr sz="1100" dirty="0">
                <a:latin typeface="Tahoma"/>
                <a:cs typeface="Tahoma"/>
              </a:rPr>
              <a:t>is</a:t>
            </a:r>
            <a:r>
              <a:rPr sz="1100" spc="-30" dirty="0">
                <a:latin typeface="Tahoma"/>
                <a:cs typeface="Tahoma"/>
              </a:rPr>
              <a:t> </a:t>
            </a:r>
            <a:r>
              <a:rPr sz="1100" spc="-25" dirty="0">
                <a:latin typeface="Tahoma"/>
                <a:cs typeface="Tahoma"/>
              </a:rPr>
              <a:t>called</a:t>
            </a:r>
            <a:r>
              <a:rPr sz="1100" spc="-20" dirty="0">
                <a:latin typeface="Tahoma"/>
                <a:cs typeface="Tahoma"/>
              </a:rPr>
              <a:t> </a:t>
            </a:r>
            <a:r>
              <a:rPr sz="1100" spc="-35" dirty="0">
                <a:latin typeface="Tahoma"/>
                <a:cs typeface="Tahoma"/>
              </a:rPr>
              <a:t>vector</a:t>
            </a:r>
            <a:r>
              <a:rPr sz="1100" spc="-20" dirty="0">
                <a:latin typeface="Tahoma"/>
                <a:cs typeface="Tahoma"/>
              </a:rPr>
              <a:t> addition.</a:t>
            </a:r>
            <a:endParaRPr sz="1100" dirty="0">
              <a:latin typeface="Tahoma"/>
              <a:cs typeface="Tahoma"/>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72527"/>
            <a:ext cx="1964689" cy="244475"/>
          </a:xfrm>
          <a:prstGeom prst="rect">
            <a:avLst/>
          </a:prstGeom>
        </p:spPr>
        <p:txBody>
          <a:bodyPr vert="horz" wrap="square" lIns="0" tIns="17145" rIns="0" bIns="0" rtlCol="0">
            <a:spAutoFit/>
          </a:bodyPr>
          <a:lstStyle/>
          <a:p>
            <a:pPr marL="12700">
              <a:lnSpc>
                <a:spcPct val="100000"/>
              </a:lnSpc>
              <a:spcBef>
                <a:spcPts val="135"/>
              </a:spcBef>
            </a:pPr>
            <a:r>
              <a:rPr spc="-40" dirty="0"/>
              <a:t>Examples</a:t>
            </a:r>
            <a:r>
              <a:rPr spc="-60" dirty="0"/>
              <a:t> </a:t>
            </a:r>
            <a:r>
              <a:rPr dirty="0"/>
              <a:t>of</a:t>
            </a:r>
            <a:r>
              <a:rPr spc="-60" dirty="0"/>
              <a:t> </a:t>
            </a:r>
            <a:r>
              <a:rPr spc="-35" dirty="0"/>
              <a:t>vector</a:t>
            </a:r>
            <a:r>
              <a:rPr spc="-55" dirty="0"/>
              <a:t> </a:t>
            </a:r>
            <a:r>
              <a:rPr spc="-60" dirty="0"/>
              <a:t>spaces</a:t>
            </a:r>
          </a:p>
        </p:txBody>
      </p:sp>
      <p:sp>
        <p:nvSpPr>
          <p:cNvPr id="4" name="TextBox 3">
            <a:extLst>
              <a:ext uri="{FF2B5EF4-FFF2-40B4-BE49-F238E27FC236}">
                <a16:creationId xmlns:a16="http://schemas.microsoft.com/office/drawing/2014/main" id="{E17686A9-2EC6-4BE8-3015-783651AAC515}"/>
              </a:ext>
            </a:extLst>
          </p:cNvPr>
          <p:cNvSpPr txBox="1"/>
          <p:nvPr/>
        </p:nvSpPr>
        <p:spPr>
          <a:xfrm>
            <a:off x="247650" y="968375"/>
            <a:ext cx="3810000" cy="1169551"/>
          </a:xfrm>
          <a:prstGeom prst="rect">
            <a:avLst/>
          </a:prstGeom>
          <a:noFill/>
        </p:spPr>
        <p:txBody>
          <a:bodyPr wrap="square" rtlCol="0">
            <a:spAutoFit/>
          </a:bodyPr>
          <a:lstStyle/>
          <a:p>
            <a:r>
              <a:rPr lang="en-IN" sz="1000" dirty="0"/>
              <a:t>Consider the n-tuple R</a:t>
            </a:r>
            <a:r>
              <a:rPr lang="en-IN" sz="1000" baseline="30000" dirty="0"/>
              <a:t>n</a:t>
            </a:r>
            <a:r>
              <a:rPr lang="en-IN" sz="1000" dirty="0"/>
              <a:t> = {(x</a:t>
            </a:r>
            <a:r>
              <a:rPr lang="en-IN" sz="1000" baseline="-25000" dirty="0"/>
              <a:t>1</a:t>
            </a:r>
            <a:r>
              <a:rPr lang="en-IN" sz="1000" dirty="0"/>
              <a:t>, x</a:t>
            </a:r>
            <a:r>
              <a:rPr lang="en-IN" sz="1000" baseline="-25000" dirty="0"/>
              <a:t>2</a:t>
            </a:r>
            <a:r>
              <a:rPr lang="en-IN" sz="1000" dirty="0"/>
              <a:t>, …,</a:t>
            </a:r>
            <a:r>
              <a:rPr lang="en-IN" sz="1000" dirty="0" err="1"/>
              <a:t>x</a:t>
            </a:r>
            <a:r>
              <a:rPr lang="en-IN" sz="1000" baseline="-25000" dirty="0" err="1"/>
              <a:t>n</a:t>
            </a:r>
            <a:r>
              <a:rPr lang="en-IN" sz="1000" dirty="0"/>
              <a:t>): x</a:t>
            </a:r>
            <a:r>
              <a:rPr lang="en-IN" sz="1000" baseline="-25000" dirty="0"/>
              <a:t>i</a:t>
            </a:r>
            <a:r>
              <a:rPr lang="en-IN" sz="1000" dirty="0"/>
              <a:t> </a:t>
            </a:r>
            <a:r>
              <a:rPr lang="en-IN" sz="1000" dirty="0">
                <a:latin typeface="Cambria Math" panose="02040503050406030204" pitchFamily="18" charset="0"/>
                <a:ea typeface="Cambria Math" panose="02040503050406030204" pitchFamily="18" charset="0"/>
              </a:rPr>
              <a:t>∈ R, </a:t>
            </a:r>
            <a:r>
              <a:rPr lang="en-IN" sz="1000" dirty="0" err="1">
                <a:latin typeface="Cambria Math" panose="02040503050406030204" pitchFamily="18" charset="0"/>
                <a:ea typeface="Cambria Math" panose="02040503050406030204" pitchFamily="18" charset="0"/>
              </a:rPr>
              <a:t>i</a:t>
            </a:r>
            <a:r>
              <a:rPr lang="en-IN" sz="1000" dirty="0">
                <a:latin typeface="Cambria Math" panose="02040503050406030204" pitchFamily="18" charset="0"/>
                <a:ea typeface="Cambria Math" panose="02040503050406030204" pitchFamily="18" charset="0"/>
              </a:rPr>
              <a:t> = 1, 2, …n</a:t>
            </a:r>
            <a:r>
              <a:rPr lang="en-IN" sz="1000" dirty="0"/>
              <a:t>}</a:t>
            </a:r>
          </a:p>
          <a:p>
            <a:r>
              <a:rPr lang="en-IN" sz="1000" dirty="0"/>
              <a:t>Define the vector addition + and . The scalar multiplication as follows:</a:t>
            </a:r>
          </a:p>
          <a:p>
            <a:r>
              <a:rPr lang="en-IN" sz="1000" dirty="0"/>
              <a:t>(x</a:t>
            </a:r>
            <a:r>
              <a:rPr lang="en-IN" sz="1000" baseline="-25000" dirty="0"/>
              <a:t>1</a:t>
            </a:r>
            <a:r>
              <a:rPr lang="en-IN" sz="1000" dirty="0"/>
              <a:t>, x</a:t>
            </a:r>
            <a:r>
              <a:rPr lang="en-IN" sz="1000" baseline="-25000" dirty="0"/>
              <a:t>2</a:t>
            </a:r>
            <a:r>
              <a:rPr lang="en-IN" sz="1000" dirty="0"/>
              <a:t>, …,</a:t>
            </a:r>
            <a:r>
              <a:rPr lang="en-IN" sz="1000" dirty="0" err="1"/>
              <a:t>x</a:t>
            </a:r>
            <a:r>
              <a:rPr lang="en-IN" sz="1000" baseline="-25000" dirty="0" err="1"/>
              <a:t>n</a:t>
            </a:r>
            <a:r>
              <a:rPr lang="en-IN" sz="1000" dirty="0"/>
              <a:t>) + (y</a:t>
            </a:r>
            <a:r>
              <a:rPr lang="en-IN" sz="1000" baseline="-25000" dirty="0"/>
              <a:t>1</a:t>
            </a:r>
            <a:r>
              <a:rPr lang="en-IN" sz="1000" dirty="0"/>
              <a:t>, y</a:t>
            </a:r>
            <a:r>
              <a:rPr lang="en-IN" sz="1000" baseline="-25000" dirty="0"/>
              <a:t>2</a:t>
            </a:r>
            <a:r>
              <a:rPr lang="en-IN" sz="1000" dirty="0"/>
              <a:t>, …,</a:t>
            </a:r>
            <a:r>
              <a:rPr lang="en-IN" sz="1000" dirty="0" err="1"/>
              <a:t>y</a:t>
            </a:r>
            <a:r>
              <a:rPr lang="en-IN" sz="1000" baseline="-25000" dirty="0" err="1"/>
              <a:t>n</a:t>
            </a:r>
            <a:r>
              <a:rPr lang="en-IN" sz="1000" dirty="0"/>
              <a:t>) = (x</a:t>
            </a:r>
            <a:r>
              <a:rPr lang="en-IN" sz="1000" baseline="-25000" dirty="0"/>
              <a:t>1</a:t>
            </a:r>
            <a:r>
              <a:rPr lang="en-IN" sz="1000" dirty="0"/>
              <a:t>+y</a:t>
            </a:r>
            <a:r>
              <a:rPr lang="en-IN" sz="1000" baseline="-25000" dirty="0"/>
              <a:t>1</a:t>
            </a:r>
            <a:r>
              <a:rPr lang="en-IN" sz="1000" dirty="0"/>
              <a:t>, x</a:t>
            </a:r>
            <a:r>
              <a:rPr lang="en-IN" sz="1000" baseline="-25000" dirty="0"/>
              <a:t>2</a:t>
            </a:r>
            <a:r>
              <a:rPr lang="en-IN" sz="1000" dirty="0"/>
              <a:t>+y</a:t>
            </a:r>
            <a:r>
              <a:rPr lang="en-IN" sz="1000" baseline="-25000" dirty="0"/>
              <a:t>2</a:t>
            </a:r>
            <a:r>
              <a:rPr lang="en-IN" sz="1000" dirty="0"/>
              <a:t>, … </a:t>
            </a:r>
            <a:r>
              <a:rPr lang="en-IN" sz="1000" dirty="0" err="1"/>
              <a:t>x</a:t>
            </a:r>
            <a:r>
              <a:rPr lang="en-IN" sz="1000" baseline="-25000" dirty="0" err="1"/>
              <a:t>n</a:t>
            </a:r>
            <a:r>
              <a:rPr lang="en-IN" sz="1000" dirty="0" err="1"/>
              <a:t>+y</a:t>
            </a:r>
            <a:r>
              <a:rPr lang="en-IN" sz="1000" baseline="-25000" dirty="0" err="1"/>
              <a:t>n</a:t>
            </a:r>
            <a:r>
              <a:rPr lang="en-IN" sz="1000" dirty="0"/>
              <a:t>)</a:t>
            </a:r>
          </a:p>
          <a:p>
            <a:r>
              <a:rPr lang="en-IN" sz="1000" dirty="0"/>
              <a:t>For a </a:t>
            </a:r>
            <a:r>
              <a:rPr lang="en-IN" sz="1000" dirty="0">
                <a:latin typeface="Cambria Math" panose="02040503050406030204" pitchFamily="18" charset="0"/>
                <a:ea typeface="Cambria Math" panose="02040503050406030204" pitchFamily="18" charset="0"/>
              </a:rPr>
              <a:t>∈ R, a . </a:t>
            </a:r>
            <a:r>
              <a:rPr lang="en-IN" sz="1000" dirty="0"/>
              <a:t>(x</a:t>
            </a:r>
            <a:r>
              <a:rPr lang="en-IN" sz="1000" baseline="-25000" dirty="0"/>
              <a:t>1</a:t>
            </a:r>
            <a:r>
              <a:rPr lang="en-IN" sz="1000" dirty="0"/>
              <a:t>, x</a:t>
            </a:r>
            <a:r>
              <a:rPr lang="en-IN" sz="1000" baseline="-25000" dirty="0"/>
              <a:t>2</a:t>
            </a:r>
            <a:r>
              <a:rPr lang="en-IN" sz="1000" dirty="0"/>
              <a:t>, …,</a:t>
            </a:r>
            <a:r>
              <a:rPr lang="en-IN" sz="1000" dirty="0" err="1"/>
              <a:t>x</a:t>
            </a:r>
            <a:r>
              <a:rPr lang="en-IN" sz="1000" baseline="-25000" dirty="0" err="1"/>
              <a:t>n</a:t>
            </a:r>
            <a:r>
              <a:rPr lang="en-IN" sz="1000" dirty="0"/>
              <a:t>) = (ax</a:t>
            </a:r>
            <a:r>
              <a:rPr lang="en-IN" sz="1000" baseline="-25000" dirty="0"/>
              <a:t>1</a:t>
            </a:r>
            <a:r>
              <a:rPr lang="en-IN" sz="1000" dirty="0"/>
              <a:t>, ax</a:t>
            </a:r>
            <a:r>
              <a:rPr lang="en-IN" sz="1000" baseline="-25000" dirty="0"/>
              <a:t>2</a:t>
            </a:r>
            <a:r>
              <a:rPr lang="en-IN" sz="1000" dirty="0"/>
              <a:t>, … ,</a:t>
            </a:r>
            <a:r>
              <a:rPr lang="en-IN" sz="1000" dirty="0" err="1"/>
              <a:t>ax</a:t>
            </a:r>
            <a:r>
              <a:rPr lang="en-IN" sz="1000" baseline="-25000" dirty="0" err="1"/>
              <a:t>n</a:t>
            </a:r>
            <a:r>
              <a:rPr lang="en-IN" sz="1000" dirty="0"/>
              <a:t>)</a:t>
            </a:r>
          </a:p>
          <a:p>
            <a:endParaRPr lang="en-IN" sz="1000" dirty="0"/>
          </a:p>
          <a:p>
            <a:r>
              <a:rPr lang="en-IN" sz="1000" dirty="0"/>
              <a:t>Then (R</a:t>
            </a:r>
            <a:r>
              <a:rPr lang="en-IN" sz="1000" baseline="30000" dirty="0"/>
              <a:t>n</a:t>
            </a:r>
            <a:r>
              <a:rPr lang="en-IN" sz="1000" dirty="0"/>
              <a:t>, +,  .) is a vector space. (Verify)</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3670" y="754731"/>
            <a:ext cx="4205983" cy="2549890"/>
          </a:xfrm>
        </p:spPr>
        <p:txBody>
          <a:bodyPr/>
          <a:lstStyle/>
          <a:p>
            <a:endParaRPr lang="en-US" sz="908" dirty="0"/>
          </a:p>
          <a:p>
            <a:endParaRPr lang="en-US" sz="908" dirty="0"/>
          </a:p>
          <a:p>
            <a:r>
              <a:rPr lang="en-US" sz="908" dirty="0"/>
              <a:t>Addition in Vector Space R</a:t>
            </a:r>
            <a:r>
              <a:rPr lang="en-US" sz="908" baseline="30000" dirty="0"/>
              <a:t>2</a:t>
            </a:r>
          </a:p>
          <a:p>
            <a:endParaRPr lang="en-US" sz="908" baseline="30000" dirty="0"/>
          </a:p>
          <a:p>
            <a:endParaRPr lang="en-US" sz="908" baseline="30000" dirty="0"/>
          </a:p>
          <a:p>
            <a:endParaRPr lang="en-US" sz="908" baseline="30000" dirty="0"/>
          </a:p>
          <a:p>
            <a:endParaRPr lang="en-US" sz="908" baseline="30000" dirty="0"/>
          </a:p>
          <a:p>
            <a:endParaRPr lang="en-US" sz="908" dirty="0"/>
          </a:p>
          <a:p>
            <a:r>
              <a:rPr lang="en-US" sz="908" dirty="0"/>
              <a:t>Scalar Multiplication in </a:t>
            </a:r>
          </a:p>
          <a:p>
            <a:r>
              <a:rPr lang="en-US" sz="908" dirty="0"/>
              <a:t>Vector Space R</a:t>
            </a:r>
            <a:r>
              <a:rPr lang="en-US" sz="908" baseline="30000" dirty="0"/>
              <a:t>2</a:t>
            </a:r>
            <a:endParaRPr lang="en-US" sz="908" dirty="0"/>
          </a:p>
          <a:p>
            <a:endParaRPr lang="en-US" sz="908" dirty="0"/>
          </a:p>
          <a:p>
            <a:endParaRPr lang="en-US" dirty="0"/>
          </a:p>
        </p:txBody>
      </p:sp>
      <p:sp>
        <p:nvSpPr>
          <p:cNvPr id="3" name="Content Placeholder 2"/>
          <p:cNvSpPr>
            <a:spLocks noGrp="1"/>
          </p:cNvSpPr>
          <p:nvPr>
            <p:ph sz="quarter" idx="10"/>
          </p:nvPr>
        </p:nvSpPr>
        <p:spPr/>
        <p:txBody>
          <a:bodyPr>
            <a:normAutofit fontScale="77500" lnSpcReduction="20000"/>
          </a:bodyPr>
          <a:lstStyle/>
          <a:p>
            <a:r>
              <a:rPr lang="en-US" dirty="0"/>
              <a:t>Geometrical Interpretation of Vector addition and scalar multiplication in R</a:t>
            </a:r>
            <a:r>
              <a:rPr lang="en-US" baseline="30000" dirty="0"/>
              <a:t>2</a:t>
            </a:r>
            <a:endParaRPr lang="en-US" dirty="0"/>
          </a:p>
        </p:txBody>
      </p:sp>
      <p:pic>
        <p:nvPicPr>
          <p:cNvPr id="5" name="Picture 4"/>
          <p:cNvPicPr>
            <a:picLocks noChangeAspect="1"/>
          </p:cNvPicPr>
          <p:nvPr/>
        </p:nvPicPr>
        <p:blipFill>
          <a:blip r:embed="rId2"/>
          <a:stretch>
            <a:fillRect/>
          </a:stretch>
        </p:blipFill>
        <p:spPr>
          <a:xfrm>
            <a:off x="1924050" y="1082058"/>
            <a:ext cx="1837311" cy="648317"/>
          </a:xfrm>
          <a:prstGeom prst="rect">
            <a:avLst/>
          </a:prstGeom>
        </p:spPr>
      </p:pic>
      <p:pic>
        <p:nvPicPr>
          <p:cNvPr id="6" name="Picture 5"/>
          <p:cNvPicPr>
            <a:picLocks noChangeAspect="1"/>
          </p:cNvPicPr>
          <p:nvPr/>
        </p:nvPicPr>
        <p:blipFill>
          <a:blip r:embed="rId3"/>
          <a:stretch>
            <a:fillRect/>
          </a:stretch>
        </p:blipFill>
        <p:spPr>
          <a:xfrm>
            <a:off x="1747996" y="1937562"/>
            <a:ext cx="2341646" cy="768457"/>
          </a:xfrm>
          <a:prstGeom prst="rect">
            <a:avLst/>
          </a:prstGeom>
        </p:spPr>
      </p:pic>
    </p:spTree>
    <p:extLst>
      <p:ext uri="{BB962C8B-B14F-4D97-AF65-F5344CB8AC3E}">
        <p14:creationId xmlns:p14="http://schemas.microsoft.com/office/powerpoint/2010/main" val="1806990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07C43-0E63-8377-5996-96BE33A2DA75}"/>
              </a:ext>
            </a:extLst>
          </p:cNvPr>
          <p:cNvSpPr>
            <a:spLocks noGrp="1"/>
          </p:cNvSpPr>
          <p:nvPr>
            <p:ph type="title"/>
          </p:nvPr>
        </p:nvSpPr>
        <p:spPr>
          <a:xfrm>
            <a:off x="95300" y="72527"/>
            <a:ext cx="3277870" cy="430887"/>
          </a:xfrm>
        </p:spPr>
        <p:txBody>
          <a:bodyPr/>
          <a:lstStyle/>
          <a:p>
            <a:r>
              <a:rPr lang="en-IN" dirty="0"/>
              <a:t>Why do we study Vector Spaces? (In the context of ML)</a:t>
            </a:r>
          </a:p>
        </p:txBody>
      </p:sp>
      <p:sp>
        <p:nvSpPr>
          <p:cNvPr id="5" name="TextBox 4">
            <a:extLst>
              <a:ext uri="{FF2B5EF4-FFF2-40B4-BE49-F238E27FC236}">
                <a16:creationId xmlns:a16="http://schemas.microsoft.com/office/drawing/2014/main" id="{90659861-5BB3-88FF-4150-DE937C402ABE}"/>
              </a:ext>
            </a:extLst>
          </p:cNvPr>
          <p:cNvSpPr txBox="1"/>
          <p:nvPr/>
        </p:nvSpPr>
        <p:spPr>
          <a:xfrm>
            <a:off x="95300" y="892176"/>
            <a:ext cx="4114750" cy="2492990"/>
          </a:xfrm>
          <a:prstGeom prst="rect">
            <a:avLst/>
          </a:prstGeom>
          <a:noFill/>
        </p:spPr>
        <p:txBody>
          <a:bodyPr wrap="square" rtlCol="0">
            <a:spAutoFit/>
          </a:bodyPr>
          <a:lstStyle/>
          <a:p>
            <a:pPr marL="171450" indent="-171450">
              <a:buFont typeface="Wingdings" panose="05000000000000000000" pitchFamily="2" charset="2"/>
              <a:buChar char="Ø"/>
            </a:pPr>
            <a:r>
              <a:rPr lang="en-IN" sz="1000" dirty="0">
                <a:latin typeface="+mn-lt"/>
              </a:rPr>
              <a:t>Without understanding vectors one can not proceed to learn ML.</a:t>
            </a:r>
          </a:p>
          <a:p>
            <a:pPr marL="171450" indent="-171450">
              <a:buFont typeface="Wingdings" panose="05000000000000000000" pitchFamily="2" charset="2"/>
              <a:buChar char="Ø"/>
            </a:pPr>
            <a:endParaRPr lang="en-IN" sz="1000" dirty="0">
              <a:latin typeface="+mn-lt"/>
            </a:endParaRPr>
          </a:p>
          <a:p>
            <a:pPr marL="171450" indent="-171450">
              <a:buFont typeface="Wingdings" panose="05000000000000000000" pitchFamily="2" charset="2"/>
              <a:buChar char="Ø"/>
            </a:pPr>
            <a:r>
              <a:rPr lang="en-IN" sz="1000" dirty="0">
                <a:latin typeface="+mn-lt"/>
              </a:rPr>
              <a:t>Vectors are used in different stages of the ML model.</a:t>
            </a:r>
          </a:p>
          <a:p>
            <a:pPr marL="171450" indent="-171450">
              <a:buFont typeface="Wingdings" panose="05000000000000000000" pitchFamily="2" charset="2"/>
              <a:buChar char="Ø"/>
            </a:pPr>
            <a:endParaRPr lang="en-IN" sz="1000" dirty="0">
              <a:latin typeface="+mn-lt"/>
            </a:endParaRPr>
          </a:p>
          <a:p>
            <a:pPr marL="171450" indent="-171450">
              <a:buFont typeface="Wingdings" panose="05000000000000000000" pitchFamily="2" charset="2"/>
              <a:buChar char="Ø"/>
            </a:pPr>
            <a:r>
              <a:rPr lang="en-IN" sz="1000" b="1" dirty="0">
                <a:latin typeface="+mn-lt"/>
              </a:rPr>
              <a:t>Input: </a:t>
            </a:r>
            <a:r>
              <a:rPr lang="en-IN" sz="1000" dirty="0">
                <a:latin typeface="+mn-lt"/>
              </a:rPr>
              <a:t>As machines can not read text or look at images, they need input to be transformed or encoded into vectors of numbers so that we can train and deploy the model.</a:t>
            </a:r>
          </a:p>
          <a:p>
            <a:pPr marL="171450" indent="-171450">
              <a:buFont typeface="Wingdings" panose="05000000000000000000" pitchFamily="2" charset="2"/>
              <a:buChar char="Ø"/>
            </a:pPr>
            <a:endParaRPr lang="en-IN" sz="1000" dirty="0">
              <a:latin typeface="+mn-lt"/>
            </a:endParaRPr>
          </a:p>
          <a:p>
            <a:pPr marL="171450" indent="-171450">
              <a:buFont typeface="Wingdings" panose="05000000000000000000" pitchFamily="2" charset="2"/>
              <a:buChar char="Ø"/>
            </a:pPr>
            <a:r>
              <a:rPr lang="en-IN" sz="1000" b="1" dirty="0">
                <a:latin typeface="+mn-lt"/>
              </a:rPr>
              <a:t>Model:</a:t>
            </a:r>
            <a:r>
              <a:rPr lang="en-IN" sz="1000" dirty="0">
                <a:latin typeface="+mn-lt"/>
              </a:rPr>
              <a:t> </a:t>
            </a:r>
            <a:r>
              <a:rPr lang="en-US" sz="1000" b="0" i="0" dirty="0">
                <a:solidFill>
                  <a:schemeClr val="tx1"/>
                </a:solidFill>
                <a:effectLst/>
                <a:latin typeface="+mn-lt"/>
              </a:rPr>
              <a:t>The goal of most ML projects is to create a model that performs some function. It could be classifying text, or predicting house prices, or identifying sentiment. In deep learning models, this is achieved via a neural network where the neural network layers use linear algebra (like matrix and vector multiplication) to tune your parameters. This is where the mathematical definition of vectors is relevant for ML. </a:t>
            </a:r>
          </a:p>
          <a:p>
            <a:pPr marL="171450" indent="-171450">
              <a:buFont typeface="Wingdings" panose="05000000000000000000" pitchFamily="2" charset="2"/>
              <a:buChar char="Ø"/>
            </a:pPr>
            <a:endParaRPr lang="en-US" sz="800" dirty="0">
              <a:solidFill>
                <a:schemeClr val="tx1"/>
              </a:solidFill>
              <a:latin typeface="+mn-lt"/>
            </a:endParaRPr>
          </a:p>
          <a:p>
            <a:endParaRPr lang="en-US" sz="800" b="0" i="0" dirty="0">
              <a:solidFill>
                <a:schemeClr val="tx1"/>
              </a:solidFill>
              <a:effectLst/>
              <a:latin typeface="+mn-lt"/>
            </a:endParaRPr>
          </a:p>
        </p:txBody>
      </p:sp>
    </p:spTree>
    <p:extLst>
      <p:ext uri="{BB962C8B-B14F-4D97-AF65-F5344CB8AC3E}">
        <p14:creationId xmlns:p14="http://schemas.microsoft.com/office/powerpoint/2010/main" val="3300894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2D433-8F38-777D-1FB8-4870D171A42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16B7F7F-1F3C-3ADF-5EE0-D54ECB37C93F}"/>
              </a:ext>
            </a:extLst>
          </p:cNvPr>
          <p:cNvSpPr>
            <a:spLocks noGrp="1"/>
          </p:cNvSpPr>
          <p:nvPr>
            <p:ph type="body" idx="1"/>
          </p:nvPr>
        </p:nvSpPr>
        <p:spPr>
          <a:xfrm>
            <a:off x="95300" y="815975"/>
            <a:ext cx="4191267" cy="2108269"/>
          </a:xfrm>
        </p:spPr>
        <p:txBody>
          <a:bodyP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1" i="0" u="none" strike="noStrike" kern="0" cap="none" spc="0" normalizeH="0" baseline="0" noProof="0" dirty="0">
                <a:ln>
                  <a:noFill/>
                </a:ln>
                <a:solidFill>
                  <a:prstClr val="black"/>
                </a:solidFill>
                <a:effectLst/>
                <a:uLnTx/>
                <a:uFillTx/>
                <a:latin typeface="Calibri"/>
              </a:rPr>
              <a:t>Output: </a:t>
            </a:r>
            <a:r>
              <a:rPr kumimoji="0" lang="en-US" sz="900" b="0" i="0" u="none" strike="noStrike" kern="0" cap="none" spc="0" normalizeH="0" baseline="0" noProof="0" dirty="0">
                <a:ln>
                  <a:noFill/>
                </a:ln>
                <a:solidFill>
                  <a:prstClr val="black"/>
                </a:solidFill>
                <a:effectLst/>
                <a:uLnTx/>
                <a:uFillTx/>
                <a:latin typeface="Calibri"/>
              </a:rPr>
              <a:t>The output of the ML model can be a range of different entities depending on our goal. If we’re predicting house prices, the output will be a number. If we’re classifying images, the output will be a category of image. </a:t>
            </a:r>
            <a:endParaRPr lang="en-US" sz="900" dirty="0">
              <a:solidFill>
                <a:prstClr val="black"/>
              </a:solidFill>
              <a:latin typeface="Calibri"/>
            </a:endParaRP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0" cap="none" spc="0" normalizeH="0" baseline="0" noProof="0" dirty="0">
              <a:ln>
                <a:noFill/>
              </a:ln>
              <a:solidFill>
                <a:prstClr val="black"/>
              </a:solidFill>
              <a:effectLst/>
              <a:uLnTx/>
              <a:uFillTx/>
              <a:latin typeface="Calibri"/>
            </a:endParaRP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0" cap="none" spc="0" normalizeH="0" baseline="0" noProof="0" dirty="0">
                <a:ln>
                  <a:noFill/>
                </a:ln>
                <a:solidFill>
                  <a:prstClr val="black"/>
                </a:solidFill>
                <a:effectLst/>
                <a:uLnTx/>
                <a:uFillTx/>
                <a:latin typeface="Calibri"/>
              </a:rPr>
              <a:t>NLP models like the </a:t>
            </a:r>
            <a:r>
              <a:rPr kumimoji="0" lang="en-US" sz="900" b="0" i="0" strike="noStrike" kern="0" cap="none" spc="0" normalizeH="0" baseline="0" noProof="0" dirty="0">
                <a:ln>
                  <a:noFill/>
                </a:ln>
                <a:solidFill>
                  <a:prstClr val="black"/>
                </a:solidFill>
                <a:effectLst/>
                <a:uLnTx/>
                <a:uFillTx/>
                <a:latin typeface="Calibri"/>
                <a:hlinkClick r:id="rId2">
                  <a:extLst>
                    <a:ext uri="{A12FA001-AC4F-418D-AE19-62706E023703}">
                      <ahyp:hlinkClr xmlns:ahyp="http://schemas.microsoft.com/office/drawing/2018/hyperlinkcolor" val="tx"/>
                    </a:ext>
                  </a:extLst>
                </a:hlinkClick>
              </a:rPr>
              <a:t>Universal Sentence Encoder </a:t>
            </a:r>
            <a:r>
              <a:rPr kumimoji="0" lang="en-US" sz="900" b="0" i="0" u="none" strike="noStrike" kern="0" cap="none" spc="0" normalizeH="0" baseline="0" noProof="0" dirty="0">
                <a:ln>
                  <a:noFill/>
                </a:ln>
                <a:solidFill>
                  <a:prstClr val="black"/>
                </a:solidFill>
                <a:effectLst/>
                <a:uLnTx/>
                <a:uFillTx/>
                <a:latin typeface="Calibri"/>
              </a:rPr>
              <a:t>(USE) accept text and then output a vector (called an embedding) representing the sentence. </a:t>
            </a:r>
            <a:r>
              <a:rPr lang="en-US" sz="900" dirty="0">
                <a:solidFill>
                  <a:prstClr val="black"/>
                </a:solidFill>
                <a:latin typeface="Calibri"/>
              </a:rPr>
              <a:t>One </a:t>
            </a:r>
            <a:r>
              <a:rPr kumimoji="0" lang="en-US" sz="900" b="0" i="0" u="none" strike="noStrike" kern="0" cap="none" spc="0" normalizeH="0" baseline="0" noProof="0" dirty="0">
                <a:ln>
                  <a:noFill/>
                </a:ln>
                <a:solidFill>
                  <a:prstClr val="black"/>
                </a:solidFill>
                <a:effectLst/>
                <a:uLnTx/>
                <a:uFillTx/>
                <a:latin typeface="Calibri"/>
              </a:rPr>
              <a:t>can then use these vectors to perform a range of operations, or as an input into another model. </a:t>
            </a:r>
          </a:p>
          <a:p>
            <a:pPr marR="0" lvl="0" defTabSz="914400" eaLnBrk="1" fontAlgn="auto" latinLnBrk="0" hangingPunct="1">
              <a:lnSpc>
                <a:spcPct val="100000"/>
              </a:lnSpc>
              <a:spcBef>
                <a:spcPts val="0"/>
              </a:spcBef>
              <a:spcAft>
                <a:spcPts val="0"/>
              </a:spcAft>
              <a:buClrTx/>
              <a:buSzTx/>
              <a:tabLst/>
              <a:defRPr/>
            </a:pPr>
            <a:r>
              <a:rPr lang="en-US" sz="900" noProof="0" dirty="0">
                <a:solidFill>
                  <a:prstClr val="black"/>
                </a:solidFill>
                <a:latin typeface="Calibri"/>
              </a:rPr>
              <a:t>       </a:t>
            </a:r>
            <a:r>
              <a:rPr lang="en-US" sz="900" dirty="0">
                <a:solidFill>
                  <a:prstClr val="black"/>
                </a:solidFill>
                <a:latin typeface="Calibri"/>
              </a:rPr>
              <a:t>T</a:t>
            </a:r>
            <a:r>
              <a:rPr kumimoji="0" lang="en-US" sz="900" b="0" i="0" u="none" strike="noStrike" kern="0" cap="none" spc="0" normalizeH="0" baseline="0" noProof="0" dirty="0">
                <a:ln>
                  <a:noFill/>
                </a:ln>
                <a:solidFill>
                  <a:prstClr val="black"/>
                </a:solidFill>
                <a:effectLst/>
                <a:uLnTx/>
                <a:uFillTx/>
                <a:latin typeface="Calibri"/>
              </a:rPr>
              <a:t>he operations you can perform are clustering similar sentences together in a vector space, or</a:t>
            </a:r>
          </a:p>
          <a:p>
            <a:pPr marR="0" lvl="0" defTabSz="914400" eaLnBrk="1" fontAlgn="auto" latinLnBrk="0" hangingPunct="1">
              <a:lnSpc>
                <a:spcPct val="100000"/>
              </a:lnSpc>
              <a:spcBef>
                <a:spcPts val="0"/>
              </a:spcBef>
              <a:spcAft>
                <a:spcPts val="0"/>
              </a:spcAft>
              <a:buClrTx/>
              <a:buSzTx/>
              <a:tabLst/>
              <a:defRPr/>
            </a:pPr>
            <a:r>
              <a:rPr kumimoji="0" lang="en-US" sz="900" b="0" i="0" u="none" strike="noStrike" kern="0" cap="none" spc="0" normalizeH="0" baseline="0" noProof="0" dirty="0">
                <a:ln>
                  <a:noFill/>
                </a:ln>
                <a:solidFill>
                  <a:prstClr val="black"/>
                </a:solidFill>
                <a:effectLst/>
                <a:uLnTx/>
                <a:uFillTx/>
                <a:latin typeface="Calibri"/>
              </a:rPr>
              <a:t>        finding similarity between different sentences using operations like cosine similarity.</a:t>
            </a:r>
          </a:p>
          <a:p>
            <a:pPr marR="0" lvl="0" defTabSz="914400" eaLnBrk="1" fontAlgn="auto" latinLnBrk="0" hangingPunct="1">
              <a:lnSpc>
                <a:spcPct val="100000"/>
              </a:lnSpc>
              <a:spcBef>
                <a:spcPts val="0"/>
              </a:spcBef>
              <a:spcAft>
                <a:spcPts val="0"/>
              </a:spcAft>
              <a:buClrTx/>
              <a:buSzTx/>
              <a:tabLst/>
              <a:defRPr/>
            </a:pPr>
            <a:endParaRPr lang="en-US" sz="900" dirty="0">
              <a:solidFill>
                <a:prstClr val="black"/>
              </a:solidFill>
              <a:latin typeface="Calibri"/>
            </a:endParaRPr>
          </a:p>
          <a:p>
            <a:pPr marR="0" lvl="0" defTabSz="914400" eaLnBrk="1" fontAlgn="auto" latinLnBrk="0" hangingPunct="1">
              <a:lnSpc>
                <a:spcPct val="100000"/>
              </a:lnSpc>
              <a:spcBef>
                <a:spcPts val="0"/>
              </a:spcBef>
              <a:spcAft>
                <a:spcPts val="0"/>
              </a:spcAft>
              <a:buClrTx/>
              <a:buSzTx/>
              <a:tabLst/>
              <a:defRPr/>
            </a:pPr>
            <a:r>
              <a:rPr kumimoji="0" lang="en-US" sz="900" b="0" i="0" u="none" strike="noStrike" kern="0" cap="none" spc="0" normalizeH="0" baseline="0" noProof="0" dirty="0">
                <a:ln>
                  <a:noFill/>
                </a:ln>
                <a:solidFill>
                  <a:prstClr val="black"/>
                </a:solidFill>
                <a:effectLst/>
                <a:uLnTx/>
                <a:uFillTx/>
                <a:latin typeface="Calibri"/>
              </a:rPr>
              <a:t>       Understanding these operations will help us know how to work with models that output vectors</a:t>
            </a:r>
          </a:p>
          <a:p>
            <a:pPr marR="0" lvl="0" defTabSz="914400" eaLnBrk="1" fontAlgn="auto" latinLnBrk="0" hangingPunct="1">
              <a:lnSpc>
                <a:spcPct val="100000"/>
              </a:lnSpc>
              <a:spcBef>
                <a:spcPts val="0"/>
              </a:spcBef>
              <a:spcAft>
                <a:spcPts val="0"/>
              </a:spcAft>
              <a:buClrTx/>
              <a:buSzTx/>
              <a:tabLst/>
              <a:defRPr/>
            </a:pPr>
            <a:r>
              <a:rPr lang="en-US" sz="900" dirty="0">
                <a:solidFill>
                  <a:prstClr val="black"/>
                </a:solidFill>
                <a:latin typeface="Calibri"/>
              </a:rPr>
              <a:t>      </a:t>
            </a:r>
            <a:r>
              <a:rPr kumimoji="0" lang="en-US" sz="900" b="0" i="0" u="none" strike="noStrike" kern="0" cap="none" spc="0" normalizeH="0" baseline="0" noProof="0" dirty="0">
                <a:ln>
                  <a:noFill/>
                </a:ln>
                <a:solidFill>
                  <a:prstClr val="black"/>
                </a:solidFill>
                <a:effectLst/>
                <a:uLnTx/>
                <a:uFillTx/>
                <a:latin typeface="Calibri"/>
              </a:rPr>
              <a:t> like these NLP models.</a:t>
            </a:r>
            <a:endParaRPr kumimoji="0" lang="en-US" sz="900" b="1" i="0" u="none" strike="noStrike" kern="0" cap="none" spc="0" normalizeH="0" baseline="0" noProof="0" dirty="0">
              <a:ln>
                <a:noFill/>
              </a:ln>
              <a:solidFill>
                <a:prstClr val="black"/>
              </a:solidFill>
              <a:effectLst/>
              <a:uLnTx/>
              <a:uFillTx/>
              <a:latin typeface="Calibri"/>
            </a:endParaRPr>
          </a:p>
          <a:p>
            <a:endParaRPr lang="en-IN" dirty="0"/>
          </a:p>
        </p:txBody>
      </p:sp>
    </p:spTree>
    <p:extLst>
      <p:ext uri="{BB962C8B-B14F-4D97-AF65-F5344CB8AC3E}">
        <p14:creationId xmlns:p14="http://schemas.microsoft.com/office/powerpoint/2010/main" val="3708688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CBA0-08D3-62EC-A6DE-A3D5A220FEAA}"/>
              </a:ext>
            </a:extLst>
          </p:cNvPr>
          <p:cNvSpPr>
            <a:spLocks noGrp="1"/>
          </p:cNvSpPr>
          <p:nvPr>
            <p:ph type="title"/>
          </p:nvPr>
        </p:nvSpPr>
        <p:spPr>
          <a:xfrm>
            <a:off x="95300" y="72527"/>
            <a:ext cx="3277870" cy="215444"/>
          </a:xfrm>
        </p:spPr>
        <p:txBody>
          <a:bodyPr/>
          <a:lstStyle/>
          <a:p>
            <a:r>
              <a:rPr lang="en-IN" dirty="0"/>
              <a:t> Vectors in some optimization algorithms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37A91B0-644D-07FE-2172-6B5356FDC77A}"/>
                  </a:ext>
                </a:extLst>
              </p:cNvPr>
              <p:cNvSpPr txBox="1"/>
              <p:nvPr/>
            </p:nvSpPr>
            <p:spPr>
              <a:xfrm>
                <a:off x="95300" y="815975"/>
                <a:ext cx="4343350" cy="1890389"/>
              </a:xfrm>
              <a:prstGeom prst="rect">
                <a:avLst/>
              </a:prstGeom>
              <a:noFill/>
            </p:spPr>
            <p:txBody>
              <a:bodyPr wrap="square" rtlCol="0">
                <a:spAutoFit/>
              </a:bodyPr>
              <a:lstStyle/>
              <a:p>
                <a:r>
                  <a:rPr lang="en-IN" sz="1000" dirty="0">
                    <a:latin typeface="+mn-lt"/>
                  </a:rPr>
                  <a:t>Some optimization algorithms that are used in ML  involves vector addition and scalar multiplication..</a:t>
                </a:r>
              </a:p>
              <a:p>
                <a:endParaRPr lang="en-IN" sz="1000" dirty="0">
                  <a:latin typeface="+mn-lt"/>
                </a:endParaRPr>
              </a:p>
              <a:p>
                <a:r>
                  <a:rPr lang="en-IN" sz="1000" dirty="0">
                    <a:latin typeface="+mn-lt"/>
                  </a:rPr>
                  <a:t>For example, in each iteration of the gradient decent algorithm, we update the vector </a:t>
                </a:r>
                <a14:m>
                  <m:oMath xmlns:m="http://schemas.openxmlformats.org/officeDocument/2006/math">
                    <m:r>
                      <m:rPr>
                        <m:sty m:val="p"/>
                      </m:rPr>
                      <a:rPr lang="en-IN" sz="1000" b="0" i="0" smtClean="0">
                        <a:latin typeface="Cambria Math" panose="02040503050406030204" pitchFamily="18" charset="0"/>
                      </a:rPr>
                      <m:t>w</m:t>
                    </m:r>
                    <m:r>
                      <a:rPr lang="en-IN" sz="1000" b="0" i="0" smtClean="0">
                        <a:latin typeface="Cambria Math" panose="02040503050406030204" pitchFamily="18" charset="0"/>
                      </a:rPr>
                      <m:t>=</m:t>
                    </m:r>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sSub>
                                      <m:sSubPr>
                                        <m:ctrlPr>
                                          <a:rPr lang="en-IN" sz="1000" b="0" i="1" smtClean="0">
                                            <a:latin typeface="Cambria Math" panose="02040503050406030204" pitchFamily="18" charset="0"/>
                                          </a:rPr>
                                        </m:ctrlPr>
                                      </m:sSubPr>
                                      <m:e>
                                        <m:r>
                                          <a:rPr lang="en-IN" sz="1000" b="0" i="1" smtClean="0">
                                            <a:latin typeface="Cambria Math" panose="02040503050406030204" pitchFamily="18" charset="0"/>
                                          </a:rPr>
                                          <m:t>𝑤</m:t>
                                        </m:r>
                                      </m:e>
                                      <m:sub>
                                        <m:r>
                                          <a:rPr lang="en-IN" sz="1000" b="0" i="1" smtClean="0">
                                            <a:latin typeface="Cambria Math" panose="02040503050406030204" pitchFamily="18" charset="0"/>
                                          </a:rPr>
                                          <m:t>1</m:t>
                                        </m:r>
                                      </m:sub>
                                    </m:sSub>
                                  </m:e>
                                </m:mr>
                                <m:mr>
                                  <m:e>
                                    <m:sSub>
                                      <m:sSubPr>
                                        <m:ctrlPr>
                                          <a:rPr lang="en-IN" sz="1000" b="0" i="1" smtClean="0">
                                            <a:latin typeface="Cambria Math" panose="02040503050406030204" pitchFamily="18" charset="0"/>
                                          </a:rPr>
                                        </m:ctrlPr>
                                      </m:sSubPr>
                                      <m:e>
                                        <m:r>
                                          <a:rPr lang="en-IN" sz="1000" b="0" i="1" smtClean="0">
                                            <a:latin typeface="Cambria Math" panose="02040503050406030204" pitchFamily="18" charset="0"/>
                                          </a:rPr>
                                          <m:t>𝑤</m:t>
                                        </m:r>
                                      </m:e>
                                      <m:sub>
                                        <m:r>
                                          <a:rPr lang="en-IN" sz="1000" b="0" i="1" smtClean="0">
                                            <a:latin typeface="Cambria Math" panose="02040503050406030204" pitchFamily="18" charset="0"/>
                                          </a:rPr>
                                          <m:t>2</m:t>
                                        </m:r>
                                      </m:sub>
                                    </m:sSub>
                                  </m:e>
                                </m:mr>
                              </m:m>
                            </m:e>
                          </m:mr>
                          <m:mr>
                            <m:e>
                              <m:r>
                                <a:rPr lang="en-IN" sz="1000" b="0" i="1" smtClean="0">
                                  <a:latin typeface="Cambria Math" panose="02040503050406030204" pitchFamily="18" charset="0"/>
                                </a:rPr>
                                <m:t>⋮</m:t>
                              </m:r>
                            </m:e>
                          </m:mr>
                          <m:mr>
                            <m:e>
                              <m:sSub>
                                <m:sSubPr>
                                  <m:ctrlPr>
                                    <a:rPr lang="en-IN" sz="1000" b="0" i="1" smtClean="0">
                                      <a:latin typeface="Cambria Math" panose="02040503050406030204" pitchFamily="18" charset="0"/>
                                    </a:rPr>
                                  </m:ctrlPr>
                                </m:sSubPr>
                                <m:e>
                                  <m:r>
                                    <a:rPr lang="en-IN" sz="1000" b="0" i="1" smtClean="0">
                                      <a:latin typeface="Cambria Math" panose="02040503050406030204" pitchFamily="18" charset="0"/>
                                    </a:rPr>
                                    <m:t>𝑤</m:t>
                                  </m:r>
                                </m:e>
                                <m:sub>
                                  <m:r>
                                    <a:rPr lang="en-IN" sz="1000" b="0" i="1" smtClean="0">
                                      <a:latin typeface="Cambria Math" panose="02040503050406030204" pitchFamily="18" charset="0"/>
                                    </a:rPr>
                                    <m:t>𝑑</m:t>
                                  </m:r>
                                </m:sub>
                              </m:sSub>
                            </m:e>
                          </m:mr>
                        </m:m>
                      </m:e>
                    </m:d>
                    <m:r>
                      <a:rPr lang="en-IN" sz="1000" b="0" i="1" smtClean="0">
                        <a:latin typeface="Cambria Math" panose="02040503050406030204" pitchFamily="18" charset="0"/>
                      </a:rPr>
                      <m:t> </m:t>
                    </m:r>
                    <m:r>
                      <a:rPr lang="en-IN" sz="1000" b="0" i="1" smtClean="0">
                        <a:latin typeface="Cambria Math" panose="02040503050406030204" pitchFamily="18" charset="0"/>
                      </a:rPr>
                      <m:t>𝑎𝑠</m:t>
                    </m:r>
                    <m:r>
                      <a:rPr lang="en-IN" sz="1000" b="0" i="1" smtClean="0">
                        <a:latin typeface="Cambria Math" panose="02040503050406030204" pitchFamily="18" charset="0"/>
                      </a:rPr>
                      <m:t> </m:t>
                    </m:r>
                    <m:sSub>
                      <m:sSubPr>
                        <m:ctrlPr>
                          <a:rPr lang="en-IN" sz="1000" b="0" i="1" smtClean="0">
                            <a:latin typeface="Cambria Math" panose="02040503050406030204" pitchFamily="18" charset="0"/>
                          </a:rPr>
                        </m:ctrlPr>
                      </m:sSubPr>
                      <m:e>
                        <m:r>
                          <a:rPr lang="en-IN" sz="1000" b="1" i="1">
                            <a:latin typeface="Cambria Math" panose="02040503050406030204" pitchFamily="18" charset="0"/>
                          </a:rPr>
                          <m:t>𝐰</m:t>
                        </m:r>
                      </m:e>
                      <m:sub>
                        <m:r>
                          <a:rPr lang="en-IN" sz="1000" b="0" i="1" smtClean="0">
                            <a:latin typeface="Cambria Math" panose="02040503050406030204" pitchFamily="18" charset="0"/>
                          </a:rPr>
                          <m:t>𝑛𝑒𝑤</m:t>
                        </m:r>
                      </m:sub>
                    </m:sSub>
                    <m:r>
                      <a:rPr lang="en-IN" sz="1000" b="0" i="1" smtClean="0">
                        <a:latin typeface="Cambria Math" panose="02040503050406030204" pitchFamily="18" charset="0"/>
                      </a:rPr>
                      <m:t>= </m:t>
                    </m:r>
                    <m:sSub>
                      <m:sSubPr>
                        <m:ctrlPr>
                          <a:rPr lang="en-IN" sz="1000" b="0" i="1" smtClean="0">
                            <a:latin typeface="Cambria Math" panose="02040503050406030204" pitchFamily="18" charset="0"/>
                          </a:rPr>
                        </m:ctrlPr>
                      </m:sSubPr>
                      <m:e>
                        <m:r>
                          <a:rPr lang="en-IN" sz="1000" b="1" i="1">
                            <a:latin typeface="Cambria Math" panose="02040503050406030204" pitchFamily="18" charset="0"/>
                          </a:rPr>
                          <m:t>𝐰</m:t>
                        </m:r>
                      </m:e>
                      <m:sub>
                        <m:r>
                          <a:rPr lang="en-IN" sz="1000" b="0" i="1" smtClean="0">
                            <a:latin typeface="Cambria Math" panose="02040503050406030204" pitchFamily="18" charset="0"/>
                          </a:rPr>
                          <m:t>𝑐𝑢𝑟𝑟𝑒𝑛𝑡</m:t>
                        </m:r>
                      </m:sub>
                    </m:sSub>
                    <m:r>
                      <a:rPr lang="en-IN" sz="1000" b="0" i="1" smtClean="0">
                        <a:latin typeface="Cambria Math" panose="02040503050406030204" pitchFamily="18" charset="0"/>
                      </a:rPr>
                      <m:t>−</m:t>
                    </m:r>
                    <m:r>
                      <a:rPr lang="en-IN" sz="1000" b="0" i="1" smtClean="0">
                        <a:latin typeface="Cambria Math" panose="02040503050406030204" pitchFamily="18" charset="0"/>
                        <a:ea typeface="Cambria Math" panose="02040503050406030204" pitchFamily="18" charset="0"/>
                      </a:rPr>
                      <m:t>𝛼</m:t>
                    </m:r>
                    <m:r>
                      <a:rPr lang="en-IN" sz="1000" b="1" i="1" smtClean="0">
                        <a:latin typeface="Cambria Math" panose="02040503050406030204" pitchFamily="18" charset="0"/>
                        <a:ea typeface="Cambria Math" panose="02040503050406030204" pitchFamily="18" charset="0"/>
                      </a:rPr>
                      <m:t>𝜵</m:t>
                    </m:r>
                    <m:r>
                      <a:rPr lang="en-IN" sz="1000" b="1" i="1" smtClean="0">
                        <a:latin typeface="Cambria Math" panose="02040503050406030204" pitchFamily="18" charset="0"/>
                        <a:ea typeface="Cambria Math" panose="02040503050406030204" pitchFamily="18" charset="0"/>
                      </a:rPr>
                      <m:t>𝒘</m:t>
                    </m:r>
                  </m:oMath>
                </a14:m>
                <a:endParaRPr lang="en-IN" sz="1000" b="1" dirty="0">
                  <a:latin typeface="+mn-lt"/>
                  <a:ea typeface="Cambria Math" panose="02040503050406030204" pitchFamily="18" charset="0"/>
                </a:endParaRPr>
              </a:p>
              <a:p>
                <a:endParaRPr lang="en-IN" sz="1000" b="1" dirty="0">
                  <a:latin typeface="+mn-lt"/>
                </a:endParaRPr>
              </a:p>
              <a:p>
                <a14:m>
                  <m:oMath xmlns:m="http://schemas.openxmlformats.org/officeDocument/2006/math">
                    <m:sSub>
                      <m:sSubPr>
                        <m:ctrlPr>
                          <a:rPr lang="en-IN" sz="1000" b="0" i="1" smtClean="0">
                            <a:latin typeface="Cambria Math" panose="02040503050406030204" pitchFamily="18" charset="0"/>
                          </a:rPr>
                        </m:ctrlPr>
                      </m:sSubPr>
                      <m:e>
                        <m:r>
                          <a:rPr lang="en-IN" sz="1000" b="1" i="1">
                            <a:latin typeface="Cambria Math" panose="02040503050406030204" pitchFamily="18" charset="0"/>
                          </a:rPr>
                          <m:t>𝐰</m:t>
                        </m:r>
                      </m:e>
                      <m:sub>
                        <m:r>
                          <a:rPr lang="en-IN" sz="1000" b="0" i="1" smtClean="0">
                            <a:latin typeface="Cambria Math" panose="02040503050406030204" pitchFamily="18" charset="0"/>
                          </a:rPr>
                          <m:t>𝑐𝑢𝑟𝑟𝑒𝑛𝑡</m:t>
                        </m:r>
                      </m:sub>
                    </m:sSub>
                  </m:oMath>
                </a14:m>
                <a:r>
                  <a:rPr lang="en-IN" sz="1000" b="1" dirty="0">
                    <a:latin typeface="+mn-lt"/>
                  </a:rPr>
                  <a:t> </a:t>
                </a:r>
                <a:r>
                  <a:rPr lang="en-IN" sz="1000" dirty="0">
                    <a:latin typeface="+mn-lt"/>
                  </a:rPr>
                  <a:t>and the gradient vector </a:t>
                </a:r>
                <a14:m>
                  <m:oMath xmlns:m="http://schemas.openxmlformats.org/officeDocument/2006/math">
                    <m:r>
                      <a:rPr lang="en-IN" sz="1000" b="1" i="1" smtClean="0">
                        <a:latin typeface="Cambria Math" panose="02040503050406030204" pitchFamily="18" charset="0"/>
                        <a:ea typeface="Cambria Math" panose="02040503050406030204" pitchFamily="18" charset="0"/>
                      </a:rPr>
                      <m:t>𝜵</m:t>
                    </m:r>
                    <m:r>
                      <a:rPr lang="en-IN" sz="1000" b="1" i="1" smtClean="0">
                        <a:latin typeface="Cambria Math" panose="02040503050406030204" pitchFamily="18" charset="0"/>
                        <a:ea typeface="Cambria Math" panose="02040503050406030204" pitchFamily="18" charset="0"/>
                      </a:rPr>
                      <m:t>𝒘</m:t>
                    </m:r>
                  </m:oMath>
                </a14:m>
                <a:r>
                  <a:rPr lang="en-IN" sz="1000" b="1" dirty="0">
                    <a:latin typeface="+mn-lt"/>
                  </a:rPr>
                  <a:t> </a:t>
                </a:r>
                <a:r>
                  <a:rPr lang="en-IN" sz="1000" dirty="0">
                    <a:latin typeface="+mn-lt"/>
                  </a:rPr>
                  <a:t>are vectors in R</a:t>
                </a:r>
                <a:r>
                  <a:rPr lang="en-IN" sz="1000" baseline="30000" dirty="0">
                    <a:latin typeface="+mn-lt"/>
                  </a:rPr>
                  <a:t>d</a:t>
                </a:r>
                <a:r>
                  <a:rPr lang="en-IN" sz="1000" dirty="0">
                    <a:latin typeface="+mn-lt"/>
                  </a:rPr>
                  <a:t>.</a:t>
                </a:r>
              </a:p>
              <a:p>
                <a14:m>
                  <m:oMath xmlns:m="http://schemas.openxmlformats.org/officeDocument/2006/math">
                    <m:r>
                      <a:rPr lang="en-IN" sz="1000" b="0" i="1" smtClean="0">
                        <a:latin typeface="Cambria Math" panose="02040503050406030204" pitchFamily="18" charset="0"/>
                      </a:rPr>
                      <m:t>−</m:t>
                    </m:r>
                    <m:r>
                      <a:rPr lang="en-IN" sz="1000" b="0" i="1" smtClean="0">
                        <a:latin typeface="Cambria Math" panose="02040503050406030204" pitchFamily="18" charset="0"/>
                        <a:ea typeface="Cambria Math" panose="02040503050406030204" pitchFamily="18" charset="0"/>
                      </a:rPr>
                      <m:t>𝛼</m:t>
                    </m:r>
                    <m:r>
                      <a:rPr lang="en-IN" sz="1000" b="1" i="1" smtClean="0">
                        <a:latin typeface="Cambria Math" panose="02040503050406030204" pitchFamily="18" charset="0"/>
                        <a:ea typeface="Cambria Math" panose="02040503050406030204" pitchFamily="18" charset="0"/>
                      </a:rPr>
                      <m:t>𝜵</m:t>
                    </m:r>
                    <m:r>
                      <a:rPr lang="en-IN" sz="1000" b="1" i="1" smtClean="0">
                        <a:latin typeface="Cambria Math" panose="02040503050406030204" pitchFamily="18" charset="0"/>
                        <a:ea typeface="Cambria Math" panose="02040503050406030204" pitchFamily="18" charset="0"/>
                      </a:rPr>
                      <m:t>𝒘</m:t>
                    </m:r>
                  </m:oMath>
                </a14:m>
                <a:r>
                  <a:rPr lang="en-IN" sz="1000" dirty="0">
                    <a:latin typeface="+mn-lt"/>
                  </a:rPr>
                  <a:t> is scalar multiplication of the scalar </a:t>
                </a:r>
                <a14:m>
                  <m:oMath xmlns:m="http://schemas.openxmlformats.org/officeDocument/2006/math">
                    <m:r>
                      <a:rPr lang="en-IN" sz="1000" i="1">
                        <a:latin typeface="Cambria Math" panose="02040503050406030204" pitchFamily="18" charset="0"/>
                      </a:rPr>
                      <m:t>−</m:t>
                    </m:r>
                    <m:r>
                      <a:rPr lang="en-IN" sz="1000" b="0" i="1" smtClean="0">
                        <a:latin typeface="Cambria Math" panose="02040503050406030204" pitchFamily="18" charset="0"/>
                        <a:ea typeface="Cambria Math" panose="02040503050406030204" pitchFamily="18" charset="0"/>
                      </a:rPr>
                      <m:t>𝛼</m:t>
                    </m:r>
                    <m:r>
                      <a:rPr lang="en-IN" sz="1000" b="0" i="1" smtClean="0">
                        <a:latin typeface="Cambria Math" panose="02040503050406030204" pitchFamily="18" charset="0"/>
                        <a:ea typeface="Cambria Math" panose="02040503050406030204" pitchFamily="18" charset="0"/>
                      </a:rPr>
                      <m:t>  </m:t>
                    </m:r>
                  </m:oMath>
                </a14:m>
                <a:r>
                  <a:rPr lang="en-IN" sz="1000" dirty="0">
                    <a:latin typeface="+mn-lt"/>
                  </a:rPr>
                  <a:t>with the vector </a:t>
                </a:r>
                <a14:m>
                  <m:oMath xmlns:m="http://schemas.openxmlformats.org/officeDocument/2006/math">
                    <m:r>
                      <a:rPr lang="en-IN" sz="1000" b="1" i="1" smtClean="0">
                        <a:latin typeface="Cambria Math" panose="02040503050406030204" pitchFamily="18" charset="0"/>
                        <a:ea typeface="Cambria Math" panose="02040503050406030204" pitchFamily="18" charset="0"/>
                      </a:rPr>
                      <m:t>𝜵</m:t>
                    </m:r>
                    <m:r>
                      <a:rPr lang="en-IN" sz="1000" b="1" i="1" smtClean="0">
                        <a:latin typeface="Cambria Math" panose="02040503050406030204" pitchFamily="18" charset="0"/>
                        <a:ea typeface="Cambria Math" panose="02040503050406030204" pitchFamily="18" charset="0"/>
                      </a:rPr>
                      <m:t>𝒘</m:t>
                    </m:r>
                  </m:oMath>
                </a14:m>
                <a:r>
                  <a:rPr lang="en-IN" sz="1000" dirty="0"/>
                  <a:t> .</a:t>
                </a:r>
              </a:p>
              <a:p>
                <a14:m>
                  <m:oMath xmlns:m="http://schemas.openxmlformats.org/officeDocument/2006/math">
                    <m:sSub>
                      <m:sSubPr>
                        <m:ctrlPr>
                          <a:rPr lang="en-IN" sz="1000" b="0" i="1" smtClean="0">
                            <a:latin typeface="Cambria Math" panose="02040503050406030204" pitchFamily="18" charset="0"/>
                          </a:rPr>
                        </m:ctrlPr>
                      </m:sSubPr>
                      <m:e>
                        <m:r>
                          <a:rPr lang="en-IN" sz="1000" b="1" i="1">
                            <a:latin typeface="Cambria Math" panose="02040503050406030204" pitchFamily="18" charset="0"/>
                          </a:rPr>
                          <m:t>𝐰</m:t>
                        </m:r>
                      </m:e>
                      <m:sub>
                        <m:r>
                          <a:rPr lang="en-IN" sz="1000" b="0" i="1" smtClean="0">
                            <a:latin typeface="Cambria Math" panose="02040503050406030204" pitchFamily="18" charset="0"/>
                          </a:rPr>
                          <m:t>𝑐𝑢𝑟𝑟𝑒𝑛𝑡</m:t>
                        </m:r>
                      </m:sub>
                    </m:sSub>
                    <m:r>
                      <a:rPr lang="en-IN" sz="1000" b="0" i="1" smtClean="0">
                        <a:latin typeface="Cambria Math" panose="02040503050406030204" pitchFamily="18" charset="0"/>
                      </a:rPr>
                      <m:t>−</m:t>
                    </m:r>
                    <m:r>
                      <a:rPr lang="en-IN" sz="1000" b="0" i="1" smtClean="0">
                        <a:latin typeface="Cambria Math" panose="02040503050406030204" pitchFamily="18" charset="0"/>
                        <a:ea typeface="Cambria Math" panose="02040503050406030204" pitchFamily="18" charset="0"/>
                      </a:rPr>
                      <m:t>𝛼</m:t>
                    </m:r>
                    <m:r>
                      <a:rPr lang="en-IN" sz="1000" b="1" i="1" smtClean="0">
                        <a:latin typeface="Cambria Math" panose="02040503050406030204" pitchFamily="18" charset="0"/>
                        <a:ea typeface="Cambria Math" panose="02040503050406030204" pitchFamily="18" charset="0"/>
                      </a:rPr>
                      <m:t>𝜵</m:t>
                    </m:r>
                    <m:r>
                      <a:rPr lang="en-IN" sz="1000" b="1" i="1" smtClean="0">
                        <a:latin typeface="Cambria Math" panose="02040503050406030204" pitchFamily="18" charset="0"/>
                        <a:ea typeface="Cambria Math" panose="02040503050406030204" pitchFamily="18" charset="0"/>
                      </a:rPr>
                      <m:t>𝒘</m:t>
                    </m:r>
                  </m:oMath>
                </a14:m>
                <a:r>
                  <a:rPr lang="en-IN" sz="1000" dirty="0">
                    <a:latin typeface="+mn-lt"/>
                  </a:rPr>
                  <a:t> is the vector addition of the two vectors </a:t>
                </a:r>
                <a14:m>
                  <m:oMath xmlns:m="http://schemas.openxmlformats.org/officeDocument/2006/math">
                    <m:sSub>
                      <m:sSubPr>
                        <m:ctrlPr>
                          <a:rPr lang="en-IN" sz="1000" b="0" i="1" smtClean="0">
                            <a:latin typeface="Cambria Math" panose="02040503050406030204" pitchFamily="18" charset="0"/>
                          </a:rPr>
                        </m:ctrlPr>
                      </m:sSubPr>
                      <m:e>
                        <m:r>
                          <a:rPr lang="en-IN" sz="1000" b="1" i="1">
                            <a:latin typeface="Cambria Math" panose="02040503050406030204" pitchFamily="18" charset="0"/>
                          </a:rPr>
                          <m:t>𝐰</m:t>
                        </m:r>
                      </m:e>
                      <m:sub>
                        <m:r>
                          <a:rPr lang="en-IN" sz="1000" b="0" i="1" smtClean="0">
                            <a:latin typeface="Cambria Math" panose="02040503050406030204" pitchFamily="18" charset="0"/>
                          </a:rPr>
                          <m:t>𝑐𝑢𝑟𝑟𝑒𝑛𝑡</m:t>
                        </m:r>
                      </m:sub>
                    </m:sSub>
                    <m:r>
                      <a:rPr lang="en-IN" sz="1000" b="0" i="1" smtClean="0">
                        <a:latin typeface="Cambria Math" panose="02040503050406030204" pitchFamily="18" charset="0"/>
                      </a:rPr>
                      <m:t>𝑎𝑛𝑑</m:t>
                    </m:r>
                    <m:r>
                      <a:rPr lang="en-IN" sz="1000" b="0" i="1" smtClean="0">
                        <a:latin typeface="Cambria Math" panose="02040503050406030204" pitchFamily="18" charset="0"/>
                      </a:rPr>
                      <m:t> −</m:t>
                    </m:r>
                    <m:r>
                      <a:rPr lang="en-IN" sz="1000" b="0" i="1" smtClean="0">
                        <a:latin typeface="Cambria Math" panose="02040503050406030204" pitchFamily="18" charset="0"/>
                        <a:ea typeface="Cambria Math" panose="02040503050406030204" pitchFamily="18" charset="0"/>
                      </a:rPr>
                      <m:t>𝛼</m:t>
                    </m:r>
                    <m:r>
                      <a:rPr lang="en-IN" sz="1000" b="1" i="1" smtClean="0">
                        <a:latin typeface="Cambria Math" panose="02040503050406030204" pitchFamily="18" charset="0"/>
                        <a:ea typeface="Cambria Math" panose="02040503050406030204" pitchFamily="18" charset="0"/>
                      </a:rPr>
                      <m:t>𝜵</m:t>
                    </m:r>
                    <m:r>
                      <a:rPr lang="en-IN" sz="1000" b="1" i="1" smtClean="0">
                        <a:latin typeface="Cambria Math" panose="02040503050406030204" pitchFamily="18" charset="0"/>
                        <a:ea typeface="Cambria Math" panose="02040503050406030204" pitchFamily="18" charset="0"/>
                      </a:rPr>
                      <m:t>𝒘</m:t>
                    </m:r>
                    <m:r>
                      <a:rPr lang="en-IN" sz="1000" b="0" i="0" smtClean="0">
                        <a:latin typeface="Cambria Math" panose="02040503050406030204" pitchFamily="18" charset="0"/>
                        <a:ea typeface="Cambria Math" panose="02040503050406030204" pitchFamily="18" charset="0"/>
                      </a:rPr>
                      <m:t>.</m:t>
                    </m:r>
                  </m:oMath>
                </a14:m>
                <a:endParaRPr lang="en-IN" sz="1000" dirty="0">
                  <a:latin typeface="+mn-lt"/>
                </a:endParaRPr>
              </a:p>
            </p:txBody>
          </p:sp>
        </mc:Choice>
        <mc:Fallback xmlns="">
          <p:sp>
            <p:nvSpPr>
              <p:cNvPr id="4" name="TextBox 3">
                <a:extLst>
                  <a:ext uri="{FF2B5EF4-FFF2-40B4-BE49-F238E27FC236}">
                    <a16:creationId xmlns:a16="http://schemas.microsoft.com/office/drawing/2014/main" id="{537A91B0-644D-07FE-2172-6B5356FDC77A}"/>
                  </a:ext>
                </a:extLst>
              </p:cNvPr>
              <p:cNvSpPr txBox="1">
                <a:spLocks noRot="1" noChangeAspect="1" noMove="1" noResize="1" noEditPoints="1" noAdjustHandles="1" noChangeArrowheads="1" noChangeShapeType="1" noTextEdit="1"/>
              </p:cNvSpPr>
              <p:nvPr/>
            </p:nvSpPr>
            <p:spPr>
              <a:xfrm>
                <a:off x="95300" y="815975"/>
                <a:ext cx="4343350" cy="1890389"/>
              </a:xfrm>
              <a:prstGeom prst="rect">
                <a:avLst/>
              </a:prstGeom>
              <a:blipFill>
                <a:blip r:embed="rId2"/>
                <a:stretch>
                  <a:fillRect b="-968"/>
                </a:stretch>
              </a:blipFill>
            </p:spPr>
            <p:txBody>
              <a:bodyPr/>
              <a:lstStyle/>
              <a:p>
                <a:r>
                  <a:rPr lang="en-IN">
                    <a:noFill/>
                  </a:rPr>
                  <a:t> </a:t>
                </a:r>
              </a:p>
            </p:txBody>
          </p:sp>
        </mc:Fallback>
      </mc:AlternateContent>
    </p:spTree>
    <p:extLst>
      <p:ext uri="{BB962C8B-B14F-4D97-AF65-F5344CB8AC3E}">
        <p14:creationId xmlns:p14="http://schemas.microsoft.com/office/powerpoint/2010/main" val="2284183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pPr algn="just"/>
                <a:r>
                  <a:rPr lang="en-US" dirty="0">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The set of all real </a:t>
                </a:r>
                <a:r>
                  <a:rPr lang="en-US" sz="1000" dirty="0" err="1">
                    <a:latin typeface="Cambria" panose="02040503050406030204" pitchFamily="18" charset="0"/>
                    <a:ea typeface="Cambria" panose="02040503050406030204" pitchFamily="18" charset="0"/>
                  </a:rPr>
                  <a:t>mxn</a:t>
                </a:r>
                <a:r>
                  <a:rPr lang="en-US" sz="1000" dirty="0">
                    <a:latin typeface="Cambria" panose="02040503050406030204" pitchFamily="18" charset="0"/>
                    <a:ea typeface="Cambria" panose="02040503050406030204" pitchFamily="18" charset="0"/>
                  </a:rPr>
                  <a:t> matrices denoted by M</a:t>
                </a:r>
                <a:r>
                  <a:rPr lang="en-US" sz="1000" baseline="-25000" dirty="0">
                    <a:latin typeface="Cambria" panose="02040503050406030204" pitchFamily="18" charset="0"/>
                    <a:ea typeface="Cambria" panose="02040503050406030204" pitchFamily="18" charset="0"/>
                  </a:rPr>
                  <a:t>mxn </a:t>
                </a:r>
                <a:r>
                  <a:rPr lang="en-US" sz="1000" dirty="0">
                    <a:latin typeface="Cambria" panose="02040503050406030204" pitchFamily="18" charset="0"/>
                    <a:ea typeface="Cambria" panose="02040503050406030204" pitchFamily="18" charset="0"/>
                  </a:rPr>
                  <a:t>is a vector space with following addition and scalar multiplication and is denoted by </a:t>
                </a:r>
                <a:r>
                  <a:rPr lang="en-US" sz="1000" dirty="0" err="1">
                    <a:latin typeface="Cambria" panose="02040503050406030204" pitchFamily="18" charset="0"/>
                    <a:ea typeface="Cambria" panose="02040503050406030204" pitchFamily="18" charset="0"/>
                  </a:rPr>
                  <a:t>M</a:t>
                </a:r>
                <a:r>
                  <a:rPr lang="en-US" sz="1000" baseline="-25000" dirty="0" err="1">
                    <a:latin typeface="Cambria" panose="02040503050406030204" pitchFamily="18" charset="0"/>
                    <a:ea typeface="Cambria" panose="02040503050406030204" pitchFamily="18" charset="0"/>
                  </a:rPr>
                  <a:t>mn</a:t>
                </a:r>
                <a:r>
                  <a:rPr lang="en-US" sz="1000" dirty="0">
                    <a:latin typeface="Cambria" panose="02040503050406030204" pitchFamily="18" charset="0"/>
                    <a:ea typeface="Cambria" panose="02040503050406030204" pitchFamily="18" charset="0"/>
                  </a:rPr>
                  <a:t>,</a:t>
                </a:r>
              </a:p>
              <a:p>
                <a:pPr algn="just"/>
                <a:endParaRPr lang="en-US" sz="1000" dirty="0">
                  <a:latin typeface="Cambria" panose="02040503050406030204" pitchFamily="18" charset="0"/>
                  <a:ea typeface="Cambria"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US" sz="1000" i="1">
                              <a:latin typeface="Cambria Math" panose="02040503050406030204" pitchFamily="18" charset="0"/>
                            </a:rPr>
                          </m:ctrlPr>
                        </m:dPr>
                        <m:e>
                          <m:m>
                            <m:mPr>
                              <m:mcs>
                                <m:mc>
                                  <m:mcPr>
                                    <m:count m:val="3"/>
                                    <m:mcJc m:val="center"/>
                                  </m:mcPr>
                                </m:mc>
                              </m:mcs>
                              <m:ctrlPr>
                                <a:rPr lang="en-US" sz="1000" i="1">
                                  <a:latin typeface="Cambria Math" panose="02040503050406030204" pitchFamily="18" charset="0"/>
                                </a:rPr>
                              </m:ctrlPr>
                            </m:mPr>
                            <m:mr>
                              <m:e>
                                <m:m>
                                  <m:mPr>
                                    <m:mcs>
                                      <m:mc>
                                        <m:mcPr>
                                          <m:count m:val="2"/>
                                          <m:mcJc m:val="center"/>
                                        </m:mcPr>
                                      </m:mc>
                                    </m:mcs>
                                    <m:ctrlPr>
                                      <a:rPr lang="en-US" sz="1000" i="1">
                                        <a:latin typeface="Cambria Math" panose="02040503050406030204" pitchFamily="18" charset="0"/>
                                      </a:rPr>
                                    </m:ctrlPr>
                                  </m:mPr>
                                  <m:mr>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11</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21</m:t>
                                                </m:r>
                                              </m:sub>
                                            </m:sSub>
                                          </m:e>
                                        </m:mr>
                                      </m:m>
                                    </m:e>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12</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22</m:t>
                                                </m:r>
                                              </m:sub>
                                            </m:sSub>
                                          </m:e>
                                        </m:mr>
                                      </m:m>
                                    </m:e>
                                  </m:mr>
                                </m:m>
                              </m:e>
                              <m:e>
                                <m:r>
                                  <a:rPr lang="en-US" sz="1000" i="1">
                                    <a:latin typeface="Cambria Math" panose="02040503050406030204" pitchFamily="18" charset="0"/>
                                  </a:rPr>
                                  <m:t>⋯</m:t>
                                </m:r>
                              </m:e>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1</m:t>
                                          </m:r>
                                          <m:r>
                                            <a:rPr lang="en-US" sz="1000" i="1">
                                              <a:latin typeface="Cambria Math" panose="02040503050406030204" pitchFamily="18" charset="0"/>
                                            </a:rPr>
                                            <m:t>𝑛</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2</m:t>
                                          </m:r>
                                          <m:r>
                                            <a:rPr lang="en-US" sz="1000" i="1">
                                              <a:latin typeface="Cambria Math" panose="02040503050406030204" pitchFamily="18" charset="0"/>
                                            </a:rPr>
                                            <m:t>𝑛</m:t>
                                          </m:r>
                                        </m:sub>
                                      </m:sSub>
                                    </m:e>
                                  </m:mr>
                                </m:m>
                              </m:e>
                            </m:mr>
                            <m:mr>
                              <m:e>
                                <m:r>
                                  <a:rPr lang="en-US" sz="1000" i="1">
                                    <a:latin typeface="Cambria Math" panose="02040503050406030204" pitchFamily="18" charset="0"/>
                                  </a:rPr>
                                  <m:t>⋮</m:t>
                                </m:r>
                              </m:e>
                              <m:e>
                                <m:r>
                                  <a:rPr lang="en-US" sz="1000" i="1">
                                    <a:latin typeface="Cambria Math" panose="02040503050406030204" pitchFamily="18" charset="0"/>
                                  </a:rPr>
                                  <m:t>⋮</m:t>
                                </m:r>
                              </m:e>
                              <m:e>
                                <m:r>
                                  <a:rPr lang="en-US" sz="1000" i="1">
                                    <a:latin typeface="Cambria Math" panose="02040503050406030204" pitchFamily="18" charset="0"/>
                                  </a:rPr>
                                  <m:t>⋮</m:t>
                                </m:r>
                              </m:e>
                            </m:mr>
                            <m:mr>
                              <m:e>
                                <m:m>
                                  <m:mPr>
                                    <m:mcs>
                                      <m:mc>
                                        <m:mcPr>
                                          <m:count m:val="2"/>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IN" sz="1000" b="0" i="1" smtClean="0">
                                              <a:latin typeface="Cambria Math" panose="02040503050406030204" pitchFamily="18" charset="0"/>
                                            </a:rPr>
                                            <m:t>𝑚</m:t>
                                          </m:r>
                                          <m:r>
                                            <a:rPr lang="en-US" sz="1000" i="1">
                                              <a:latin typeface="Cambria Math" panose="02040503050406030204" pitchFamily="18" charset="0"/>
                                            </a:rPr>
                                            <m:t>1</m:t>
                                          </m:r>
                                        </m:sub>
                                      </m:sSub>
                                    </m:e>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IN" sz="1000" b="0" i="1" smtClean="0">
                                              <a:latin typeface="Cambria Math" panose="02040503050406030204" pitchFamily="18" charset="0"/>
                                            </a:rPr>
                                            <m:t>𝑚</m:t>
                                          </m:r>
                                          <m:r>
                                            <a:rPr lang="en-US" sz="1000" i="1">
                                              <a:latin typeface="Cambria Math" panose="02040503050406030204" pitchFamily="18" charset="0"/>
                                            </a:rPr>
                                            <m:t>2</m:t>
                                          </m:r>
                                        </m:sub>
                                      </m:sSub>
                                    </m:e>
                                  </m:mr>
                                </m:m>
                              </m:e>
                              <m:e>
                                <m:r>
                                  <a:rPr lang="en-US" sz="1000" i="1">
                                    <a:latin typeface="Cambria Math" panose="02040503050406030204" pitchFamily="18" charset="0"/>
                                  </a:rPr>
                                  <m:t>⋯</m:t>
                                </m:r>
                              </m:e>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IN" sz="1000" b="0" i="1" smtClean="0">
                                        <a:latin typeface="Cambria Math" panose="02040503050406030204" pitchFamily="18" charset="0"/>
                                      </a:rPr>
                                      <m:t>𝑚</m:t>
                                    </m:r>
                                    <m:r>
                                      <a:rPr lang="en-US" sz="1000" i="1">
                                        <a:latin typeface="Cambria Math" panose="02040503050406030204" pitchFamily="18" charset="0"/>
                                      </a:rPr>
                                      <m:t>𝑛</m:t>
                                    </m:r>
                                  </m:sub>
                                </m:sSub>
                              </m:e>
                            </m:mr>
                          </m:m>
                        </m:e>
                      </m:d>
                      <m:r>
                        <a:rPr lang="en-US" sz="1000" b="0" i="1" smtClean="0">
                          <a:latin typeface="Cambria Math" panose="02040503050406030204" pitchFamily="18" charset="0"/>
                        </a:rPr>
                        <m:t>+</m:t>
                      </m:r>
                      <m:d>
                        <m:dPr>
                          <m:begChr m:val="["/>
                          <m:endChr m:val="]"/>
                          <m:ctrlPr>
                            <a:rPr lang="en-US" sz="1000" i="1">
                              <a:latin typeface="Cambria Math" panose="02040503050406030204" pitchFamily="18" charset="0"/>
                            </a:rPr>
                          </m:ctrlPr>
                        </m:dPr>
                        <m:e>
                          <m:m>
                            <m:mPr>
                              <m:mcs>
                                <m:mc>
                                  <m:mcPr>
                                    <m:count m:val="3"/>
                                    <m:mcJc m:val="center"/>
                                  </m:mcPr>
                                </m:mc>
                              </m:mcs>
                              <m:ctrlPr>
                                <a:rPr lang="en-US" sz="1000" i="1">
                                  <a:latin typeface="Cambria Math" panose="02040503050406030204" pitchFamily="18" charset="0"/>
                                </a:rPr>
                              </m:ctrlPr>
                            </m:mPr>
                            <m:mr>
                              <m:e>
                                <m:m>
                                  <m:mPr>
                                    <m:mcs>
                                      <m:mc>
                                        <m:mcPr>
                                          <m:count m:val="2"/>
                                          <m:mcJc m:val="center"/>
                                        </m:mcPr>
                                      </m:mc>
                                    </m:mcs>
                                    <m:ctrlPr>
                                      <a:rPr lang="en-US" sz="1000" i="1">
                                        <a:latin typeface="Cambria Math" panose="02040503050406030204" pitchFamily="18" charset="0"/>
                                      </a:rPr>
                                    </m:ctrlPr>
                                  </m:mPr>
                                  <m:mr>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US" sz="1000" i="1">
                                                    <a:latin typeface="Cambria Math" panose="02040503050406030204" pitchFamily="18" charset="0"/>
                                                  </a:rPr>
                                                  <m:t>11</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US" sz="1000" i="1">
                                                    <a:latin typeface="Cambria Math" panose="02040503050406030204" pitchFamily="18" charset="0"/>
                                                  </a:rPr>
                                                  <m:t>21</m:t>
                                                </m:r>
                                              </m:sub>
                                            </m:sSub>
                                          </m:e>
                                        </m:mr>
                                      </m:m>
                                    </m:e>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US" sz="1000" i="1">
                                                    <a:latin typeface="Cambria Math" panose="02040503050406030204" pitchFamily="18" charset="0"/>
                                                  </a:rPr>
                                                  <m:t>12</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US" sz="1000" i="1">
                                                    <a:latin typeface="Cambria Math" panose="02040503050406030204" pitchFamily="18" charset="0"/>
                                                  </a:rPr>
                                                  <m:t>22</m:t>
                                                </m:r>
                                              </m:sub>
                                            </m:sSub>
                                          </m:e>
                                        </m:mr>
                                      </m:m>
                                    </m:e>
                                  </m:mr>
                                </m:m>
                              </m:e>
                              <m:e>
                                <m:r>
                                  <a:rPr lang="en-US" sz="1000" i="1">
                                    <a:latin typeface="Cambria Math" panose="02040503050406030204" pitchFamily="18" charset="0"/>
                                  </a:rPr>
                                  <m:t>⋯</m:t>
                                </m:r>
                              </m:e>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US" sz="1000" i="1">
                                              <a:latin typeface="Cambria Math" panose="02040503050406030204" pitchFamily="18" charset="0"/>
                                            </a:rPr>
                                            <m:t>1</m:t>
                                          </m:r>
                                          <m:r>
                                            <a:rPr lang="en-US" sz="1000" i="1">
                                              <a:latin typeface="Cambria Math" panose="02040503050406030204" pitchFamily="18" charset="0"/>
                                            </a:rPr>
                                            <m:t>𝑛</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US" sz="1000" i="1">
                                              <a:latin typeface="Cambria Math" panose="02040503050406030204" pitchFamily="18" charset="0"/>
                                            </a:rPr>
                                            <m:t>2</m:t>
                                          </m:r>
                                          <m:r>
                                            <a:rPr lang="en-US" sz="1000" i="1">
                                              <a:latin typeface="Cambria Math" panose="02040503050406030204" pitchFamily="18" charset="0"/>
                                            </a:rPr>
                                            <m:t>𝑛</m:t>
                                          </m:r>
                                        </m:sub>
                                      </m:sSub>
                                    </m:e>
                                  </m:mr>
                                </m:m>
                              </m:e>
                            </m:mr>
                            <m:mr>
                              <m:e>
                                <m:r>
                                  <a:rPr lang="en-US" sz="1000" i="1">
                                    <a:latin typeface="Cambria Math" panose="02040503050406030204" pitchFamily="18" charset="0"/>
                                  </a:rPr>
                                  <m:t>⋮</m:t>
                                </m:r>
                              </m:e>
                              <m:e>
                                <m:r>
                                  <a:rPr lang="en-US" sz="1000" i="1">
                                    <a:latin typeface="Cambria Math" panose="02040503050406030204" pitchFamily="18" charset="0"/>
                                  </a:rPr>
                                  <m:t>⋮</m:t>
                                </m:r>
                              </m:e>
                              <m:e>
                                <m:r>
                                  <a:rPr lang="en-US" sz="1000" i="1">
                                    <a:latin typeface="Cambria Math" panose="02040503050406030204" pitchFamily="18" charset="0"/>
                                  </a:rPr>
                                  <m:t>⋮</m:t>
                                </m:r>
                              </m:e>
                            </m:mr>
                            <m:mr>
                              <m:e>
                                <m:m>
                                  <m:mPr>
                                    <m:mcs>
                                      <m:mc>
                                        <m:mcPr>
                                          <m:count m:val="2"/>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IN" sz="1000" b="0" i="1" smtClean="0">
                                              <a:latin typeface="Cambria Math" panose="02040503050406030204" pitchFamily="18" charset="0"/>
                                            </a:rPr>
                                            <m:t>𝑚</m:t>
                                          </m:r>
                                          <m:r>
                                            <a:rPr lang="en-US" sz="1000" i="1">
                                              <a:latin typeface="Cambria Math" panose="02040503050406030204" pitchFamily="18" charset="0"/>
                                            </a:rPr>
                                            <m:t>1</m:t>
                                          </m:r>
                                        </m:sub>
                                      </m:sSub>
                                    </m:e>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IN" sz="1000" b="0" i="1" smtClean="0">
                                              <a:latin typeface="Cambria Math" panose="02040503050406030204" pitchFamily="18" charset="0"/>
                                            </a:rPr>
                                            <m:t>𝑚</m:t>
                                          </m:r>
                                          <m:r>
                                            <a:rPr lang="en-US" sz="1000" i="1">
                                              <a:latin typeface="Cambria Math" panose="02040503050406030204" pitchFamily="18" charset="0"/>
                                            </a:rPr>
                                            <m:t>2</m:t>
                                          </m:r>
                                        </m:sub>
                                      </m:sSub>
                                    </m:e>
                                  </m:mr>
                                </m:m>
                              </m:e>
                              <m:e>
                                <m:r>
                                  <a:rPr lang="en-US" sz="1000" i="1">
                                    <a:latin typeface="Cambria Math" panose="02040503050406030204" pitchFamily="18" charset="0"/>
                                  </a:rPr>
                                  <m:t>⋯</m:t>
                                </m:r>
                              </m:e>
                              <m:e>
                                <m:sSub>
                                  <m:sSubPr>
                                    <m:ctrlPr>
                                      <a:rPr lang="en-US" sz="1000" i="1">
                                        <a:latin typeface="Cambria Math" panose="02040503050406030204" pitchFamily="18" charset="0"/>
                                      </a:rPr>
                                    </m:ctrlPr>
                                  </m:sSubPr>
                                  <m:e>
                                    <m:r>
                                      <a:rPr lang="en-US" sz="1000" i="1">
                                        <a:latin typeface="Cambria Math" panose="02040503050406030204" pitchFamily="18" charset="0"/>
                                      </a:rPr>
                                      <m:t>𝑏</m:t>
                                    </m:r>
                                  </m:e>
                                  <m:sub>
                                    <m:r>
                                      <a:rPr lang="en-IN" sz="1000" b="0" i="1" smtClean="0">
                                        <a:latin typeface="Cambria Math" panose="02040503050406030204" pitchFamily="18" charset="0"/>
                                      </a:rPr>
                                      <m:t>𝑚</m:t>
                                    </m:r>
                                    <m:r>
                                      <a:rPr lang="en-US" sz="1000" i="1">
                                        <a:latin typeface="Cambria Math" panose="02040503050406030204" pitchFamily="18" charset="0"/>
                                      </a:rPr>
                                      <m:t>𝑛</m:t>
                                    </m:r>
                                  </m:sub>
                                </m:sSub>
                              </m:e>
                            </m:mr>
                          </m:m>
                        </m:e>
                      </m:d>
                    </m:oMath>
                  </m:oMathPara>
                </a14:m>
                <a:endParaRPr lang="en-IN" sz="1000" i="1" dirty="0">
                  <a:latin typeface="Cambria Math" panose="02040503050406030204" pitchFamily="18" charset="0"/>
                </a:endParaRPr>
              </a:p>
              <a:p>
                <a:endParaRPr lang="en-US" sz="1000" b="0"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000" b="0" i="0" smtClean="0">
                          <a:latin typeface="Cambria Math" panose="02040503050406030204" pitchFamily="18" charset="0"/>
                        </a:rPr>
                        <m:t>=</m:t>
                      </m:r>
                      <m:d>
                        <m:dPr>
                          <m:begChr m:val="["/>
                          <m:endChr m:val="]"/>
                          <m:ctrlPr>
                            <a:rPr lang="en-US" sz="1000" i="1">
                              <a:latin typeface="Cambria Math" panose="02040503050406030204" pitchFamily="18" charset="0"/>
                            </a:rPr>
                          </m:ctrlPr>
                        </m:dPr>
                        <m:e>
                          <m:m>
                            <m:mPr>
                              <m:mcs>
                                <m:mc>
                                  <m:mcPr>
                                    <m:count m:val="3"/>
                                    <m:mcJc m:val="center"/>
                                  </m:mcPr>
                                </m:mc>
                              </m:mcs>
                              <m:ctrlPr>
                                <a:rPr lang="en-US" sz="1000" i="1">
                                  <a:latin typeface="Cambria Math" panose="02040503050406030204" pitchFamily="18" charset="0"/>
                                </a:rPr>
                              </m:ctrlPr>
                            </m:mPr>
                            <m:mr>
                              <m:e>
                                <m:m>
                                  <m:mPr>
                                    <m:mcs>
                                      <m:mc>
                                        <m:mcPr>
                                          <m:count m:val="2"/>
                                          <m:mcJc m:val="center"/>
                                        </m:mcPr>
                                      </m:mc>
                                    </m:mcs>
                                    <m:ctrlPr>
                                      <a:rPr lang="en-US" sz="1000" i="1">
                                        <a:latin typeface="Cambria Math" panose="02040503050406030204" pitchFamily="18" charset="0"/>
                                      </a:rPr>
                                    </m:ctrlPr>
                                  </m:mPr>
                                  <m:mr>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11</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US" sz="1000" b="0" i="1" smtClean="0">
                                                    <a:latin typeface="Cambria Math" panose="02040503050406030204" pitchFamily="18" charset="0"/>
                                                  </a:rPr>
                                                  <m:t>11</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21</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US" sz="1000" b="0" i="1" smtClean="0">
                                                    <a:latin typeface="Cambria Math" panose="02040503050406030204" pitchFamily="18" charset="0"/>
                                                  </a:rPr>
                                                  <m:t>21</m:t>
                                                </m:r>
                                              </m:sub>
                                            </m:sSub>
                                          </m:e>
                                        </m:mr>
                                      </m:m>
                                    </m:e>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12</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US" sz="1000" b="0" i="1" smtClean="0">
                                                    <a:latin typeface="Cambria Math" panose="02040503050406030204" pitchFamily="18" charset="0"/>
                                                  </a:rPr>
                                                  <m:t>12</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22</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US" sz="1000" b="0" i="1" smtClean="0">
                                                    <a:latin typeface="Cambria Math" panose="02040503050406030204" pitchFamily="18" charset="0"/>
                                                  </a:rPr>
                                                  <m:t>22</m:t>
                                                </m:r>
                                              </m:sub>
                                            </m:sSub>
                                          </m:e>
                                        </m:mr>
                                      </m:m>
                                    </m:e>
                                  </m:mr>
                                </m:m>
                              </m:e>
                              <m:e>
                                <m:r>
                                  <a:rPr lang="en-US" sz="1000" i="1">
                                    <a:latin typeface="Cambria Math" panose="02040503050406030204" pitchFamily="18" charset="0"/>
                                  </a:rPr>
                                  <m:t>⋯</m:t>
                                </m:r>
                              </m:e>
                              <m:e>
                                <m:m>
                                  <m:mPr>
                                    <m:mcs>
                                      <m:mc>
                                        <m:mcPr>
                                          <m:count m:val="1"/>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1</m:t>
                                          </m:r>
                                          <m:r>
                                            <a:rPr lang="en-US" sz="1000" i="1">
                                              <a:latin typeface="Cambria Math" panose="02040503050406030204" pitchFamily="18" charset="0"/>
                                            </a:rPr>
                                            <m:t>𝑛</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US" sz="1000" b="0" i="1" smtClean="0">
                                              <a:latin typeface="Cambria Math" panose="02040503050406030204" pitchFamily="18" charset="0"/>
                                            </a:rPr>
                                            <m:t>1</m:t>
                                          </m:r>
                                          <m:r>
                                            <a:rPr lang="en-US" sz="1000" b="0" i="1" smtClean="0">
                                              <a:latin typeface="Cambria Math" panose="02040503050406030204" pitchFamily="18" charset="0"/>
                                            </a:rPr>
                                            <m:t>𝑛</m:t>
                                          </m:r>
                                        </m:sub>
                                      </m:sSub>
                                    </m:e>
                                  </m:m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US" sz="1000" i="1">
                                              <a:latin typeface="Cambria Math" panose="02040503050406030204" pitchFamily="18" charset="0"/>
                                            </a:rPr>
                                            <m:t>2</m:t>
                                          </m:r>
                                          <m:r>
                                            <a:rPr lang="en-US" sz="1000" i="1">
                                              <a:latin typeface="Cambria Math" panose="02040503050406030204" pitchFamily="18" charset="0"/>
                                            </a:rPr>
                                            <m:t>𝑛</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US" sz="1000" b="0" i="1" smtClean="0">
                                              <a:latin typeface="Cambria Math" panose="02040503050406030204" pitchFamily="18" charset="0"/>
                                            </a:rPr>
                                            <m:t>2</m:t>
                                          </m:r>
                                          <m:r>
                                            <a:rPr lang="en-US" sz="1000" b="0" i="1" smtClean="0">
                                              <a:latin typeface="Cambria Math" panose="02040503050406030204" pitchFamily="18" charset="0"/>
                                            </a:rPr>
                                            <m:t>𝑛</m:t>
                                          </m:r>
                                        </m:sub>
                                      </m:sSub>
                                    </m:e>
                                  </m:mr>
                                </m:m>
                              </m:e>
                            </m:mr>
                            <m:mr>
                              <m:e>
                                <m:r>
                                  <a:rPr lang="en-US" sz="1000" i="1">
                                    <a:latin typeface="Cambria Math" panose="02040503050406030204" pitchFamily="18" charset="0"/>
                                  </a:rPr>
                                  <m:t>⋮</m:t>
                                </m:r>
                              </m:e>
                              <m:e>
                                <m:r>
                                  <a:rPr lang="en-US" sz="1000" i="1">
                                    <a:latin typeface="Cambria Math" panose="02040503050406030204" pitchFamily="18" charset="0"/>
                                  </a:rPr>
                                  <m:t>⋮</m:t>
                                </m:r>
                              </m:e>
                              <m:e>
                                <m:r>
                                  <a:rPr lang="en-US" sz="1000" i="1">
                                    <a:latin typeface="Cambria Math" panose="02040503050406030204" pitchFamily="18" charset="0"/>
                                  </a:rPr>
                                  <m:t>⋮</m:t>
                                </m:r>
                              </m:e>
                            </m:mr>
                            <m:mr>
                              <m:e>
                                <m:m>
                                  <m:mPr>
                                    <m:mcs>
                                      <m:mc>
                                        <m:mcPr>
                                          <m:count m:val="2"/>
                                          <m:mcJc m:val="center"/>
                                        </m:mcPr>
                                      </m:mc>
                                    </m:mcs>
                                    <m:ctrlPr>
                                      <a:rPr lang="en-US" sz="1000" i="1">
                                        <a:latin typeface="Cambria Math" panose="02040503050406030204" pitchFamily="18" charset="0"/>
                                      </a:rPr>
                                    </m:ctrlPr>
                                  </m:mPr>
                                  <m:mr>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IN" sz="1000" b="0" i="1" smtClean="0">
                                              <a:latin typeface="Cambria Math" panose="02040503050406030204" pitchFamily="18" charset="0"/>
                                            </a:rPr>
                                            <m:t>𝑚</m:t>
                                          </m:r>
                                          <m:r>
                                            <a:rPr lang="en-US" sz="1000" i="1">
                                              <a:latin typeface="Cambria Math" panose="02040503050406030204" pitchFamily="18" charset="0"/>
                                            </a:rPr>
                                            <m:t>1</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IN" sz="1000" b="0" i="1" smtClean="0">
                                              <a:latin typeface="Cambria Math" panose="02040503050406030204" pitchFamily="18" charset="0"/>
                                            </a:rPr>
                                            <m:t>𝑚</m:t>
                                          </m:r>
                                          <m:r>
                                            <a:rPr lang="en-US" sz="1000" b="0" i="1" smtClean="0">
                                              <a:latin typeface="Cambria Math" panose="02040503050406030204" pitchFamily="18" charset="0"/>
                                            </a:rPr>
                                            <m:t>1</m:t>
                                          </m:r>
                                        </m:sub>
                                      </m:sSub>
                                    </m:e>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IN" sz="1000" b="0" i="1" smtClean="0">
                                              <a:latin typeface="Cambria Math" panose="02040503050406030204" pitchFamily="18" charset="0"/>
                                            </a:rPr>
                                            <m:t>𝑚</m:t>
                                          </m:r>
                                          <m:r>
                                            <a:rPr lang="en-US" sz="1000" i="1">
                                              <a:latin typeface="Cambria Math" panose="02040503050406030204" pitchFamily="18" charset="0"/>
                                            </a:rPr>
                                            <m:t>2</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IN" sz="1000" b="0" i="1" smtClean="0">
                                              <a:latin typeface="Cambria Math" panose="02040503050406030204" pitchFamily="18" charset="0"/>
                                            </a:rPr>
                                            <m:t>𝑚</m:t>
                                          </m:r>
                                          <m:r>
                                            <a:rPr lang="en-US" sz="1000" b="0" i="1" smtClean="0">
                                              <a:latin typeface="Cambria Math" panose="02040503050406030204" pitchFamily="18" charset="0"/>
                                            </a:rPr>
                                            <m:t>2</m:t>
                                          </m:r>
                                        </m:sub>
                                      </m:sSub>
                                    </m:e>
                                  </m:mr>
                                </m:m>
                              </m:e>
                              <m:e>
                                <m:r>
                                  <a:rPr lang="en-US" sz="1000" i="1">
                                    <a:latin typeface="Cambria Math" panose="02040503050406030204" pitchFamily="18" charset="0"/>
                                  </a:rPr>
                                  <m:t>⋯</m:t>
                                </m:r>
                              </m:e>
                              <m:e>
                                <m:sSub>
                                  <m:sSubPr>
                                    <m:ctrlPr>
                                      <a:rPr lang="en-US" sz="1000" i="1">
                                        <a:latin typeface="Cambria Math" panose="02040503050406030204" pitchFamily="18" charset="0"/>
                                      </a:rPr>
                                    </m:ctrlPr>
                                  </m:sSubPr>
                                  <m:e>
                                    <m:r>
                                      <a:rPr lang="en-US" sz="1000" i="1">
                                        <a:latin typeface="Cambria Math" panose="02040503050406030204" pitchFamily="18" charset="0"/>
                                      </a:rPr>
                                      <m:t>𝑎</m:t>
                                    </m:r>
                                  </m:e>
                                  <m:sub>
                                    <m:r>
                                      <a:rPr lang="en-IN" sz="1000" b="0" i="1" smtClean="0">
                                        <a:latin typeface="Cambria Math" panose="02040503050406030204" pitchFamily="18" charset="0"/>
                                      </a:rPr>
                                      <m:t>𝑚</m:t>
                                    </m:r>
                                    <m:r>
                                      <a:rPr lang="en-US" sz="1000" i="1">
                                        <a:latin typeface="Cambria Math" panose="02040503050406030204" pitchFamily="18" charset="0"/>
                                      </a:rPr>
                                      <m:t>𝑛</m:t>
                                    </m:r>
                                  </m:sub>
                                </m:sSub>
                                <m:r>
                                  <a:rPr lang="en-US" sz="1000" b="0" i="1" smtClean="0">
                                    <a:latin typeface="Cambria Math" panose="02040503050406030204" pitchFamily="18" charset="0"/>
                                  </a:rPr>
                                  <m:t>+</m:t>
                                </m:r>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𝑏</m:t>
                                    </m:r>
                                  </m:e>
                                  <m:sub>
                                    <m:r>
                                      <a:rPr lang="en-IN" sz="1000" b="0" i="1" smtClean="0">
                                        <a:latin typeface="Cambria Math" panose="02040503050406030204" pitchFamily="18" charset="0"/>
                                      </a:rPr>
                                      <m:t>𝑚</m:t>
                                    </m:r>
                                    <m:r>
                                      <a:rPr lang="en-US" sz="1000" b="0" i="1" smtClean="0">
                                        <a:latin typeface="Cambria Math" panose="02040503050406030204" pitchFamily="18" charset="0"/>
                                      </a:rPr>
                                      <m:t>𝑛</m:t>
                                    </m:r>
                                  </m:sub>
                                </m:sSub>
                              </m:e>
                            </m:mr>
                          </m:m>
                        </m:e>
                      </m:d>
                      <m:r>
                        <m:rPr>
                          <m:nor/>
                        </m:rPr>
                        <a:rPr lang="en-US" sz="1000" dirty="0">
                          <a:latin typeface="Cambria" panose="02040503050406030204" pitchFamily="18" charset="0"/>
                          <a:ea typeface="Cambria" panose="02040503050406030204" pitchFamily="18" charset="0"/>
                        </a:rPr>
                        <m:t> </m:t>
                      </m:r>
                    </m:oMath>
                  </m:oMathPara>
                </a14:m>
                <a:endParaRPr lang="en-US" sz="1000" dirty="0">
                  <a:latin typeface="Cambria" panose="02040503050406030204" pitchFamily="18" charset="0"/>
                  <a:ea typeface="Cambria" panose="02040503050406030204" pitchFamily="18" charset="0"/>
                </a:endParaRPr>
              </a:p>
              <a:p>
                <a:endParaRPr lang="en-US" dirty="0"/>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r="-881"/>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US" dirty="0"/>
              <a:t>Matrices forms a vector space</a:t>
            </a:r>
          </a:p>
        </p:txBody>
      </p:sp>
    </p:spTree>
    <p:extLst>
      <p:ext uri="{BB962C8B-B14F-4D97-AF65-F5344CB8AC3E}">
        <p14:creationId xmlns:p14="http://schemas.microsoft.com/office/powerpoint/2010/main" val="2831143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53670" y="754730"/>
                <a:ext cx="4187508" cy="2490151"/>
              </a:xfrm>
            </p:spPr>
            <p:txBody>
              <a:bodyPr/>
              <a:lstStyle/>
              <a:p>
                <a14:m>
                  <m:oMath xmlns:m="http://schemas.openxmlformats.org/officeDocument/2006/math">
                    <m:r>
                      <a:rPr lang="en-US" b="0" i="1" smtClean="0">
                        <a:latin typeface="Cambria Math" panose="02040503050406030204" pitchFamily="18" charset="0"/>
                      </a:rPr>
                      <m:t>𝑐</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11</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21</m:t>
                                              </m:r>
                                            </m:sub>
                                          </m:sSub>
                                        </m:e>
                                      </m:mr>
                                    </m:m>
                                  </m:e>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12</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22</m:t>
                                              </m:r>
                                            </m:sub>
                                          </m:sSub>
                                        </m:e>
                                      </m:mr>
                                    </m:m>
                                  </m:e>
                                </m:mr>
                              </m:m>
                            </m:e>
                            <m:e>
                              <m:r>
                                <a:rPr lang="en-US" i="1">
                                  <a:latin typeface="Cambria Math" panose="02040503050406030204" pitchFamily="18" charset="0"/>
                                </a:rPr>
                                <m:t>⋯</m:t>
                              </m:r>
                            </m:e>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r>
                                          <a:rPr lang="en-US" i="1">
                                            <a:latin typeface="Cambria Math" panose="02040503050406030204" pitchFamily="18" charset="0"/>
                                          </a:rPr>
                                          <m:t>𝑛</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m:t>
                                        </m:r>
                                        <m:r>
                                          <a:rPr lang="en-US" i="1">
                                            <a:latin typeface="Cambria Math" panose="02040503050406030204" pitchFamily="18" charset="0"/>
                                          </a:rPr>
                                          <m:t>𝑛</m:t>
                                        </m:r>
                                      </m:sub>
                                    </m:sSub>
                                  </m:e>
                                </m:mr>
                              </m:m>
                            </m:e>
                          </m:mr>
                          <m:mr>
                            <m:e>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m:t>
                              </m:r>
                            </m:e>
                          </m:mr>
                          <m:mr>
                            <m:e>
                              <m:m>
                                <m:mPr>
                                  <m:mcs>
                                    <m:mc>
                                      <m:mcPr>
                                        <m:count m:val="2"/>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IN" b="0" i="1" smtClean="0">
                                            <a:latin typeface="Cambria Math" panose="02040503050406030204" pitchFamily="18" charset="0"/>
                                          </a:rPr>
                                          <m:t>𝑚</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IN" b="0" i="1" smtClean="0">
                                            <a:latin typeface="Cambria Math" panose="02040503050406030204" pitchFamily="18" charset="0"/>
                                          </a:rPr>
                                          <m:t>𝑚</m:t>
                                        </m:r>
                                        <m:r>
                                          <a:rPr lang="en-US" i="1">
                                            <a:latin typeface="Cambria Math" panose="02040503050406030204" pitchFamily="18" charset="0"/>
                                          </a:rPr>
                                          <m:t>2</m:t>
                                        </m:r>
                                      </m:sub>
                                    </m:sSub>
                                  </m:e>
                                </m:mr>
                              </m:m>
                            </m:e>
                            <m:e>
                              <m:r>
                                <a:rPr lang="en-US" i="1">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IN" b="0" i="1" smtClean="0">
                                      <a:latin typeface="Cambria Math" panose="02040503050406030204" pitchFamily="18" charset="0"/>
                                    </a:rPr>
                                    <m:t>𝑚</m:t>
                                  </m:r>
                                  <m:r>
                                    <a:rPr lang="en-US" i="1">
                                      <a:latin typeface="Cambria Math" panose="02040503050406030204" pitchFamily="18" charset="0"/>
                                    </a:rPr>
                                    <m:t>𝑛</m:t>
                                  </m:r>
                                </m:sub>
                              </m:sSub>
                            </m:e>
                          </m:mr>
                        </m:m>
                      </m:e>
                    </m:d>
                  </m:oMath>
                </a14:m>
                <a:r>
                  <a:rPr lang="en-US" dirty="0"/>
                  <a:t> = </a:t>
                </a:r>
                <a14:m>
                  <m:oMath xmlns:m="http://schemas.openxmlformats.org/officeDocument/2006/math">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m>
                                <m:mPr>
                                  <m:mcs>
                                    <m:mc>
                                      <m:mcPr>
                                        <m:count m:val="2"/>
                                        <m:mcJc m:val="center"/>
                                      </m:mcPr>
                                    </m:mc>
                                  </m:mcs>
                                  <m:ctrlPr>
                                    <a:rPr lang="en-US" i="1">
                                      <a:latin typeface="Cambria Math" panose="02040503050406030204" pitchFamily="18" charset="0"/>
                                    </a:rPr>
                                  </m:ctrlPr>
                                </m:mPr>
                                <m:m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b="0" i="1" smtClean="0">
                                                  <a:latin typeface="Cambria Math" panose="02040503050406030204" pitchFamily="18" charset="0"/>
                                                </a:rPr>
                                                <m:t>𝑐</m:t>
                                              </m:r>
                                              <m:r>
                                                <a:rPr lang="en-US" i="1">
                                                  <a:latin typeface="Cambria Math" panose="02040503050406030204" pitchFamily="18" charset="0"/>
                                                </a:rPr>
                                                <m:t>𝑎</m:t>
                                              </m:r>
                                            </m:e>
                                            <m:sub>
                                              <m:r>
                                                <a:rPr lang="en-US" i="1">
                                                  <a:latin typeface="Cambria Math" panose="02040503050406030204" pitchFamily="18" charset="0"/>
                                                </a:rPr>
                                                <m:t>11</m:t>
                                              </m:r>
                                            </m:sub>
                                          </m:sSub>
                                        </m:e>
                                      </m:mr>
                                      <m:mr>
                                        <m:e>
                                          <m:sSub>
                                            <m:sSubPr>
                                              <m:ctrlPr>
                                                <a:rPr lang="en-US" i="1">
                                                  <a:latin typeface="Cambria Math" panose="02040503050406030204" pitchFamily="18" charset="0"/>
                                                </a:rPr>
                                              </m:ctrlPr>
                                            </m:sSubPr>
                                            <m:e>
                                              <m:r>
                                                <a:rPr lang="en-US" b="0" i="1" smtClean="0">
                                                  <a:latin typeface="Cambria Math" panose="02040503050406030204" pitchFamily="18" charset="0"/>
                                                </a:rPr>
                                                <m:t>𝑐</m:t>
                                              </m:r>
                                              <m:r>
                                                <a:rPr lang="en-US" i="1">
                                                  <a:latin typeface="Cambria Math" panose="02040503050406030204" pitchFamily="18" charset="0"/>
                                                </a:rPr>
                                                <m:t>𝑎</m:t>
                                              </m:r>
                                            </m:e>
                                            <m:sub>
                                              <m:r>
                                                <a:rPr lang="en-US" i="1">
                                                  <a:latin typeface="Cambria Math" panose="02040503050406030204" pitchFamily="18" charset="0"/>
                                                </a:rPr>
                                                <m:t>21</m:t>
                                              </m:r>
                                            </m:sub>
                                          </m:sSub>
                                        </m:e>
                                      </m:mr>
                                    </m:m>
                                  </m:e>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b="0" i="1" smtClean="0">
                                                  <a:latin typeface="Cambria Math" panose="02040503050406030204" pitchFamily="18" charset="0"/>
                                                </a:rPr>
                                                <m:t>𝑐</m:t>
                                              </m:r>
                                              <m:r>
                                                <a:rPr lang="en-US" i="1">
                                                  <a:latin typeface="Cambria Math" panose="02040503050406030204" pitchFamily="18" charset="0"/>
                                                </a:rPr>
                                                <m:t>𝑎</m:t>
                                              </m:r>
                                            </m:e>
                                            <m:sub>
                                              <m:r>
                                                <a:rPr lang="en-US" i="1">
                                                  <a:latin typeface="Cambria Math" panose="02040503050406030204" pitchFamily="18" charset="0"/>
                                                </a:rPr>
                                                <m:t>12</m:t>
                                              </m:r>
                                            </m:sub>
                                          </m:sSub>
                                        </m:e>
                                      </m:mr>
                                      <m:mr>
                                        <m:e>
                                          <m:sSub>
                                            <m:sSubPr>
                                              <m:ctrlPr>
                                                <a:rPr lang="en-US" i="1">
                                                  <a:latin typeface="Cambria Math" panose="02040503050406030204" pitchFamily="18" charset="0"/>
                                                </a:rPr>
                                              </m:ctrlPr>
                                            </m:sSubPr>
                                            <m:e>
                                              <m:r>
                                                <a:rPr lang="en-US" b="0" i="1" smtClean="0">
                                                  <a:latin typeface="Cambria Math" panose="02040503050406030204" pitchFamily="18" charset="0"/>
                                                </a:rPr>
                                                <m:t>𝑐</m:t>
                                              </m:r>
                                              <m:r>
                                                <a:rPr lang="en-US" i="1">
                                                  <a:latin typeface="Cambria Math" panose="02040503050406030204" pitchFamily="18" charset="0"/>
                                                </a:rPr>
                                                <m:t>𝑎</m:t>
                                              </m:r>
                                            </m:e>
                                            <m:sub>
                                              <m:r>
                                                <a:rPr lang="en-US" i="1">
                                                  <a:latin typeface="Cambria Math" panose="02040503050406030204" pitchFamily="18" charset="0"/>
                                                </a:rPr>
                                                <m:t>22</m:t>
                                              </m:r>
                                            </m:sub>
                                          </m:sSub>
                                        </m:e>
                                      </m:mr>
                                    </m:m>
                                  </m:e>
                                </m:mr>
                              </m:m>
                            </m:e>
                            <m:e>
                              <m:r>
                                <a:rPr lang="en-US" i="1">
                                  <a:latin typeface="Cambria Math" panose="02040503050406030204" pitchFamily="18" charset="0"/>
                                </a:rPr>
                                <m:t>⋯</m:t>
                              </m:r>
                            </m:e>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b="0" i="1" smtClean="0">
                                            <a:latin typeface="Cambria Math" panose="02040503050406030204" pitchFamily="18" charset="0"/>
                                          </a:rPr>
                                          <m:t>𝑐</m:t>
                                        </m:r>
                                        <m:r>
                                          <a:rPr lang="en-US" i="1">
                                            <a:latin typeface="Cambria Math" panose="02040503050406030204" pitchFamily="18" charset="0"/>
                                          </a:rPr>
                                          <m:t>𝑎</m:t>
                                        </m:r>
                                      </m:e>
                                      <m:sub>
                                        <m:r>
                                          <a:rPr lang="en-US" i="1">
                                            <a:latin typeface="Cambria Math" panose="02040503050406030204" pitchFamily="18" charset="0"/>
                                          </a:rPr>
                                          <m:t>1</m:t>
                                        </m:r>
                                        <m:r>
                                          <a:rPr lang="en-US" i="1">
                                            <a:latin typeface="Cambria Math" panose="02040503050406030204" pitchFamily="18" charset="0"/>
                                          </a:rPr>
                                          <m:t>𝑛</m:t>
                                        </m:r>
                                      </m:sub>
                                    </m:sSub>
                                  </m:e>
                                </m:mr>
                                <m:mr>
                                  <m:e>
                                    <m:r>
                                      <a:rPr lang="en-US" b="0" i="1" smtClean="0">
                                        <a:latin typeface="Cambria Math" panose="02040503050406030204" pitchFamily="18" charset="0"/>
                                      </a:rPr>
                                      <m:t>𝑐</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m:t>
                                        </m:r>
                                        <m:r>
                                          <a:rPr lang="en-US" i="1">
                                            <a:latin typeface="Cambria Math" panose="02040503050406030204" pitchFamily="18" charset="0"/>
                                          </a:rPr>
                                          <m:t>𝑛</m:t>
                                        </m:r>
                                      </m:sub>
                                    </m:sSub>
                                  </m:e>
                                </m:mr>
                              </m:m>
                            </m:e>
                          </m:mr>
                          <m:mr>
                            <m:e>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m:t>
                              </m:r>
                            </m:e>
                          </m:mr>
                          <m:m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𝑐</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IN" b="0" i="1" smtClean="0">
                                            <a:latin typeface="Cambria Math" panose="02040503050406030204" pitchFamily="18" charset="0"/>
                                          </a:rPr>
                                          <m:t>𝑚</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b="0" i="1" smtClean="0">
                                            <a:latin typeface="Cambria Math" panose="02040503050406030204" pitchFamily="18" charset="0"/>
                                          </a:rPr>
                                          <m:t>𝑐</m:t>
                                        </m:r>
                                        <m:r>
                                          <a:rPr lang="en-US" i="1">
                                            <a:latin typeface="Cambria Math" panose="02040503050406030204" pitchFamily="18" charset="0"/>
                                          </a:rPr>
                                          <m:t>𝑎</m:t>
                                        </m:r>
                                      </m:e>
                                      <m:sub>
                                        <m:r>
                                          <a:rPr lang="en-IN" b="0" i="1" smtClean="0">
                                            <a:latin typeface="Cambria Math" panose="02040503050406030204" pitchFamily="18" charset="0"/>
                                          </a:rPr>
                                          <m:t>𝑚</m:t>
                                        </m:r>
                                        <m:r>
                                          <a:rPr lang="en-US" i="1">
                                            <a:latin typeface="Cambria Math" panose="02040503050406030204" pitchFamily="18" charset="0"/>
                                          </a:rPr>
                                          <m:t>2</m:t>
                                        </m:r>
                                      </m:sub>
                                    </m:sSub>
                                  </m:e>
                                </m:mr>
                              </m:m>
                            </m:e>
                            <m:e>
                              <m:r>
                                <a:rPr lang="en-US" i="1">
                                  <a:latin typeface="Cambria Math" panose="02040503050406030204" pitchFamily="18" charset="0"/>
                                </a:rPr>
                                <m:t>⋯</m:t>
                              </m:r>
                            </m:e>
                            <m:e>
                              <m:sSub>
                                <m:sSubPr>
                                  <m:ctrlPr>
                                    <a:rPr lang="en-US" i="1">
                                      <a:latin typeface="Cambria Math" panose="02040503050406030204" pitchFamily="18" charset="0"/>
                                    </a:rPr>
                                  </m:ctrlPr>
                                </m:sSubPr>
                                <m:e>
                                  <m:r>
                                    <a:rPr lang="en-US" b="0" i="1" smtClean="0">
                                      <a:latin typeface="Cambria Math" panose="02040503050406030204" pitchFamily="18" charset="0"/>
                                    </a:rPr>
                                    <m:t>𝑐</m:t>
                                  </m:r>
                                  <m:r>
                                    <a:rPr lang="en-US" i="1">
                                      <a:latin typeface="Cambria Math" panose="02040503050406030204" pitchFamily="18" charset="0"/>
                                    </a:rPr>
                                    <m:t>𝑎</m:t>
                                  </m:r>
                                </m:e>
                                <m:sub>
                                  <m:r>
                                    <a:rPr lang="en-IN" b="0" i="1" smtClean="0">
                                      <a:latin typeface="Cambria Math" panose="02040503050406030204" pitchFamily="18" charset="0"/>
                                    </a:rPr>
                                    <m:t>𝑚</m:t>
                                  </m:r>
                                  <m:r>
                                    <a:rPr lang="en-US" i="1">
                                      <a:latin typeface="Cambria Math" panose="02040503050406030204" pitchFamily="18" charset="0"/>
                                    </a:rPr>
                                    <m:t>𝑛</m:t>
                                  </m:r>
                                </m:sub>
                              </m:sSub>
                            </m:e>
                          </m:mr>
                        </m:m>
                      </m:e>
                    </m:d>
                  </m:oMath>
                </a14:m>
                <a:endParaRPr lang="en-US" dirty="0"/>
              </a:p>
              <a:p>
                <a:endParaRPr lang="en-US" dirty="0"/>
              </a:p>
              <a:p>
                <a:r>
                  <a:rPr lang="en-US" dirty="0"/>
                  <a:t>    With respect to these vector addition and scalar multiplication M</a:t>
                </a:r>
                <a:r>
                  <a:rPr lang="en-US" baseline="-25000" dirty="0"/>
                  <a:t>mxn </a:t>
                </a:r>
                <a:r>
                  <a:rPr lang="en-US" dirty="0"/>
                  <a:t> is a vector space. (Verify)</a:t>
                </a:r>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53670" y="754730"/>
                <a:ext cx="4187508" cy="2490151"/>
              </a:xfrm>
              <a:blipFill>
                <a:blip r:embed="rId2"/>
                <a:stretch>
                  <a:fillRect/>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US" dirty="0"/>
              <a:t>Examples</a:t>
            </a:r>
          </a:p>
        </p:txBody>
      </p:sp>
    </p:spTree>
    <p:extLst>
      <p:ext uri="{BB962C8B-B14F-4D97-AF65-F5344CB8AC3E}">
        <p14:creationId xmlns:p14="http://schemas.microsoft.com/office/powerpoint/2010/main" val="2270013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Vector</a:t>
            </a:r>
            <a:r>
              <a:rPr spc="-90" dirty="0"/>
              <a:t> </a:t>
            </a:r>
            <a:r>
              <a:rPr spc="-70" dirty="0"/>
              <a:t>subspaces</a:t>
            </a:r>
          </a:p>
        </p:txBody>
      </p:sp>
      <p:sp>
        <p:nvSpPr>
          <p:cNvPr id="3" name="object 3"/>
          <p:cNvSpPr txBox="1"/>
          <p:nvPr/>
        </p:nvSpPr>
        <p:spPr>
          <a:xfrm>
            <a:off x="421957" y="776730"/>
            <a:ext cx="3830954" cy="1988820"/>
          </a:xfrm>
          <a:prstGeom prst="rect">
            <a:avLst/>
          </a:prstGeom>
        </p:spPr>
        <p:txBody>
          <a:bodyPr vert="horz" wrap="square" lIns="0" tIns="6985" rIns="0" bIns="0" rtlCol="0">
            <a:spAutoFit/>
          </a:bodyPr>
          <a:lstStyle/>
          <a:p>
            <a:pPr marL="214629" marR="127635" indent="-177165">
              <a:lnSpc>
                <a:spcPct val="102600"/>
              </a:lnSpc>
              <a:spcBef>
                <a:spcPts val="55"/>
              </a:spcBef>
              <a:buClr>
                <a:srgbClr val="3333B2"/>
              </a:buClr>
              <a:buFont typeface="Lucida Sans Unicode"/>
              <a:buChar char="►"/>
              <a:tabLst>
                <a:tab pos="214629" algn="l"/>
              </a:tabLst>
            </a:pPr>
            <a:r>
              <a:rPr sz="1100" dirty="0">
                <a:latin typeface="Tahoma"/>
                <a:cs typeface="Tahoma"/>
              </a:rPr>
              <a:t>Let</a:t>
            </a:r>
            <a:r>
              <a:rPr sz="1100" spc="-35" dirty="0">
                <a:latin typeface="Tahoma"/>
                <a:cs typeface="Tahoma"/>
              </a:rPr>
              <a:t> </a:t>
            </a:r>
            <a:r>
              <a:rPr sz="1100" i="1" dirty="0">
                <a:latin typeface="Arial"/>
                <a:cs typeface="Arial"/>
              </a:rPr>
              <a:t>V</a:t>
            </a:r>
            <a:r>
              <a:rPr sz="1100" i="1" spc="140" dirty="0">
                <a:latin typeface="Arial"/>
                <a:cs typeface="Arial"/>
              </a:rPr>
              <a:t> </a:t>
            </a:r>
            <a:r>
              <a:rPr sz="1100" dirty="0">
                <a:latin typeface="Tahoma"/>
                <a:cs typeface="Tahoma"/>
              </a:rPr>
              <a:t>=</a:t>
            </a:r>
            <a:r>
              <a:rPr sz="1100" spc="-60" dirty="0">
                <a:latin typeface="Tahoma"/>
                <a:cs typeface="Tahoma"/>
              </a:rPr>
              <a:t> </a:t>
            </a:r>
            <a:r>
              <a:rPr sz="1100" dirty="0">
                <a:latin typeface="Tahoma"/>
                <a:cs typeface="Tahoma"/>
              </a:rPr>
              <a:t>(</a:t>
            </a:r>
            <a:r>
              <a:rPr sz="1100" dirty="0">
                <a:latin typeface="Lucida Sans Unicode"/>
                <a:cs typeface="Lucida Sans Unicode"/>
              </a:rPr>
              <a:t>V</a:t>
            </a:r>
            <a:r>
              <a:rPr sz="1100" i="1" dirty="0">
                <a:latin typeface="Calibri"/>
                <a:cs typeface="Calibri"/>
              </a:rPr>
              <a:t>,</a:t>
            </a:r>
            <a:r>
              <a:rPr sz="1100" i="1" spc="-70" dirty="0">
                <a:latin typeface="Calibri"/>
                <a:cs typeface="Calibri"/>
              </a:rPr>
              <a:t> </a:t>
            </a:r>
            <a:r>
              <a:rPr sz="1100" dirty="0">
                <a:latin typeface="Tahoma"/>
                <a:cs typeface="Tahoma"/>
              </a:rPr>
              <a:t>+</a:t>
            </a:r>
            <a:r>
              <a:rPr sz="1100" i="1" dirty="0">
                <a:latin typeface="Calibri"/>
                <a:cs typeface="Calibri"/>
              </a:rPr>
              <a:t>,</a:t>
            </a:r>
            <a:r>
              <a:rPr sz="1100" i="1" spc="-70" dirty="0">
                <a:latin typeface="Calibri"/>
                <a:cs typeface="Calibri"/>
              </a:rPr>
              <a:t> </a:t>
            </a:r>
            <a:r>
              <a:rPr sz="1100" i="1" dirty="0">
                <a:latin typeface="Calibri"/>
                <a:cs typeface="Calibri"/>
              </a:rPr>
              <a:t>.</a:t>
            </a:r>
            <a:r>
              <a:rPr sz="1100" dirty="0">
                <a:latin typeface="Tahoma"/>
                <a:cs typeface="Tahoma"/>
              </a:rPr>
              <a:t>) </a:t>
            </a:r>
            <a:r>
              <a:rPr sz="1100" spc="-10" dirty="0">
                <a:latin typeface="Tahoma"/>
                <a:cs typeface="Tahoma"/>
              </a:rPr>
              <a:t>be</a:t>
            </a:r>
            <a:r>
              <a:rPr sz="1100" dirty="0">
                <a:latin typeface="Tahoma"/>
                <a:cs typeface="Tahoma"/>
              </a:rPr>
              <a:t> a</a:t>
            </a:r>
            <a:r>
              <a:rPr sz="1100" spc="-5" dirty="0">
                <a:latin typeface="Tahoma"/>
                <a:cs typeface="Tahoma"/>
              </a:rPr>
              <a:t> </a:t>
            </a:r>
            <a:r>
              <a:rPr sz="1100" spc="-35" dirty="0">
                <a:latin typeface="Tahoma"/>
                <a:cs typeface="Tahoma"/>
              </a:rPr>
              <a:t>vector</a:t>
            </a:r>
            <a:r>
              <a:rPr sz="1100" dirty="0">
                <a:latin typeface="Tahoma"/>
                <a:cs typeface="Tahoma"/>
              </a:rPr>
              <a:t> </a:t>
            </a:r>
            <a:r>
              <a:rPr sz="1100" spc="-55" dirty="0">
                <a:latin typeface="Tahoma"/>
                <a:cs typeface="Tahoma"/>
              </a:rPr>
              <a:t>space</a:t>
            </a:r>
            <a:r>
              <a:rPr sz="1100" dirty="0">
                <a:latin typeface="Tahoma"/>
                <a:cs typeface="Tahoma"/>
              </a:rPr>
              <a:t> </a:t>
            </a:r>
            <a:r>
              <a:rPr sz="1100" spc="-35" dirty="0">
                <a:latin typeface="Tahoma"/>
                <a:cs typeface="Tahoma"/>
              </a:rPr>
              <a:t>and</a:t>
            </a:r>
            <a:r>
              <a:rPr sz="1100" dirty="0">
                <a:latin typeface="Tahoma"/>
                <a:cs typeface="Tahoma"/>
              </a:rPr>
              <a:t> let</a:t>
            </a:r>
            <a:r>
              <a:rPr sz="1100" spc="-5" dirty="0">
                <a:latin typeface="Tahoma"/>
                <a:cs typeface="Tahoma"/>
              </a:rPr>
              <a:t> </a:t>
            </a:r>
            <a:r>
              <a:rPr sz="1100" dirty="0">
                <a:latin typeface="Lucida Sans Unicode"/>
                <a:cs typeface="Lucida Sans Unicode"/>
              </a:rPr>
              <a:t>U</a:t>
            </a:r>
            <a:r>
              <a:rPr sz="1100" spc="40" dirty="0">
                <a:latin typeface="Lucida Sans Unicode"/>
                <a:cs typeface="Lucida Sans Unicode"/>
              </a:rPr>
              <a:t> </a:t>
            </a:r>
            <a:r>
              <a:rPr sz="1100" dirty="0">
                <a:latin typeface="Lucida Sans Unicode"/>
                <a:cs typeface="Lucida Sans Unicode"/>
              </a:rPr>
              <a:t>⊆</a:t>
            </a:r>
            <a:r>
              <a:rPr sz="1100" spc="-65" dirty="0">
                <a:latin typeface="Lucida Sans Unicode"/>
                <a:cs typeface="Lucida Sans Unicode"/>
              </a:rPr>
              <a:t> </a:t>
            </a:r>
            <a:r>
              <a:rPr sz="1100" dirty="0">
                <a:latin typeface="Lucida Sans Unicode"/>
                <a:cs typeface="Lucida Sans Unicode"/>
              </a:rPr>
              <a:t>V</a:t>
            </a:r>
            <a:r>
              <a:rPr sz="1100" i="1" dirty="0">
                <a:latin typeface="Calibri"/>
                <a:cs typeface="Calibri"/>
              </a:rPr>
              <a:t>,</a:t>
            </a:r>
            <a:r>
              <a:rPr sz="1100" i="1" spc="-70" dirty="0">
                <a:latin typeface="Calibri"/>
                <a:cs typeface="Calibri"/>
              </a:rPr>
              <a:t> </a:t>
            </a:r>
            <a:r>
              <a:rPr sz="1100" dirty="0">
                <a:latin typeface="Lucida Sans Unicode"/>
                <a:cs typeface="Lucida Sans Unicode"/>
              </a:rPr>
              <a:t>U</a:t>
            </a:r>
            <a:r>
              <a:rPr lang="en-IN" sz="1100" spc="35" dirty="0">
                <a:latin typeface="Lucida Sans Unicode"/>
                <a:cs typeface="Lucida Sans Unicode"/>
              </a:rPr>
              <a:t> </a:t>
            </a:r>
            <a:r>
              <a:rPr lang="en-IN" sz="1100" spc="35" dirty="0">
                <a:latin typeface="Lucida Sans Unicode"/>
                <a:ea typeface="Cambria Math" panose="02040503050406030204" pitchFamily="18" charset="0"/>
                <a:cs typeface="Lucida Sans Unicode"/>
              </a:rPr>
              <a:t>≠</a:t>
            </a:r>
            <a:r>
              <a:rPr sz="1100" spc="-55" dirty="0">
                <a:latin typeface="Tahoma"/>
                <a:cs typeface="Tahoma"/>
              </a:rPr>
              <a:t> </a:t>
            </a:r>
            <a:r>
              <a:rPr sz="1100" spc="-25" dirty="0">
                <a:latin typeface="Tahoma"/>
                <a:cs typeface="Tahoma"/>
              </a:rPr>
              <a:t>Φ. then</a:t>
            </a:r>
            <a:r>
              <a:rPr sz="1100" spc="-60" dirty="0">
                <a:latin typeface="Tahoma"/>
                <a:cs typeface="Tahoma"/>
              </a:rPr>
              <a:t> </a:t>
            </a:r>
            <a:r>
              <a:rPr sz="1100" i="1" dirty="0">
                <a:latin typeface="Arial"/>
                <a:cs typeface="Arial"/>
              </a:rPr>
              <a:t>U</a:t>
            </a:r>
            <a:r>
              <a:rPr sz="1100" i="1" spc="55" dirty="0">
                <a:latin typeface="Arial"/>
                <a:cs typeface="Arial"/>
              </a:rPr>
              <a:t> </a:t>
            </a:r>
            <a:r>
              <a:rPr sz="1100" dirty="0">
                <a:latin typeface="Tahoma"/>
                <a:cs typeface="Tahoma"/>
              </a:rPr>
              <a:t>=</a:t>
            </a:r>
            <a:r>
              <a:rPr sz="1100" spc="-65" dirty="0">
                <a:latin typeface="Tahoma"/>
                <a:cs typeface="Tahoma"/>
              </a:rPr>
              <a:t> </a:t>
            </a:r>
            <a:r>
              <a:rPr sz="1100" spc="-50" dirty="0">
                <a:latin typeface="Tahoma"/>
                <a:cs typeface="Tahoma"/>
              </a:rPr>
              <a:t>(</a:t>
            </a:r>
            <a:r>
              <a:rPr sz="1100" spc="-50" dirty="0">
                <a:latin typeface="Lucida Sans Unicode"/>
                <a:cs typeface="Lucida Sans Unicode"/>
              </a:rPr>
              <a:t>U</a:t>
            </a:r>
            <a:r>
              <a:rPr sz="1100" spc="-240" dirty="0">
                <a:latin typeface="Lucida Sans Unicode"/>
                <a:cs typeface="Lucida Sans Unicode"/>
              </a:rPr>
              <a:t> </a:t>
            </a:r>
            <a:r>
              <a:rPr sz="1100" i="1" dirty="0">
                <a:latin typeface="Calibri"/>
                <a:cs typeface="Calibri"/>
              </a:rPr>
              <a:t>,</a:t>
            </a:r>
            <a:r>
              <a:rPr sz="1100" i="1" spc="-70" dirty="0">
                <a:latin typeface="Calibri"/>
                <a:cs typeface="Calibri"/>
              </a:rPr>
              <a:t> </a:t>
            </a:r>
            <a:r>
              <a:rPr sz="1100" dirty="0">
                <a:latin typeface="Tahoma"/>
                <a:cs typeface="Tahoma"/>
              </a:rPr>
              <a:t>+</a:t>
            </a:r>
            <a:r>
              <a:rPr sz="1100" i="1" dirty="0">
                <a:latin typeface="Calibri"/>
                <a:cs typeface="Calibri"/>
              </a:rPr>
              <a:t>,</a:t>
            </a:r>
            <a:r>
              <a:rPr sz="1100" i="1" spc="-70" dirty="0">
                <a:latin typeface="Calibri"/>
                <a:cs typeface="Calibri"/>
              </a:rPr>
              <a:t> </a:t>
            </a:r>
            <a:r>
              <a:rPr sz="1100" i="1" dirty="0">
                <a:latin typeface="Calibri"/>
                <a:cs typeface="Calibri"/>
              </a:rPr>
              <a:t>.</a:t>
            </a:r>
            <a:r>
              <a:rPr sz="1100" dirty="0">
                <a:latin typeface="Tahoma"/>
                <a:cs typeface="Tahoma"/>
              </a:rPr>
              <a:t>)</a:t>
            </a:r>
            <a:r>
              <a:rPr sz="1100" spc="-10" dirty="0">
                <a:latin typeface="Tahoma"/>
                <a:cs typeface="Tahoma"/>
              </a:rPr>
              <a:t> </a:t>
            </a:r>
            <a:r>
              <a:rPr sz="1100" dirty="0">
                <a:latin typeface="Tahoma"/>
                <a:cs typeface="Tahoma"/>
              </a:rPr>
              <a:t>is</a:t>
            </a:r>
            <a:r>
              <a:rPr sz="1100" spc="-15" dirty="0">
                <a:latin typeface="Tahoma"/>
                <a:cs typeface="Tahoma"/>
              </a:rPr>
              <a:t> </a:t>
            </a:r>
            <a:r>
              <a:rPr sz="1100" spc="-25" dirty="0">
                <a:latin typeface="Tahoma"/>
                <a:cs typeface="Tahoma"/>
              </a:rPr>
              <a:t>called</a:t>
            </a:r>
            <a:r>
              <a:rPr sz="1100" spc="-10" dirty="0">
                <a:latin typeface="Tahoma"/>
                <a:cs typeface="Tahoma"/>
              </a:rPr>
              <a:t> </a:t>
            </a:r>
            <a:r>
              <a:rPr sz="1100" dirty="0">
                <a:latin typeface="Tahoma"/>
                <a:cs typeface="Tahoma"/>
              </a:rPr>
              <a:t>a</a:t>
            </a:r>
            <a:r>
              <a:rPr sz="1100" spc="-10" dirty="0">
                <a:latin typeface="Tahoma"/>
                <a:cs typeface="Tahoma"/>
              </a:rPr>
              <a:t> </a:t>
            </a:r>
            <a:r>
              <a:rPr sz="1100" spc="-35" dirty="0">
                <a:latin typeface="Tahoma"/>
                <a:cs typeface="Tahoma"/>
              </a:rPr>
              <a:t>vector</a:t>
            </a:r>
            <a:r>
              <a:rPr sz="1100" spc="-10" dirty="0">
                <a:latin typeface="Tahoma"/>
                <a:cs typeface="Tahoma"/>
              </a:rPr>
              <a:t> </a:t>
            </a:r>
            <a:r>
              <a:rPr sz="1100" spc="-55" dirty="0">
                <a:latin typeface="Tahoma"/>
                <a:cs typeface="Tahoma"/>
              </a:rPr>
              <a:t>subspace</a:t>
            </a:r>
            <a:r>
              <a:rPr sz="1100" spc="-15" dirty="0">
                <a:latin typeface="Tahoma"/>
                <a:cs typeface="Tahoma"/>
              </a:rPr>
              <a:t> </a:t>
            </a:r>
            <a:r>
              <a:rPr sz="1100" dirty="0">
                <a:latin typeface="Tahoma"/>
                <a:cs typeface="Tahoma"/>
              </a:rPr>
              <a:t>of</a:t>
            </a:r>
            <a:r>
              <a:rPr sz="1100" spc="-10" dirty="0">
                <a:latin typeface="Tahoma"/>
                <a:cs typeface="Tahoma"/>
              </a:rPr>
              <a:t> </a:t>
            </a:r>
            <a:r>
              <a:rPr sz="1100" i="1" dirty="0">
                <a:latin typeface="Arial"/>
                <a:cs typeface="Arial"/>
              </a:rPr>
              <a:t>V</a:t>
            </a:r>
            <a:r>
              <a:rPr sz="1100" i="1" spc="180" dirty="0">
                <a:latin typeface="Arial"/>
                <a:cs typeface="Arial"/>
              </a:rPr>
              <a:t> </a:t>
            </a:r>
            <a:r>
              <a:rPr sz="1100" dirty="0">
                <a:latin typeface="Tahoma"/>
                <a:cs typeface="Tahoma"/>
              </a:rPr>
              <a:t>if</a:t>
            </a:r>
            <a:r>
              <a:rPr sz="1100" spc="-10" dirty="0">
                <a:latin typeface="Tahoma"/>
                <a:cs typeface="Tahoma"/>
              </a:rPr>
              <a:t> </a:t>
            </a:r>
            <a:r>
              <a:rPr sz="1100" i="1" dirty="0">
                <a:latin typeface="Arial"/>
                <a:cs typeface="Arial"/>
              </a:rPr>
              <a:t>U</a:t>
            </a:r>
            <a:r>
              <a:rPr sz="1100" i="1" spc="110" dirty="0">
                <a:latin typeface="Arial"/>
                <a:cs typeface="Arial"/>
              </a:rPr>
              <a:t> </a:t>
            </a:r>
            <a:r>
              <a:rPr sz="1100" dirty="0">
                <a:latin typeface="Tahoma"/>
                <a:cs typeface="Tahoma"/>
              </a:rPr>
              <a:t>is</a:t>
            </a:r>
            <a:r>
              <a:rPr sz="1100" spc="-20" dirty="0">
                <a:latin typeface="Tahoma"/>
                <a:cs typeface="Tahoma"/>
              </a:rPr>
              <a:t> </a:t>
            </a:r>
            <a:r>
              <a:rPr sz="1100" spc="-50" dirty="0">
                <a:latin typeface="Tahoma"/>
                <a:cs typeface="Tahoma"/>
              </a:rPr>
              <a:t>a </a:t>
            </a:r>
            <a:r>
              <a:rPr sz="1100" spc="-35" dirty="0">
                <a:latin typeface="Tahoma"/>
                <a:cs typeface="Tahoma"/>
              </a:rPr>
              <a:t>vector</a:t>
            </a:r>
            <a:r>
              <a:rPr sz="1100" spc="-30" dirty="0">
                <a:latin typeface="Tahoma"/>
                <a:cs typeface="Tahoma"/>
              </a:rPr>
              <a:t> </a:t>
            </a:r>
            <a:r>
              <a:rPr sz="1100" spc="-55" dirty="0">
                <a:latin typeface="Tahoma"/>
                <a:cs typeface="Tahoma"/>
              </a:rPr>
              <a:t>space</a:t>
            </a:r>
            <a:r>
              <a:rPr sz="1100" spc="-25" dirty="0">
                <a:latin typeface="Tahoma"/>
                <a:cs typeface="Tahoma"/>
              </a:rPr>
              <a:t> </a:t>
            </a:r>
            <a:r>
              <a:rPr sz="1100" dirty="0">
                <a:latin typeface="Tahoma"/>
                <a:cs typeface="Tahoma"/>
              </a:rPr>
              <a:t>with</a:t>
            </a:r>
            <a:r>
              <a:rPr sz="1100" spc="-25" dirty="0">
                <a:latin typeface="Tahoma"/>
                <a:cs typeface="Tahoma"/>
              </a:rPr>
              <a:t> </a:t>
            </a:r>
            <a:r>
              <a:rPr sz="1100" spc="-10" dirty="0">
                <a:latin typeface="Tahoma"/>
                <a:cs typeface="Tahoma"/>
              </a:rPr>
              <a:t>the</a:t>
            </a:r>
            <a:r>
              <a:rPr sz="1100" spc="-25" dirty="0">
                <a:latin typeface="Tahoma"/>
                <a:cs typeface="Tahoma"/>
              </a:rPr>
              <a:t> </a:t>
            </a:r>
            <a:r>
              <a:rPr sz="1100" spc="-35" dirty="0">
                <a:latin typeface="Tahoma"/>
                <a:cs typeface="Tahoma"/>
              </a:rPr>
              <a:t>vector</a:t>
            </a:r>
            <a:r>
              <a:rPr sz="1100" spc="-25" dirty="0">
                <a:latin typeface="Tahoma"/>
                <a:cs typeface="Tahoma"/>
              </a:rPr>
              <a:t> </a:t>
            </a:r>
            <a:r>
              <a:rPr sz="1100" spc="-55" dirty="0">
                <a:latin typeface="Tahoma"/>
                <a:cs typeface="Tahoma"/>
              </a:rPr>
              <a:t>space</a:t>
            </a:r>
            <a:r>
              <a:rPr sz="1100" spc="-25" dirty="0">
                <a:latin typeface="Tahoma"/>
                <a:cs typeface="Tahoma"/>
              </a:rPr>
              <a:t> </a:t>
            </a:r>
            <a:r>
              <a:rPr sz="1100" spc="-35" dirty="0">
                <a:latin typeface="Tahoma"/>
                <a:cs typeface="Tahoma"/>
              </a:rPr>
              <a:t>operations</a:t>
            </a:r>
            <a:r>
              <a:rPr sz="1100" spc="-25" dirty="0">
                <a:latin typeface="Tahoma"/>
                <a:cs typeface="Tahoma"/>
              </a:rPr>
              <a:t> </a:t>
            </a:r>
            <a:r>
              <a:rPr sz="1100" dirty="0">
                <a:latin typeface="Tahoma"/>
                <a:cs typeface="Tahoma"/>
              </a:rPr>
              <a:t>+</a:t>
            </a:r>
            <a:r>
              <a:rPr sz="1100" spc="-25" dirty="0">
                <a:latin typeface="Tahoma"/>
                <a:cs typeface="Tahoma"/>
              </a:rPr>
              <a:t> </a:t>
            </a:r>
            <a:r>
              <a:rPr sz="1100" spc="-35" dirty="0">
                <a:latin typeface="Tahoma"/>
                <a:cs typeface="Tahoma"/>
              </a:rPr>
              <a:t>and</a:t>
            </a:r>
            <a:r>
              <a:rPr sz="1100" spc="-30" dirty="0">
                <a:latin typeface="Tahoma"/>
                <a:cs typeface="Tahoma"/>
              </a:rPr>
              <a:t> </a:t>
            </a:r>
            <a:r>
              <a:rPr sz="1100" spc="-50" dirty="0">
                <a:latin typeface="Tahoma"/>
                <a:cs typeface="Tahoma"/>
              </a:rPr>
              <a:t>. </a:t>
            </a:r>
            <a:r>
              <a:rPr sz="1100" spc="-30" dirty="0">
                <a:latin typeface="Tahoma"/>
                <a:cs typeface="Tahoma"/>
              </a:rPr>
              <a:t>restricted</a:t>
            </a:r>
            <a:r>
              <a:rPr sz="1100" spc="-60" dirty="0">
                <a:latin typeface="Tahoma"/>
                <a:cs typeface="Tahoma"/>
              </a:rPr>
              <a:t> </a:t>
            </a:r>
            <a:r>
              <a:rPr sz="1100" dirty="0">
                <a:latin typeface="Tahoma"/>
                <a:cs typeface="Tahoma"/>
              </a:rPr>
              <a:t>to</a:t>
            </a:r>
            <a:r>
              <a:rPr sz="1100" spc="-60" dirty="0">
                <a:latin typeface="Tahoma"/>
                <a:cs typeface="Tahoma"/>
              </a:rPr>
              <a:t> </a:t>
            </a:r>
            <a:r>
              <a:rPr sz="1100" dirty="0">
                <a:latin typeface="Lucida Sans Unicode"/>
                <a:cs typeface="Lucida Sans Unicode"/>
              </a:rPr>
              <a:t>U</a:t>
            </a:r>
            <a:r>
              <a:rPr sz="1100" spc="-30" dirty="0">
                <a:latin typeface="Lucida Sans Unicode"/>
                <a:cs typeface="Lucida Sans Unicode"/>
              </a:rPr>
              <a:t> </a:t>
            </a:r>
            <a:r>
              <a:rPr sz="1100" spc="-35" dirty="0">
                <a:latin typeface="Lucida Sans Unicode"/>
                <a:cs typeface="Lucida Sans Unicode"/>
              </a:rPr>
              <a:t>×</a:t>
            </a:r>
            <a:r>
              <a:rPr sz="1100" spc="-105" dirty="0">
                <a:latin typeface="Lucida Sans Unicode"/>
                <a:cs typeface="Lucida Sans Unicode"/>
              </a:rPr>
              <a:t> </a:t>
            </a:r>
            <a:r>
              <a:rPr sz="1100" dirty="0">
                <a:latin typeface="Lucida Sans Unicode"/>
                <a:cs typeface="Lucida Sans Unicode"/>
              </a:rPr>
              <a:t>U</a:t>
            </a:r>
            <a:r>
              <a:rPr sz="1100" spc="75" dirty="0">
                <a:latin typeface="Lucida Sans Unicode"/>
                <a:cs typeface="Lucida Sans Unicode"/>
              </a:rPr>
              <a:t> </a:t>
            </a:r>
            <a:r>
              <a:rPr sz="1100" spc="-35" dirty="0">
                <a:latin typeface="Tahoma"/>
                <a:cs typeface="Tahoma"/>
              </a:rPr>
              <a:t>and</a:t>
            </a:r>
            <a:r>
              <a:rPr sz="1100" spc="-20" dirty="0">
                <a:latin typeface="Tahoma"/>
                <a:cs typeface="Tahoma"/>
              </a:rPr>
              <a:t> </a:t>
            </a:r>
            <a:r>
              <a:rPr sz="1100" i="1" spc="-110" dirty="0">
                <a:latin typeface="Arial"/>
                <a:cs typeface="Arial"/>
              </a:rPr>
              <a:t>R</a:t>
            </a:r>
            <a:r>
              <a:rPr sz="1100" i="1" spc="25" dirty="0">
                <a:latin typeface="Arial"/>
                <a:cs typeface="Arial"/>
              </a:rPr>
              <a:t> </a:t>
            </a:r>
            <a:r>
              <a:rPr sz="1100" spc="-35" dirty="0">
                <a:latin typeface="Lucida Sans Unicode"/>
                <a:cs typeface="Lucida Sans Unicode"/>
              </a:rPr>
              <a:t>×</a:t>
            </a:r>
            <a:r>
              <a:rPr sz="1100" spc="-105" dirty="0">
                <a:latin typeface="Lucida Sans Unicode"/>
                <a:cs typeface="Lucida Sans Unicode"/>
              </a:rPr>
              <a:t> </a:t>
            </a:r>
            <a:r>
              <a:rPr sz="1100" spc="-25" dirty="0">
                <a:latin typeface="Lucida Sans Unicode"/>
                <a:cs typeface="Lucida Sans Unicode"/>
              </a:rPr>
              <a:t>U</a:t>
            </a:r>
            <a:r>
              <a:rPr sz="1100" spc="-25" dirty="0">
                <a:latin typeface="Tahoma"/>
                <a:cs typeface="Tahoma"/>
              </a:rPr>
              <a:t>.</a:t>
            </a:r>
            <a:endParaRPr sz="1100" dirty="0">
              <a:latin typeface="Tahoma"/>
              <a:cs typeface="Tahoma"/>
            </a:endParaRPr>
          </a:p>
          <a:p>
            <a:pPr marL="214629" marR="302260" indent="-177165">
              <a:lnSpc>
                <a:spcPct val="102600"/>
              </a:lnSpc>
              <a:spcBef>
                <a:spcPts val="300"/>
              </a:spcBef>
              <a:buClr>
                <a:srgbClr val="3333B2"/>
              </a:buClr>
              <a:buFont typeface="Lucida Sans Unicode"/>
              <a:buChar char="►"/>
              <a:tabLst>
                <a:tab pos="214629" algn="l"/>
              </a:tabLst>
            </a:pPr>
            <a:r>
              <a:rPr sz="1100" dirty="0">
                <a:latin typeface="Tahoma"/>
                <a:cs typeface="Tahoma"/>
              </a:rPr>
              <a:t>We</a:t>
            </a:r>
            <a:r>
              <a:rPr sz="1100" spc="-30" dirty="0">
                <a:latin typeface="Tahoma"/>
                <a:cs typeface="Tahoma"/>
              </a:rPr>
              <a:t> </a:t>
            </a:r>
            <a:r>
              <a:rPr sz="1100" spc="-65" dirty="0">
                <a:latin typeface="Tahoma"/>
                <a:cs typeface="Tahoma"/>
              </a:rPr>
              <a:t>use</a:t>
            </a:r>
            <a:r>
              <a:rPr sz="1100" spc="-25" dirty="0">
                <a:latin typeface="Tahoma"/>
                <a:cs typeface="Tahoma"/>
              </a:rPr>
              <a:t> </a:t>
            </a:r>
            <a:r>
              <a:rPr sz="1100" spc="-10" dirty="0">
                <a:latin typeface="Tahoma"/>
                <a:cs typeface="Tahoma"/>
              </a:rPr>
              <a:t>the</a:t>
            </a:r>
            <a:r>
              <a:rPr sz="1100" spc="-25" dirty="0">
                <a:latin typeface="Tahoma"/>
                <a:cs typeface="Tahoma"/>
              </a:rPr>
              <a:t> </a:t>
            </a:r>
            <a:r>
              <a:rPr sz="1100" spc="-20" dirty="0">
                <a:latin typeface="Tahoma"/>
                <a:cs typeface="Tahoma"/>
              </a:rPr>
              <a:t>notation</a:t>
            </a:r>
            <a:r>
              <a:rPr sz="1100" spc="-30" dirty="0">
                <a:latin typeface="Tahoma"/>
                <a:cs typeface="Tahoma"/>
              </a:rPr>
              <a:t> </a:t>
            </a:r>
            <a:r>
              <a:rPr sz="1100" i="1" dirty="0">
                <a:latin typeface="Arial"/>
                <a:cs typeface="Arial"/>
              </a:rPr>
              <a:t>U</a:t>
            </a:r>
            <a:r>
              <a:rPr sz="1100" i="1" spc="40" dirty="0">
                <a:latin typeface="Arial"/>
                <a:cs typeface="Arial"/>
              </a:rPr>
              <a:t> </a:t>
            </a:r>
            <a:r>
              <a:rPr sz="1100" dirty="0">
                <a:latin typeface="Lucida Sans Unicode"/>
                <a:cs typeface="Lucida Sans Unicode"/>
              </a:rPr>
              <a:t>⊆</a:t>
            </a:r>
            <a:r>
              <a:rPr sz="1100" spc="-85" dirty="0">
                <a:latin typeface="Lucida Sans Unicode"/>
                <a:cs typeface="Lucida Sans Unicode"/>
              </a:rPr>
              <a:t> </a:t>
            </a:r>
            <a:r>
              <a:rPr sz="1100" i="1" dirty="0">
                <a:latin typeface="Arial"/>
                <a:cs typeface="Arial"/>
              </a:rPr>
              <a:t>V</a:t>
            </a:r>
            <a:r>
              <a:rPr sz="1100" i="1" spc="160" dirty="0">
                <a:latin typeface="Arial"/>
                <a:cs typeface="Arial"/>
              </a:rPr>
              <a:t> </a:t>
            </a:r>
            <a:r>
              <a:rPr sz="1100" dirty="0">
                <a:latin typeface="Tahoma"/>
                <a:cs typeface="Tahoma"/>
              </a:rPr>
              <a:t>to</a:t>
            </a:r>
            <a:r>
              <a:rPr sz="1100" spc="-30" dirty="0">
                <a:latin typeface="Tahoma"/>
                <a:cs typeface="Tahoma"/>
              </a:rPr>
              <a:t> </a:t>
            </a:r>
            <a:r>
              <a:rPr sz="1100" spc="-55" dirty="0">
                <a:latin typeface="Tahoma"/>
                <a:cs typeface="Tahoma"/>
              </a:rPr>
              <a:t>denote</a:t>
            </a:r>
            <a:r>
              <a:rPr sz="1100" spc="-25" dirty="0">
                <a:latin typeface="Tahoma"/>
                <a:cs typeface="Tahoma"/>
              </a:rPr>
              <a:t> </a:t>
            </a:r>
            <a:r>
              <a:rPr sz="1100" dirty="0">
                <a:latin typeface="Tahoma"/>
                <a:cs typeface="Tahoma"/>
              </a:rPr>
              <a:t>that</a:t>
            </a:r>
            <a:r>
              <a:rPr sz="1100" spc="-25" dirty="0">
                <a:latin typeface="Tahoma"/>
                <a:cs typeface="Tahoma"/>
              </a:rPr>
              <a:t> </a:t>
            </a:r>
            <a:r>
              <a:rPr sz="1100" i="1" dirty="0">
                <a:latin typeface="Arial"/>
                <a:cs typeface="Arial"/>
              </a:rPr>
              <a:t>U</a:t>
            </a:r>
            <a:r>
              <a:rPr sz="1100" i="1" spc="90" dirty="0">
                <a:latin typeface="Arial"/>
                <a:cs typeface="Arial"/>
              </a:rPr>
              <a:t> </a:t>
            </a:r>
            <a:r>
              <a:rPr sz="1100" dirty="0">
                <a:latin typeface="Tahoma"/>
                <a:cs typeface="Tahoma"/>
              </a:rPr>
              <a:t>is</a:t>
            </a:r>
            <a:r>
              <a:rPr sz="1100" spc="-30" dirty="0">
                <a:latin typeface="Tahoma"/>
                <a:cs typeface="Tahoma"/>
              </a:rPr>
              <a:t> </a:t>
            </a:r>
            <a:r>
              <a:rPr sz="1100" dirty="0">
                <a:latin typeface="Tahoma"/>
                <a:cs typeface="Tahoma"/>
              </a:rPr>
              <a:t>a</a:t>
            </a:r>
            <a:r>
              <a:rPr sz="1100" spc="-25" dirty="0">
                <a:latin typeface="Tahoma"/>
                <a:cs typeface="Tahoma"/>
              </a:rPr>
              <a:t> </a:t>
            </a:r>
            <a:r>
              <a:rPr sz="1100" spc="-35" dirty="0">
                <a:latin typeface="Tahoma"/>
                <a:cs typeface="Tahoma"/>
              </a:rPr>
              <a:t>vector </a:t>
            </a:r>
            <a:r>
              <a:rPr sz="1100" spc="-55" dirty="0">
                <a:latin typeface="Tahoma"/>
                <a:cs typeface="Tahoma"/>
              </a:rPr>
              <a:t>subspace</a:t>
            </a:r>
            <a:r>
              <a:rPr sz="1100" spc="-35" dirty="0">
                <a:latin typeface="Tahoma"/>
                <a:cs typeface="Tahoma"/>
              </a:rPr>
              <a:t> </a:t>
            </a:r>
            <a:r>
              <a:rPr sz="1100" dirty="0">
                <a:latin typeface="Tahoma"/>
                <a:cs typeface="Tahoma"/>
              </a:rPr>
              <a:t>of</a:t>
            </a:r>
            <a:r>
              <a:rPr sz="1100" spc="-50" dirty="0">
                <a:latin typeface="Tahoma"/>
                <a:cs typeface="Tahoma"/>
              </a:rPr>
              <a:t> </a:t>
            </a:r>
            <a:r>
              <a:rPr sz="1100" i="1" spc="-20" dirty="0">
                <a:latin typeface="Arial"/>
                <a:cs typeface="Arial"/>
              </a:rPr>
              <a:t>V</a:t>
            </a:r>
            <a:r>
              <a:rPr sz="1100" i="1" spc="-130" dirty="0">
                <a:latin typeface="Arial"/>
                <a:cs typeface="Arial"/>
              </a:rPr>
              <a:t> </a:t>
            </a:r>
            <a:r>
              <a:rPr sz="1100" spc="-50" dirty="0">
                <a:latin typeface="Tahoma"/>
                <a:cs typeface="Tahoma"/>
              </a:rPr>
              <a:t>.</a:t>
            </a:r>
            <a:endParaRPr sz="1100" dirty="0">
              <a:latin typeface="Tahoma"/>
              <a:cs typeface="Tahoma"/>
            </a:endParaRPr>
          </a:p>
          <a:p>
            <a:pPr marL="214629" marR="147320" indent="-177165">
              <a:lnSpc>
                <a:spcPct val="102699"/>
              </a:lnSpc>
              <a:spcBef>
                <a:spcPts val="300"/>
              </a:spcBef>
              <a:buClr>
                <a:srgbClr val="3333B2"/>
              </a:buClr>
              <a:buFont typeface="Lucida Sans Unicode"/>
              <a:buChar char="►"/>
              <a:tabLst>
                <a:tab pos="214629" algn="l"/>
              </a:tabLst>
            </a:pPr>
            <a:r>
              <a:rPr sz="1100" spc="-30" dirty="0">
                <a:latin typeface="Tahoma"/>
                <a:cs typeface="Tahoma"/>
              </a:rPr>
              <a:t>If</a:t>
            </a:r>
            <a:r>
              <a:rPr sz="1100" spc="-25" dirty="0">
                <a:latin typeface="Tahoma"/>
                <a:cs typeface="Tahoma"/>
              </a:rPr>
              <a:t> </a:t>
            </a:r>
            <a:r>
              <a:rPr sz="1100" i="1" dirty="0">
                <a:latin typeface="Arial"/>
                <a:cs typeface="Arial"/>
              </a:rPr>
              <a:t>U</a:t>
            </a:r>
            <a:r>
              <a:rPr sz="1100" i="1" spc="40" dirty="0">
                <a:latin typeface="Arial"/>
                <a:cs typeface="Arial"/>
              </a:rPr>
              <a:t> </a:t>
            </a:r>
            <a:r>
              <a:rPr sz="1100" dirty="0">
                <a:latin typeface="Lucida Sans Unicode"/>
                <a:cs typeface="Lucida Sans Unicode"/>
              </a:rPr>
              <a:t>⊆</a:t>
            </a:r>
            <a:r>
              <a:rPr sz="1100" spc="-80" dirty="0">
                <a:latin typeface="Lucida Sans Unicode"/>
                <a:cs typeface="Lucida Sans Unicode"/>
              </a:rPr>
              <a:t> </a:t>
            </a:r>
            <a:r>
              <a:rPr sz="1100" i="1" dirty="0">
                <a:latin typeface="Arial"/>
                <a:cs typeface="Arial"/>
              </a:rPr>
              <a:t>V</a:t>
            </a:r>
            <a:r>
              <a:rPr sz="1100" i="1" spc="165" dirty="0">
                <a:latin typeface="Arial"/>
                <a:cs typeface="Arial"/>
              </a:rPr>
              <a:t> </a:t>
            </a:r>
            <a:r>
              <a:rPr sz="1100" spc="-35" dirty="0">
                <a:latin typeface="Tahoma"/>
                <a:cs typeface="Tahoma"/>
              </a:rPr>
              <a:t>and</a:t>
            </a:r>
            <a:r>
              <a:rPr sz="1100" spc="-25" dirty="0">
                <a:latin typeface="Tahoma"/>
                <a:cs typeface="Tahoma"/>
              </a:rPr>
              <a:t> </a:t>
            </a:r>
            <a:r>
              <a:rPr sz="1100" i="1" dirty="0">
                <a:latin typeface="Arial"/>
                <a:cs typeface="Arial"/>
              </a:rPr>
              <a:t>V</a:t>
            </a:r>
            <a:r>
              <a:rPr sz="1100" i="1" spc="165" dirty="0">
                <a:latin typeface="Arial"/>
                <a:cs typeface="Arial"/>
              </a:rPr>
              <a:t> </a:t>
            </a:r>
            <a:r>
              <a:rPr sz="1100" dirty="0">
                <a:latin typeface="Tahoma"/>
                <a:cs typeface="Tahoma"/>
              </a:rPr>
              <a:t>is</a:t>
            </a:r>
            <a:r>
              <a:rPr sz="1100" spc="-25" dirty="0">
                <a:latin typeface="Tahoma"/>
                <a:cs typeface="Tahoma"/>
              </a:rPr>
              <a:t> </a:t>
            </a:r>
            <a:r>
              <a:rPr sz="1100" dirty="0">
                <a:latin typeface="Tahoma"/>
                <a:cs typeface="Tahoma"/>
              </a:rPr>
              <a:t>a</a:t>
            </a:r>
            <a:r>
              <a:rPr sz="1100" spc="-25" dirty="0">
                <a:latin typeface="Tahoma"/>
                <a:cs typeface="Tahoma"/>
              </a:rPr>
              <a:t> </a:t>
            </a:r>
            <a:r>
              <a:rPr sz="1100" spc="-35" dirty="0">
                <a:latin typeface="Tahoma"/>
                <a:cs typeface="Tahoma"/>
              </a:rPr>
              <a:t>vector</a:t>
            </a:r>
            <a:r>
              <a:rPr sz="1100" spc="-20" dirty="0">
                <a:latin typeface="Tahoma"/>
                <a:cs typeface="Tahoma"/>
              </a:rPr>
              <a:t> </a:t>
            </a:r>
            <a:r>
              <a:rPr sz="1100" spc="-55" dirty="0">
                <a:latin typeface="Tahoma"/>
                <a:cs typeface="Tahoma"/>
              </a:rPr>
              <a:t>space,</a:t>
            </a:r>
            <a:r>
              <a:rPr sz="1100" spc="-25" dirty="0">
                <a:latin typeface="Tahoma"/>
                <a:cs typeface="Tahoma"/>
              </a:rPr>
              <a:t> then </a:t>
            </a:r>
            <a:r>
              <a:rPr sz="1100" i="1" dirty="0">
                <a:latin typeface="Arial"/>
                <a:cs typeface="Arial"/>
              </a:rPr>
              <a:t>U</a:t>
            </a:r>
            <a:r>
              <a:rPr sz="1100" i="1" spc="90" dirty="0">
                <a:latin typeface="Arial"/>
                <a:cs typeface="Arial"/>
              </a:rPr>
              <a:t> </a:t>
            </a:r>
            <a:r>
              <a:rPr sz="1100" spc="-25" dirty="0">
                <a:latin typeface="Tahoma"/>
                <a:cs typeface="Tahoma"/>
              </a:rPr>
              <a:t>naturally </a:t>
            </a:r>
            <a:r>
              <a:rPr sz="1100" spc="-20" dirty="0">
                <a:latin typeface="Tahoma"/>
                <a:cs typeface="Tahoma"/>
              </a:rPr>
              <a:t>inherits </a:t>
            </a:r>
            <a:r>
              <a:rPr sz="1100" spc="-45" dirty="0">
                <a:latin typeface="Tahoma"/>
                <a:cs typeface="Tahoma"/>
              </a:rPr>
              <a:t>many</a:t>
            </a:r>
            <a:r>
              <a:rPr sz="1100" spc="-35" dirty="0">
                <a:latin typeface="Tahoma"/>
                <a:cs typeface="Tahoma"/>
              </a:rPr>
              <a:t> </a:t>
            </a:r>
            <a:r>
              <a:rPr sz="1100" spc="-40" dirty="0">
                <a:latin typeface="Tahoma"/>
                <a:cs typeface="Tahoma"/>
              </a:rPr>
              <a:t>properties</a:t>
            </a:r>
            <a:r>
              <a:rPr sz="1100" spc="-30" dirty="0">
                <a:latin typeface="Tahoma"/>
                <a:cs typeface="Tahoma"/>
              </a:rPr>
              <a:t> </a:t>
            </a:r>
            <a:r>
              <a:rPr sz="1100" spc="-20" dirty="0">
                <a:latin typeface="Tahoma"/>
                <a:cs typeface="Tahoma"/>
              </a:rPr>
              <a:t>directly</a:t>
            </a:r>
            <a:r>
              <a:rPr sz="1100" spc="-30" dirty="0">
                <a:latin typeface="Tahoma"/>
                <a:cs typeface="Tahoma"/>
              </a:rPr>
              <a:t> </a:t>
            </a:r>
            <a:r>
              <a:rPr sz="1100" spc="-20" dirty="0">
                <a:latin typeface="Tahoma"/>
                <a:cs typeface="Tahoma"/>
              </a:rPr>
              <a:t>from</a:t>
            </a:r>
            <a:r>
              <a:rPr sz="1100" spc="-25" dirty="0">
                <a:latin typeface="Tahoma"/>
                <a:cs typeface="Tahoma"/>
              </a:rPr>
              <a:t> </a:t>
            </a:r>
            <a:r>
              <a:rPr sz="1100" i="1" dirty="0">
                <a:latin typeface="Arial"/>
                <a:cs typeface="Arial"/>
              </a:rPr>
              <a:t>V</a:t>
            </a:r>
            <a:r>
              <a:rPr sz="1100" i="1" spc="155" dirty="0">
                <a:latin typeface="Arial"/>
                <a:cs typeface="Arial"/>
              </a:rPr>
              <a:t> </a:t>
            </a:r>
            <a:r>
              <a:rPr sz="1100" spc="-55" dirty="0">
                <a:latin typeface="Tahoma"/>
                <a:cs typeface="Tahoma"/>
              </a:rPr>
              <a:t>because</a:t>
            </a:r>
            <a:r>
              <a:rPr sz="1100" spc="-25" dirty="0">
                <a:latin typeface="Tahoma"/>
                <a:cs typeface="Tahoma"/>
              </a:rPr>
              <a:t> they</a:t>
            </a:r>
            <a:r>
              <a:rPr sz="1100" spc="-30" dirty="0">
                <a:latin typeface="Tahoma"/>
                <a:cs typeface="Tahoma"/>
              </a:rPr>
              <a:t> </a:t>
            </a:r>
            <a:r>
              <a:rPr sz="1100" spc="-20" dirty="0">
                <a:latin typeface="Tahoma"/>
                <a:cs typeface="Tahoma"/>
              </a:rPr>
              <a:t>hold</a:t>
            </a:r>
            <a:r>
              <a:rPr sz="1100" spc="-30" dirty="0">
                <a:latin typeface="Tahoma"/>
                <a:cs typeface="Tahoma"/>
              </a:rPr>
              <a:t> </a:t>
            </a:r>
            <a:r>
              <a:rPr sz="1100" spc="-20" dirty="0">
                <a:latin typeface="Tahoma"/>
                <a:cs typeface="Tahoma"/>
              </a:rPr>
              <a:t>for</a:t>
            </a:r>
            <a:r>
              <a:rPr sz="1100" spc="-25" dirty="0">
                <a:latin typeface="Tahoma"/>
                <a:cs typeface="Tahoma"/>
              </a:rPr>
              <a:t> </a:t>
            </a:r>
            <a:r>
              <a:rPr sz="1100" dirty="0">
                <a:latin typeface="Tahoma"/>
                <a:cs typeface="Tahoma"/>
              </a:rPr>
              <a:t>all</a:t>
            </a:r>
            <a:r>
              <a:rPr sz="1100" spc="-30" dirty="0">
                <a:latin typeface="Tahoma"/>
                <a:cs typeface="Tahoma"/>
              </a:rPr>
              <a:t> </a:t>
            </a:r>
            <a:r>
              <a:rPr sz="1100" b="1" spc="-50" dirty="0">
                <a:latin typeface="Trebuchet MS"/>
                <a:cs typeface="Trebuchet MS"/>
              </a:rPr>
              <a:t>x</a:t>
            </a:r>
            <a:endParaRPr sz="1100" dirty="0">
              <a:latin typeface="Trebuchet MS"/>
              <a:cs typeface="Trebuchet MS"/>
            </a:endParaRPr>
          </a:p>
          <a:p>
            <a:pPr marL="214629" marR="30480">
              <a:lnSpc>
                <a:spcPct val="102600"/>
              </a:lnSpc>
            </a:pPr>
            <a:r>
              <a:rPr sz="1100" spc="-155" dirty="0">
                <a:latin typeface="Lucida Sans Unicode"/>
                <a:cs typeface="Lucida Sans Unicode"/>
              </a:rPr>
              <a:t>∈</a:t>
            </a:r>
            <a:r>
              <a:rPr sz="1100" spc="-45" dirty="0">
                <a:latin typeface="Lucida Sans Unicode"/>
                <a:cs typeface="Lucida Sans Unicode"/>
              </a:rPr>
              <a:t> </a:t>
            </a:r>
            <a:r>
              <a:rPr sz="1100" i="1" spc="-20" dirty="0">
                <a:latin typeface="Arial"/>
                <a:cs typeface="Arial"/>
              </a:rPr>
              <a:t>V</a:t>
            </a:r>
            <a:r>
              <a:rPr sz="1100" i="1" spc="-130" dirty="0">
                <a:latin typeface="Arial"/>
                <a:cs typeface="Arial"/>
              </a:rPr>
              <a:t> </a:t>
            </a:r>
            <a:r>
              <a:rPr sz="1100" dirty="0">
                <a:latin typeface="Tahoma"/>
                <a:cs typeface="Tahoma"/>
              </a:rPr>
              <a:t>,</a:t>
            </a:r>
            <a:r>
              <a:rPr sz="1100" spc="-90" dirty="0">
                <a:latin typeface="Tahoma"/>
                <a:cs typeface="Tahoma"/>
              </a:rPr>
              <a:t> </a:t>
            </a:r>
            <a:r>
              <a:rPr sz="1100" spc="-35" dirty="0">
                <a:latin typeface="Tahoma"/>
                <a:cs typeface="Tahoma"/>
              </a:rPr>
              <a:t>and</a:t>
            </a:r>
            <a:r>
              <a:rPr sz="1100" spc="-40" dirty="0">
                <a:latin typeface="Tahoma"/>
                <a:cs typeface="Tahoma"/>
              </a:rPr>
              <a:t> </a:t>
            </a:r>
            <a:r>
              <a:rPr sz="1100" dirty="0">
                <a:latin typeface="Tahoma"/>
                <a:cs typeface="Tahoma"/>
              </a:rPr>
              <a:t>in</a:t>
            </a:r>
            <a:r>
              <a:rPr sz="1100" spc="-20" dirty="0">
                <a:latin typeface="Tahoma"/>
                <a:cs typeface="Tahoma"/>
              </a:rPr>
              <a:t> </a:t>
            </a:r>
            <a:r>
              <a:rPr sz="1100" spc="-30" dirty="0">
                <a:latin typeface="Tahoma"/>
                <a:cs typeface="Tahoma"/>
              </a:rPr>
              <a:t>particular</a:t>
            </a:r>
            <a:r>
              <a:rPr sz="1100" spc="-15" dirty="0">
                <a:latin typeface="Tahoma"/>
                <a:cs typeface="Tahoma"/>
              </a:rPr>
              <a:t> </a:t>
            </a:r>
            <a:r>
              <a:rPr sz="1100" spc="-20" dirty="0">
                <a:latin typeface="Tahoma"/>
                <a:cs typeface="Tahoma"/>
              </a:rPr>
              <a:t>for</a:t>
            </a:r>
            <a:r>
              <a:rPr sz="1100" spc="-15" dirty="0">
                <a:latin typeface="Tahoma"/>
                <a:cs typeface="Tahoma"/>
              </a:rPr>
              <a:t> </a:t>
            </a:r>
            <a:r>
              <a:rPr sz="1100" dirty="0">
                <a:latin typeface="Tahoma"/>
                <a:cs typeface="Tahoma"/>
              </a:rPr>
              <a:t>all</a:t>
            </a:r>
            <a:r>
              <a:rPr sz="1100" spc="-20" dirty="0">
                <a:latin typeface="Tahoma"/>
                <a:cs typeface="Tahoma"/>
              </a:rPr>
              <a:t> </a:t>
            </a:r>
            <a:r>
              <a:rPr sz="1100" b="1" dirty="0">
                <a:latin typeface="Trebuchet MS"/>
                <a:cs typeface="Trebuchet MS"/>
              </a:rPr>
              <a:t>x</a:t>
            </a:r>
            <a:r>
              <a:rPr sz="1100" b="1" spc="-5" dirty="0">
                <a:latin typeface="Trebuchet MS"/>
                <a:cs typeface="Trebuchet MS"/>
              </a:rPr>
              <a:t> </a:t>
            </a:r>
            <a:r>
              <a:rPr sz="1100" spc="-155" dirty="0">
                <a:latin typeface="Lucida Sans Unicode"/>
                <a:cs typeface="Lucida Sans Unicode"/>
              </a:rPr>
              <a:t>∈</a:t>
            </a:r>
            <a:r>
              <a:rPr sz="1100" spc="-45" dirty="0">
                <a:latin typeface="Lucida Sans Unicode"/>
                <a:cs typeface="Lucida Sans Unicode"/>
              </a:rPr>
              <a:t> </a:t>
            </a:r>
            <a:r>
              <a:rPr sz="1100" i="1" dirty="0">
                <a:latin typeface="Arial"/>
                <a:cs typeface="Arial"/>
              </a:rPr>
              <a:t>U</a:t>
            </a:r>
            <a:r>
              <a:rPr sz="1100" i="1" spc="45" dirty="0">
                <a:latin typeface="Arial"/>
                <a:cs typeface="Arial"/>
              </a:rPr>
              <a:t> </a:t>
            </a:r>
            <a:r>
              <a:rPr sz="1100" dirty="0">
                <a:latin typeface="Lucida Sans Unicode"/>
                <a:cs typeface="Lucida Sans Unicode"/>
              </a:rPr>
              <a:t>⊆</a:t>
            </a:r>
            <a:r>
              <a:rPr sz="1100" spc="-75" dirty="0">
                <a:latin typeface="Lucida Sans Unicode"/>
                <a:cs typeface="Lucida Sans Unicode"/>
              </a:rPr>
              <a:t> </a:t>
            </a:r>
            <a:r>
              <a:rPr sz="1100" i="1" spc="-20" dirty="0">
                <a:latin typeface="Arial"/>
                <a:cs typeface="Arial"/>
              </a:rPr>
              <a:t>V</a:t>
            </a:r>
            <a:r>
              <a:rPr sz="1100" i="1" spc="-130" dirty="0">
                <a:latin typeface="Arial"/>
                <a:cs typeface="Arial"/>
              </a:rPr>
              <a:t> </a:t>
            </a:r>
            <a:r>
              <a:rPr sz="1100" dirty="0">
                <a:latin typeface="Tahoma"/>
                <a:cs typeface="Tahoma"/>
              </a:rPr>
              <a:t>.</a:t>
            </a:r>
            <a:r>
              <a:rPr sz="1100" spc="95" dirty="0">
                <a:latin typeface="Tahoma"/>
                <a:cs typeface="Tahoma"/>
              </a:rPr>
              <a:t> </a:t>
            </a:r>
            <a:r>
              <a:rPr sz="1100" spc="-25" dirty="0">
                <a:latin typeface="Tahoma"/>
                <a:cs typeface="Tahoma"/>
              </a:rPr>
              <a:t>These</a:t>
            </a:r>
            <a:r>
              <a:rPr sz="1100" spc="-20" dirty="0">
                <a:latin typeface="Tahoma"/>
                <a:cs typeface="Tahoma"/>
              </a:rPr>
              <a:t> </a:t>
            </a:r>
            <a:r>
              <a:rPr sz="1100" spc="-10" dirty="0">
                <a:latin typeface="Tahoma"/>
                <a:cs typeface="Tahoma"/>
              </a:rPr>
              <a:t>properties </a:t>
            </a:r>
            <a:r>
              <a:rPr sz="1100" spc="-30" dirty="0">
                <a:latin typeface="Tahoma"/>
                <a:cs typeface="Tahoma"/>
              </a:rPr>
              <a:t>include</a:t>
            </a:r>
            <a:r>
              <a:rPr sz="1100" spc="-25" dirty="0">
                <a:latin typeface="Tahoma"/>
                <a:cs typeface="Tahoma"/>
              </a:rPr>
              <a:t> </a:t>
            </a:r>
            <a:r>
              <a:rPr sz="1100" spc="-10" dirty="0">
                <a:latin typeface="Tahoma"/>
                <a:cs typeface="Tahoma"/>
              </a:rPr>
              <a:t>the</a:t>
            </a:r>
            <a:r>
              <a:rPr sz="1100" spc="-20" dirty="0">
                <a:latin typeface="Tahoma"/>
                <a:cs typeface="Tahoma"/>
              </a:rPr>
              <a:t> </a:t>
            </a:r>
            <a:r>
              <a:rPr sz="1100" spc="-10" dirty="0">
                <a:latin typeface="Tahoma"/>
                <a:cs typeface="Tahoma"/>
              </a:rPr>
              <a:t>Abelian</a:t>
            </a:r>
            <a:r>
              <a:rPr sz="1100" spc="-20" dirty="0">
                <a:latin typeface="Tahoma"/>
                <a:cs typeface="Tahoma"/>
              </a:rPr>
              <a:t> </a:t>
            </a:r>
            <a:r>
              <a:rPr sz="1100" spc="-45" dirty="0">
                <a:latin typeface="Tahoma"/>
                <a:cs typeface="Tahoma"/>
              </a:rPr>
              <a:t>group</a:t>
            </a:r>
            <a:r>
              <a:rPr sz="1100" spc="-20" dirty="0">
                <a:latin typeface="Tahoma"/>
                <a:cs typeface="Tahoma"/>
              </a:rPr>
              <a:t> </a:t>
            </a:r>
            <a:r>
              <a:rPr sz="1100" spc="-60" dirty="0">
                <a:latin typeface="Tahoma"/>
                <a:cs typeface="Tahoma"/>
              </a:rPr>
              <a:t>property,</a:t>
            </a:r>
            <a:r>
              <a:rPr sz="1100" spc="-20" dirty="0">
                <a:latin typeface="Tahoma"/>
                <a:cs typeface="Tahoma"/>
              </a:rPr>
              <a:t> </a:t>
            </a:r>
            <a:r>
              <a:rPr sz="1100" spc="-35" dirty="0">
                <a:latin typeface="Tahoma"/>
                <a:cs typeface="Tahoma"/>
              </a:rPr>
              <a:t>associativity,</a:t>
            </a:r>
            <a:r>
              <a:rPr sz="1100" spc="-20" dirty="0">
                <a:latin typeface="Tahoma"/>
                <a:cs typeface="Tahoma"/>
              </a:rPr>
              <a:t> </a:t>
            </a:r>
            <a:r>
              <a:rPr sz="1100" spc="-10" dirty="0">
                <a:latin typeface="Tahoma"/>
                <a:cs typeface="Tahoma"/>
              </a:rPr>
              <a:t>distributivity </a:t>
            </a:r>
            <a:r>
              <a:rPr sz="1100" spc="-35" dirty="0">
                <a:latin typeface="Tahoma"/>
                <a:cs typeface="Tahoma"/>
              </a:rPr>
              <a:t>and</a:t>
            </a:r>
            <a:r>
              <a:rPr sz="1100" spc="-45" dirty="0">
                <a:latin typeface="Tahoma"/>
                <a:cs typeface="Tahoma"/>
              </a:rPr>
              <a:t> </a:t>
            </a:r>
            <a:r>
              <a:rPr sz="1100" spc="-10" dirty="0">
                <a:latin typeface="Tahoma"/>
                <a:cs typeface="Tahoma"/>
              </a:rPr>
              <a:t>the</a:t>
            </a:r>
            <a:r>
              <a:rPr sz="1100" spc="-45" dirty="0">
                <a:latin typeface="Tahoma"/>
                <a:cs typeface="Tahoma"/>
              </a:rPr>
              <a:t> </a:t>
            </a:r>
            <a:r>
              <a:rPr sz="1100" spc="-30" dirty="0">
                <a:latin typeface="Tahoma"/>
                <a:cs typeface="Tahoma"/>
              </a:rPr>
              <a:t>neutral</a:t>
            </a:r>
            <a:r>
              <a:rPr sz="1100" spc="-40" dirty="0">
                <a:latin typeface="Tahoma"/>
                <a:cs typeface="Tahoma"/>
              </a:rPr>
              <a:t> </a:t>
            </a:r>
            <a:r>
              <a:rPr sz="1100" spc="-10" dirty="0">
                <a:latin typeface="Tahoma"/>
                <a:cs typeface="Tahoma"/>
              </a:rPr>
              <a:t>element.</a:t>
            </a:r>
            <a:endParaRPr sz="1100" dirty="0">
              <a:latin typeface="Tahoma"/>
              <a:cs typeface="Tahoma"/>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30" dirty="0"/>
              <a:t>Establishing</a:t>
            </a:r>
            <a:r>
              <a:rPr spc="-55" dirty="0"/>
              <a:t> </a:t>
            </a:r>
            <a:r>
              <a:rPr spc="-35" dirty="0"/>
              <a:t>vector</a:t>
            </a:r>
            <a:r>
              <a:rPr spc="-55" dirty="0"/>
              <a:t> </a:t>
            </a:r>
            <a:r>
              <a:rPr spc="-60" dirty="0"/>
              <a:t>subspaces</a:t>
            </a:r>
          </a:p>
        </p:txBody>
      </p:sp>
      <p:sp>
        <p:nvSpPr>
          <p:cNvPr id="3" name="object 3"/>
          <p:cNvSpPr txBox="1"/>
          <p:nvPr/>
        </p:nvSpPr>
        <p:spPr>
          <a:xfrm>
            <a:off x="247650" y="892175"/>
            <a:ext cx="3851910" cy="1448345"/>
          </a:xfrm>
          <a:prstGeom prst="rect">
            <a:avLst/>
          </a:prstGeom>
        </p:spPr>
        <p:txBody>
          <a:bodyPr vert="horz" wrap="square" lIns="0" tIns="6985" rIns="0" bIns="0" rtlCol="0">
            <a:spAutoFit/>
          </a:bodyPr>
          <a:lstStyle/>
          <a:p>
            <a:pPr marL="38100" marR="1111885">
              <a:lnSpc>
                <a:spcPct val="102600"/>
              </a:lnSpc>
              <a:spcBef>
                <a:spcPts val="55"/>
              </a:spcBef>
            </a:pPr>
            <a:r>
              <a:rPr sz="1100" spc="-20" dirty="0">
                <a:latin typeface="Tahoma"/>
                <a:cs typeface="Tahoma"/>
              </a:rPr>
              <a:t>How</a:t>
            </a:r>
            <a:r>
              <a:rPr sz="1100" spc="-70" dirty="0">
                <a:latin typeface="Tahoma"/>
                <a:cs typeface="Tahoma"/>
              </a:rPr>
              <a:t> </a:t>
            </a:r>
            <a:r>
              <a:rPr sz="1100" spc="-10" dirty="0">
                <a:latin typeface="Tahoma"/>
                <a:cs typeface="Tahoma"/>
              </a:rPr>
              <a:t>do </a:t>
            </a:r>
            <a:r>
              <a:rPr sz="1100" spc="-95" dirty="0">
                <a:latin typeface="Tahoma"/>
                <a:cs typeface="Tahoma"/>
              </a:rPr>
              <a:t>we</a:t>
            </a:r>
            <a:r>
              <a:rPr sz="1100" spc="5" dirty="0">
                <a:latin typeface="Tahoma"/>
                <a:cs typeface="Tahoma"/>
              </a:rPr>
              <a:t> </a:t>
            </a:r>
            <a:r>
              <a:rPr sz="1100" spc="-65" dirty="0">
                <a:latin typeface="Tahoma"/>
                <a:cs typeface="Tahoma"/>
              </a:rPr>
              <a:t>show</a:t>
            </a:r>
            <a:r>
              <a:rPr sz="1100" spc="-10" dirty="0">
                <a:latin typeface="Tahoma"/>
                <a:cs typeface="Tahoma"/>
              </a:rPr>
              <a:t> </a:t>
            </a:r>
            <a:r>
              <a:rPr sz="1100" dirty="0">
                <a:latin typeface="Tahoma"/>
                <a:cs typeface="Tahoma"/>
              </a:rPr>
              <a:t>if</a:t>
            </a:r>
            <a:r>
              <a:rPr sz="1100" spc="-10" dirty="0">
                <a:latin typeface="Tahoma"/>
                <a:cs typeface="Tahoma"/>
              </a:rPr>
              <a:t> </a:t>
            </a:r>
            <a:r>
              <a:rPr sz="1100" spc="-50" dirty="0">
                <a:latin typeface="Tahoma"/>
                <a:cs typeface="Tahoma"/>
              </a:rPr>
              <a:t>(</a:t>
            </a:r>
            <a:r>
              <a:rPr sz="1100" spc="-50" dirty="0">
                <a:latin typeface="Lucida Sans Unicode"/>
                <a:cs typeface="Lucida Sans Unicode"/>
              </a:rPr>
              <a:t>U</a:t>
            </a:r>
            <a:r>
              <a:rPr sz="1100" spc="-240" dirty="0">
                <a:latin typeface="Lucida Sans Unicode"/>
                <a:cs typeface="Lucida Sans Unicode"/>
              </a:rPr>
              <a:t> </a:t>
            </a:r>
            <a:r>
              <a:rPr sz="1100" i="1" dirty="0">
                <a:latin typeface="Calibri"/>
                <a:cs typeface="Calibri"/>
              </a:rPr>
              <a:t>,</a:t>
            </a:r>
            <a:r>
              <a:rPr sz="1100" i="1" spc="-70" dirty="0">
                <a:latin typeface="Calibri"/>
                <a:cs typeface="Calibri"/>
              </a:rPr>
              <a:t> </a:t>
            </a:r>
            <a:r>
              <a:rPr sz="1100" dirty="0">
                <a:latin typeface="Tahoma"/>
                <a:cs typeface="Tahoma"/>
              </a:rPr>
              <a:t>+</a:t>
            </a:r>
            <a:r>
              <a:rPr sz="1100" i="1" dirty="0">
                <a:latin typeface="Calibri"/>
                <a:cs typeface="Calibri"/>
              </a:rPr>
              <a:t>,</a:t>
            </a:r>
            <a:r>
              <a:rPr sz="1100" i="1" spc="-70" dirty="0">
                <a:latin typeface="Calibri"/>
                <a:cs typeface="Calibri"/>
              </a:rPr>
              <a:t> </a:t>
            </a:r>
            <a:r>
              <a:rPr sz="1100" i="1" dirty="0">
                <a:latin typeface="Calibri"/>
                <a:cs typeface="Calibri"/>
              </a:rPr>
              <a:t>.</a:t>
            </a:r>
            <a:r>
              <a:rPr sz="1100" dirty="0">
                <a:latin typeface="Tahoma"/>
                <a:cs typeface="Tahoma"/>
              </a:rPr>
              <a:t>)</a:t>
            </a:r>
            <a:r>
              <a:rPr sz="1100" spc="-5" dirty="0">
                <a:latin typeface="Tahoma"/>
                <a:cs typeface="Tahoma"/>
              </a:rPr>
              <a:t> </a:t>
            </a:r>
            <a:r>
              <a:rPr sz="1100" dirty="0">
                <a:latin typeface="Tahoma"/>
                <a:cs typeface="Tahoma"/>
              </a:rPr>
              <a:t>is</a:t>
            </a:r>
            <a:r>
              <a:rPr sz="1100" spc="-5" dirty="0">
                <a:latin typeface="Tahoma"/>
                <a:cs typeface="Tahoma"/>
              </a:rPr>
              <a:t> </a:t>
            </a:r>
            <a:r>
              <a:rPr sz="1100" spc="-55" dirty="0">
                <a:latin typeface="Tahoma"/>
                <a:cs typeface="Tahoma"/>
              </a:rPr>
              <a:t>subspace</a:t>
            </a:r>
            <a:r>
              <a:rPr sz="1100" spc="-10" dirty="0">
                <a:latin typeface="Tahoma"/>
                <a:cs typeface="Tahoma"/>
              </a:rPr>
              <a:t> </a:t>
            </a:r>
            <a:r>
              <a:rPr sz="1100" dirty="0">
                <a:latin typeface="Tahoma"/>
                <a:cs typeface="Tahoma"/>
              </a:rPr>
              <a:t>of</a:t>
            </a:r>
            <a:r>
              <a:rPr sz="1100" spc="-5" dirty="0">
                <a:latin typeface="Tahoma"/>
                <a:cs typeface="Tahoma"/>
              </a:rPr>
              <a:t> </a:t>
            </a:r>
            <a:r>
              <a:rPr sz="1100" i="1" spc="-20" dirty="0">
                <a:latin typeface="Arial"/>
                <a:cs typeface="Arial"/>
              </a:rPr>
              <a:t>V</a:t>
            </a:r>
            <a:r>
              <a:rPr sz="1100" i="1" spc="-130" dirty="0">
                <a:latin typeface="Arial"/>
                <a:cs typeface="Arial"/>
              </a:rPr>
              <a:t> </a:t>
            </a:r>
            <a:r>
              <a:rPr sz="1100" spc="-50" dirty="0">
                <a:latin typeface="Tahoma"/>
                <a:cs typeface="Tahoma"/>
              </a:rPr>
              <a:t>? </a:t>
            </a:r>
            <a:r>
              <a:rPr sz="1100" dirty="0">
                <a:latin typeface="Tahoma"/>
                <a:cs typeface="Tahoma"/>
              </a:rPr>
              <a:t>We</a:t>
            </a:r>
            <a:r>
              <a:rPr sz="1100" spc="-40" dirty="0">
                <a:latin typeface="Tahoma"/>
                <a:cs typeface="Tahoma"/>
              </a:rPr>
              <a:t> </a:t>
            </a:r>
            <a:r>
              <a:rPr sz="1100" spc="-60" dirty="0">
                <a:latin typeface="Tahoma"/>
                <a:cs typeface="Tahoma"/>
              </a:rPr>
              <a:t>need</a:t>
            </a:r>
            <a:r>
              <a:rPr sz="1100" spc="-30" dirty="0">
                <a:latin typeface="Tahoma"/>
                <a:cs typeface="Tahoma"/>
              </a:rPr>
              <a:t> </a:t>
            </a:r>
            <a:r>
              <a:rPr sz="1100" dirty="0">
                <a:latin typeface="Tahoma"/>
                <a:cs typeface="Tahoma"/>
              </a:rPr>
              <a:t>to</a:t>
            </a:r>
            <a:r>
              <a:rPr sz="1100" spc="-30" dirty="0">
                <a:latin typeface="Tahoma"/>
                <a:cs typeface="Tahoma"/>
              </a:rPr>
              <a:t> </a:t>
            </a:r>
            <a:r>
              <a:rPr sz="1100" spc="-65" dirty="0">
                <a:latin typeface="Tahoma"/>
                <a:cs typeface="Tahoma"/>
              </a:rPr>
              <a:t>show</a:t>
            </a:r>
            <a:r>
              <a:rPr sz="1100" spc="-25" dirty="0">
                <a:latin typeface="Tahoma"/>
                <a:cs typeface="Tahoma"/>
              </a:rPr>
              <a:t> </a:t>
            </a:r>
            <a:r>
              <a:rPr sz="1100" spc="-20" dirty="0">
                <a:latin typeface="Tahoma"/>
                <a:cs typeface="Tahoma"/>
              </a:rPr>
              <a:t>that</a:t>
            </a:r>
            <a:endParaRPr sz="1100" dirty="0">
              <a:latin typeface="Tahoma"/>
              <a:cs typeface="Tahoma"/>
            </a:endParaRPr>
          </a:p>
          <a:p>
            <a:pPr marL="314960" indent="-177165">
              <a:lnSpc>
                <a:spcPct val="100000"/>
              </a:lnSpc>
              <a:spcBef>
                <a:spcPts val="335"/>
              </a:spcBef>
              <a:buClr>
                <a:srgbClr val="3333B2"/>
              </a:buClr>
              <a:buChar char="►"/>
              <a:tabLst>
                <a:tab pos="314960" algn="l"/>
              </a:tabLst>
            </a:pPr>
            <a:r>
              <a:rPr sz="1100" dirty="0">
                <a:latin typeface="Lucida Sans Unicode"/>
                <a:cs typeface="Lucida Sans Unicode"/>
              </a:rPr>
              <a:t>U</a:t>
            </a:r>
            <a:r>
              <a:rPr sz="1100" spc="35" dirty="0">
                <a:latin typeface="Lucida Sans Unicode"/>
                <a:cs typeface="Lucida Sans Unicode"/>
              </a:rPr>
              <a:t> </a:t>
            </a:r>
            <a:r>
              <a:rPr lang="en-IN" sz="1100" spc="35" dirty="0">
                <a:latin typeface="Lucida Sans Unicode"/>
                <a:ea typeface="Cambria Math" panose="02040503050406030204" pitchFamily="18" charset="0"/>
                <a:cs typeface="Lucida Sans Unicode"/>
              </a:rPr>
              <a:t>≠</a:t>
            </a:r>
            <a:r>
              <a:rPr sz="1100" spc="-60" dirty="0">
                <a:latin typeface="Tahoma"/>
                <a:cs typeface="Tahoma"/>
              </a:rPr>
              <a:t> </a:t>
            </a:r>
            <a:r>
              <a:rPr sz="1100" spc="-50" dirty="0">
                <a:latin typeface="Tahoma"/>
                <a:cs typeface="Tahoma"/>
              </a:rPr>
              <a:t>Φ</a:t>
            </a:r>
            <a:endParaRPr sz="1100" dirty="0">
              <a:latin typeface="Tahoma"/>
              <a:cs typeface="Tahoma"/>
            </a:endParaRPr>
          </a:p>
          <a:p>
            <a:pPr marL="314960" indent="-177165">
              <a:lnSpc>
                <a:spcPct val="100000"/>
              </a:lnSpc>
              <a:spcBef>
                <a:spcPts val="334"/>
              </a:spcBef>
              <a:buClr>
                <a:srgbClr val="3333B2"/>
              </a:buClr>
              <a:buFont typeface="Lucida Sans Unicode"/>
              <a:buChar char="►"/>
              <a:tabLst>
                <a:tab pos="314960" algn="l"/>
              </a:tabLst>
            </a:pPr>
            <a:r>
              <a:rPr sz="1100" spc="-30" dirty="0">
                <a:latin typeface="Tahoma"/>
                <a:cs typeface="Tahoma"/>
              </a:rPr>
              <a:t>Closure</a:t>
            </a:r>
            <a:r>
              <a:rPr sz="1100" spc="-45" dirty="0">
                <a:latin typeface="Tahoma"/>
                <a:cs typeface="Tahoma"/>
              </a:rPr>
              <a:t> </a:t>
            </a:r>
            <a:r>
              <a:rPr sz="1100" dirty="0">
                <a:latin typeface="Tahoma"/>
                <a:cs typeface="Tahoma"/>
              </a:rPr>
              <a:t>of</a:t>
            </a:r>
            <a:r>
              <a:rPr sz="1100" spc="-40" dirty="0">
                <a:latin typeface="Tahoma"/>
                <a:cs typeface="Tahoma"/>
              </a:rPr>
              <a:t> </a:t>
            </a:r>
            <a:r>
              <a:rPr sz="1100" i="1" dirty="0">
                <a:latin typeface="Arial"/>
                <a:cs typeface="Arial"/>
              </a:rPr>
              <a:t>U</a:t>
            </a:r>
            <a:r>
              <a:rPr sz="1100" i="1" spc="70" dirty="0">
                <a:latin typeface="Arial"/>
                <a:cs typeface="Arial"/>
              </a:rPr>
              <a:t> </a:t>
            </a:r>
            <a:r>
              <a:rPr sz="1100" dirty="0">
                <a:latin typeface="Tahoma"/>
                <a:cs typeface="Tahoma"/>
              </a:rPr>
              <a:t>with</a:t>
            </a:r>
            <a:r>
              <a:rPr sz="1100" spc="-40" dirty="0">
                <a:latin typeface="Tahoma"/>
                <a:cs typeface="Tahoma"/>
              </a:rPr>
              <a:t> respect </a:t>
            </a:r>
            <a:r>
              <a:rPr sz="1100" dirty="0">
                <a:latin typeface="Tahoma"/>
                <a:cs typeface="Tahoma"/>
              </a:rPr>
              <a:t>to</a:t>
            </a:r>
            <a:r>
              <a:rPr sz="1100" spc="-45" dirty="0">
                <a:latin typeface="Tahoma"/>
                <a:cs typeface="Tahoma"/>
              </a:rPr>
              <a:t> </a:t>
            </a:r>
            <a:r>
              <a:rPr sz="1100" spc="-10" dirty="0">
                <a:latin typeface="Tahoma"/>
                <a:cs typeface="Tahoma"/>
              </a:rPr>
              <a:t>the</a:t>
            </a:r>
            <a:r>
              <a:rPr sz="1100" spc="-45" dirty="0">
                <a:latin typeface="Tahoma"/>
                <a:cs typeface="Tahoma"/>
              </a:rPr>
              <a:t> </a:t>
            </a:r>
            <a:r>
              <a:rPr sz="1100" spc="-25" dirty="0">
                <a:latin typeface="Tahoma"/>
                <a:cs typeface="Tahoma"/>
              </a:rPr>
              <a:t>outer</a:t>
            </a:r>
            <a:r>
              <a:rPr sz="1100" spc="-40" dirty="0">
                <a:latin typeface="Tahoma"/>
                <a:cs typeface="Tahoma"/>
              </a:rPr>
              <a:t> </a:t>
            </a:r>
            <a:r>
              <a:rPr sz="1100" spc="-35" dirty="0">
                <a:latin typeface="Tahoma"/>
                <a:cs typeface="Tahoma"/>
              </a:rPr>
              <a:t>and</a:t>
            </a:r>
            <a:r>
              <a:rPr sz="1100" spc="-40" dirty="0">
                <a:latin typeface="Tahoma"/>
                <a:cs typeface="Tahoma"/>
              </a:rPr>
              <a:t> </a:t>
            </a:r>
            <a:r>
              <a:rPr sz="1100" spc="-30" dirty="0">
                <a:latin typeface="Tahoma"/>
                <a:cs typeface="Tahoma"/>
              </a:rPr>
              <a:t>inner</a:t>
            </a:r>
            <a:r>
              <a:rPr sz="1100" spc="-40" dirty="0">
                <a:latin typeface="Tahoma"/>
                <a:cs typeface="Tahoma"/>
              </a:rPr>
              <a:t> </a:t>
            </a:r>
            <a:r>
              <a:rPr sz="1100" spc="-10" dirty="0">
                <a:latin typeface="Tahoma"/>
                <a:cs typeface="Tahoma"/>
              </a:rPr>
              <a:t>operations,</a:t>
            </a:r>
            <a:endParaRPr sz="1100" dirty="0">
              <a:latin typeface="Tahoma"/>
              <a:cs typeface="Tahoma"/>
            </a:endParaRPr>
          </a:p>
          <a:p>
            <a:pPr marL="314960">
              <a:lnSpc>
                <a:spcPct val="100000"/>
              </a:lnSpc>
              <a:spcBef>
                <a:spcPts val="35"/>
              </a:spcBef>
            </a:pPr>
            <a:r>
              <a:rPr sz="1100" spc="-20" dirty="0">
                <a:latin typeface="Tahoma"/>
                <a:cs typeface="Tahoma"/>
              </a:rPr>
              <a:t>i.e </a:t>
            </a:r>
            <a:r>
              <a:rPr sz="1100" spc="-125" dirty="0">
                <a:latin typeface="Lucida Sans Unicode"/>
                <a:cs typeface="Lucida Sans Unicode"/>
              </a:rPr>
              <a:t>∀</a:t>
            </a:r>
            <a:r>
              <a:rPr sz="1100" i="1" spc="-125" dirty="0">
                <a:latin typeface="Calibri"/>
                <a:cs typeface="Calibri"/>
              </a:rPr>
              <a:t>λ</a:t>
            </a:r>
            <a:r>
              <a:rPr sz="1100" i="1" spc="50"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i="1" dirty="0">
                <a:latin typeface="Arial"/>
                <a:cs typeface="Arial"/>
              </a:rPr>
              <a:t>R</a:t>
            </a:r>
            <a:r>
              <a:rPr sz="1100" i="1" dirty="0">
                <a:latin typeface="Calibri"/>
                <a:cs typeface="Calibri"/>
              </a:rPr>
              <a:t>,</a:t>
            </a:r>
            <a:r>
              <a:rPr sz="1100" i="1" spc="-70" dirty="0">
                <a:latin typeface="Calibri"/>
                <a:cs typeface="Calibri"/>
              </a:rPr>
              <a:t> </a:t>
            </a:r>
            <a:r>
              <a:rPr sz="1100" spc="-160" dirty="0">
                <a:latin typeface="Lucida Sans Unicode"/>
                <a:cs typeface="Lucida Sans Unicode"/>
              </a:rPr>
              <a:t>∀</a:t>
            </a:r>
            <a:r>
              <a:rPr sz="1100" b="1" spc="-160" dirty="0">
                <a:latin typeface="Trebuchet MS"/>
                <a:cs typeface="Trebuchet MS"/>
              </a:rPr>
              <a:t>x</a:t>
            </a:r>
            <a:r>
              <a:rPr lang="en-IN" sz="1100" b="1" spc="-160" dirty="0">
                <a:latin typeface="Tahoma"/>
                <a:cs typeface="Tahoma"/>
              </a:rPr>
              <a:t>  </a:t>
            </a:r>
            <a:r>
              <a:rPr sz="1100" spc="-155" dirty="0">
                <a:latin typeface="Lucida Sans Unicode"/>
                <a:cs typeface="Lucida Sans Unicode"/>
              </a:rPr>
              <a:t>∈</a:t>
            </a:r>
            <a:r>
              <a:rPr sz="1100" spc="-45" dirty="0">
                <a:latin typeface="Lucida Sans Unicode"/>
                <a:cs typeface="Lucida Sans Unicode"/>
              </a:rPr>
              <a:t> </a:t>
            </a:r>
            <a:r>
              <a:rPr sz="1100" spc="-90" dirty="0">
                <a:latin typeface="Lucida Sans Unicode"/>
                <a:cs typeface="Lucida Sans Unicode"/>
              </a:rPr>
              <a:t>U</a:t>
            </a:r>
            <a:r>
              <a:rPr sz="1100" spc="-240" dirty="0">
                <a:latin typeface="Lucida Sans Unicode"/>
                <a:cs typeface="Lucida Sans Unicode"/>
              </a:rPr>
              <a:t> </a:t>
            </a:r>
            <a:r>
              <a:rPr sz="1100" i="1" dirty="0">
                <a:latin typeface="Calibri"/>
                <a:cs typeface="Calibri"/>
              </a:rPr>
              <a:t>,</a:t>
            </a:r>
            <a:r>
              <a:rPr sz="1100" i="1" spc="-70" dirty="0">
                <a:latin typeface="Calibri"/>
                <a:cs typeface="Calibri"/>
              </a:rPr>
              <a:t> </a:t>
            </a:r>
            <a:r>
              <a:rPr sz="1100" i="1" dirty="0">
                <a:latin typeface="Calibri"/>
                <a:cs typeface="Calibri"/>
              </a:rPr>
              <a:t>λ</a:t>
            </a:r>
            <a:r>
              <a:rPr sz="1100" b="1" dirty="0">
                <a:latin typeface="Trebuchet MS"/>
                <a:cs typeface="Trebuchet MS"/>
              </a:rPr>
              <a:t>x</a:t>
            </a:r>
            <a:r>
              <a:rPr sz="1100" b="1" spc="25" dirty="0">
                <a:latin typeface="Trebuchet MS"/>
                <a:cs typeface="Trebuchet MS"/>
              </a:rPr>
              <a:t> </a:t>
            </a:r>
            <a:r>
              <a:rPr sz="1100" spc="-155" dirty="0">
                <a:latin typeface="Lucida Sans Unicode"/>
                <a:cs typeface="Lucida Sans Unicode"/>
              </a:rPr>
              <a:t>∈</a:t>
            </a:r>
            <a:r>
              <a:rPr sz="1100" spc="-45" dirty="0">
                <a:latin typeface="Lucida Sans Unicode"/>
                <a:cs typeface="Lucida Sans Unicode"/>
              </a:rPr>
              <a:t> </a:t>
            </a:r>
            <a:r>
              <a:rPr sz="1100" dirty="0">
                <a:latin typeface="Lucida Sans Unicode"/>
                <a:cs typeface="Lucida Sans Unicode"/>
              </a:rPr>
              <a:t>U</a:t>
            </a:r>
            <a:r>
              <a:rPr sz="1100" spc="114" dirty="0">
                <a:latin typeface="Lucida Sans Unicode"/>
                <a:cs typeface="Lucida Sans Unicode"/>
              </a:rPr>
              <a:t> </a:t>
            </a:r>
            <a:r>
              <a:rPr sz="1100" spc="-35" dirty="0">
                <a:latin typeface="Tahoma"/>
                <a:cs typeface="Tahoma"/>
              </a:rPr>
              <a:t>and</a:t>
            </a:r>
            <a:r>
              <a:rPr sz="1100" spc="20" dirty="0">
                <a:latin typeface="Tahoma"/>
                <a:cs typeface="Tahoma"/>
              </a:rPr>
              <a:t> </a:t>
            </a:r>
            <a:r>
              <a:rPr sz="1100" spc="-225" dirty="0">
                <a:latin typeface="Lucida Sans Unicode"/>
                <a:cs typeface="Lucida Sans Unicode"/>
              </a:rPr>
              <a:t>∀</a:t>
            </a:r>
            <a:r>
              <a:rPr sz="1100" b="1" spc="-225" dirty="0">
                <a:latin typeface="Trebuchet MS"/>
                <a:cs typeface="Trebuchet MS"/>
              </a:rPr>
              <a:t>x</a:t>
            </a:r>
            <a:r>
              <a:rPr sz="1100" b="1" spc="30" dirty="0">
                <a:latin typeface="Trebuchet MS"/>
                <a:cs typeface="Trebuchet MS"/>
              </a:rPr>
              <a:t> </a:t>
            </a:r>
            <a:r>
              <a:rPr sz="1100" i="1" dirty="0">
                <a:latin typeface="Calibri"/>
                <a:cs typeface="Calibri"/>
              </a:rPr>
              <a:t>,</a:t>
            </a:r>
            <a:r>
              <a:rPr sz="1100" i="1" spc="-70" dirty="0">
                <a:latin typeface="Calibri"/>
                <a:cs typeface="Calibri"/>
              </a:rPr>
              <a:t> </a:t>
            </a:r>
            <a:r>
              <a:rPr sz="1100" b="1" dirty="0">
                <a:latin typeface="Trebuchet MS"/>
                <a:cs typeface="Trebuchet MS"/>
              </a:rPr>
              <a:t>y</a:t>
            </a:r>
            <a:r>
              <a:rPr sz="1100" b="1" spc="40" dirty="0">
                <a:latin typeface="Trebuchet MS"/>
                <a:cs typeface="Trebuchet MS"/>
              </a:rPr>
              <a:t> </a:t>
            </a:r>
            <a:r>
              <a:rPr sz="1100" spc="-155" dirty="0">
                <a:latin typeface="Lucida Sans Unicode"/>
                <a:cs typeface="Lucida Sans Unicode"/>
              </a:rPr>
              <a:t>∈</a:t>
            </a:r>
            <a:r>
              <a:rPr sz="1100" spc="-45" dirty="0">
                <a:latin typeface="Lucida Sans Unicode"/>
                <a:cs typeface="Lucida Sans Unicode"/>
              </a:rPr>
              <a:t> </a:t>
            </a:r>
            <a:r>
              <a:rPr sz="1100" spc="-90" dirty="0">
                <a:latin typeface="Lucida Sans Unicode"/>
                <a:cs typeface="Lucida Sans Unicode"/>
              </a:rPr>
              <a:t>U</a:t>
            </a:r>
            <a:r>
              <a:rPr sz="1100" spc="-240" dirty="0">
                <a:latin typeface="Lucida Sans Unicode"/>
                <a:cs typeface="Lucida Sans Unicode"/>
              </a:rPr>
              <a:t> </a:t>
            </a:r>
            <a:r>
              <a:rPr sz="1100" i="1" dirty="0">
                <a:latin typeface="Calibri"/>
                <a:cs typeface="Calibri"/>
              </a:rPr>
              <a:t>,</a:t>
            </a:r>
            <a:r>
              <a:rPr sz="1100" i="1" spc="-70" dirty="0">
                <a:latin typeface="Calibri"/>
                <a:cs typeface="Calibri"/>
              </a:rPr>
              <a:t> </a:t>
            </a:r>
            <a:r>
              <a:rPr sz="1100" b="1" spc="-75" dirty="0">
                <a:latin typeface="Trebuchet MS"/>
                <a:cs typeface="Trebuchet MS"/>
              </a:rPr>
              <a:t>x</a:t>
            </a:r>
            <a:r>
              <a:rPr sz="1100" b="1" spc="-90" dirty="0">
                <a:latin typeface="Trebuchet MS"/>
                <a:cs typeface="Trebuchet MS"/>
              </a:rPr>
              <a:t> </a:t>
            </a:r>
            <a:r>
              <a:rPr sz="1100" dirty="0">
                <a:latin typeface="Tahoma"/>
                <a:cs typeface="Tahoma"/>
              </a:rPr>
              <a:t>+</a:t>
            </a:r>
            <a:r>
              <a:rPr sz="1100" spc="-105" dirty="0">
                <a:latin typeface="Tahoma"/>
                <a:cs typeface="Tahoma"/>
              </a:rPr>
              <a:t> </a:t>
            </a:r>
            <a:r>
              <a:rPr sz="1100" b="1" dirty="0">
                <a:latin typeface="Trebuchet MS"/>
                <a:cs typeface="Trebuchet MS"/>
              </a:rPr>
              <a:t>y</a:t>
            </a:r>
            <a:r>
              <a:rPr sz="1100" b="1" spc="40" dirty="0">
                <a:latin typeface="Trebuchet MS"/>
                <a:cs typeface="Trebuchet MS"/>
              </a:rPr>
              <a:t> </a:t>
            </a:r>
            <a:r>
              <a:rPr sz="1100" spc="-155" dirty="0">
                <a:latin typeface="Lucida Sans Unicode"/>
                <a:cs typeface="Lucida Sans Unicode"/>
              </a:rPr>
              <a:t>∈</a:t>
            </a:r>
            <a:r>
              <a:rPr sz="1100" spc="-45" dirty="0">
                <a:latin typeface="Lucida Sans Unicode"/>
                <a:cs typeface="Lucida Sans Unicode"/>
              </a:rPr>
              <a:t> </a:t>
            </a:r>
            <a:r>
              <a:rPr sz="1100" spc="-35" dirty="0">
                <a:latin typeface="Lucida Sans Unicode"/>
                <a:cs typeface="Lucida Sans Unicode"/>
              </a:rPr>
              <a:t>U</a:t>
            </a:r>
            <a:r>
              <a:rPr sz="1100" spc="-35" dirty="0">
                <a:latin typeface="Tahoma"/>
                <a:cs typeface="Tahoma"/>
              </a:rPr>
              <a:t>.</a:t>
            </a:r>
            <a:endParaRPr lang="en-IN" sz="1100" spc="-35" dirty="0">
              <a:latin typeface="Tahoma"/>
              <a:cs typeface="Tahoma"/>
            </a:endParaRPr>
          </a:p>
          <a:p>
            <a:pPr marL="314960">
              <a:lnSpc>
                <a:spcPct val="100000"/>
              </a:lnSpc>
              <a:spcBef>
                <a:spcPts val="35"/>
              </a:spcBef>
            </a:pPr>
            <a:endParaRPr lang="en-IN" sz="1100" spc="-35" dirty="0">
              <a:latin typeface="Tahoma"/>
              <a:cs typeface="Tahoma"/>
            </a:endParaRPr>
          </a:p>
          <a:p>
            <a:pPr marL="314960">
              <a:lnSpc>
                <a:spcPct val="100000"/>
              </a:lnSpc>
              <a:spcBef>
                <a:spcPts val="35"/>
              </a:spcBef>
            </a:pPr>
            <a:r>
              <a:rPr lang="en-IN" sz="1100" spc="-35" dirty="0">
                <a:latin typeface="Tahoma"/>
                <a:cs typeface="Tahoma"/>
              </a:rPr>
              <a:t>Closure properties will also ensure that for each element additive identity and inverse of each element exist in U</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50" dirty="0"/>
              <a:t>Examples</a:t>
            </a:r>
          </a:p>
        </p:txBody>
      </p:sp>
      <p:sp>
        <p:nvSpPr>
          <p:cNvPr id="3" name="object 3"/>
          <p:cNvSpPr txBox="1"/>
          <p:nvPr/>
        </p:nvSpPr>
        <p:spPr>
          <a:xfrm>
            <a:off x="421957" y="849958"/>
            <a:ext cx="3860165" cy="1999971"/>
          </a:xfrm>
          <a:prstGeom prst="rect">
            <a:avLst/>
          </a:prstGeom>
        </p:spPr>
        <p:txBody>
          <a:bodyPr vert="horz" wrap="square" lIns="0" tIns="6985" rIns="0" bIns="0" rtlCol="0">
            <a:spAutoFit/>
          </a:bodyPr>
          <a:lstStyle/>
          <a:p>
            <a:pPr marL="214629" marR="31750" indent="-177165">
              <a:lnSpc>
                <a:spcPct val="102600"/>
              </a:lnSpc>
              <a:spcBef>
                <a:spcPts val="55"/>
              </a:spcBef>
              <a:buClr>
                <a:srgbClr val="3333B2"/>
              </a:buClr>
              <a:buFont typeface="Lucida Sans Unicode"/>
              <a:buChar char="►"/>
              <a:tabLst>
                <a:tab pos="214629" algn="l"/>
              </a:tabLst>
            </a:pPr>
            <a:r>
              <a:rPr sz="1100" dirty="0">
                <a:latin typeface="Tahoma"/>
                <a:cs typeface="Tahoma"/>
              </a:rPr>
              <a:t>Let</a:t>
            </a:r>
            <a:r>
              <a:rPr sz="1100" spc="-70" dirty="0">
                <a:latin typeface="Tahoma"/>
                <a:cs typeface="Tahoma"/>
              </a:rPr>
              <a:t> </a:t>
            </a:r>
            <a:r>
              <a:rPr sz="1100" dirty="0">
                <a:latin typeface="Lucida Sans Unicode"/>
                <a:cs typeface="Lucida Sans Unicode"/>
              </a:rPr>
              <a:t>V</a:t>
            </a:r>
            <a:r>
              <a:rPr sz="1100" spc="10" dirty="0">
                <a:latin typeface="Lucida Sans Unicode"/>
                <a:cs typeface="Lucida Sans Unicode"/>
              </a:rPr>
              <a:t> </a:t>
            </a:r>
            <a:r>
              <a:rPr sz="1100" dirty="0">
                <a:latin typeface="Tahoma"/>
                <a:cs typeface="Tahoma"/>
              </a:rPr>
              <a:t>=</a:t>
            </a:r>
            <a:r>
              <a:rPr sz="1100" spc="-65" dirty="0">
                <a:latin typeface="Tahoma"/>
                <a:cs typeface="Tahoma"/>
              </a:rPr>
              <a:t> </a:t>
            </a:r>
            <a:r>
              <a:rPr sz="1100" dirty="0">
                <a:latin typeface="Arial MT"/>
                <a:cs typeface="Arial MT"/>
              </a:rPr>
              <a:t>R</a:t>
            </a:r>
            <a:r>
              <a:rPr sz="1200" baseline="27777" dirty="0">
                <a:latin typeface="Tahoma"/>
                <a:cs typeface="Tahoma"/>
              </a:rPr>
              <a:t>2</a:t>
            </a:r>
            <a:r>
              <a:rPr sz="1200" spc="195" baseline="27777" dirty="0">
                <a:latin typeface="Tahoma"/>
                <a:cs typeface="Tahoma"/>
              </a:rPr>
              <a:t> </a:t>
            </a:r>
            <a:r>
              <a:rPr sz="1100" spc="-35" dirty="0">
                <a:latin typeface="Tahoma"/>
                <a:cs typeface="Tahoma"/>
              </a:rPr>
              <a:t>and</a:t>
            </a:r>
            <a:r>
              <a:rPr sz="1100" spc="-10" dirty="0">
                <a:latin typeface="Tahoma"/>
                <a:cs typeface="Tahoma"/>
              </a:rPr>
              <a:t> </a:t>
            </a:r>
            <a:r>
              <a:rPr sz="1100" dirty="0">
                <a:latin typeface="Lucida Sans Unicode"/>
                <a:cs typeface="Lucida Sans Unicode"/>
              </a:rPr>
              <a:t>U</a:t>
            </a:r>
            <a:r>
              <a:rPr sz="1100" spc="80" dirty="0">
                <a:latin typeface="Lucida Sans Unicode"/>
                <a:cs typeface="Lucida Sans Unicode"/>
              </a:rPr>
              <a:t> </a:t>
            </a:r>
            <a:r>
              <a:rPr sz="1100" spc="-10" dirty="0">
                <a:latin typeface="Tahoma"/>
                <a:cs typeface="Tahoma"/>
              </a:rPr>
              <a:t>be the </a:t>
            </a:r>
            <a:r>
              <a:rPr sz="1100" i="1" spc="-55" dirty="0">
                <a:latin typeface="Arial"/>
                <a:cs typeface="Arial"/>
              </a:rPr>
              <a:t>y</a:t>
            </a:r>
            <a:r>
              <a:rPr sz="1100" i="1" spc="-190" dirty="0">
                <a:latin typeface="Arial"/>
                <a:cs typeface="Arial"/>
              </a:rPr>
              <a:t> </a:t>
            </a:r>
            <a:r>
              <a:rPr sz="1100" spc="-45" dirty="0">
                <a:latin typeface="Tahoma"/>
                <a:cs typeface="Tahoma"/>
              </a:rPr>
              <a:t>-</a:t>
            </a:r>
            <a:r>
              <a:rPr sz="1100" spc="-10" dirty="0">
                <a:latin typeface="Tahoma"/>
                <a:cs typeface="Tahoma"/>
              </a:rPr>
              <a:t>axis.</a:t>
            </a:r>
            <a:r>
              <a:rPr sz="1100" spc="100" dirty="0">
                <a:latin typeface="Tahoma"/>
                <a:cs typeface="Tahoma"/>
              </a:rPr>
              <a:t> </a:t>
            </a:r>
            <a:r>
              <a:rPr sz="1100" dirty="0">
                <a:latin typeface="Tahoma"/>
                <a:cs typeface="Tahoma"/>
              </a:rPr>
              <a:t>.</a:t>
            </a:r>
            <a:r>
              <a:rPr sz="1100" spc="105" dirty="0">
                <a:latin typeface="Tahoma"/>
                <a:cs typeface="Tahoma"/>
              </a:rPr>
              <a:t> </a:t>
            </a:r>
            <a:r>
              <a:rPr sz="1100" spc="-85" dirty="0">
                <a:latin typeface="Tahoma"/>
                <a:cs typeface="Tahoma"/>
              </a:rPr>
              <a:t>Is</a:t>
            </a:r>
            <a:r>
              <a:rPr sz="1100" spc="-5" dirty="0">
                <a:latin typeface="Tahoma"/>
                <a:cs typeface="Tahoma"/>
              </a:rPr>
              <a:t> </a:t>
            </a:r>
            <a:r>
              <a:rPr sz="1100" i="1" dirty="0">
                <a:latin typeface="Arial"/>
                <a:cs typeface="Arial"/>
              </a:rPr>
              <a:t>U</a:t>
            </a:r>
            <a:r>
              <a:rPr sz="1100" i="1" spc="55" dirty="0">
                <a:latin typeface="Arial"/>
                <a:cs typeface="Arial"/>
              </a:rPr>
              <a:t> </a:t>
            </a:r>
            <a:r>
              <a:rPr sz="1100" dirty="0">
                <a:latin typeface="Tahoma"/>
                <a:cs typeface="Tahoma"/>
              </a:rPr>
              <a:t>=</a:t>
            </a:r>
            <a:r>
              <a:rPr sz="1100" spc="-65" dirty="0">
                <a:latin typeface="Tahoma"/>
                <a:cs typeface="Tahoma"/>
              </a:rPr>
              <a:t> </a:t>
            </a:r>
            <a:r>
              <a:rPr sz="1100" spc="-50" dirty="0">
                <a:latin typeface="Tahoma"/>
                <a:cs typeface="Tahoma"/>
              </a:rPr>
              <a:t>(</a:t>
            </a:r>
            <a:r>
              <a:rPr sz="1100" spc="-50" dirty="0">
                <a:latin typeface="Lucida Sans Unicode"/>
                <a:cs typeface="Lucida Sans Unicode"/>
              </a:rPr>
              <a:t>U</a:t>
            </a:r>
            <a:r>
              <a:rPr sz="1100" spc="-240" dirty="0">
                <a:latin typeface="Lucida Sans Unicode"/>
                <a:cs typeface="Lucida Sans Unicode"/>
              </a:rPr>
              <a:t> </a:t>
            </a:r>
            <a:r>
              <a:rPr sz="1100" i="1" dirty="0">
                <a:latin typeface="Calibri"/>
                <a:cs typeface="Calibri"/>
              </a:rPr>
              <a:t>,</a:t>
            </a:r>
            <a:r>
              <a:rPr sz="1100" i="1" spc="-70" dirty="0">
                <a:latin typeface="Calibri"/>
                <a:cs typeface="Calibri"/>
              </a:rPr>
              <a:t> </a:t>
            </a:r>
            <a:r>
              <a:rPr sz="1100" dirty="0">
                <a:latin typeface="Tahoma"/>
                <a:cs typeface="Tahoma"/>
              </a:rPr>
              <a:t>+</a:t>
            </a:r>
            <a:r>
              <a:rPr sz="1100" i="1" dirty="0">
                <a:latin typeface="Calibri"/>
                <a:cs typeface="Calibri"/>
              </a:rPr>
              <a:t>,</a:t>
            </a:r>
            <a:r>
              <a:rPr sz="1100" i="1" spc="-70" dirty="0">
                <a:latin typeface="Calibri"/>
                <a:cs typeface="Calibri"/>
              </a:rPr>
              <a:t> </a:t>
            </a:r>
            <a:r>
              <a:rPr sz="1100" i="1" dirty="0">
                <a:latin typeface="Calibri"/>
                <a:cs typeface="Calibri"/>
              </a:rPr>
              <a:t>.</a:t>
            </a:r>
            <a:r>
              <a:rPr sz="1100" dirty="0">
                <a:latin typeface="Tahoma"/>
                <a:cs typeface="Tahoma"/>
              </a:rPr>
              <a:t>)</a:t>
            </a:r>
            <a:r>
              <a:rPr sz="1100" spc="-10" dirty="0">
                <a:latin typeface="Tahoma"/>
                <a:cs typeface="Tahoma"/>
              </a:rPr>
              <a:t> </a:t>
            </a:r>
            <a:r>
              <a:rPr sz="1100" spc="-50" dirty="0">
                <a:latin typeface="Tahoma"/>
                <a:cs typeface="Tahoma"/>
              </a:rPr>
              <a:t>a </a:t>
            </a:r>
            <a:r>
              <a:rPr sz="1100" spc="-55" dirty="0">
                <a:latin typeface="Tahoma"/>
                <a:cs typeface="Tahoma"/>
              </a:rPr>
              <a:t>subspace</a:t>
            </a:r>
            <a:r>
              <a:rPr sz="1100" spc="-35" dirty="0">
                <a:latin typeface="Tahoma"/>
                <a:cs typeface="Tahoma"/>
              </a:rPr>
              <a:t> </a:t>
            </a:r>
            <a:r>
              <a:rPr sz="1100" dirty="0">
                <a:latin typeface="Tahoma"/>
                <a:cs typeface="Tahoma"/>
              </a:rPr>
              <a:t>of</a:t>
            </a:r>
            <a:r>
              <a:rPr sz="1100" spc="-5" dirty="0">
                <a:latin typeface="Tahoma"/>
                <a:cs typeface="Tahoma"/>
              </a:rPr>
              <a:t> </a:t>
            </a:r>
            <a:r>
              <a:rPr sz="1100" i="1" dirty="0">
                <a:latin typeface="Arial"/>
                <a:cs typeface="Arial"/>
              </a:rPr>
              <a:t>V</a:t>
            </a:r>
            <a:r>
              <a:rPr sz="1100" i="1" spc="135" dirty="0">
                <a:latin typeface="Arial"/>
                <a:cs typeface="Arial"/>
              </a:rPr>
              <a:t> </a:t>
            </a:r>
            <a:r>
              <a:rPr sz="1100" dirty="0">
                <a:latin typeface="Tahoma"/>
                <a:cs typeface="Tahoma"/>
              </a:rPr>
              <a:t>=</a:t>
            </a:r>
            <a:r>
              <a:rPr sz="1100" spc="-65" dirty="0">
                <a:latin typeface="Tahoma"/>
                <a:cs typeface="Tahoma"/>
              </a:rPr>
              <a:t> </a:t>
            </a:r>
            <a:r>
              <a:rPr sz="1100" dirty="0">
                <a:latin typeface="Tahoma"/>
                <a:cs typeface="Tahoma"/>
              </a:rPr>
              <a:t>(</a:t>
            </a:r>
            <a:r>
              <a:rPr sz="1100" dirty="0">
                <a:latin typeface="Lucida Sans Unicode"/>
                <a:cs typeface="Lucida Sans Unicode"/>
              </a:rPr>
              <a:t>V</a:t>
            </a:r>
            <a:r>
              <a:rPr sz="1100" i="1" dirty="0">
                <a:latin typeface="Calibri"/>
                <a:cs typeface="Calibri"/>
              </a:rPr>
              <a:t>,</a:t>
            </a:r>
            <a:r>
              <a:rPr sz="1100" i="1" spc="-70" dirty="0">
                <a:latin typeface="Calibri"/>
                <a:cs typeface="Calibri"/>
              </a:rPr>
              <a:t> </a:t>
            </a:r>
            <a:r>
              <a:rPr sz="1100" dirty="0">
                <a:latin typeface="Tahoma"/>
                <a:cs typeface="Tahoma"/>
              </a:rPr>
              <a:t>+</a:t>
            </a:r>
            <a:r>
              <a:rPr sz="1100" i="1" dirty="0">
                <a:latin typeface="Calibri"/>
                <a:cs typeface="Calibri"/>
              </a:rPr>
              <a:t>,</a:t>
            </a:r>
            <a:r>
              <a:rPr sz="1100" i="1" spc="-70" dirty="0">
                <a:latin typeface="Calibri"/>
                <a:cs typeface="Calibri"/>
              </a:rPr>
              <a:t> </a:t>
            </a:r>
            <a:r>
              <a:rPr sz="1100" i="1" dirty="0">
                <a:latin typeface="Calibri"/>
                <a:cs typeface="Calibri"/>
              </a:rPr>
              <a:t>.</a:t>
            </a:r>
            <a:r>
              <a:rPr sz="1100" dirty="0">
                <a:latin typeface="Tahoma"/>
                <a:cs typeface="Tahoma"/>
              </a:rPr>
              <a:t>)?</a:t>
            </a:r>
            <a:r>
              <a:rPr sz="1100" spc="110" dirty="0">
                <a:latin typeface="Tahoma"/>
                <a:cs typeface="Tahoma"/>
              </a:rPr>
              <a:t> </a:t>
            </a:r>
            <a:endParaRPr lang="en-IN" sz="1100" spc="110" dirty="0">
              <a:latin typeface="Tahoma"/>
              <a:cs typeface="Tahoma"/>
            </a:endParaRPr>
          </a:p>
          <a:p>
            <a:pPr marL="37464" marR="31750">
              <a:lnSpc>
                <a:spcPct val="102600"/>
              </a:lnSpc>
              <a:spcBef>
                <a:spcPts val="55"/>
              </a:spcBef>
              <a:buClr>
                <a:srgbClr val="3333B2"/>
              </a:buClr>
              <a:tabLst>
                <a:tab pos="214629" algn="l"/>
              </a:tabLst>
            </a:pPr>
            <a:r>
              <a:rPr sz="1100" spc="-35" dirty="0">
                <a:latin typeface="Tahoma"/>
                <a:cs typeface="Tahoma"/>
              </a:rPr>
              <a:t>Answer:</a:t>
            </a:r>
            <a:r>
              <a:rPr sz="1100" spc="105" dirty="0">
                <a:latin typeface="Tahoma"/>
                <a:cs typeface="Tahoma"/>
              </a:rPr>
              <a:t> </a:t>
            </a:r>
            <a:r>
              <a:rPr sz="1100" spc="-40" dirty="0">
                <a:latin typeface="Tahoma"/>
                <a:cs typeface="Tahoma"/>
              </a:rPr>
              <a:t>Yes,</a:t>
            </a:r>
            <a:r>
              <a:rPr sz="1100" spc="-5" dirty="0">
                <a:latin typeface="Tahoma"/>
                <a:cs typeface="Tahoma"/>
              </a:rPr>
              <a:t> </a:t>
            </a:r>
            <a:r>
              <a:rPr sz="1100" spc="-55" dirty="0">
                <a:latin typeface="Tahoma"/>
                <a:cs typeface="Tahoma"/>
              </a:rPr>
              <a:t>because</a:t>
            </a:r>
            <a:r>
              <a:rPr sz="1100" spc="-10" dirty="0">
                <a:latin typeface="Tahoma"/>
                <a:cs typeface="Tahoma"/>
              </a:rPr>
              <a:t> the</a:t>
            </a:r>
            <a:r>
              <a:rPr sz="1100" spc="-5" dirty="0">
                <a:latin typeface="Tahoma"/>
                <a:cs typeface="Tahoma"/>
              </a:rPr>
              <a:t> </a:t>
            </a:r>
            <a:r>
              <a:rPr sz="1100" spc="-20" dirty="0">
                <a:latin typeface="Tahoma"/>
                <a:cs typeface="Tahoma"/>
              </a:rPr>
              <a:t>addition </a:t>
            </a:r>
            <a:r>
              <a:rPr sz="1100" dirty="0">
                <a:latin typeface="Tahoma"/>
                <a:cs typeface="Tahoma"/>
              </a:rPr>
              <a:t>of</a:t>
            </a:r>
            <a:r>
              <a:rPr sz="1100" spc="-90" dirty="0">
                <a:latin typeface="Tahoma"/>
                <a:cs typeface="Tahoma"/>
              </a:rPr>
              <a:t> </a:t>
            </a:r>
            <a:r>
              <a:rPr sz="1100" spc="-25" dirty="0">
                <a:latin typeface="Tahoma"/>
                <a:cs typeface="Tahoma"/>
              </a:rPr>
              <a:t>any</a:t>
            </a:r>
            <a:r>
              <a:rPr sz="1100" spc="-50" dirty="0">
                <a:latin typeface="Tahoma"/>
                <a:cs typeface="Tahoma"/>
              </a:rPr>
              <a:t> </a:t>
            </a:r>
            <a:r>
              <a:rPr sz="1100" spc="-40" dirty="0">
                <a:latin typeface="Tahoma"/>
                <a:cs typeface="Tahoma"/>
              </a:rPr>
              <a:t>two</a:t>
            </a:r>
            <a:r>
              <a:rPr sz="1100" spc="-50" dirty="0">
                <a:latin typeface="Tahoma"/>
                <a:cs typeface="Tahoma"/>
              </a:rPr>
              <a:t> vectors</a:t>
            </a:r>
            <a:r>
              <a:rPr sz="1100" spc="-35" dirty="0">
                <a:latin typeface="Tahoma"/>
                <a:cs typeface="Tahoma"/>
              </a:rPr>
              <a:t> </a:t>
            </a:r>
            <a:r>
              <a:rPr sz="1100" spc="-10" dirty="0">
                <a:latin typeface="Tahoma"/>
                <a:cs typeface="Tahoma"/>
              </a:rPr>
              <a:t>on</a:t>
            </a:r>
            <a:r>
              <a:rPr sz="1100" spc="-45" dirty="0">
                <a:latin typeface="Tahoma"/>
                <a:cs typeface="Tahoma"/>
              </a:rPr>
              <a:t> </a:t>
            </a:r>
            <a:r>
              <a:rPr sz="1100" spc="-10" dirty="0">
                <a:latin typeface="Tahoma"/>
                <a:cs typeface="Tahoma"/>
              </a:rPr>
              <a:t>the</a:t>
            </a:r>
            <a:r>
              <a:rPr sz="1100" spc="-45" dirty="0">
                <a:latin typeface="Tahoma"/>
                <a:cs typeface="Tahoma"/>
              </a:rPr>
              <a:t> </a:t>
            </a:r>
            <a:r>
              <a:rPr lang="en-IN" sz="1100" spc="-45" dirty="0">
                <a:latin typeface="Tahoma"/>
                <a:cs typeface="Tahoma"/>
              </a:rPr>
              <a:t> </a:t>
            </a:r>
            <a:r>
              <a:rPr sz="1100" i="1" spc="-55" dirty="0">
                <a:latin typeface="Arial"/>
                <a:cs typeface="Arial"/>
              </a:rPr>
              <a:t>y</a:t>
            </a:r>
            <a:r>
              <a:rPr sz="1100" i="1" spc="-190" dirty="0">
                <a:latin typeface="Arial"/>
                <a:cs typeface="Arial"/>
              </a:rPr>
              <a:t> </a:t>
            </a:r>
            <a:r>
              <a:rPr sz="1100" spc="-45" dirty="0">
                <a:latin typeface="Tahoma"/>
                <a:cs typeface="Tahoma"/>
              </a:rPr>
              <a:t>-</a:t>
            </a:r>
            <a:r>
              <a:rPr sz="1100" spc="-25" dirty="0">
                <a:latin typeface="Tahoma"/>
                <a:cs typeface="Tahoma"/>
              </a:rPr>
              <a:t>axis</a:t>
            </a:r>
            <a:r>
              <a:rPr sz="1100" spc="-50" dirty="0">
                <a:latin typeface="Tahoma"/>
                <a:cs typeface="Tahoma"/>
              </a:rPr>
              <a:t> </a:t>
            </a:r>
            <a:r>
              <a:rPr sz="1100" spc="-40" dirty="0">
                <a:latin typeface="Tahoma"/>
                <a:cs typeface="Tahoma"/>
              </a:rPr>
              <a:t>remains</a:t>
            </a:r>
            <a:r>
              <a:rPr sz="1100" spc="-45" dirty="0">
                <a:latin typeface="Tahoma"/>
                <a:cs typeface="Tahoma"/>
              </a:rPr>
              <a:t> </a:t>
            </a:r>
            <a:r>
              <a:rPr sz="1100" spc="-10" dirty="0">
                <a:latin typeface="Tahoma"/>
                <a:cs typeface="Tahoma"/>
              </a:rPr>
              <a:t>on</a:t>
            </a:r>
            <a:r>
              <a:rPr sz="1100" spc="-40" dirty="0">
                <a:latin typeface="Tahoma"/>
                <a:cs typeface="Tahoma"/>
              </a:rPr>
              <a:t> </a:t>
            </a:r>
            <a:r>
              <a:rPr sz="1100" spc="-10" dirty="0">
                <a:latin typeface="Tahoma"/>
                <a:cs typeface="Tahoma"/>
              </a:rPr>
              <a:t>the</a:t>
            </a:r>
            <a:r>
              <a:rPr sz="1100" spc="-45" dirty="0">
                <a:latin typeface="Tahoma"/>
                <a:cs typeface="Tahoma"/>
              </a:rPr>
              <a:t> </a:t>
            </a:r>
            <a:r>
              <a:rPr sz="1100" i="1" spc="-55" dirty="0">
                <a:latin typeface="Arial"/>
                <a:cs typeface="Arial"/>
              </a:rPr>
              <a:t>y</a:t>
            </a:r>
            <a:r>
              <a:rPr sz="1100" i="1" spc="-190" dirty="0">
                <a:latin typeface="Arial"/>
                <a:cs typeface="Arial"/>
              </a:rPr>
              <a:t> </a:t>
            </a:r>
            <a:r>
              <a:rPr sz="1100" spc="-45" dirty="0">
                <a:latin typeface="Tahoma"/>
                <a:cs typeface="Tahoma"/>
              </a:rPr>
              <a:t>-</a:t>
            </a:r>
            <a:r>
              <a:rPr sz="1100" spc="-25" dirty="0">
                <a:latin typeface="Tahoma"/>
                <a:cs typeface="Tahoma"/>
              </a:rPr>
              <a:t>axis</a:t>
            </a:r>
            <a:r>
              <a:rPr sz="1100" spc="-50" dirty="0">
                <a:latin typeface="Tahoma"/>
                <a:cs typeface="Tahoma"/>
              </a:rPr>
              <a:t> </a:t>
            </a:r>
            <a:r>
              <a:rPr sz="1100" spc="-25" dirty="0">
                <a:latin typeface="Tahoma"/>
                <a:cs typeface="Tahoma"/>
              </a:rPr>
              <a:t>so </a:t>
            </a:r>
            <a:r>
              <a:rPr sz="1100" spc="-40" dirty="0">
                <a:latin typeface="Tahoma"/>
                <a:cs typeface="Tahoma"/>
              </a:rPr>
              <a:t>closure</a:t>
            </a:r>
            <a:r>
              <a:rPr sz="1100" spc="-45" dirty="0">
                <a:latin typeface="Tahoma"/>
                <a:cs typeface="Tahoma"/>
              </a:rPr>
              <a:t> </a:t>
            </a:r>
            <a:r>
              <a:rPr sz="1100" dirty="0">
                <a:latin typeface="Tahoma"/>
                <a:cs typeface="Tahoma"/>
              </a:rPr>
              <a:t>with</a:t>
            </a:r>
            <a:r>
              <a:rPr sz="1100" spc="-45" dirty="0">
                <a:latin typeface="Tahoma"/>
                <a:cs typeface="Tahoma"/>
              </a:rPr>
              <a:t> </a:t>
            </a:r>
            <a:r>
              <a:rPr sz="1100" spc="-35" dirty="0">
                <a:latin typeface="Tahoma"/>
                <a:cs typeface="Tahoma"/>
              </a:rPr>
              <a:t>respect</a:t>
            </a:r>
            <a:r>
              <a:rPr sz="1100" spc="-50" dirty="0">
                <a:latin typeface="Tahoma"/>
                <a:cs typeface="Tahoma"/>
              </a:rPr>
              <a:t> </a:t>
            </a:r>
            <a:r>
              <a:rPr sz="1100" dirty="0">
                <a:latin typeface="Tahoma"/>
                <a:cs typeface="Tahoma"/>
              </a:rPr>
              <a:t>to</a:t>
            </a:r>
            <a:r>
              <a:rPr sz="1100" spc="-50" dirty="0">
                <a:latin typeface="Tahoma"/>
                <a:cs typeface="Tahoma"/>
              </a:rPr>
              <a:t> </a:t>
            </a:r>
            <a:r>
              <a:rPr sz="1100" spc="-10" dirty="0">
                <a:latin typeface="Tahoma"/>
                <a:cs typeface="Tahoma"/>
              </a:rPr>
              <a:t>the</a:t>
            </a:r>
            <a:r>
              <a:rPr sz="1100" spc="-40" dirty="0">
                <a:latin typeface="Tahoma"/>
                <a:cs typeface="Tahoma"/>
              </a:rPr>
              <a:t> </a:t>
            </a:r>
            <a:r>
              <a:rPr sz="1100" spc="-20" dirty="0">
                <a:latin typeface="Tahoma"/>
                <a:cs typeface="Tahoma"/>
              </a:rPr>
              <a:t>addition</a:t>
            </a:r>
            <a:r>
              <a:rPr sz="1100" spc="-45" dirty="0">
                <a:latin typeface="Tahoma"/>
                <a:cs typeface="Tahoma"/>
              </a:rPr>
              <a:t> </a:t>
            </a:r>
            <a:r>
              <a:rPr sz="1100" spc="-30" dirty="0">
                <a:latin typeface="Tahoma"/>
                <a:cs typeface="Tahoma"/>
              </a:rPr>
              <a:t>operation</a:t>
            </a:r>
            <a:r>
              <a:rPr sz="1100" spc="-45" dirty="0">
                <a:latin typeface="Tahoma"/>
                <a:cs typeface="Tahoma"/>
              </a:rPr>
              <a:t> </a:t>
            </a:r>
            <a:r>
              <a:rPr sz="1100" dirty="0">
                <a:latin typeface="Tahoma"/>
                <a:cs typeface="Tahoma"/>
              </a:rPr>
              <a:t>is</a:t>
            </a:r>
            <a:r>
              <a:rPr sz="1100" spc="-50" dirty="0">
                <a:latin typeface="Tahoma"/>
                <a:cs typeface="Tahoma"/>
              </a:rPr>
              <a:t> </a:t>
            </a:r>
            <a:r>
              <a:rPr sz="1100" spc="-10" dirty="0">
                <a:latin typeface="Tahoma"/>
                <a:cs typeface="Tahoma"/>
              </a:rPr>
              <a:t>satisfied. </a:t>
            </a:r>
            <a:r>
              <a:rPr sz="1100" dirty="0">
                <a:latin typeface="Tahoma"/>
                <a:cs typeface="Tahoma"/>
              </a:rPr>
              <a:t>Also</a:t>
            </a:r>
            <a:r>
              <a:rPr sz="1100" spc="-85" dirty="0">
                <a:latin typeface="Tahoma"/>
                <a:cs typeface="Tahoma"/>
              </a:rPr>
              <a:t> </a:t>
            </a:r>
            <a:r>
              <a:rPr sz="1100" spc="-25" dirty="0">
                <a:latin typeface="Tahoma"/>
                <a:cs typeface="Tahoma"/>
              </a:rPr>
              <a:t>any</a:t>
            </a:r>
            <a:r>
              <a:rPr sz="1100" spc="-50" dirty="0">
                <a:latin typeface="Tahoma"/>
                <a:cs typeface="Tahoma"/>
              </a:rPr>
              <a:t> </a:t>
            </a:r>
            <a:r>
              <a:rPr sz="1100" spc="-35" dirty="0">
                <a:latin typeface="Tahoma"/>
                <a:cs typeface="Tahoma"/>
              </a:rPr>
              <a:t>vector</a:t>
            </a:r>
            <a:r>
              <a:rPr sz="1100" spc="-45" dirty="0">
                <a:latin typeface="Tahoma"/>
                <a:cs typeface="Tahoma"/>
              </a:rPr>
              <a:t> </a:t>
            </a:r>
            <a:r>
              <a:rPr sz="1100" spc="-10" dirty="0">
                <a:latin typeface="Tahoma"/>
                <a:cs typeface="Tahoma"/>
              </a:rPr>
              <a:t>on</a:t>
            </a:r>
            <a:r>
              <a:rPr sz="1100" spc="-45" dirty="0">
                <a:latin typeface="Tahoma"/>
                <a:cs typeface="Tahoma"/>
              </a:rPr>
              <a:t> </a:t>
            </a:r>
            <a:r>
              <a:rPr sz="1100" spc="-10" dirty="0">
                <a:latin typeface="Tahoma"/>
                <a:cs typeface="Tahoma"/>
              </a:rPr>
              <a:t>the</a:t>
            </a:r>
            <a:r>
              <a:rPr sz="1100" spc="-50" dirty="0">
                <a:latin typeface="Tahoma"/>
                <a:cs typeface="Tahoma"/>
              </a:rPr>
              <a:t> </a:t>
            </a:r>
            <a:r>
              <a:rPr sz="1100" i="1" spc="-55" dirty="0">
                <a:latin typeface="Arial"/>
                <a:cs typeface="Arial"/>
              </a:rPr>
              <a:t>y</a:t>
            </a:r>
            <a:r>
              <a:rPr sz="1100" i="1" spc="-190" dirty="0">
                <a:latin typeface="Arial"/>
                <a:cs typeface="Arial"/>
              </a:rPr>
              <a:t> </a:t>
            </a:r>
            <a:r>
              <a:rPr sz="1100" spc="-45" dirty="0">
                <a:latin typeface="Tahoma"/>
                <a:cs typeface="Tahoma"/>
              </a:rPr>
              <a:t>-</a:t>
            </a:r>
            <a:r>
              <a:rPr sz="1100" spc="-25" dirty="0">
                <a:latin typeface="Tahoma"/>
                <a:cs typeface="Tahoma"/>
              </a:rPr>
              <a:t>axis</a:t>
            </a:r>
            <a:r>
              <a:rPr sz="1100" spc="-50" dirty="0">
                <a:latin typeface="Tahoma"/>
                <a:cs typeface="Tahoma"/>
              </a:rPr>
              <a:t> </a:t>
            </a:r>
            <a:r>
              <a:rPr sz="1100" spc="-55" dirty="0">
                <a:latin typeface="Tahoma"/>
                <a:cs typeface="Tahoma"/>
              </a:rPr>
              <a:t>when</a:t>
            </a:r>
            <a:r>
              <a:rPr sz="1100" spc="-30" dirty="0">
                <a:latin typeface="Tahoma"/>
                <a:cs typeface="Tahoma"/>
              </a:rPr>
              <a:t> </a:t>
            </a:r>
            <a:r>
              <a:rPr sz="1100" spc="-40" dirty="0">
                <a:latin typeface="Tahoma"/>
                <a:cs typeface="Tahoma"/>
              </a:rPr>
              <a:t>scaled</a:t>
            </a:r>
            <a:r>
              <a:rPr sz="1100" spc="-45" dirty="0">
                <a:latin typeface="Tahoma"/>
                <a:cs typeface="Tahoma"/>
              </a:rPr>
              <a:t> </a:t>
            </a:r>
            <a:r>
              <a:rPr sz="1100" spc="-30" dirty="0">
                <a:latin typeface="Tahoma"/>
                <a:cs typeface="Tahoma"/>
              </a:rPr>
              <a:t>by</a:t>
            </a:r>
            <a:r>
              <a:rPr sz="1100" spc="-50" dirty="0">
                <a:latin typeface="Tahoma"/>
                <a:cs typeface="Tahoma"/>
              </a:rPr>
              <a:t> </a:t>
            </a:r>
            <a:r>
              <a:rPr sz="1100" spc="-35" dirty="0">
                <a:latin typeface="Tahoma"/>
                <a:cs typeface="Tahoma"/>
              </a:rPr>
              <a:t>any</a:t>
            </a:r>
            <a:r>
              <a:rPr sz="1100" spc="-50" dirty="0">
                <a:latin typeface="Tahoma"/>
                <a:cs typeface="Tahoma"/>
              </a:rPr>
              <a:t> </a:t>
            </a:r>
            <a:r>
              <a:rPr sz="1100" spc="-20" dirty="0">
                <a:latin typeface="Tahoma"/>
                <a:cs typeface="Tahoma"/>
              </a:rPr>
              <a:t>real</a:t>
            </a:r>
            <a:r>
              <a:rPr sz="1100" spc="-45" dirty="0">
                <a:latin typeface="Tahoma"/>
                <a:cs typeface="Tahoma"/>
              </a:rPr>
              <a:t> </a:t>
            </a:r>
            <a:r>
              <a:rPr sz="1100" spc="-40" dirty="0">
                <a:latin typeface="Tahoma"/>
                <a:cs typeface="Tahoma"/>
              </a:rPr>
              <a:t>number </a:t>
            </a:r>
            <a:r>
              <a:rPr sz="1100" spc="-25" dirty="0">
                <a:latin typeface="Tahoma"/>
                <a:cs typeface="Tahoma"/>
              </a:rPr>
              <a:t>(including</a:t>
            </a:r>
            <a:r>
              <a:rPr sz="1100" spc="-65" dirty="0">
                <a:latin typeface="Tahoma"/>
                <a:cs typeface="Tahoma"/>
              </a:rPr>
              <a:t> </a:t>
            </a:r>
            <a:r>
              <a:rPr sz="1100" dirty="0">
                <a:latin typeface="Tahoma"/>
                <a:cs typeface="Tahoma"/>
              </a:rPr>
              <a:t>0)</a:t>
            </a:r>
            <a:r>
              <a:rPr sz="1100" spc="-35" dirty="0">
                <a:latin typeface="Tahoma"/>
                <a:cs typeface="Tahoma"/>
              </a:rPr>
              <a:t> </a:t>
            </a:r>
            <a:r>
              <a:rPr sz="1100" dirty="0">
                <a:latin typeface="Tahoma"/>
                <a:cs typeface="Tahoma"/>
              </a:rPr>
              <a:t>will</a:t>
            </a:r>
            <a:r>
              <a:rPr sz="1100" spc="-40" dirty="0">
                <a:latin typeface="Tahoma"/>
                <a:cs typeface="Tahoma"/>
              </a:rPr>
              <a:t> </a:t>
            </a:r>
            <a:r>
              <a:rPr sz="1100" spc="-20" dirty="0">
                <a:latin typeface="Tahoma"/>
                <a:cs typeface="Tahoma"/>
              </a:rPr>
              <a:t>yield</a:t>
            </a:r>
            <a:r>
              <a:rPr sz="1100" spc="-40" dirty="0">
                <a:latin typeface="Tahoma"/>
                <a:cs typeface="Tahoma"/>
              </a:rPr>
              <a:t> </a:t>
            </a:r>
            <a:r>
              <a:rPr sz="1100" dirty="0">
                <a:latin typeface="Tahoma"/>
                <a:cs typeface="Tahoma"/>
              </a:rPr>
              <a:t>a</a:t>
            </a:r>
            <a:r>
              <a:rPr sz="1100" spc="-35" dirty="0">
                <a:latin typeface="Tahoma"/>
                <a:cs typeface="Tahoma"/>
              </a:rPr>
              <a:t> vector</a:t>
            </a:r>
            <a:r>
              <a:rPr sz="1100" spc="-40" dirty="0">
                <a:latin typeface="Tahoma"/>
                <a:cs typeface="Tahoma"/>
              </a:rPr>
              <a:t> </a:t>
            </a:r>
            <a:r>
              <a:rPr sz="1100" dirty="0">
                <a:latin typeface="Tahoma"/>
                <a:cs typeface="Tahoma"/>
              </a:rPr>
              <a:t>on</a:t>
            </a:r>
            <a:r>
              <a:rPr sz="1100" spc="-35" dirty="0">
                <a:latin typeface="Tahoma"/>
                <a:cs typeface="Tahoma"/>
              </a:rPr>
              <a:t> </a:t>
            </a:r>
            <a:r>
              <a:rPr sz="1100" i="1" spc="-55" dirty="0">
                <a:latin typeface="Arial"/>
                <a:cs typeface="Arial"/>
              </a:rPr>
              <a:t>y</a:t>
            </a:r>
            <a:r>
              <a:rPr sz="1100" i="1" spc="-190" dirty="0">
                <a:latin typeface="Arial"/>
                <a:cs typeface="Arial"/>
              </a:rPr>
              <a:t> </a:t>
            </a:r>
            <a:r>
              <a:rPr sz="1100" spc="-45" dirty="0">
                <a:latin typeface="Tahoma"/>
                <a:cs typeface="Tahoma"/>
              </a:rPr>
              <a:t>-</a:t>
            </a:r>
            <a:r>
              <a:rPr sz="1100" spc="-10" dirty="0">
                <a:latin typeface="Tahoma"/>
                <a:cs typeface="Tahoma"/>
              </a:rPr>
              <a:t>axis.</a:t>
            </a:r>
            <a:endParaRPr sz="1100" dirty="0">
              <a:latin typeface="Tahoma"/>
              <a:cs typeface="Tahoma"/>
            </a:endParaRPr>
          </a:p>
          <a:p>
            <a:pPr marL="214629" marR="30480" indent="-177165">
              <a:lnSpc>
                <a:spcPct val="102600"/>
              </a:lnSpc>
              <a:spcBef>
                <a:spcPts val="300"/>
              </a:spcBef>
              <a:buClr>
                <a:srgbClr val="3333B2"/>
              </a:buClr>
              <a:buFont typeface="Lucida Sans Unicode"/>
              <a:buChar char="►"/>
              <a:tabLst>
                <a:tab pos="214629" algn="l"/>
              </a:tabLst>
            </a:pPr>
            <a:r>
              <a:rPr sz="1100" dirty="0">
                <a:latin typeface="Tahoma"/>
                <a:cs typeface="Tahoma"/>
              </a:rPr>
              <a:t>What</a:t>
            </a:r>
            <a:r>
              <a:rPr sz="1100" spc="-90" dirty="0">
                <a:latin typeface="Tahoma"/>
                <a:cs typeface="Tahoma"/>
              </a:rPr>
              <a:t> </a:t>
            </a:r>
            <a:r>
              <a:rPr sz="1100" spc="-20" dirty="0">
                <a:latin typeface="Tahoma"/>
                <a:cs typeface="Tahoma"/>
              </a:rPr>
              <a:t>about</a:t>
            </a:r>
            <a:r>
              <a:rPr sz="1100" spc="-65" dirty="0">
                <a:latin typeface="Tahoma"/>
                <a:cs typeface="Tahoma"/>
              </a:rPr>
              <a:t> </a:t>
            </a:r>
            <a:r>
              <a:rPr sz="1100" spc="-55" dirty="0">
                <a:latin typeface="Tahoma"/>
                <a:cs typeface="Tahoma"/>
              </a:rPr>
              <a:t>when</a:t>
            </a:r>
            <a:r>
              <a:rPr sz="1100" spc="-35" dirty="0">
                <a:latin typeface="Tahoma"/>
                <a:cs typeface="Tahoma"/>
              </a:rPr>
              <a:t> </a:t>
            </a:r>
            <a:r>
              <a:rPr sz="1100" spc="-95" dirty="0">
                <a:latin typeface="Tahoma"/>
                <a:cs typeface="Tahoma"/>
              </a:rPr>
              <a:t>we</a:t>
            </a:r>
            <a:r>
              <a:rPr sz="1100" spc="10" dirty="0">
                <a:latin typeface="Tahoma"/>
                <a:cs typeface="Tahoma"/>
              </a:rPr>
              <a:t> </a:t>
            </a:r>
            <a:r>
              <a:rPr sz="1100" dirty="0">
                <a:latin typeface="Tahoma"/>
                <a:cs typeface="Tahoma"/>
              </a:rPr>
              <a:t>shift</a:t>
            </a:r>
            <a:r>
              <a:rPr sz="1100" spc="-60" dirty="0">
                <a:latin typeface="Tahoma"/>
                <a:cs typeface="Tahoma"/>
              </a:rPr>
              <a:t> </a:t>
            </a:r>
            <a:r>
              <a:rPr sz="1100" spc="-10" dirty="0">
                <a:latin typeface="Tahoma"/>
                <a:cs typeface="Tahoma"/>
              </a:rPr>
              <a:t>the</a:t>
            </a:r>
            <a:r>
              <a:rPr sz="1100" spc="-40" dirty="0">
                <a:latin typeface="Tahoma"/>
                <a:cs typeface="Tahoma"/>
              </a:rPr>
              <a:t> </a:t>
            </a:r>
            <a:r>
              <a:rPr sz="1100" i="1" spc="-55" dirty="0">
                <a:latin typeface="Arial"/>
                <a:cs typeface="Arial"/>
              </a:rPr>
              <a:t>y</a:t>
            </a:r>
            <a:r>
              <a:rPr sz="1100" i="1" spc="-190" dirty="0">
                <a:latin typeface="Arial"/>
                <a:cs typeface="Arial"/>
              </a:rPr>
              <a:t> </a:t>
            </a:r>
            <a:r>
              <a:rPr sz="1100" spc="-45" dirty="0">
                <a:latin typeface="Tahoma"/>
                <a:cs typeface="Tahoma"/>
              </a:rPr>
              <a:t>-</a:t>
            </a:r>
            <a:r>
              <a:rPr sz="1100" spc="-25" dirty="0">
                <a:latin typeface="Tahoma"/>
                <a:cs typeface="Tahoma"/>
              </a:rPr>
              <a:t>axis</a:t>
            </a:r>
            <a:r>
              <a:rPr sz="1100" spc="-50" dirty="0">
                <a:latin typeface="Tahoma"/>
                <a:cs typeface="Tahoma"/>
              </a:rPr>
              <a:t> </a:t>
            </a:r>
            <a:r>
              <a:rPr sz="1100" spc="-45" dirty="0">
                <a:latin typeface="Tahoma"/>
                <a:cs typeface="Tahoma"/>
              </a:rPr>
              <a:t>one</a:t>
            </a:r>
            <a:r>
              <a:rPr sz="1100" spc="-40" dirty="0">
                <a:latin typeface="Tahoma"/>
                <a:cs typeface="Tahoma"/>
              </a:rPr>
              <a:t> </a:t>
            </a:r>
            <a:r>
              <a:rPr sz="1100" dirty="0">
                <a:latin typeface="Tahoma"/>
                <a:cs typeface="Tahoma"/>
              </a:rPr>
              <a:t>unit</a:t>
            </a:r>
            <a:r>
              <a:rPr sz="1100" spc="-45" dirty="0">
                <a:latin typeface="Tahoma"/>
                <a:cs typeface="Tahoma"/>
              </a:rPr>
              <a:t> </a:t>
            </a:r>
            <a:r>
              <a:rPr sz="1100" dirty="0">
                <a:latin typeface="Tahoma"/>
                <a:cs typeface="Tahoma"/>
              </a:rPr>
              <a:t>to</a:t>
            </a:r>
            <a:r>
              <a:rPr sz="1100" spc="-50" dirty="0">
                <a:latin typeface="Tahoma"/>
                <a:cs typeface="Tahoma"/>
              </a:rPr>
              <a:t> </a:t>
            </a:r>
            <a:r>
              <a:rPr sz="1100" spc="-10" dirty="0">
                <a:latin typeface="Tahoma"/>
                <a:cs typeface="Tahoma"/>
              </a:rPr>
              <a:t>the</a:t>
            </a:r>
            <a:r>
              <a:rPr sz="1100" spc="-40" dirty="0">
                <a:latin typeface="Tahoma"/>
                <a:cs typeface="Tahoma"/>
              </a:rPr>
              <a:t> </a:t>
            </a:r>
            <a:r>
              <a:rPr sz="1100" spc="-10" dirty="0">
                <a:latin typeface="Tahoma"/>
                <a:cs typeface="Tahoma"/>
              </a:rPr>
              <a:t>right,</a:t>
            </a:r>
            <a:r>
              <a:rPr sz="1100" spc="-45" dirty="0">
                <a:latin typeface="Tahoma"/>
                <a:cs typeface="Tahoma"/>
              </a:rPr>
              <a:t> </a:t>
            </a:r>
            <a:r>
              <a:rPr sz="1100" spc="-25" dirty="0">
                <a:latin typeface="Tahoma"/>
                <a:cs typeface="Tahoma"/>
              </a:rPr>
              <a:t>i.e </a:t>
            </a:r>
            <a:r>
              <a:rPr sz="1100" dirty="0">
                <a:latin typeface="Lucida Sans Unicode"/>
                <a:cs typeface="Lucida Sans Unicode"/>
              </a:rPr>
              <a:t>U</a:t>
            </a:r>
            <a:r>
              <a:rPr sz="1100" spc="20" dirty="0">
                <a:latin typeface="Lucida Sans Unicode"/>
                <a:cs typeface="Lucida Sans Unicode"/>
              </a:rPr>
              <a:t> </a:t>
            </a:r>
            <a:r>
              <a:rPr sz="1100" dirty="0">
                <a:latin typeface="Tahoma"/>
                <a:cs typeface="Tahoma"/>
              </a:rPr>
              <a:t>=</a:t>
            </a:r>
            <a:r>
              <a:rPr sz="1100" spc="-65" dirty="0">
                <a:latin typeface="Tahoma"/>
                <a:cs typeface="Tahoma"/>
              </a:rPr>
              <a:t> </a:t>
            </a:r>
            <a:r>
              <a:rPr sz="1100" spc="60" dirty="0">
                <a:latin typeface="Lucida Sans Unicode"/>
                <a:cs typeface="Lucida Sans Unicode"/>
              </a:rPr>
              <a:t>{</a:t>
            </a:r>
            <a:r>
              <a:rPr sz="1100" i="1" spc="60" dirty="0">
                <a:latin typeface="Arial"/>
                <a:cs typeface="Arial"/>
              </a:rPr>
              <a:t>x </a:t>
            </a:r>
            <a:r>
              <a:rPr sz="1100" dirty="0">
                <a:latin typeface="Tahoma"/>
                <a:cs typeface="Tahoma"/>
              </a:rPr>
              <a:t>=</a:t>
            </a:r>
            <a:r>
              <a:rPr sz="1100" spc="-65" dirty="0">
                <a:latin typeface="Tahoma"/>
                <a:cs typeface="Tahoma"/>
              </a:rPr>
              <a:t> </a:t>
            </a:r>
            <a:r>
              <a:rPr sz="1100" dirty="0">
                <a:latin typeface="Tahoma"/>
                <a:cs typeface="Tahoma"/>
              </a:rPr>
              <a:t>1</a:t>
            </a:r>
            <a:r>
              <a:rPr sz="1100" dirty="0">
                <a:latin typeface="Lucida Sans Unicode"/>
                <a:cs typeface="Lucida Sans Unicode"/>
              </a:rPr>
              <a:t>}</a:t>
            </a:r>
            <a:r>
              <a:rPr sz="1100" dirty="0">
                <a:latin typeface="Tahoma"/>
                <a:cs typeface="Tahoma"/>
              </a:rPr>
              <a:t>?</a:t>
            </a:r>
            <a:r>
              <a:rPr sz="1100" spc="95" dirty="0">
                <a:latin typeface="Tahoma"/>
                <a:cs typeface="Tahoma"/>
              </a:rPr>
              <a:t> </a:t>
            </a:r>
            <a:endParaRPr lang="en-IN" sz="1100" spc="95" dirty="0">
              <a:latin typeface="Tahoma"/>
              <a:cs typeface="Tahoma"/>
            </a:endParaRPr>
          </a:p>
          <a:p>
            <a:pPr marL="37464" marR="30480">
              <a:lnSpc>
                <a:spcPct val="102600"/>
              </a:lnSpc>
              <a:spcBef>
                <a:spcPts val="300"/>
              </a:spcBef>
              <a:buClr>
                <a:srgbClr val="3333B2"/>
              </a:buClr>
              <a:tabLst>
                <a:tab pos="214629" algn="l"/>
              </a:tabLst>
            </a:pPr>
            <a:r>
              <a:rPr sz="1100" spc="-35" dirty="0">
                <a:latin typeface="Tahoma"/>
                <a:cs typeface="Tahoma"/>
              </a:rPr>
              <a:t>Answer:</a:t>
            </a:r>
            <a:r>
              <a:rPr sz="1100" spc="100" dirty="0">
                <a:latin typeface="Tahoma"/>
                <a:cs typeface="Tahoma"/>
              </a:rPr>
              <a:t> </a:t>
            </a:r>
            <a:r>
              <a:rPr sz="1100" dirty="0">
                <a:latin typeface="Tahoma"/>
                <a:cs typeface="Tahoma"/>
              </a:rPr>
              <a:t>We</a:t>
            </a:r>
            <a:r>
              <a:rPr sz="1100" spc="-15" dirty="0">
                <a:latin typeface="Tahoma"/>
                <a:cs typeface="Tahoma"/>
              </a:rPr>
              <a:t> </a:t>
            </a:r>
            <a:r>
              <a:rPr sz="1100" spc="-10" dirty="0">
                <a:latin typeface="Tahoma"/>
                <a:cs typeface="Tahoma"/>
              </a:rPr>
              <a:t>no</a:t>
            </a:r>
            <a:r>
              <a:rPr sz="1100" spc="-15" dirty="0">
                <a:latin typeface="Tahoma"/>
                <a:cs typeface="Tahoma"/>
              </a:rPr>
              <a:t> </a:t>
            </a:r>
            <a:r>
              <a:rPr sz="1100" spc="-40" dirty="0">
                <a:latin typeface="Tahoma"/>
                <a:cs typeface="Tahoma"/>
              </a:rPr>
              <a:t>longer</a:t>
            </a:r>
            <a:r>
              <a:rPr sz="1100" spc="-15" dirty="0">
                <a:latin typeface="Tahoma"/>
                <a:cs typeface="Tahoma"/>
              </a:rPr>
              <a:t> </a:t>
            </a:r>
            <a:r>
              <a:rPr sz="1100" spc="-55" dirty="0">
                <a:latin typeface="Tahoma"/>
                <a:cs typeface="Tahoma"/>
              </a:rPr>
              <a:t>have</a:t>
            </a:r>
            <a:r>
              <a:rPr sz="1100" spc="-10" dirty="0">
                <a:latin typeface="Tahoma"/>
                <a:cs typeface="Tahoma"/>
              </a:rPr>
              <a:t> </a:t>
            </a:r>
            <a:r>
              <a:rPr sz="1100" dirty="0">
                <a:latin typeface="Tahoma"/>
                <a:cs typeface="Tahoma"/>
              </a:rPr>
              <a:t>a</a:t>
            </a:r>
            <a:r>
              <a:rPr sz="1100" spc="-15" dirty="0">
                <a:latin typeface="Tahoma"/>
                <a:cs typeface="Tahoma"/>
              </a:rPr>
              <a:t> </a:t>
            </a:r>
            <a:r>
              <a:rPr sz="1100" spc="-35" dirty="0">
                <a:latin typeface="Tahoma"/>
                <a:cs typeface="Tahoma"/>
              </a:rPr>
              <a:t>vector</a:t>
            </a:r>
            <a:r>
              <a:rPr sz="1100" spc="-10" dirty="0">
                <a:latin typeface="Tahoma"/>
                <a:cs typeface="Tahoma"/>
              </a:rPr>
              <a:t> subspace </a:t>
            </a:r>
            <a:r>
              <a:rPr sz="1100" spc="-35" dirty="0">
                <a:latin typeface="Tahoma"/>
                <a:cs typeface="Tahoma"/>
              </a:rPr>
              <a:t>since</a:t>
            </a:r>
            <a:r>
              <a:rPr sz="1100" spc="-50" dirty="0">
                <a:latin typeface="Tahoma"/>
                <a:cs typeface="Tahoma"/>
              </a:rPr>
              <a:t> </a:t>
            </a:r>
            <a:r>
              <a:rPr sz="1100" spc="-30" dirty="0">
                <a:latin typeface="Tahoma"/>
                <a:cs typeface="Tahoma"/>
              </a:rPr>
              <a:t>scaling</a:t>
            </a:r>
            <a:r>
              <a:rPr sz="1100" spc="-40" dirty="0">
                <a:latin typeface="Tahoma"/>
                <a:cs typeface="Tahoma"/>
              </a:rPr>
              <a:t> </a:t>
            </a:r>
            <a:r>
              <a:rPr sz="1100" dirty="0">
                <a:latin typeface="Tahoma"/>
                <a:cs typeface="Tahoma"/>
              </a:rPr>
              <a:t>with</a:t>
            </a:r>
            <a:r>
              <a:rPr sz="1100" spc="-35" dirty="0">
                <a:latin typeface="Tahoma"/>
                <a:cs typeface="Tahoma"/>
              </a:rPr>
              <a:t> </a:t>
            </a:r>
            <a:r>
              <a:rPr sz="1100" spc="-40" dirty="0">
                <a:latin typeface="Tahoma"/>
                <a:cs typeface="Tahoma"/>
              </a:rPr>
              <a:t>respect</a:t>
            </a:r>
            <a:r>
              <a:rPr sz="1100" spc="-45" dirty="0">
                <a:latin typeface="Tahoma"/>
                <a:cs typeface="Tahoma"/>
              </a:rPr>
              <a:t> </a:t>
            </a:r>
            <a:r>
              <a:rPr sz="1100" dirty="0">
                <a:latin typeface="Tahoma"/>
                <a:cs typeface="Tahoma"/>
              </a:rPr>
              <a:t>to</a:t>
            </a:r>
            <a:r>
              <a:rPr sz="1100" spc="-35" dirty="0">
                <a:latin typeface="Tahoma"/>
                <a:cs typeface="Tahoma"/>
              </a:rPr>
              <a:t> </a:t>
            </a:r>
            <a:r>
              <a:rPr sz="1100" spc="-10" dirty="0">
                <a:latin typeface="Tahoma"/>
                <a:cs typeface="Tahoma"/>
              </a:rPr>
              <a:t>the</a:t>
            </a:r>
            <a:r>
              <a:rPr sz="1100" spc="-40" dirty="0">
                <a:latin typeface="Tahoma"/>
                <a:cs typeface="Tahoma"/>
              </a:rPr>
              <a:t> </a:t>
            </a:r>
            <a:r>
              <a:rPr sz="1100" spc="-25" dirty="0">
                <a:latin typeface="Tahoma"/>
                <a:cs typeface="Tahoma"/>
              </a:rPr>
              <a:t>outer</a:t>
            </a:r>
            <a:r>
              <a:rPr sz="1100" spc="-40" dirty="0">
                <a:latin typeface="Tahoma"/>
                <a:cs typeface="Tahoma"/>
              </a:rPr>
              <a:t> </a:t>
            </a:r>
            <a:r>
              <a:rPr sz="1100" spc="-30" dirty="0">
                <a:latin typeface="Tahoma"/>
                <a:cs typeface="Tahoma"/>
              </a:rPr>
              <a:t>operation</a:t>
            </a:r>
            <a:r>
              <a:rPr sz="1100" spc="-35" dirty="0">
                <a:latin typeface="Tahoma"/>
                <a:cs typeface="Tahoma"/>
              </a:rPr>
              <a:t> </a:t>
            </a:r>
            <a:r>
              <a:rPr sz="1100" spc="-55" dirty="0">
                <a:latin typeface="Tahoma"/>
                <a:cs typeface="Tahoma"/>
              </a:rPr>
              <a:t>does</a:t>
            </a:r>
            <a:r>
              <a:rPr sz="1100" spc="-35" dirty="0">
                <a:latin typeface="Tahoma"/>
                <a:cs typeface="Tahoma"/>
              </a:rPr>
              <a:t> </a:t>
            </a:r>
            <a:r>
              <a:rPr sz="1100" spc="-25" dirty="0">
                <a:latin typeface="Tahoma"/>
                <a:cs typeface="Tahoma"/>
              </a:rPr>
              <a:t>not </a:t>
            </a:r>
            <a:r>
              <a:rPr sz="1100" spc="-55" dirty="0">
                <a:latin typeface="Tahoma"/>
                <a:cs typeface="Tahoma"/>
              </a:rPr>
              <a:t>have</a:t>
            </a:r>
            <a:r>
              <a:rPr sz="1100" spc="-35" dirty="0">
                <a:latin typeface="Tahoma"/>
                <a:cs typeface="Tahoma"/>
              </a:rPr>
              <a:t> </a:t>
            </a:r>
            <a:r>
              <a:rPr sz="1100" spc="-10" dirty="0">
                <a:latin typeface="Tahoma"/>
                <a:cs typeface="Tahoma"/>
              </a:rPr>
              <a:t>the</a:t>
            </a:r>
            <a:r>
              <a:rPr sz="1100" spc="-55" dirty="0">
                <a:latin typeface="Tahoma"/>
                <a:cs typeface="Tahoma"/>
              </a:rPr>
              <a:t> </a:t>
            </a:r>
            <a:r>
              <a:rPr sz="1100" spc="-40" dirty="0">
                <a:latin typeface="Tahoma"/>
                <a:cs typeface="Tahoma"/>
              </a:rPr>
              <a:t>closure</a:t>
            </a:r>
            <a:r>
              <a:rPr sz="1100" spc="-45" dirty="0">
                <a:latin typeface="Tahoma"/>
                <a:cs typeface="Tahoma"/>
              </a:rPr>
              <a:t> </a:t>
            </a:r>
            <a:r>
              <a:rPr sz="1100" spc="-10" dirty="0">
                <a:latin typeface="Tahoma"/>
                <a:cs typeface="Tahoma"/>
              </a:rPr>
              <a:t>property.</a:t>
            </a:r>
            <a:endParaRPr sz="1100" dirty="0">
              <a:latin typeface="Tahoma"/>
              <a:cs typeface="Tahoma"/>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More</a:t>
            </a:r>
            <a:r>
              <a:rPr spc="-85" dirty="0"/>
              <a:t> </a:t>
            </a:r>
            <a:r>
              <a:rPr spc="-65" dirty="0"/>
              <a:t>examples</a:t>
            </a:r>
          </a:p>
        </p:txBody>
      </p:sp>
      <p:sp>
        <p:nvSpPr>
          <p:cNvPr id="3" name="object 3"/>
          <p:cNvSpPr txBox="1"/>
          <p:nvPr/>
        </p:nvSpPr>
        <p:spPr>
          <a:xfrm>
            <a:off x="247650" y="892176"/>
            <a:ext cx="3998911" cy="1502591"/>
          </a:xfrm>
          <a:prstGeom prst="rect">
            <a:avLst/>
          </a:prstGeom>
        </p:spPr>
        <p:txBody>
          <a:bodyPr vert="horz" wrap="square" lIns="0" tIns="6985" rIns="0" bIns="0" rtlCol="0">
            <a:spAutoFit/>
          </a:bodyPr>
          <a:lstStyle/>
          <a:p>
            <a:pPr marL="214629" marR="30480" indent="-177165">
              <a:lnSpc>
                <a:spcPct val="102600"/>
              </a:lnSpc>
              <a:spcBef>
                <a:spcPts val="55"/>
              </a:spcBef>
              <a:buClr>
                <a:srgbClr val="3333B2"/>
              </a:buClr>
              <a:buFont typeface="Lucida Sans Unicode"/>
              <a:buChar char="►"/>
              <a:tabLst>
                <a:tab pos="214629" algn="l"/>
              </a:tabLst>
            </a:pPr>
            <a:r>
              <a:rPr sz="1100" dirty="0">
                <a:latin typeface="Tahoma"/>
                <a:cs typeface="Tahoma"/>
              </a:rPr>
              <a:t>What</a:t>
            </a:r>
            <a:r>
              <a:rPr sz="1100" spc="-40" dirty="0">
                <a:latin typeface="Tahoma"/>
                <a:cs typeface="Tahoma"/>
              </a:rPr>
              <a:t> </a:t>
            </a:r>
            <a:r>
              <a:rPr sz="1100" spc="-20" dirty="0">
                <a:latin typeface="Tahoma"/>
                <a:cs typeface="Tahoma"/>
              </a:rPr>
              <a:t>about</a:t>
            </a:r>
            <a:r>
              <a:rPr sz="1100" spc="-35" dirty="0">
                <a:latin typeface="Tahoma"/>
                <a:cs typeface="Tahoma"/>
              </a:rPr>
              <a:t> </a:t>
            </a:r>
            <a:r>
              <a:rPr sz="1100" spc="-10" dirty="0">
                <a:latin typeface="Tahoma"/>
                <a:cs typeface="Tahoma"/>
              </a:rPr>
              <a:t>the</a:t>
            </a:r>
            <a:r>
              <a:rPr sz="1100" spc="-30" dirty="0">
                <a:latin typeface="Tahoma"/>
                <a:cs typeface="Tahoma"/>
              </a:rPr>
              <a:t> </a:t>
            </a:r>
            <a:r>
              <a:rPr sz="1100" spc="-45" dirty="0">
                <a:latin typeface="Tahoma"/>
                <a:cs typeface="Tahoma"/>
              </a:rPr>
              <a:t>subset</a:t>
            </a:r>
            <a:r>
              <a:rPr sz="1100" spc="-30" dirty="0">
                <a:latin typeface="Tahoma"/>
                <a:cs typeface="Tahoma"/>
              </a:rPr>
              <a:t> </a:t>
            </a:r>
            <a:r>
              <a:rPr sz="1100" dirty="0">
                <a:latin typeface="Tahoma"/>
                <a:cs typeface="Tahoma"/>
              </a:rPr>
              <a:t>of</a:t>
            </a:r>
            <a:r>
              <a:rPr sz="1100" spc="-30" dirty="0">
                <a:latin typeface="Tahoma"/>
                <a:cs typeface="Tahoma"/>
              </a:rPr>
              <a:t> </a:t>
            </a:r>
            <a:r>
              <a:rPr sz="1100" dirty="0">
                <a:latin typeface="Arial MT"/>
                <a:cs typeface="Arial MT"/>
              </a:rPr>
              <a:t>R</a:t>
            </a:r>
            <a:r>
              <a:rPr sz="1200" baseline="27777" dirty="0">
                <a:latin typeface="Tahoma"/>
                <a:cs typeface="Tahoma"/>
              </a:rPr>
              <a:t>2</a:t>
            </a:r>
            <a:r>
              <a:rPr sz="1200" spc="157" baseline="27777" dirty="0">
                <a:latin typeface="Tahoma"/>
                <a:cs typeface="Tahoma"/>
              </a:rPr>
              <a:t> </a:t>
            </a:r>
            <a:r>
              <a:rPr sz="1100" dirty="0">
                <a:latin typeface="Tahoma"/>
                <a:cs typeface="Tahoma"/>
              </a:rPr>
              <a:t>that</a:t>
            </a:r>
            <a:r>
              <a:rPr sz="1100" spc="-30" dirty="0">
                <a:latin typeface="Tahoma"/>
                <a:cs typeface="Tahoma"/>
              </a:rPr>
              <a:t> </a:t>
            </a:r>
            <a:r>
              <a:rPr sz="1100" spc="-55" dirty="0">
                <a:latin typeface="Tahoma"/>
                <a:cs typeface="Tahoma"/>
              </a:rPr>
              <a:t>represents</a:t>
            </a:r>
            <a:r>
              <a:rPr sz="1100" spc="-35" dirty="0">
                <a:latin typeface="Tahoma"/>
                <a:cs typeface="Tahoma"/>
              </a:rPr>
              <a:t> </a:t>
            </a:r>
            <a:r>
              <a:rPr sz="1100" dirty="0">
                <a:latin typeface="Tahoma"/>
                <a:cs typeface="Tahoma"/>
              </a:rPr>
              <a:t>a</a:t>
            </a:r>
            <a:r>
              <a:rPr sz="1100" spc="-25" dirty="0">
                <a:latin typeface="Tahoma"/>
                <a:cs typeface="Tahoma"/>
              </a:rPr>
              <a:t> </a:t>
            </a:r>
            <a:r>
              <a:rPr sz="1100" spc="-65" dirty="0">
                <a:latin typeface="Tahoma"/>
                <a:cs typeface="Tahoma"/>
              </a:rPr>
              <a:t>square</a:t>
            </a:r>
            <a:r>
              <a:rPr sz="1100" spc="-25" dirty="0">
                <a:latin typeface="Tahoma"/>
                <a:cs typeface="Tahoma"/>
              </a:rPr>
              <a:t> </a:t>
            </a:r>
            <a:r>
              <a:rPr lang="en-IN" sz="1100" spc="-25" dirty="0">
                <a:latin typeface="Tahoma"/>
                <a:cs typeface="Tahoma"/>
              </a:rPr>
              <a:t>region </a:t>
            </a:r>
            <a:r>
              <a:rPr sz="1100" spc="-45" dirty="0">
                <a:latin typeface="Tahoma"/>
                <a:cs typeface="Tahoma"/>
              </a:rPr>
              <a:t>around </a:t>
            </a:r>
            <a:r>
              <a:rPr sz="1100" spc="-10" dirty="0">
                <a:latin typeface="Tahoma"/>
                <a:cs typeface="Tahoma"/>
              </a:rPr>
              <a:t>the</a:t>
            </a:r>
            <a:r>
              <a:rPr sz="1100" spc="-80" dirty="0">
                <a:latin typeface="Tahoma"/>
                <a:cs typeface="Tahoma"/>
              </a:rPr>
              <a:t> </a:t>
            </a:r>
            <a:r>
              <a:rPr sz="1100" spc="-30" dirty="0">
                <a:latin typeface="Tahoma"/>
                <a:cs typeface="Tahoma"/>
              </a:rPr>
              <a:t>origin</a:t>
            </a:r>
            <a:r>
              <a:rPr sz="1100" spc="-55" dirty="0">
                <a:latin typeface="Tahoma"/>
                <a:cs typeface="Tahoma"/>
              </a:rPr>
              <a:t> </a:t>
            </a:r>
            <a:r>
              <a:rPr sz="1100" dirty="0">
                <a:latin typeface="Tahoma"/>
                <a:cs typeface="Tahoma"/>
              </a:rPr>
              <a:t>,</a:t>
            </a:r>
            <a:r>
              <a:rPr sz="1100" spc="-35" dirty="0">
                <a:latin typeface="Tahoma"/>
                <a:cs typeface="Tahoma"/>
              </a:rPr>
              <a:t> </a:t>
            </a:r>
            <a:r>
              <a:rPr sz="1100" spc="-20" dirty="0">
                <a:latin typeface="Tahoma"/>
                <a:cs typeface="Tahoma"/>
              </a:rPr>
              <a:t>i.e</a:t>
            </a:r>
            <a:r>
              <a:rPr sz="1100" spc="-25" dirty="0">
                <a:latin typeface="Tahoma"/>
                <a:cs typeface="Tahoma"/>
              </a:rPr>
              <a:t> </a:t>
            </a:r>
            <a:r>
              <a:rPr sz="1100" spc="-55" dirty="0">
                <a:latin typeface="Lucida Sans Unicode"/>
                <a:cs typeface="Lucida Sans Unicode"/>
              </a:rPr>
              <a:t>−</a:t>
            </a:r>
            <a:r>
              <a:rPr sz="1100" spc="-55" dirty="0">
                <a:latin typeface="Tahoma"/>
                <a:cs typeface="Tahoma"/>
              </a:rPr>
              <a:t>1</a:t>
            </a:r>
            <a:r>
              <a:rPr sz="1100" spc="-45" dirty="0">
                <a:latin typeface="Tahoma"/>
                <a:cs typeface="Tahoma"/>
              </a:rPr>
              <a:t> </a:t>
            </a:r>
            <a:r>
              <a:rPr sz="1100" dirty="0">
                <a:latin typeface="Lucida Sans Unicode"/>
                <a:cs typeface="Lucida Sans Unicode"/>
              </a:rPr>
              <a:t>≤</a:t>
            </a:r>
            <a:r>
              <a:rPr sz="1100" spc="-80" dirty="0">
                <a:latin typeface="Lucida Sans Unicode"/>
                <a:cs typeface="Lucida Sans Unicode"/>
              </a:rPr>
              <a:t> </a:t>
            </a:r>
            <a:r>
              <a:rPr sz="1100" i="1" dirty="0">
                <a:latin typeface="Arial"/>
                <a:cs typeface="Arial"/>
              </a:rPr>
              <a:t>x</a:t>
            </a:r>
            <a:r>
              <a:rPr sz="1100" i="1" spc="50" dirty="0">
                <a:latin typeface="Arial"/>
                <a:cs typeface="Arial"/>
              </a:rPr>
              <a:t> </a:t>
            </a:r>
            <a:r>
              <a:rPr sz="1100" dirty="0">
                <a:latin typeface="Lucida Sans Unicode"/>
                <a:cs typeface="Lucida Sans Unicode"/>
              </a:rPr>
              <a:t>≤</a:t>
            </a:r>
            <a:r>
              <a:rPr sz="1100" spc="-85" dirty="0">
                <a:latin typeface="Lucida Sans Unicode"/>
                <a:cs typeface="Lucida Sans Unicode"/>
              </a:rPr>
              <a:t> </a:t>
            </a:r>
            <a:r>
              <a:rPr sz="1100" spc="-25" dirty="0">
                <a:latin typeface="Tahoma"/>
                <a:cs typeface="Tahoma"/>
              </a:rPr>
              <a:t>1</a:t>
            </a:r>
            <a:r>
              <a:rPr sz="1100" i="1" spc="-25" dirty="0">
                <a:latin typeface="Calibri"/>
                <a:cs typeface="Calibri"/>
              </a:rPr>
              <a:t>,</a:t>
            </a:r>
            <a:r>
              <a:rPr sz="1100" i="1" spc="-70" dirty="0">
                <a:latin typeface="Calibri"/>
                <a:cs typeface="Calibri"/>
              </a:rPr>
              <a:t> </a:t>
            </a:r>
            <a:r>
              <a:rPr sz="1100" spc="-55" dirty="0">
                <a:latin typeface="Lucida Sans Unicode"/>
                <a:cs typeface="Lucida Sans Unicode"/>
              </a:rPr>
              <a:t>−</a:t>
            </a:r>
            <a:r>
              <a:rPr sz="1100" spc="-55" dirty="0">
                <a:latin typeface="Tahoma"/>
                <a:cs typeface="Tahoma"/>
              </a:rPr>
              <a:t>1</a:t>
            </a:r>
            <a:r>
              <a:rPr sz="1100" spc="-45" dirty="0">
                <a:latin typeface="Tahoma"/>
                <a:cs typeface="Tahoma"/>
              </a:rPr>
              <a:t> </a:t>
            </a:r>
            <a:r>
              <a:rPr sz="1100" dirty="0">
                <a:latin typeface="Lucida Sans Unicode"/>
                <a:cs typeface="Lucida Sans Unicode"/>
              </a:rPr>
              <a:t>≤</a:t>
            </a:r>
            <a:r>
              <a:rPr sz="1100" spc="-80" dirty="0">
                <a:latin typeface="Lucida Sans Unicode"/>
                <a:cs typeface="Lucida Sans Unicode"/>
              </a:rPr>
              <a:t> </a:t>
            </a:r>
            <a:r>
              <a:rPr sz="1100" i="1" dirty="0">
                <a:latin typeface="Arial"/>
                <a:cs typeface="Arial"/>
              </a:rPr>
              <a:t>y</a:t>
            </a:r>
            <a:r>
              <a:rPr sz="1100" i="1" spc="65" dirty="0">
                <a:latin typeface="Arial"/>
                <a:cs typeface="Arial"/>
              </a:rPr>
              <a:t> </a:t>
            </a:r>
            <a:r>
              <a:rPr sz="1100" dirty="0">
                <a:latin typeface="Lucida Sans Unicode"/>
                <a:cs typeface="Lucida Sans Unicode"/>
              </a:rPr>
              <a:t>≤</a:t>
            </a:r>
            <a:r>
              <a:rPr sz="1100" spc="-80" dirty="0">
                <a:latin typeface="Lucida Sans Unicode"/>
                <a:cs typeface="Lucida Sans Unicode"/>
              </a:rPr>
              <a:t> </a:t>
            </a:r>
            <a:r>
              <a:rPr sz="1100" dirty="0">
                <a:latin typeface="Tahoma"/>
                <a:cs typeface="Tahoma"/>
              </a:rPr>
              <a:t>1?</a:t>
            </a:r>
            <a:r>
              <a:rPr sz="1100" spc="80" dirty="0">
                <a:latin typeface="Tahoma"/>
                <a:cs typeface="Tahoma"/>
              </a:rPr>
              <a:t> </a:t>
            </a:r>
            <a:r>
              <a:rPr sz="1100" dirty="0">
                <a:latin typeface="Tahoma"/>
                <a:cs typeface="Tahoma"/>
              </a:rPr>
              <a:t>This</a:t>
            </a:r>
            <a:r>
              <a:rPr sz="1100" spc="-20" dirty="0">
                <a:latin typeface="Tahoma"/>
                <a:cs typeface="Tahoma"/>
              </a:rPr>
              <a:t> </a:t>
            </a:r>
            <a:r>
              <a:rPr sz="1100" dirty="0">
                <a:latin typeface="Tahoma"/>
                <a:cs typeface="Tahoma"/>
              </a:rPr>
              <a:t>is</a:t>
            </a:r>
            <a:r>
              <a:rPr sz="1100" spc="-30" dirty="0">
                <a:latin typeface="Tahoma"/>
                <a:cs typeface="Tahoma"/>
              </a:rPr>
              <a:t> again</a:t>
            </a:r>
            <a:r>
              <a:rPr sz="1100" spc="-25" dirty="0">
                <a:latin typeface="Tahoma"/>
                <a:cs typeface="Tahoma"/>
              </a:rPr>
              <a:t> </a:t>
            </a:r>
            <a:r>
              <a:rPr sz="1100" dirty="0">
                <a:latin typeface="Tahoma"/>
                <a:cs typeface="Tahoma"/>
              </a:rPr>
              <a:t>not</a:t>
            </a:r>
            <a:r>
              <a:rPr sz="1100" spc="-25" dirty="0">
                <a:latin typeface="Tahoma"/>
                <a:cs typeface="Tahoma"/>
              </a:rPr>
              <a:t> </a:t>
            </a:r>
            <a:r>
              <a:rPr sz="1100" spc="-50" dirty="0">
                <a:latin typeface="Tahoma"/>
                <a:cs typeface="Tahoma"/>
              </a:rPr>
              <a:t>a </a:t>
            </a:r>
            <a:r>
              <a:rPr sz="1100" spc="-10" dirty="0">
                <a:latin typeface="Tahoma"/>
                <a:cs typeface="Tahoma"/>
              </a:rPr>
              <a:t>subspace.</a:t>
            </a:r>
            <a:r>
              <a:rPr lang="en-IN" sz="1100" spc="-10" dirty="0">
                <a:latin typeface="Tahoma"/>
                <a:cs typeface="Tahoma"/>
              </a:rPr>
              <a:t> Why?</a:t>
            </a:r>
            <a:endParaRPr sz="1100" dirty="0">
              <a:latin typeface="Tahoma"/>
              <a:cs typeface="Tahoma"/>
            </a:endParaRPr>
          </a:p>
          <a:p>
            <a:pPr marL="214629" marR="104775" indent="-177165">
              <a:lnSpc>
                <a:spcPct val="102600"/>
              </a:lnSpc>
              <a:spcBef>
                <a:spcPts val="300"/>
              </a:spcBef>
              <a:buClr>
                <a:srgbClr val="3333B2"/>
              </a:buClr>
              <a:buFont typeface="Lucida Sans Unicode"/>
              <a:buChar char="►"/>
              <a:tabLst>
                <a:tab pos="214629" algn="l"/>
              </a:tabLst>
            </a:pPr>
            <a:r>
              <a:rPr lang="en-IN" sz="1100" spc="-10" dirty="0">
                <a:latin typeface="Tahoma"/>
                <a:cs typeface="Tahoma"/>
              </a:rPr>
              <a:t>Let A be a fixed </a:t>
            </a:r>
            <a:r>
              <a:rPr lang="en-IN" sz="1100" spc="-10" dirty="0" err="1">
                <a:latin typeface="Tahoma"/>
                <a:cs typeface="Tahoma"/>
              </a:rPr>
              <a:t>mxn</a:t>
            </a:r>
            <a:r>
              <a:rPr lang="en-IN" sz="1100" spc="-10" dirty="0">
                <a:latin typeface="Tahoma"/>
                <a:cs typeface="Tahoma"/>
              </a:rPr>
              <a:t> </a:t>
            </a:r>
            <a:r>
              <a:rPr lang="en-IN" sz="1100" spc="-10" dirty="0" err="1">
                <a:latin typeface="Tahoma"/>
                <a:cs typeface="Tahoma"/>
              </a:rPr>
              <a:t>matrix.T</a:t>
            </a:r>
            <a:r>
              <a:rPr sz="1100" spc="-10" dirty="0">
                <a:latin typeface="Tahoma"/>
                <a:cs typeface="Tahoma"/>
              </a:rPr>
              <a:t>he</a:t>
            </a:r>
            <a:r>
              <a:rPr sz="1100" spc="-40" dirty="0">
                <a:latin typeface="Tahoma"/>
                <a:cs typeface="Tahoma"/>
              </a:rPr>
              <a:t> </a:t>
            </a:r>
            <a:r>
              <a:rPr sz="1100" spc="-20" dirty="0">
                <a:latin typeface="Tahoma"/>
                <a:cs typeface="Tahoma"/>
              </a:rPr>
              <a:t>set</a:t>
            </a:r>
            <a:r>
              <a:rPr sz="1100" spc="-45" dirty="0">
                <a:latin typeface="Tahoma"/>
                <a:cs typeface="Tahoma"/>
              </a:rPr>
              <a:t> </a:t>
            </a:r>
            <a:r>
              <a:rPr sz="1100" dirty="0">
                <a:latin typeface="Tahoma"/>
                <a:cs typeface="Tahoma"/>
              </a:rPr>
              <a:t>of</a:t>
            </a:r>
            <a:r>
              <a:rPr sz="1100" spc="-40" dirty="0">
                <a:latin typeface="Tahoma"/>
                <a:cs typeface="Tahoma"/>
              </a:rPr>
              <a:t> </a:t>
            </a:r>
            <a:r>
              <a:rPr sz="1100" spc="-30" dirty="0">
                <a:latin typeface="Tahoma"/>
                <a:cs typeface="Tahoma"/>
              </a:rPr>
              <a:t>solutions</a:t>
            </a:r>
            <a:r>
              <a:rPr sz="1100" spc="-45" dirty="0">
                <a:latin typeface="Tahoma"/>
                <a:cs typeface="Tahoma"/>
              </a:rPr>
              <a:t> </a:t>
            </a:r>
            <a:r>
              <a:rPr sz="1100" dirty="0">
                <a:latin typeface="Tahoma"/>
                <a:cs typeface="Tahoma"/>
              </a:rPr>
              <a:t>to</a:t>
            </a:r>
            <a:r>
              <a:rPr sz="1100" spc="-45" dirty="0">
                <a:latin typeface="Tahoma"/>
                <a:cs typeface="Tahoma"/>
              </a:rPr>
              <a:t> </a:t>
            </a:r>
            <a:r>
              <a:rPr lang="en-IN" sz="1100" spc="-45" dirty="0">
                <a:latin typeface="Tahoma"/>
                <a:cs typeface="Tahoma"/>
              </a:rPr>
              <a:t>the </a:t>
            </a:r>
            <a:r>
              <a:rPr sz="1100" spc="-10" dirty="0">
                <a:latin typeface="Tahoma"/>
                <a:cs typeface="Tahoma"/>
              </a:rPr>
              <a:t>linear</a:t>
            </a:r>
            <a:r>
              <a:rPr lang="en-IN" sz="1100" spc="-10" dirty="0">
                <a:latin typeface="Tahoma"/>
                <a:cs typeface="Tahoma"/>
              </a:rPr>
              <a:t> homogenous</a:t>
            </a:r>
            <a:r>
              <a:rPr sz="1100" spc="-10" dirty="0">
                <a:latin typeface="Tahoma"/>
                <a:cs typeface="Tahoma"/>
              </a:rPr>
              <a:t> </a:t>
            </a:r>
            <a:r>
              <a:rPr sz="1100" spc="-40" dirty="0">
                <a:latin typeface="Tahoma"/>
                <a:cs typeface="Tahoma"/>
              </a:rPr>
              <a:t>system</a:t>
            </a:r>
            <a:r>
              <a:rPr sz="1100" spc="-45" dirty="0">
                <a:latin typeface="Tahoma"/>
                <a:cs typeface="Tahoma"/>
              </a:rPr>
              <a:t> </a:t>
            </a:r>
            <a:r>
              <a:rPr sz="1100" dirty="0">
                <a:latin typeface="Tahoma"/>
                <a:cs typeface="Tahoma"/>
              </a:rPr>
              <a:t>of</a:t>
            </a:r>
            <a:r>
              <a:rPr sz="1100" spc="-45" dirty="0">
                <a:latin typeface="Tahoma"/>
                <a:cs typeface="Tahoma"/>
              </a:rPr>
              <a:t> </a:t>
            </a:r>
            <a:r>
              <a:rPr sz="1100" spc="-35" dirty="0">
                <a:latin typeface="Tahoma"/>
                <a:cs typeface="Tahoma"/>
              </a:rPr>
              <a:t>equations</a:t>
            </a:r>
            <a:r>
              <a:rPr sz="1100" spc="-40" dirty="0">
                <a:latin typeface="Tahoma"/>
                <a:cs typeface="Tahoma"/>
              </a:rPr>
              <a:t> </a:t>
            </a:r>
            <a:r>
              <a:rPr sz="1100" i="1" dirty="0">
                <a:latin typeface="Arial"/>
                <a:cs typeface="Arial"/>
              </a:rPr>
              <a:t>A</a:t>
            </a:r>
            <a:r>
              <a:rPr sz="1100" b="1" dirty="0">
                <a:latin typeface="Trebuchet MS"/>
                <a:cs typeface="Trebuchet MS"/>
              </a:rPr>
              <a:t>x</a:t>
            </a:r>
            <a:r>
              <a:rPr sz="1100" b="1" spc="-30" dirty="0">
                <a:latin typeface="Trebuchet MS"/>
                <a:cs typeface="Trebuchet MS"/>
              </a:rPr>
              <a:t> </a:t>
            </a:r>
            <a:r>
              <a:rPr sz="1100" dirty="0">
                <a:latin typeface="Tahoma"/>
                <a:cs typeface="Tahoma"/>
              </a:rPr>
              <a:t>=</a:t>
            </a:r>
            <a:r>
              <a:rPr sz="1100" spc="-90" dirty="0">
                <a:latin typeface="Tahoma"/>
                <a:cs typeface="Tahoma"/>
              </a:rPr>
              <a:t> </a:t>
            </a:r>
            <a:r>
              <a:rPr sz="1100" dirty="0">
                <a:latin typeface="Tahoma"/>
                <a:cs typeface="Tahoma"/>
              </a:rPr>
              <a:t>0</a:t>
            </a:r>
            <a:r>
              <a:rPr lang="en-IN" sz="1100" dirty="0">
                <a:latin typeface="Tahoma"/>
                <a:cs typeface="Tahoma"/>
              </a:rPr>
              <a:t> is a vector subspace of R</a:t>
            </a:r>
            <a:r>
              <a:rPr lang="en-IN" sz="1100" baseline="30000" dirty="0">
                <a:latin typeface="Tahoma"/>
                <a:cs typeface="Tahoma"/>
              </a:rPr>
              <a:t>n</a:t>
            </a:r>
            <a:r>
              <a:rPr lang="en-IN" sz="1100" dirty="0">
                <a:latin typeface="Tahoma"/>
                <a:cs typeface="Tahoma"/>
              </a:rPr>
              <a:t>.</a:t>
            </a:r>
          </a:p>
          <a:p>
            <a:pPr marL="37464" marR="104775">
              <a:lnSpc>
                <a:spcPct val="102600"/>
              </a:lnSpc>
              <a:spcBef>
                <a:spcPts val="300"/>
              </a:spcBef>
              <a:buClr>
                <a:srgbClr val="3333B2"/>
              </a:buClr>
              <a:tabLst>
                <a:tab pos="214629" algn="l"/>
              </a:tabLst>
            </a:pPr>
            <a:r>
              <a:rPr lang="en-IN" sz="1100" spc="60" dirty="0">
                <a:latin typeface="Tahoma"/>
                <a:cs typeface="Tahoma"/>
              </a:rPr>
              <a:t>    This space is called null space of A. </a:t>
            </a:r>
          </a:p>
          <a:p>
            <a:pPr marL="37464" marR="104775">
              <a:lnSpc>
                <a:spcPct val="102600"/>
              </a:lnSpc>
              <a:spcBef>
                <a:spcPts val="300"/>
              </a:spcBef>
              <a:buClr>
                <a:srgbClr val="3333B2"/>
              </a:buClr>
              <a:tabLst>
                <a:tab pos="214629" algn="l"/>
              </a:tabLst>
            </a:pPr>
            <a:r>
              <a:rPr lang="en-IN" sz="1100" spc="60" dirty="0">
                <a:latin typeface="Tahoma"/>
                <a:cs typeface="Tahoma"/>
              </a:rPr>
              <a:t>   </a:t>
            </a:r>
            <a:r>
              <a:rPr sz="1100" spc="60" dirty="0">
                <a:latin typeface="Tahoma"/>
                <a:cs typeface="Tahoma"/>
              </a:rPr>
              <a:t> </a:t>
            </a:r>
            <a:r>
              <a:rPr sz="1100" dirty="0">
                <a:latin typeface="Tahoma"/>
                <a:cs typeface="Tahoma"/>
              </a:rPr>
              <a:t>Why</a:t>
            </a:r>
            <a:r>
              <a:rPr sz="1100" spc="-40" dirty="0">
                <a:latin typeface="Tahoma"/>
                <a:cs typeface="Tahoma"/>
              </a:rPr>
              <a:t> </a:t>
            </a:r>
            <a:r>
              <a:rPr sz="1100" dirty="0">
                <a:latin typeface="Tahoma"/>
                <a:cs typeface="Tahoma"/>
              </a:rPr>
              <a:t>is</a:t>
            </a:r>
            <a:r>
              <a:rPr sz="1100" spc="-45" dirty="0">
                <a:latin typeface="Tahoma"/>
                <a:cs typeface="Tahoma"/>
              </a:rPr>
              <a:t> </a:t>
            </a:r>
            <a:r>
              <a:rPr sz="1100" dirty="0">
                <a:latin typeface="Tahoma"/>
                <a:cs typeface="Tahoma"/>
              </a:rPr>
              <a:t>this</a:t>
            </a:r>
            <a:r>
              <a:rPr sz="1100" spc="-45" dirty="0">
                <a:latin typeface="Tahoma"/>
                <a:cs typeface="Tahoma"/>
              </a:rPr>
              <a:t> </a:t>
            </a:r>
            <a:r>
              <a:rPr sz="1100" dirty="0">
                <a:latin typeface="Tahoma"/>
                <a:cs typeface="Tahoma"/>
              </a:rPr>
              <a:t>a</a:t>
            </a:r>
            <a:r>
              <a:rPr sz="1100" spc="-40" dirty="0">
                <a:latin typeface="Tahoma"/>
                <a:cs typeface="Tahoma"/>
              </a:rPr>
              <a:t> </a:t>
            </a:r>
            <a:r>
              <a:rPr sz="1100" spc="-30" dirty="0">
                <a:latin typeface="Tahoma"/>
                <a:cs typeface="Tahoma"/>
              </a:rPr>
              <a:t>vector</a:t>
            </a:r>
            <a:r>
              <a:rPr sz="1100" spc="-45" dirty="0">
                <a:latin typeface="Tahoma"/>
                <a:cs typeface="Tahoma"/>
              </a:rPr>
              <a:t> </a:t>
            </a:r>
            <a:r>
              <a:rPr sz="1100" spc="-60" dirty="0">
                <a:latin typeface="Tahoma"/>
                <a:cs typeface="Tahoma"/>
              </a:rPr>
              <a:t>subspace?</a:t>
            </a:r>
            <a:endParaRPr sz="1100" dirty="0">
              <a:latin typeface="Tahoma"/>
              <a:cs typeface="Tahoma"/>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30" dirty="0"/>
              <a:t>Linear</a:t>
            </a:r>
            <a:r>
              <a:rPr spc="-55" dirty="0"/>
              <a:t> </a:t>
            </a:r>
            <a:r>
              <a:rPr spc="-35" dirty="0"/>
              <a:t>combination</a:t>
            </a:r>
            <a:r>
              <a:rPr spc="-50" dirty="0"/>
              <a:t> </a:t>
            </a:r>
            <a:r>
              <a:rPr spc="-30" dirty="0"/>
              <a:t>and</a:t>
            </a:r>
            <a:r>
              <a:rPr spc="-55" dirty="0"/>
              <a:t> </a:t>
            </a:r>
            <a:r>
              <a:rPr spc="-35" dirty="0"/>
              <a:t>linear</a:t>
            </a:r>
            <a:r>
              <a:rPr spc="-50" dirty="0"/>
              <a:t> </a:t>
            </a:r>
            <a:r>
              <a:rPr spc="-55" dirty="0"/>
              <a:t>independence</a:t>
            </a:r>
          </a:p>
        </p:txBody>
      </p:sp>
      <p:sp>
        <p:nvSpPr>
          <p:cNvPr id="3" name="object 3"/>
          <p:cNvSpPr txBox="1"/>
          <p:nvPr/>
        </p:nvSpPr>
        <p:spPr>
          <a:xfrm>
            <a:off x="421957" y="819593"/>
            <a:ext cx="3863340" cy="1854200"/>
          </a:xfrm>
          <a:prstGeom prst="rect">
            <a:avLst/>
          </a:prstGeom>
        </p:spPr>
        <p:txBody>
          <a:bodyPr vert="horz" wrap="square" lIns="0" tIns="6985" rIns="0" bIns="0" rtlCol="0">
            <a:spAutoFit/>
          </a:bodyPr>
          <a:lstStyle/>
          <a:p>
            <a:pPr marL="214629" marR="30480" indent="-177165">
              <a:lnSpc>
                <a:spcPct val="102600"/>
              </a:lnSpc>
              <a:spcBef>
                <a:spcPts val="55"/>
              </a:spcBef>
              <a:buClr>
                <a:srgbClr val="3333B2"/>
              </a:buClr>
              <a:buFont typeface="Lucida Sans Unicode"/>
              <a:buChar char="►"/>
              <a:tabLst>
                <a:tab pos="214629" algn="l"/>
              </a:tabLst>
            </a:pPr>
            <a:r>
              <a:rPr sz="1100" dirty="0">
                <a:latin typeface="Tahoma"/>
                <a:cs typeface="Tahoma"/>
              </a:rPr>
              <a:t>We</a:t>
            </a:r>
            <a:r>
              <a:rPr sz="1100" spc="-85" dirty="0">
                <a:latin typeface="Tahoma"/>
                <a:cs typeface="Tahoma"/>
              </a:rPr>
              <a:t> </a:t>
            </a:r>
            <a:r>
              <a:rPr sz="1100" spc="-50" dirty="0">
                <a:latin typeface="Tahoma"/>
                <a:cs typeface="Tahoma"/>
              </a:rPr>
              <a:t>know</a:t>
            </a:r>
            <a:r>
              <a:rPr sz="1100" spc="-35" dirty="0">
                <a:latin typeface="Tahoma"/>
                <a:cs typeface="Tahoma"/>
              </a:rPr>
              <a:t> </a:t>
            </a:r>
            <a:r>
              <a:rPr sz="1100" dirty="0">
                <a:latin typeface="Tahoma"/>
                <a:cs typeface="Tahoma"/>
              </a:rPr>
              <a:t>that</a:t>
            </a:r>
            <a:r>
              <a:rPr sz="1100" spc="-30" dirty="0">
                <a:latin typeface="Tahoma"/>
                <a:cs typeface="Tahoma"/>
              </a:rPr>
              <a:t> </a:t>
            </a:r>
            <a:r>
              <a:rPr sz="1100" spc="-100" dirty="0">
                <a:latin typeface="Tahoma"/>
                <a:cs typeface="Tahoma"/>
              </a:rPr>
              <a:t>we</a:t>
            </a:r>
            <a:r>
              <a:rPr sz="1100" spc="10" dirty="0">
                <a:latin typeface="Tahoma"/>
                <a:cs typeface="Tahoma"/>
              </a:rPr>
              <a:t> </a:t>
            </a:r>
            <a:r>
              <a:rPr sz="1100" spc="-20" dirty="0">
                <a:latin typeface="Tahoma"/>
                <a:cs typeface="Tahoma"/>
              </a:rPr>
              <a:t>can</a:t>
            </a:r>
            <a:r>
              <a:rPr sz="1100" spc="-30" dirty="0">
                <a:latin typeface="Tahoma"/>
                <a:cs typeface="Tahoma"/>
              </a:rPr>
              <a:t> </a:t>
            </a:r>
            <a:r>
              <a:rPr sz="1100" spc="-35" dirty="0">
                <a:latin typeface="Tahoma"/>
                <a:cs typeface="Tahoma"/>
              </a:rPr>
              <a:t>stay </a:t>
            </a:r>
            <a:r>
              <a:rPr sz="1100" dirty="0">
                <a:latin typeface="Tahoma"/>
                <a:cs typeface="Tahoma"/>
              </a:rPr>
              <a:t>in</a:t>
            </a:r>
            <a:r>
              <a:rPr sz="1100" spc="-35" dirty="0">
                <a:latin typeface="Tahoma"/>
                <a:cs typeface="Tahoma"/>
              </a:rPr>
              <a:t> </a:t>
            </a:r>
            <a:r>
              <a:rPr sz="1100" dirty="0">
                <a:latin typeface="Tahoma"/>
                <a:cs typeface="Tahoma"/>
              </a:rPr>
              <a:t>a</a:t>
            </a:r>
            <a:r>
              <a:rPr sz="1100" spc="-30" dirty="0">
                <a:latin typeface="Tahoma"/>
                <a:cs typeface="Tahoma"/>
              </a:rPr>
              <a:t> </a:t>
            </a:r>
            <a:r>
              <a:rPr sz="1100" spc="-35" dirty="0">
                <a:latin typeface="Tahoma"/>
                <a:cs typeface="Tahoma"/>
              </a:rPr>
              <a:t>vector </a:t>
            </a:r>
            <a:r>
              <a:rPr sz="1100" spc="-60" dirty="0">
                <a:latin typeface="Tahoma"/>
                <a:cs typeface="Tahoma"/>
              </a:rPr>
              <a:t>space</a:t>
            </a:r>
            <a:r>
              <a:rPr sz="1100" spc="-25" dirty="0">
                <a:latin typeface="Tahoma"/>
                <a:cs typeface="Tahoma"/>
              </a:rPr>
              <a:t> </a:t>
            </a:r>
            <a:r>
              <a:rPr sz="1100" spc="-35" dirty="0">
                <a:latin typeface="Tahoma"/>
                <a:cs typeface="Tahoma"/>
              </a:rPr>
              <a:t>by adding</a:t>
            </a:r>
            <a:r>
              <a:rPr sz="1100" spc="-30" dirty="0">
                <a:latin typeface="Tahoma"/>
                <a:cs typeface="Tahoma"/>
              </a:rPr>
              <a:t> </a:t>
            </a:r>
            <a:r>
              <a:rPr sz="1100" spc="-45" dirty="0">
                <a:latin typeface="Tahoma"/>
                <a:cs typeface="Tahoma"/>
              </a:rPr>
              <a:t>vectors </a:t>
            </a:r>
            <a:r>
              <a:rPr sz="1100" spc="-40" dirty="0">
                <a:latin typeface="Tahoma"/>
                <a:cs typeface="Tahoma"/>
              </a:rPr>
              <a:t>belonging</a:t>
            </a:r>
            <a:r>
              <a:rPr sz="1100" spc="-35" dirty="0">
                <a:latin typeface="Tahoma"/>
                <a:cs typeface="Tahoma"/>
              </a:rPr>
              <a:t> </a:t>
            </a:r>
            <a:r>
              <a:rPr sz="1100" dirty="0">
                <a:latin typeface="Tahoma"/>
                <a:cs typeface="Tahoma"/>
              </a:rPr>
              <a:t>to</a:t>
            </a:r>
            <a:r>
              <a:rPr sz="1100" spc="-30" dirty="0">
                <a:latin typeface="Tahoma"/>
                <a:cs typeface="Tahoma"/>
              </a:rPr>
              <a:t> </a:t>
            </a:r>
            <a:r>
              <a:rPr sz="1100" spc="-10" dirty="0">
                <a:latin typeface="Tahoma"/>
                <a:cs typeface="Tahoma"/>
              </a:rPr>
              <a:t>the</a:t>
            </a:r>
            <a:r>
              <a:rPr sz="1100" spc="-25" dirty="0">
                <a:latin typeface="Tahoma"/>
                <a:cs typeface="Tahoma"/>
              </a:rPr>
              <a:t> </a:t>
            </a:r>
            <a:r>
              <a:rPr sz="1100" spc="-55" dirty="0">
                <a:latin typeface="Tahoma"/>
                <a:cs typeface="Tahoma"/>
              </a:rPr>
              <a:t>space,</a:t>
            </a:r>
            <a:r>
              <a:rPr sz="1100" spc="-30" dirty="0">
                <a:latin typeface="Tahoma"/>
                <a:cs typeface="Tahoma"/>
              </a:rPr>
              <a:t> </a:t>
            </a:r>
            <a:r>
              <a:rPr sz="1100" spc="-35" dirty="0">
                <a:latin typeface="Tahoma"/>
                <a:cs typeface="Tahoma"/>
              </a:rPr>
              <a:t>and</a:t>
            </a:r>
            <a:r>
              <a:rPr sz="1100" spc="-25" dirty="0">
                <a:latin typeface="Tahoma"/>
                <a:cs typeface="Tahoma"/>
              </a:rPr>
              <a:t> </a:t>
            </a:r>
            <a:r>
              <a:rPr sz="1100" spc="-30" dirty="0">
                <a:latin typeface="Tahoma"/>
                <a:cs typeface="Tahoma"/>
              </a:rPr>
              <a:t>scaling </a:t>
            </a:r>
            <a:r>
              <a:rPr sz="1100" spc="-10" dirty="0">
                <a:latin typeface="Tahoma"/>
                <a:cs typeface="Tahoma"/>
              </a:rPr>
              <a:t>them?</a:t>
            </a:r>
            <a:endParaRPr sz="1100">
              <a:latin typeface="Tahoma"/>
              <a:cs typeface="Tahoma"/>
            </a:endParaRPr>
          </a:p>
          <a:p>
            <a:pPr marL="214629" marR="54610" indent="-177165">
              <a:lnSpc>
                <a:spcPct val="102600"/>
              </a:lnSpc>
              <a:spcBef>
                <a:spcPts val="300"/>
              </a:spcBef>
              <a:buClr>
                <a:srgbClr val="3333B2"/>
              </a:buClr>
              <a:buFont typeface="Lucida Sans Unicode"/>
              <a:buChar char="►"/>
              <a:tabLst>
                <a:tab pos="214629" algn="l"/>
              </a:tabLst>
            </a:pPr>
            <a:r>
              <a:rPr sz="1100" dirty="0">
                <a:latin typeface="Tahoma"/>
                <a:cs typeface="Tahoma"/>
              </a:rPr>
              <a:t>We</a:t>
            </a:r>
            <a:r>
              <a:rPr sz="1100" spc="-45" dirty="0">
                <a:latin typeface="Tahoma"/>
                <a:cs typeface="Tahoma"/>
              </a:rPr>
              <a:t> </a:t>
            </a:r>
            <a:r>
              <a:rPr sz="1100" spc="-60" dirty="0">
                <a:latin typeface="Tahoma"/>
                <a:cs typeface="Tahoma"/>
              </a:rPr>
              <a:t>are</a:t>
            </a:r>
            <a:r>
              <a:rPr sz="1100" spc="-20" dirty="0">
                <a:latin typeface="Tahoma"/>
                <a:cs typeface="Tahoma"/>
              </a:rPr>
              <a:t> </a:t>
            </a:r>
            <a:r>
              <a:rPr sz="1100" spc="-55" dirty="0">
                <a:latin typeface="Tahoma"/>
                <a:cs typeface="Tahoma"/>
              </a:rPr>
              <a:t>now</a:t>
            </a:r>
            <a:r>
              <a:rPr sz="1100" spc="-25" dirty="0">
                <a:latin typeface="Tahoma"/>
                <a:cs typeface="Tahoma"/>
              </a:rPr>
              <a:t> </a:t>
            </a:r>
            <a:r>
              <a:rPr sz="1100" spc="-40" dirty="0">
                <a:latin typeface="Tahoma"/>
                <a:cs typeface="Tahoma"/>
              </a:rPr>
              <a:t>interested</a:t>
            </a:r>
            <a:r>
              <a:rPr sz="1100" spc="-20" dirty="0">
                <a:latin typeface="Tahoma"/>
                <a:cs typeface="Tahoma"/>
              </a:rPr>
              <a:t> </a:t>
            </a:r>
            <a:r>
              <a:rPr sz="1100" dirty="0">
                <a:latin typeface="Tahoma"/>
                <a:cs typeface="Tahoma"/>
              </a:rPr>
              <a:t>in</a:t>
            </a:r>
            <a:r>
              <a:rPr sz="1100" spc="-20" dirty="0">
                <a:latin typeface="Tahoma"/>
                <a:cs typeface="Tahoma"/>
              </a:rPr>
              <a:t> </a:t>
            </a:r>
            <a:r>
              <a:rPr sz="1100" dirty="0">
                <a:latin typeface="Tahoma"/>
                <a:cs typeface="Tahoma"/>
              </a:rPr>
              <a:t>a</a:t>
            </a:r>
            <a:r>
              <a:rPr sz="1100" spc="-20" dirty="0">
                <a:latin typeface="Tahoma"/>
                <a:cs typeface="Tahoma"/>
              </a:rPr>
              <a:t> </a:t>
            </a:r>
            <a:r>
              <a:rPr sz="1100" spc="-35" dirty="0">
                <a:latin typeface="Tahoma"/>
                <a:cs typeface="Tahoma"/>
              </a:rPr>
              <a:t>different</a:t>
            </a:r>
            <a:r>
              <a:rPr sz="1100" spc="-25" dirty="0">
                <a:latin typeface="Tahoma"/>
                <a:cs typeface="Tahoma"/>
              </a:rPr>
              <a:t> </a:t>
            </a:r>
            <a:r>
              <a:rPr sz="1100" spc="-35" dirty="0">
                <a:latin typeface="Tahoma"/>
                <a:cs typeface="Tahoma"/>
              </a:rPr>
              <a:t>question</a:t>
            </a:r>
            <a:r>
              <a:rPr sz="1100" spc="-20" dirty="0">
                <a:latin typeface="Tahoma"/>
                <a:cs typeface="Tahoma"/>
              </a:rPr>
              <a:t> </a:t>
            </a:r>
            <a:r>
              <a:rPr sz="1100" dirty="0">
                <a:latin typeface="Lucida Sans Unicode"/>
                <a:cs typeface="Lucida Sans Unicode"/>
              </a:rPr>
              <a:t>→</a:t>
            </a:r>
            <a:r>
              <a:rPr sz="1100" spc="-25" dirty="0">
                <a:latin typeface="Lucida Sans Unicode"/>
                <a:cs typeface="Lucida Sans Unicode"/>
              </a:rPr>
              <a:t> </a:t>
            </a:r>
            <a:r>
              <a:rPr sz="1100" spc="-20" dirty="0">
                <a:latin typeface="Tahoma"/>
                <a:cs typeface="Tahoma"/>
              </a:rPr>
              <a:t>can</a:t>
            </a:r>
            <a:r>
              <a:rPr sz="1100" spc="-25" dirty="0">
                <a:latin typeface="Tahoma"/>
                <a:cs typeface="Tahoma"/>
              </a:rPr>
              <a:t> </a:t>
            </a:r>
            <a:r>
              <a:rPr sz="1100" spc="-90" dirty="0">
                <a:latin typeface="Tahoma"/>
                <a:cs typeface="Tahoma"/>
              </a:rPr>
              <a:t>we</a:t>
            </a:r>
            <a:r>
              <a:rPr sz="1100" spc="5" dirty="0">
                <a:latin typeface="Tahoma"/>
                <a:cs typeface="Tahoma"/>
              </a:rPr>
              <a:t> </a:t>
            </a:r>
            <a:r>
              <a:rPr sz="1100" spc="-45" dirty="0">
                <a:latin typeface="Tahoma"/>
                <a:cs typeface="Tahoma"/>
              </a:rPr>
              <a:t>come </a:t>
            </a:r>
            <a:r>
              <a:rPr sz="1100" spc="-10" dirty="0">
                <a:latin typeface="Tahoma"/>
                <a:cs typeface="Tahoma"/>
              </a:rPr>
              <a:t>up</a:t>
            </a:r>
            <a:r>
              <a:rPr sz="1100" spc="-65" dirty="0">
                <a:latin typeface="Tahoma"/>
                <a:cs typeface="Tahoma"/>
              </a:rPr>
              <a:t> </a:t>
            </a:r>
            <a:r>
              <a:rPr sz="1100" dirty="0">
                <a:latin typeface="Tahoma"/>
                <a:cs typeface="Tahoma"/>
              </a:rPr>
              <a:t>with</a:t>
            </a:r>
            <a:r>
              <a:rPr sz="1100" spc="-40" dirty="0">
                <a:latin typeface="Tahoma"/>
                <a:cs typeface="Tahoma"/>
              </a:rPr>
              <a:t> </a:t>
            </a:r>
            <a:r>
              <a:rPr sz="1100" dirty="0">
                <a:latin typeface="Tahoma"/>
                <a:cs typeface="Tahoma"/>
              </a:rPr>
              <a:t>a</a:t>
            </a:r>
            <a:r>
              <a:rPr sz="1100" spc="-40" dirty="0">
                <a:latin typeface="Tahoma"/>
                <a:cs typeface="Tahoma"/>
              </a:rPr>
              <a:t> </a:t>
            </a:r>
            <a:r>
              <a:rPr sz="1100" spc="-20" dirty="0">
                <a:latin typeface="Tahoma"/>
                <a:cs typeface="Tahoma"/>
              </a:rPr>
              <a:t>set</a:t>
            </a:r>
            <a:r>
              <a:rPr sz="1100" spc="-45" dirty="0">
                <a:latin typeface="Tahoma"/>
                <a:cs typeface="Tahoma"/>
              </a:rPr>
              <a:t> </a:t>
            </a:r>
            <a:r>
              <a:rPr sz="1100" dirty="0">
                <a:latin typeface="Tahoma"/>
                <a:cs typeface="Tahoma"/>
              </a:rPr>
              <a:t>of</a:t>
            </a:r>
            <a:r>
              <a:rPr sz="1100" spc="-40" dirty="0">
                <a:latin typeface="Tahoma"/>
                <a:cs typeface="Tahoma"/>
              </a:rPr>
              <a:t> </a:t>
            </a:r>
            <a:r>
              <a:rPr sz="1100" spc="-45" dirty="0">
                <a:latin typeface="Tahoma"/>
                <a:cs typeface="Tahoma"/>
              </a:rPr>
              <a:t>vectors</a:t>
            </a:r>
            <a:r>
              <a:rPr sz="1100" spc="-40" dirty="0">
                <a:latin typeface="Tahoma"/>
                <a:cs typeface="Tahoma"/>
              </a:rPr>
              <a:t> such</a:t>
            </a:r>
            <a:r>
              <a:rPr sz="1100" spc="-45" dirty="0">
                <a:latin typeface="Tahoma"/>
                <a:cs typeface="Tahoma"/>
              </a:rPr>
              <a:t> </a:t>
            </a:r>
            <a:r>
              <a:rPr sz="1100" dirty="0">
                <a:latin typeface="Tahoma"/>
                <a:cs typeface="Tahoma"/>
              </a:rPr>
              <a:t>that</a:t>
            </a:r>
            <a:r>
              <a:rPr sz="1100" spc="-45" dirty="0">
                <a:latin typeface="Tahoma"/>
                <a:cs typeface="Tahoma"/>
              </a:rPr>
              <a:t> </a:t>
            </a:r>
            <a:r>
              <a:rPr sz="1100" spc="-60" dirty="0">
                <a:latin typeface="Tahoma"/>
                <a:cs typeface="Tahoma"/>
              </a:rPr>
              <a:t>every</a:t>
            </a:r>
            <a:r>
              <a:rPr sz="1100" spc="-25" dirty="0">
                <a:latin typeface="Tahoma"/>
                <a:cs typeface="Tahoma"/>
              </a:rPr>
              <a:t> </a:t>
            </a:r>
            <a:r>
              <a:rPr sz="1100" spc="-35" dirty="0">
                <a:latin typeface="Tahoma"/>
                <a:cs typeface="Tahoma"/>
              </a:rPr>
              <a:t>vector</a:t>
            </a:r>
            <a:r>
              <a:rPr sz="1100" spc="-40" dirty="0">
                <a:latin typeface="Tahoma"/>
                <a:cs typeface="Tahoma"/>
              </a:rPr>
              <a:t> </a:t>
            </a:r>
            <a:r>
              <a:rPr sz="1100" dirty="0">
                <a:latin typeface="Tahoma"/>
                <a:cs typeface="Tahoma"/>
              </a:rPr>
              <a:t>in</a:t>
            </a:r>
            <a:r>
              <a:rPr sz="1100" spc="-40" dirty="0">
                <a:latin typeface="Tahoma"/>
                <a:cs typeface="Tahoma"/>
              </a:rPr>
              <a:t> </a:t>
            </a:r>
            <a:r>
              <a:rPr sz="1100" spc="-10" dirty="0">
                <a:latin typeface="Tahoma"/>
                <a:cs typeface="Tahoma"/>
              </a:rPr>
              <a:t>the</a:t>
            </a:r>
            <a:r>
              <a:rPr sz="1100" spc="-45" dirty="0">
                <a:latin typeface="Tahoma"/>
                <a:cs typeface="Tahoma"/>
              </a:rPr>
              <a:t> </a:t>
            </a:r>
            <a:r>
              <a:rPr sz="1100" spc="-10" dirty="0">
                <a:latin typeface="Tahoma"/>
                <a:cs typeface="Tahoma"/>
              </a:rPr>
              <a:t>vector </a:t>
            </a:r>
            <a:r>
              <a:rPr sz="1100" spc="-55" dirty="0">
                <a:latin typeface="Tahoma"/>
                <a:cs typeface="Tahoma"/>
              </a:rPr>
              <a:t>space</a:t>
            </a:r>
            <a:r>
              <a:rPr sz="1100" spc="-35" dirty="0">
                <a:latin typeface="Tahoma"/>
                <a:cs typeface="Tahoma"/>
              </a:rPr>
              <a:t> </a:t>
            </a:r>
            <a:r>
              <a:rPr sz="1100" spc="-20" dirty="0">
                <a:latin typeface="Tahoma"/>
                <a:cs typeface="Tahoma"/>
              </a:rPr>
              <a:t>can</a:t>
            </a:r>
            <a:r>
              <a:rPr sz="1100" spc="-45" dirty="0">
                <a:latin typeface="Tahoma"/>
                <a:cs typeface="Tahoma"/>
              </a:rPr>
              <a:t> </a:t>
            </a:r>
            <a:r>
              <a:rPr sz="1100" spc="-10" dirty="0">
                <a:latin typeface="Tahoma"/>
                <a:cs typeface="Tahoma"/>
              </a:rPr>
              <a:t>be</a:t>
            </a:r>
            <a:r>
              <a:rPr sz="1100" spc="-35" dirty="0">
                <a:latin typeface="Tahoma"/>
                <a:cs typeface="Tahoma"/>
              </a:rPr>
              <a:t> </a:t>
            </a:r>
            <a:r>
              <a:rPr sz="1100" spc="-60" dirty="0">
                <a:latin typeface="Tahoma"/>
                <a:cs typeface="Tahoma"/>
              </a:rPr>
              <a:t>represented</a:t>
            </a:r>
            <a:r>
              <a:rPr sz="1100" spc="-25" dirty="0">
                <a:latin typeface="Tahoma"/>
                <a:cs typeface="Tahoma"/>
              </a:rPr>
              <a:t> </a:t>
            </a:r>
            <a:r>
              <a:rPr sz="1100" spc="-20" dirty="0">
                <a:latin typeface="Tahoma"/>
                <a:cs typeface="Tahoma"/>
              </a:rPr>
              <a:t>as</a:t>
            </a:r>
            <a:r>
              <a:rPr sz="1100" spc="-35" dirty="0">
                <a:latin typeface="Tahoma"/>
                <a:cs typeface="Tahoma"/>
              </a:rPr>
              <a:t> </a:t>
            </a:r>
            <a:r>
              <a:rPr sz="1100" dirty="0">
                <a:latin typeface="Tahoma"/>
                <a:cs typeface="Tahoma"/>
              </a:rPr>
              <a:t>a</a:t>
            </a:r>
            <a:r>
              <a:rPr sz="1100" spc="-35" dirty="0">
                <a:latin typeface="Tahoma"/>
                <a:cs typeface="Tahoma"/>
              </a:rPr>
              <a:t> </a:t>
            </a:r>
            <a:r>
              <a:rPr sz="1100" spc="-40" dirty="0">
                <a:latin typeface="Tahoma"/>
                <a:cs typeface="Tahoma"/>
              </a:rPr>
              <a:t>sum</a:t>
            </a:r>
            <a:r>
              <a:rPr sz="1100" spc="-35" dirty="0">
                <a:latin typeface="Tahoma"/>
                <a:cs typeface="Tahoma"/>
              </a:rPr>
              <a:t> </a:t>
            </a:r>
            <a:r>
              <a:rPr sz="1100" dirty="0">
                <a:latin typeface="Tahoma"/>
                <a:cs typeface="Tahoma"/>
              </a:rPr>
              <a:t>of</a:t>
            </a:r>
            <a:r>
              <a:rPr sz="1100" spc="-35" dirty="0">
                <a:latin typeface="Tahoma"/>
                <a:cs typeface="Tahoma"/>
              </a:rPr>
              <a:t> </a:t>
            </a:r>
            <a:r>
              <a:rPr sz="1100" spc="-45" dirty="0">
                <a:latin typeface="Tahoma"/>
                <a:cs typeface="Tahoma"/>
              </a:rPr>
              <a:t>these</a:t>
            </a:r>
            <a:r>
              <a:rPr sz="1100" spc="-35" dirty="0">
                <a:latin typeface="Tahoma"/>
                <a:cs typeface="Tahoma"/>
              </a:rPr>
              <a:t> </a:t>
            </a:r>
            <a:r>
              <a:rPr sz="1100" spc="-50" dirty="0">
                <a:latin typeface="Tahoma"/>
                <a:cs typeface="Tahoma"/>
              </a:rPr>
              <a:t>vectors</a:t>
            </a:r>
            <a:r>
              <a:rPr sz="1100" spc="-35" dirty="0">
                <a:latin typeface="Tahoma"/>
                <a:cs typeface="Tahoma"/>
              </a:rPr>
              <a:t> </a:t>
            </a:r>
            <a:r>
              <a:rPr sz="1100" spc="-20" dirty="0">
                <a:latin typeface="Tahoma"/>
                <a:cs typeface="Tahoma"/>
              </a:rPr>
              <a:t>with </a:t>
            </a:r>
            <a:r>
              <a:rPr sz="1100" spc="-30" dirty="0">
                <a:latin typeface="Tahoma"/>
                <a:cs typeface="Tahoma"/>
              </a:rPr>
              <a:t>scaling</a:t>
            </a:r>
            <a:r>
              <a:rPr sz="1100" spc="-60" dirty="0">
                <a:latin typeface="Tahoma"/>
                <a:cs typeface="Tahoma"/>
              </a:rPr>
              <a:t> </a:t>
            </a:r>
            <a:r>
              <a:rPr sz="1100" spc="-20" dirty="0">
                <a:latin typeface="Tahoma"/>
                <a:cs typeface="Tahoma"/>
              </a:rPr>
              <a:t>as</a:t>
            </a:r>
            <a:r>
              <a:rPr sz="1100" spc="-50" dirty="0">
                <a:latin typeface="Tahoma"/>
                <a:cs typeface="Tahoma"/>
              </a:rPr>
              <a:t> </a:t>
            </a:r>
            <a:r>
              <a:rPr sz="1100" spc="-10" dirty="0">
                <a:latin typeface="Tahoma"/>
                <a:cs typeface="Tahoma"/>
              </a:rPr>
              <a:t>necessary?</a:t>
            </a:r>
            <a:endParaRPr sz="1100">
              <a:latin typeface="Tahoma"/>
              <a:cs typeface="Tahoma"/>
            </a:endParaRPr>
          </a:p>
          <a:p>
            <a:pPr marL="214629" marR="55244" indent="-177165">
              <a:lnSpc>
                <a:spcPct val="102600"/>
              </a:lnSpc>
              <a:spcBef>
                <a:spcPts val="300"/>
              </a:spcBef>
              <a:buClr>
                <a:srgbClr val="3333B2"/>
              </a:buClr>
              <a:buFont typeface="Lucida Sans Unicode"/>
              <a:buChar char="►"/>
              <a:tabLst>
                <a:tab pos="214629" algn="l"/>
              </a:tabLst>
            </a:pPr>
            <a:r>
              <a:rPr sz="1100" dirty="0">
                <a:latin typeface="Tahoma"/>
                <a:cs typeface="Tahoma"/>
              </a:rPr>
              <a:t>The</a:t>
            </a:r>
            <a:r>
              <a:rPr sz="1100" spc="-30" dirty="0">
                <a:latin typeface="Tahoma"/>
                <a:cs typeface="Tahoma"/>
              </a:rPr>
              <a:t> </a:t>
            </a:r>
            <a:r>
              <a:rPr sz="1100" spc="-65" dirty="0">
                <a:latin typeface="Tahoma"/>
                <a:cs typeface="Tahoma"/>
              </a:rPr>
              <a:t>answer</a:t>
            </a:r>
            <a:r>
              <a:rPr sz="1100" spc="-25" dirty="0">
                <a:latin typeface="Tahoma"/>
                <a:cs typeface="Tahoma"/>
              </a:rPr>
              <a:t> </a:t>
            </a:r>
            <a:r>
              <a:rPr sz="1100" dirty="0">
                <a:latin typeface="Tahoma"/>
                <a:cs typeface="Tahoma"/>
              </a:rPr>
              <a:t>is</a:t>
            </a:r>
            <a:r>
              <a:rPr sz="1100" spc="-30" dirty="0">
                <a:latin typeface="Tahoma"/>
                <a:cs typeface="Tahoma"/>
              </a:rPr>
              <a:t> </a:t>
            </a:r>
            <a:r>
              <a:rPr sz="1100" spc="-35" dirty="0">
                <a:latin typeface="Tahoma"/>
                <a:cs typeface="Tahoma"/>
              </a:rPr>
              <a:t>yes.</a:t>
            </a:r>
            <a:r>
              <a:rPr sz="1100" spc="80" dirty="0">
                <a:latin typeface="Tahoma"/>
                <a:cs typeface="Tahoma"/>
              </a:rPr>
              <a:t> </a:t>
            </a:r>
            <a:r>
              <a:rPr sz="1100" spc="55" dirty="0">
                <a:latin typeface="Tahoma"/>
                <a:cs typeface="Tahoma"/>
              </a:rPr>
              <a:t>A</a:t>
            </a:r>
            <a:r>
              <a:rPr sz="1100" spc="-25" dirty="0">
                <a:latin typeface="Tahoma"/>
                <a:cs typeface="Tahoma"/>
              </a:rPr>
              <a:t> </a:t>
            </a:r>
            <a:r>
              <a:rPr sz="1100" spc="-20" dirty="0">
                <a:latin typeface="Tahoma"/>
                <a:cs typeface="Tahoma"/>
              </a:rPr>
              <a:t>set</a:t>
            </a:r>
            <a:r>
              <a:rPr sz="1100" spc="-25" dirty="0">
                <a:latin typeface="Tahoma"/>
                <a:cs typeface="Tahoma"/>
              </a:rPr>
              <a:t> </a:t>
            </a:r>
            <a:r>
              <a:rPr sz="1100" dirty="0">
                <a:latin typeface="Tahoma"/>
                <a:cs typeface="Tahoma"/>
              </a:rPr>
              <a:t>of</a:t>
            </a:r>
            <a:r>
              <a:rPr sz="1100" spc="-30" dirty="0">
                <a:latin typeface="Tahoma"/>
                <a:cs typeface="Tahoma"/>
              </a:rPr>
              <a:t> </a:t>
            </a:r>
            <a:r>
              <a:rPr sz="1100" spc="-50" dirty="0">
                <a:latin typeface="Tahoma"/>
                <a:cs typeface="Tahoma"/>
              </a:rPr>
              <a:t>vectors</a:t>
            </a:r>
            <a:r>
              <a:rPr sz="1100" spc="-25" dirty="0">
                <a:latin typeface="Tahoma"/>
                <a:cs typeface="Tahoma"/>
              </a:rPr>
              <a:t> </a:t>
            </a:r>
            <a:r>
              <a:rPr sz="1100" spc="-40" dirty="0">
                <a:latin typeface="Tahoma"/>
                <a:cs typeface="Tahoma"/>
              </a:rPr>
              <a:t>capable</a:t>
            </a:r>
            <a:r>
              <a:rPr sz="1100" spc="-25" dirty="0">
                <a:latin typeface="Tahoma"/>
                <a:cs typeface="Tahoma"/>
              </a:rPr>
              <a:t> </a:t>
            </a:r>
            <a:r>
              <a:rPr sz="1100" dirty="0">
                <a:latin typeface="Tahoma"/>
                <a:cs typeface="Tahoma"/>
              </a:rPr>
              <a:t>of</a:t>
            </a:r>
            <a:r>
              <a:rPr sz="1100" spc="-25" dirty="0">
                <a:latin typeface="Tahoma"/>
                <a:cs typeface="Tahoma"/>
              </a:rPr>
              <a:t> </a:t>
            </a:r>
            <a:r>
              <a:rPr sz="1100" spc="-55" dirty="0">
                <a:latin typeface="Tahoma"/>
                <a:cs typeface="Tahoma"/>
              </a:rPr>
              <a:t>representing</a:t>
            </a:r>
            <a:r>
              <a:rPr sz="1100" spc="-25" dirty="0">
                <a:latin typeface="Tahoma"/>
                <a:cs typeface="Tahoma"/>
              </a:rPr>
              <a:t> all </a:t>
            </a:r>
            <a:r>
              <a:rPr sz="1100" spc="-50" dirty="0">
                <a:latin typeface="Tahoma"/>
                <a:cs typeface="Tahoma"/>
              </a:rPr>
              <a:t>vectors</a:t>
            </a:r>
            <a:r>
              <a:rPr sz="1100" spc="-30" dirty="0">
                <a:latin typeface="Tahoma"/>
                <a:cs typeface="Tahoma"/>
              </a:rPr>
              <a:t> </a:t>
            </a:r>
            <a:r>
              <a:rPr sz="1100" dirty="0">
                <a:latin typeface="Tahoma"/>
                <a:cs typeface="Tahoma"/>
              </a:rPr>
              <a:t>in</a:t>
            </a:r>
            <a:r>
              <a:rPr sz="1100" spc="-25" dirty="0">
                <a:latin typeface="Tahoma"/>
                <a:cs typeface="Tahoma"/>
              </a:rPr>
              <a:t> </a:t>
            </a:r>
            <a:r>
              <a:rPr sz="1100" dirty="0">
                <a:latin typeface="Tahoma"/>
                <a:cs typeface="Tahoma"/>
              </a:rPr>
              <a:t>a</a:t>
            </a:r>
            <a:r>
              <a:rPr sz="1100" spc="-25" dirty="0">
                <a:latin typeface="Tahoma"/>
                <a:cs typeface="Tahoma"/>
              </a:rPr>
              <a:t> </a:t>
            </a:r>
            <a:r>
              <a:rPr sz="1100" spc="-35" dirty="0">
                <a:latin typeface="Tahoma"/>
                <a:cs typeface="Tahoma"/>
              </a:rPr>
              <a:t>vector</a:t>
            </a:r>
            <a:r>
              <a:rPr sz="1100" spc="-25" dirty="0">
                <a:latin typeface="Tahoma"/>
                <a:cs typeface="Tahoma"/>
              </a:rPr>
              <a:t> </a:t>
            </a:r>
            <a:r>
              <a:rPr sz="1100" spc="-55" dirty="0">
                <a:latin typeface="Tahoma"/>
                <a:cs typeface="Tahoma"/>
              </a:rPr>
              <a:t>space</a:t>
            </a:r>
            <a:r>
              <a:rPr sz="1100" spc="-30" dirty="0">
                <a:latin typeface="Tahoma"/>
                <a:cs typeface="Tahoma"/>
              </a:rPr>
              <a:t> </a:t>
            </a:r>
            <a:r>
              <a:rPr sz="1100" dirty="0">
                <a:latin typeface="Tahoma"/>
                <a:cs typeface="Tahoma"/>
              </a:rPr>
              <a:t>is</a:t>
            </a:r>
            <a:r>
              <a:rPr sz="1100" spc="-25" dirty="0">
                <a:latin typeface="Tahoma"/>
                <a:cs typeface="Tahoma"/>
              </a:rPr>
              <a:t> called </a:t>
            </a:r>
            <a:r>
              <a:rPr sz="1100" dirty="0">
                <a:latin typeface="Tahoma"/>
                <a:cs typeface="Tahoma"/>
              </a:rPr>
              <a:t>a</a:t>
            </a:r>
            <a:r>
              <a:rPr sz="1100" spc="-25" dirty="0">
                <a:latin typeface="Tahoma"/>
                <a:cs typeface="Tahoma"/>
              </a:rPr>
              <a:t> </a:t>
            </a:r>
            <a:r>
              <a:rPr sz="1100" spc="-10" dirty="0">
                <a:latin typeface="Tahoma"/>
                <a:cs typeface="Tahoma"/>
              </a:rPr>
              <a:t>basis.</a:t>
            </a:r>
            <a:endParaRPr sz="1100">
              <a:latin typeface="Tahoma"/>
              <a:cs typeface="Tahoma"/>
            </a:endParaRPr>
          </a:p>
          <a:p>
            <a:pPr marL="214629" marR="172085" indent="-177165">
              <a:lnSpc>
                <a:spcPct val="102600"/>
              </a:lnSpc>
              <a:spcBef>
                <a:spcPts val="300"/>
              </a:spcBef>
              <a:buClr>
                <a:srgbClr val="3333B2"/>
              </a:buClr>
              <a:buFont typeface="Lucida Sans Unicode"/>
              <a:buChar char="►"/>
              <a:tabLst>
                <a:tab pos="214629" algn="l"/>
              </a:tabLst>
            </a:pPr>
            <a:r>
              <a:rPr sz="1100" dirty="0">
                <a:latin typeface="Tahoma"/>
                <a:cs typeface="Tahoma"/>
              </a:rPr>
              <a:t>To</a:t>
            </a:r>
            <a:r>
              <a:rPr sz="1100" spc="-75" dirty="0">
                <a:latin typeface="Tahoma"/>
                <a:cs typeface="Tahoma"/>
              </a:rPr>
              <a:t> </a:t>
            </a:r>
            <a:r>
              <a:rPr sz="1100" spc="-50" dirty="0">
                <a:latin typeface="Tahoma"/>
                <a:cs typeface="Tahoma"/>
              </a:rPr>
              <a:t>explore</a:t>
            </a:r>
            <a:r>
              <a:rPr sz="1100" spc="-35" dirty="0">
                <a:latin typeface="Tahoma"/>
                <a:cs typeface="Tahoma"/>
              </a:rPr>
              <a:t> </a:t>
            </a:r>
            <a:r>
              <a:rPr sz="1100" spc="-10" dirty="0">
                <a:latin typeface="Tahoma"/>
                <a:cs typeface="Tahoma"/>
              </a:rPr>
              <a:t>the</a:t>
            </a:r>
            <a:r>
              <a:rPr sz="1100" spc="-30" dirty="0">
                <a:latin typeface="Tahoma"/>
                <a:cs typeface="Tahoma"/>
              </a:rPr>
              <a:t> </a:t>
            </a:r>
            <a:r>
              <a:rPr sz="1100" spc="-35" dirty="0">
                <a:latin typeface="Tahoma"/>
                <a:cs typeface="Tahoma"/>
              </a:rPr>
              <a:t>question</a:t>
            </a:r>
            <a:r>
              <a:rPr sz="1100" spc="-30" dirty="0">
                <a:latin typeface="Tahoma"/>
                <a:cs typeface="Tahoma"/>
              </a:rPr>
              <a:t> </a:t>
            </a:r>
            <a:r>
              <a:rPr sz="1100" dirty="0">
                <a:latin typeface="Tahoma"/>
                <a:cs typeface="Tahoma"/>
              </a:rPr>
              <a:t>of</a:t>
            </a:r>
            <a:r>
              <a:rPr sz="1100" spc="-30" dirty="0">
                <a:latin typeface="Tahoma"/>
                <a:cs typeface="Tahoma"/>
              </a:rPr>
              <a:t> </a:t>
            </a:r>
            <a:r>
              <a:rPr sz="1100" spc="-25" dirty="0">
                <a:latin typeface="Tahoma"/>
                <a:cs typeface="Tahoma"/>
              </a:rPr>
              <a:t>finding</a:t>
            </a:r>
            <a:r>
              <a:rPr sz="1100" spc="-35" dirty="0">
                <a:latin typeface="Tahoma"/>
                <a:cs typeface="Tahoma"/>
              </a:rPr>
              <a:t> </a:t>
            </a:r>
            <a:r>
              <a:rPr sz="1100" dirty="0">
                <a:latin typeface="Tahoma"/>
                <a:cs typeface="Tahoma"/>
              </a:rPr>
              <a:t>a</a:t>
            </a:r>
            <a:r>
              <a:rPr sz="1100" spc="-30" dirty="0">
                <a:latin typeface="Tahoma"/>
                <a:cs typeface="Tahoma"/>
              </a:rPr>
              <a:t> </a:t>
            </a:r>
            <a:r>
              <a:rPr sz="1100" spc="-35" dirty="0">
                <a:latin typeface="Tahoma"/>
                <a:cs typeface="Tahoma"/>
              </a:rPr>
              <a:t>basis,</a:t>
            </a:r>
            <a:r>
              <a:rPr sz="1100" spc="-30" dirty="0">
                <a:latin typeface="Tahoma"/>
                <a:cs typeface="Tahoma"/>
              </a:rPr>
              <a:t> </a:t>
            </a:r>
            <a:r>
              <a:rPr sz="1100" spc="-90" dirty="0">
                <a:latin typeface="Tahoma"/>
                <a:cs typeface="Tahoma"/>
              </a:rPr>
              <a:t>we</a:t>
            </a:r>
            <a:r>
              <a:rPr sz="1100" dirty="0">
                <a:latin typeface="Tahoma"/>
                <a:cs typeface="Tahoma"/>
              </a:rPr>
              <a:t> </a:t>
            </a:r>
            <a:r>
              <a:rPr sz="1100" spc="-60" dirty="0">
                <a:latin typeface="Tahoma"/>
                <a:cs typeface="Tahoma"/>
              </a:rPr>
              <a:t>need</a:t>
            </a:r>
            <a:r>
              <a:rPr sz="1100" spc="-25" dirty="0">
                <a:latin typeface="Tahoma"/>
                <a:cs typeface="Tahoma"/>
              </a:rPr>
              <a:t> </a:t>
            </a:r>
            <a:r>
              <a:rPr sz="1100" dirty="0">
                <a:latin typeface="Tahoma"/>
                <a:cs typeface="Tahoma"/>
              </a:rPr>
              <a:t>to</a:t>
            </a:r>
            <a:r>
              <a:rPr sz="1100" spc="-35" dirty="0">
                <a:latin typeface="Tahoma"/>
                <a:cs typeface="Tahoma"/>
              </a:rPr>
              <a:t> </a:t>
            </a:r>
            <a:r>
              <a:rPr sz="1100" spc="-20" dirty="0">
                <a:latin typeface="Tahoma"/>
                <a:cs typeface="Tahoma"/>
              </a:rPr>
              <a:t>learn </a:t>
            </a:r>
            <a:r>
              <a:rPr sz="1100" spc="-10" dirty="0">
                <a:latin typeface="Tahoma"/>
                <a:cs typeface="Tahoma"/>
              </a:rPr>
              <a:t>the</a:t>
            </a:r>
            <a:r>
              <a:rPr sz="1100" spc="-45" dirty="0">
                <a:latin typeface="Tahoma"/>
                <a:cs typeface="Tahoma"/>
              </a:rPr>
              <a:t> </a:t>
            </a:r>
            <a:r>
              <a:rPr sz="1100" spc="-35" dirty="0">
                <a:latin typeface="Tahoma"/>
                <a:cs typeface="Tahoma"/>
              </a:rPr>
              <a:t>concepts</a:t>
            </a:r>
            <a:r>
              <a:rPr sz="1100" spc="-40" dirty="0">
                <a:latin typeface="Tahoma"/>
                <a:cs typeface="Tahoma"/>
              </a:rPr>
              <a:t> </a:t>
            </a:r>
            <a:r>
              <a:rPr sz="1100" dirty="0">
                <a:latin typeface="Tahoma"/>
                <a:cs typeface="Tahoma"/>
              </a:rPr>
              <a:t>of</a:t>
            </a:r>
            <a:r>
              <a:rPr sz="1100" spc="-40" dirty="0">
                <a:latin typeface="Tahoma"/>
                <a:cs typeface="Tahoma"/>
              </a:rPr>
              <a:t> </a:t>
            </a:r>
            <a:r>
              <a:rPr sz="1100" spc="-30" dirty="0">
                <a:latin typeface="Tahoma"/>
                <a:cs typeface="Tahoma"/>
              </a:rPr>
              <a:t>linear</a:t>
            </a:r>
            <a:r>
              <a:rPr sz="1100" spc="-45" dirty="0">
                <a:latin typeface="Tahoma"/>
                <a:cs typeface="Tahoma"/>
              </a:rPr>
              <a:t> </a:t>
            </a:r>
            <a:r>
              <a:rPr sz="1100" spc="-30" dirty="0">
                <a:latin typeface="Tahoma"/>
                <a:cs typeface="Tahoma"/>
              </a:rPr>
              <a:t>combination</a:t>
            </a:r>
            <a:r>
              <a:rPr sz="1100" spc="-40" dirty="0">
                <a:latin typeface="Tahoma"/>
                <a:cs typeface="Tahoma"/>
              </a:rPr>
              <a:t> </a:t>
            </a:r>
            <a:r>
              <a:rPr sz="1100" spc="-35" dirty="0">
                <a:latin typeface="Tahoma"/>
                <a:cs typeface="Tahoma"/>
              </a:rPr>
              <a:t>and</a:t>
            </a:r>
            <a:r>
              <a:rPr sz="1100" spc="-45" dirty="0">
                <a:latin typeface="Tahoma"/>
                <a:cs typeface="Tahoma"/>
              </a:rPr>
              <a:t> </a:t>
            </a:r>
            <a:r>
              <a:rPr sz="1100" spc="-30" dirty="0">
                <a:latin typeface="Tahoma"/>
                <a:cs typeface="Tahoma"/>
              </a:rPr>
              <a:t>linear</a:t>
            </a:r>
            <a:r>
              <a:rPr sz="1100" spc="-40" dirty="0">
                <a:latin typeface="Tahoma"/>
                <a:cs typeface="Tahoma"/>
              </a:rPr>
              <a:t> </a:t>
            </a:r>
            <a:r>
              <a:rPr sz="1100" spc="-60" dirty="0">
                <a:latin typeface="Tahoma"/>
                <a:cs typeface="Tahoma"/>
              </a:rPr>
              <a:t>independence.</a:t>
            </a:r>
            <a:endParaRPr sz="1100">
              <a:latin typeface="Tahoma"/>
              <a:cs typeface="Tahoma"/>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30" dirty="0"/>
              <a:t>Linear</a:t>
            </a:r>
            <a:r>
              <a:rPr spc="-55" dirty="0"/>
              <a:t> </a:t>
            </a:r>
            <a:r>
              <a:rPr spc="-35" dirty="0"/>
              <a:t>combination</a:t>
            </a:r>
          </a:p>
        </p:txBody>
      </p:sp>
      <p:sp>
        <p:nvSpPr>
          <p:cNvPr id="3" name="object 3"/>
          <p:cNvSpPr txBox="1">
            <a:spLocks noGrp="1"/>
          </p:cNvSpPr>
          <p:nvPr>
            <p:ph type="body" idx="1"/>
          </p:nvPr>
        </p:nvSpPr>
        <p:spPr>
          <a:xfrm>
            <a:off x="421957" y="954175"/>
            <a:ext cx="3864610" cy="1517633"/>
          </a:xfrm>
          <a:prstGeom prst="rect">
            <a:avLst/>
          </a:prstGeom>
        </p:spPr>
        <p:txBody>
          <a:bodyPr vert="horz" wrap="square" lIns="0" tIns="113703" rIns="0" bIns="0" rtlCol="0">
            <a:spAutoFit/>
          </a:bodyPr>
          <a:lstStyle/>
          <a:p>
            <a:pPr marL="215265" indent="-177165">
              <a:lnSpc>
                <a:spcPct val="100000"/>
              </a:lnSpc>
              <a:spcBef>
                <a:spcPts val="90"/>
              </a:spcBef>
              <a:buClr>
                <a:srgbClr val="3333B2"/>
              </a:buClr>
              <a:buFont typeface="Lucida Sans Unicode"/>
              <a:buChar char="►"/>
              <a:tabLst>
                <a:tab pos="215265" algn="l"/>
              </a:tabLst>
            </a:pPr>
            <a:r>
              <a:rPr sz="1100" spc="-35" dirty="0"/>
              <a:t>Consider</a:t>
            </a:r>
            <a:r>
              <a:rPr sz="1100" spc="-55" dirty="0"/>
              <a:t> </a:t>
            </a:r>
            <a:r>
              <a:rPr sz="1100" dirty="0"/>
              <a:t>a</a:t>
            </a:r>
            <a:r>
              <a:rPr sz="1100" spc="-45" dirty="0"/>
              <a:t> </a:t>
            </a:r>
            <a:r>
              <a:rPr sz="1100" spc="-35" dirty="0"/>
              <a:t>vector</a:t>
            </a:r>
            <a:r>
              <a:rPr sz="1100" spc="-30" dirty="0"/>
              <a:t> </a:t>
            </a:r>
            <a:r>
              <a:rPr sz="1100" spc="-60" dirty="0"/>
              <a:t>space</a:t>
            </a:r>
            <a:r>
              <a:rPr sz="1100" spc="-25" dirty="0"/>
              <a:t> </a:t>
            </a:r>
            <a:r>
              <a:rPr sz="1100" i="1" dirty="0">
                <a:latin typeface="Arial"/>
                <a:cs typeface="Arial"/>
              </a:rPr>
              <a:t>V</a:t>
            </a:r>
            <a:r>
              <a:rPr sz="1100" i="1" spc="160" dirty="0">
                <a:latin typeface="Arial"/>
                <a:cs typeface="Arial"/>
              </a:rPr>
              <a:t> </a:t>
            </a:r>
            <a:r>
              <a:rPr sz="1100" spc="-35" dirty="0"/>
              <a:t>and</a:t>
            </a:r>
            <a:r>
              <a:rPr sz="1100" spc="-25" dirty="0"/>
              <a:t> </a:t>
            </a:r>
            <a:r>
              <a:rPr sz="1100" dirty="0"/>
              <a:t>a</a:t>
            </a:r>
            <a:r>
              <a:rPr sz="1100" spc="-25" dirty="0"/>
              <a:t> </a:t>
            </a:r>
            <a:r>
              <a:rPr sz="1100" spc="-20" dirty="0"/>
              <a:t>set</a:t>
            </a:r>
            <a:r>
              <a:rPr sz="1100" spc="-30" dirty="0"/>
              <a:t> </a:t>
            </a:r>
            <a:r>
              <a:rPr sz="1100" dirty="0"/>
              <a:t>of</a:t>
            </a:r>
            <a:r>
              <a:rPr sz="1100" spc="-30" dirty="0"/>
              <a:t> </a:t>
            </a:r>
            <a:r>
              <a:rPr sz="1100" spc="-40" dirty="0"/>
              <a:t>vectors</a:t>
            </a:r>
            <a:r>
              <a:rPr sz="1100" spc="-25" dirty="0"/>
              <a:t> </a:t>
            </a:r>
            <a:r>
              <a:rPr sz="1100" b="1" dirty="0">
                <a:latin typeface="Trebuchet MS"/>
                <a:cs typeface="Trebuchet MS"/>
              </a:rPr>
              <a:t>x</a:t>
            </a:r>
            <a:r>
              <a:rPr sz="1200" baseline="-10416" dirty="0"/>
              <a:t>1</a:t>
            </a:r>
            <a:r>
              <a:rPr sz="1100" dirty="0"/>
              <a:t>,</a:t>
            </a:r>
            <a:r>
              <a:rPr sz="1100" spc="-25" dirty="0"/>
              <a:t> </a:t>
            </a:r>
            <a:r>
              <a:rPr sz="1100" b="1" dirty="0">
                <a:latin typeface="Trebuchet MS"/>
                <a:cs typeface="Trebuchet MS"/>
              </a:rPr>
              <a:t>x</a:t>
            </a:r>
            <a:r>
              <a:rPr sz="1200" baseline="-10416" dirty="0"/>
              <a:t>2</a:t>
            </a:r>
            <a:r>
              <a:rPr sz="1100" dirty="0"/>
              <a:t>,</a:t>
            </a:r>
            <a:r>
              <a:rPr sz="1100" spc="-25" dirty="0"/>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i="1" spc="-50" dirty="0">
                <a:latin typeface="Calibri"/>
                <a:cs typeface="Calibri"/>
              </a:rPr>
              <a:t>.</a:t>
            </a:r>
            <a:endParaRPr sz="1100" dirty="0">
              <a:latin typeface="Calibri"/>
              <a:cs typeface="Calibri"/>
            </a:endParaRPr>
          </a:p>
          <a:p>
            <a:pPr marL="214629">
              <a:lnSpc>
                <a:spcPct val="100000"/>
              </a:lnSpc>
              <a:spcBef>
                <a:spcPts val="35"/>
              </a:spcBef>
            </a:pPr>
            <a:r>
              <a:rPr b="1" dirty="0">
                <a:latin typeface="Trebuchet MS"/>
                <a:cs typeface="Trebuchet MS"/>
              </a:rPr>
              <a:t>x</a:t>
            </a:r>
            <a:r>
              <a:rPr sz="1200" i="1" baseline="-13888" dirty="0">
                <a:latin typeface="Arial"/>
                <a:cs typeface="Arial"/>
              </a:rPr>
              <a:t>k</a:t>
            </a:r>
            <a:r>
              <a:rPr sz="1200" i="1" spc="142" baseline="-13888" dirty="0">
                <a:latin typeface="Arial"/>
                <a:cs typeface="Arial"/>
              </a:rPr>
              <a:t> </a:t>
            </a:r>
            <a:r>
              <a:rPr sz="1100" spc="-155" dirty="0">
                <a:latin typeface="Lucida Sans Unicode"/>
                <a:cs typeface="Lucida Sans Unicode"/>
              </a:rPr>
              <a:t>∈</a:t>
            </a:r>
            <a:r>
              <a:rPr sz="1100" spc="-45" dirty="0">
                <a:latin typeface="Lucida Sans Unicode"/>
                <a:cs typeface="Lucida Sans Unicode"/>
              </a:rPr>
              <a:t> </a:t>
            </a:r>
            <a:r>
              <a:rPr sz="1100" i="1" spc="-20" dirty="0">
                <a:latin typeface="Arial"/>
                <a:cs typeface="Arial"/>
              </a:rPr>
              <a:t>V</a:t>
            </a:r>
            <a:r>
              <a:rPr sz="1100" i="1" spc="-130" dirty="0">
                <a:latin typeface="Arial"/>
                <a:cs typeface="Arial"/>
              </a:rPr>
              <a:t> </a:t>
            </a:r>
            <a:r>
              <a:rPr sz="1100" dirty="0"/>
              <a:t>.</a:t>
            </a:r>
            <a:r>
              <a:rPr sz="1100" spc="100" dirty="0"/>
              <a:t> </a:t>
            </a:r>
            <a:r>
              <a:rPr sz="1100" dirty="0"/>
              <a:t>Then</a:t>
            </a:r>
            <a:r>
              <a:rPr sz="1100" spc="-10" dirty="0"/>
              <a:t> </a:t>
            </a:r>
            <a:r>
              <a:rPr lang="en-IN" spc="-60" dirty="0"/>
              <a:t>an element</a:t>
            </a:r>
            <a:r>
              <a:rPr sz="1100" spc="-10" dirty="0"/>
              <a:t> </a:t>
            </a:r>
            <a:r>
              <a:rPr sz="1100" b="1" spc="-90" dirty="0">
                <a:latin typeface="Trebuchet MS"/>
                <a:cs typeface="Trebuchet MS"/>
              </a:rPr>
              <a:t>v</a:t>
            </a:r>
            <a:r>
              <a:rPr lang="en-IN" sz="1100" b="1" spc="-90" dirty="0">
                <a:latin typeface="Trebuchet MS"/>
                <a:cs typeface="Trebuchet MS"/>
              </a:rPr>
              <a:t> </a:t>
            </a:r>
            <a:r>
              <a:rPr sz="1100" spc="-90" dirty="0">
                <a:latin typeface="Lucida Sans Unicode"/>
                <a:cs typeface="Lucida Sans Unicode"/>
              </a:rPr>
              <a:t>∈</a:t>
            </a:r>
            <a:r>
              <a:rPr sz="1100" spc="-45" dirty="0">
                <a:latin typeface="Lucida Sans Unicode"/>
                <a:cs typeface="Lucida Sans Unicode"/>
              </a:rPr>
              <a:t> </a:t>
            </a:r>
            <a:r>
              <a:rPr sz="1100" i="1" dirty="0">
                <a:latin typeface="Arial"/>
                <a:cs typeface="Arial"/>
              </a:rPr>
              <a:t>V</a:t>
            </a:r>
            <a:r>
              <a:rPr sz="1100" i="1" spc="185" dirty="0">
                <a:latin typeface="Arial"/>
                <a:cs typeface="Arial"/>
              </a:rPr>
              <a:t> </a:t>
            </a:r>
            <a:r>
              <a:rPr sz="1100" dirty="0"/>
              <a:t>that</a:t>
            </a:r>
            <a:r>
              <a:rPr sz="1100" spc="-15" dirty="0"/>
              <a:t> </a:t>
            </a:r>
            <a:r>
              <a:rPr sz="1100" dirty="0"/>
              <a:t>is</a:t>
            </a:r>
            <a:r>
              <a:rPr sz="1100" spc="-10" dirty="0"/>
              <a:t> </a:t>
            </a:r>
            <a:r>
              <a:rPr sz="1100" dirty="0"/>
              <a:t>of</a:t>
            </a:r>
            <a:r>
              <a:rPr sz="1100" spc="-10" dirty="0"/>
              <a:t> the </a:t>
            </a:r>
            <a:r>
              <a:rPr sz="1100" spc="-40" dirty="0"/>
              <a:t>form</a:t>
            </a:r>
            <a:r>
              <a:rPr sz="1100" spc="-10" dirty="0"/>
              <a:t> </a:t>
            </a:r>
            <a:r>
              <a:rPr lang="en-IN" sz="1100" spc="-10" dirty="0"/>
              <a:t>                      </a:t>
            </a:r>
            <a:r>
              <a:rPr sz="1100" b="1" i="1" dirty="0">
                <a:latin typeface="Arial"/>
                <a:cs typeface="Arial"/>
              </a:rPr>
              <a:t>v</a:t>
            </a:r>
            <a:r>
              <a:rPr sz="1100" i="1" spc="80" dirty="0">
                <a:latin typeface="Arial"/>
                <a:cs typeface="Arial"/>
              </a:rPr>
              <a:t> </a:t>
            </a:r>
            <a:r>
              <a:rPr sz="1100" dirty="0"/>
              <a:t>=</a:t>
            </a:r>
            <a:r>
              <a:rPr sz="1100" spc="-65" dirty="0"/>
              <a:t> </a:t>
            </a:r>
            <a:r>
              <a:rPr sz="1100" i="1" dirty="0">
                <a:latin typeface="Calibri"/>
                <a:cs typeface="Calibri"/>
              </a:rPr>
              <a:t>λ</a:t>
            </a:r>
            <a:r>
              <a:rPr sz="1200" baseline="-10416" dirty="0"/>
              <a:t>1</a:t>
            </a:r>
            <a:r>
              <a:rPr sz="1100" b="1" dirty="0">
                <a:latin typeface="Trebuchet MS"/>
                <a:cs typeface="Trebuchet MS"/>
              </a:rPr>
              <a:t>x</a:t>
            </a:r>
            <a:r>
              <a:rPr sz="1200" baseline="-10416" dirty="0"/>
              <a:t>1</a:t>
            </a:r>
            <a:r>
              <a:rPr sz="1200" spc="187" baseline="-10416" dirty="0"/>
              <a:t> </a:t>
            </a:r>
            <a:r>
              <a:rPr sz="1100" spc="-50" dirty="0"/>
              <a:t>+</a:t>
            </a:r>
            <a:r>
              <a:rPr lang="en-IN" spc="-50" dirty="0">
                <a:latin typeface="Trebuchet MS"/>
              </a:rPr>
              <a:t> </a:t>
            </a:r>
            <a:r>
              <a:rPr i="1" dirty="0">
                <a:latin typeface="Calibri"/>
                <a:cs typeface="Calibri"/>
              </a:rPr>
              <a:t>λ</a:t>
            </a:r>
            <a:r>
              <a:rPr sz="1200" baseline="-10416" dirty="0"/>
              <a:t>2</a:t>
            </a:r>
            <a:r>
              <a:rPr sz="1100" b="1" dirty="0">
                <a:latin typeface="Trebuchet MS"/>
                <a:cs typeface="Trebuchet MS"/>
              </a:rPr>
              <a:t>x</a:t>
            </a:r>
            <a:r>
              <a:rPr sz="1200" baseline="-10416" dirty="0"/>
              <a:t>2</a:t>
            </a:r>
            <a:r>
              <a:rPr sz="1200" spc="135" baseline="-10416" dirty="0"/>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dirty="0"/>
              <a:t>+</a:t>
            </a:r>
            <a:r>
              <a:rPr sz="1100" spc="-5" dirty="0"/>
              <a:t> </a:t>
            </a:r>
            <a:r>
              <a:rPr sz="1100" i="1" spc="65" dirty="0">
                <a:latin typeface="Calibri"/>
                <a:cs typeface="Calibri"/>
              </a:rPr>
              <a:t>λ</a:t>
            </a:r>
            <a:r>
              <a:rPr sz="1200" i="1" spc="97" baseline="-13888" dirty="0">
                <a:latin typeface="Arial"/>
                <a:cs typeface="Arial"/>
              </a:rPr>
              <a:t>k</a:t>
            </a:r>
            <a:r>
              <a:rPr sz="1200" i="1" spc="-165" baseline="-13888" dirty="0">
                <a:latin typeface="Arial"/>
                <a:cs typeface="Arial"/>
              </a:rPr>
              <a:t> </a:t>
            </a:r>
            <a:r>
              <a:rPr sz="1100" b="1" dirty="0">
                <a:latin typeface="Trebuchet MS"/>
                <a:cs typeface="Trebuchet MS"/>
              </a:rPr>
              <a:t>x</a:t>
            </a:r>
            <a:r>
              <a:rPr sz="1200" i="1" baseline="-13888" dirty="0">
                <a:latin typeface="Arial"/>
                <a:cs typeface="Arial"/>
              </a:rPr>
              <a:t>k</a:t>
            </a:r>
            <a:r>
              <a:rPr sz="1200" i="1" spc="330" baseline="-13888" dirty="0">
                <a:latin typeface="Arial"/>
                <a:cs typeface="Arial"/>
              </a:rPr>
              <a:t> </a:t>
            </a:r>
            <a:r>
              <a:rPr sz="1100" dirty="0"/>
              <a:t>is</a:t>
            </a:r>
            <a:r>
              <a:rPr sz="1100" spc="-5" dirty="0"/>
              <a:t> </a:t>
            </a:r>
            <a:r>
              <a:rPr sz="1100" dirty="0"/>
              <a:t>a</a:t>
            </a:r>
            <a:r>
              <a:rPr sz="1100" spc="-5" dirty="0"/>
              <a:t> </a:t>
            </a:r>
            <a:r>
              <a:rPr sz="1100" spc="-30" dirty="0"/>
              <a:t>linear</a:t>
            </a:r>
            <a:r>
              <a:rPr sz="1100" spc="-5" dirty="0"/>
              <a:t> </a:t>
            </a:r>
            <a:r>
              <a:rPr sz="1100" spc="-30" dirty="0"/>
              <a:t>combination</a:t>
            </a:r>
            <a:r>
              <a:rPr sz="1100" spc="-5" dirty="0"/>
              <a:t> </a:t>
            </a:r>
            <a:r>
              <a:rPr sz="1100" dirty="0"/>
              <a:t>of</a:t>
            </a:r>
            <a:r>
              <a:rPr sz="1100" spc="-5" dirty="0"/>
              <a:t> </a:t>
            </a:r>
            <a:r>
              <a:rPr sz="1100" spc="-10" dirty="0"/>
              <a:t>the</a:t>
            </a:r>
            <a:r>
              <a:rPr sz="1100" spc="-5" dirty="0"/>
              <a:t> </a:t>
            </a:r>
            <a:r>
              <a:rPr sz="1100" spc="-50" dirty="0"/>
              <a:t>vectors</a:t>
            </a:r>
            <a:r>
              <a:rPr sz="1100" dirty="0"/>
              <a:t> </a:t>
            </a:r>
            <a:r>
              <a:rPr sz="1100" b="1" dirty="0">
                <a:latin typeface="Trebuchet MS"/>
                <a:cs typeface="Trebuchet MS"/>
              </a:rPr>
              <a:t>x</a:t>
            </a:r>
            <a:r>
              <a:rPr sz="1200" baseline="-10416" dirty="0"/>
              <a:t>1</a:t>
            </a:r>
            <a:r>
              <a:rPr sz="1100" dirty="0"/>
              <a:t>,</a:t>
            </a:r>
            <a:r>
              <a:rPr sz="1100" spc="-5" dirty="0"/>
              <a:t> </a:t>
            </a:r>
            <a:r>
              <a:rPr sz="1100" b="1" spc="-25" dirty="0">
                <a:latin typeface="Trebuchet MS"/>
                <a:cs typeface="Trebuchet MS"/>
              </a:rPr>
              <a:t>x</a:t>
            </a:r>
            <a:r>
              <a:rPr sz="1200" spc="-37" baseline="-10416" dirty="0"/>
              <a:t>2</a:t>
            </a:r>
            <a:r>
              <a:rPr sz="1100" spc="-25" dirty="0"/>
              <a:t>,</a:t>
            </a:r>
            <a:r>
              <a:rPr lang="en-IN" spc="-25" dirty="0">
                <a:latin typeface="Trebuchet MS"/>
              </a:rPr>
              <a:t> </a:t>
            </a:r>
            <a:r>
              <a:rPr i="1" dirty="0">
                <a:latin typeface="Calibri"/>
                <a:cs typeface="Calibri"/>
              </a:rPr>
              <a:t>.</a:t>
            </a:r>
            <a:r>
              <a:rPr i="1" spc="-55" dirty="0">
                <a:latin typeface="Calibri"/>
                <a:cs typeface="Calibri"/>
              </a:rPr>
              <a:t> </a:t>
            </a:r>
            <a:r>
              <a:rPr i="1" dirty="0">
                <a:latin typeface="Calibri"/>
                <a:cs typeface="Calibri"/>
              </a:rPr>
              <a:t>.</a:t>
            </a:r>
            <a:r>
              <a:rPr i="1" spc="-50" dirty="0">
                <a:latin typeface="Calibri"/>
                <a:cs typeface="Calibri"/>
              </a:rPr>
              <a:t> </a:t>
            </a:r>
            <a:r>
              <a:rPr i="1" dirty="0">
                <a:latin typeface="Calibri"/>
                <a:cs typeface="Calibri"/>
              </a:rPr>
              <a:t>.</a:t>
            </a:r>
            <a:r>
              <a:rPr i="1" spc="155" dirty="0">
                <a:latin typeface="Calibri"/>
                <a:cs typeface="Calibri"/>
              </a:rPr>
              <a:t> </a:t>
            </a:r>
            <a:r>
              <a:rPr b="1" spc="-35" dirty="0" err="1">
                <a:latin typeface="Trebuchet MS"/>
                <a:cs typeface="Trebuchet MS"/>
              </a:rPr>
              <a:t>x</a:t>
            </a:r>
            <a:r>
              <a:rPr sz="1200" i="1" spc="-52" baseline="-13888" dirty="0" err="1">
                <a:latin typeface="Arial"/>
                <a:cs typeface="Arial"/>
              </a:rPr>
              <a:t>k</a:t>
            </a:r>
            <a:r>
              <a:rPr sz="1200" i="1" spc="-150" baseline="-13888" dirty="0">
                <a:latin typeface="Arial"/>
                <a:cs typeface="Arial"/>
              </a:rPr>
              <a:t> </a:t>
            </a:r>
            <a:r>
              <a:rPr sz="1100" spc="-50" dirty="0"/>
              <a:t>.</a:t>
            </a:r>
            <a:endParaRPr lang="en-IN" sz="1100" spc="-50" dirty="0"/>
          </a:p>
          <a:p>
            <a:pPr marL="214629">
              <a:lnSpc>
                <a:spcPct val="100000"/>
              </a:lnSpc>
              <a:spcBef>
                <a:spcPts val="35"/>
              </a:spcBef>
            </a:pPr>
            <a:endParaRPr sz="1100" dirty="0">
              <a:latin typeface="Arial"/>
              <a:cs typeface="Arial"/>
            </a:endParaRPr>
          </a:p>
          <a:p>
            <a:pPr marL="214629" marR="30480" indent="-177165">
              <a:lnSpc>
                <a:spcPct val="102600"/>
              </a:lnSpc>
              <a:spcBef>
                <a:spcPts val="300"/>
              </a:spcBef>
              <a:buClr>
                <a:srgbClr val="3333B2"/>
              </a:buClr>
              <a:buFont typeface="Lucida Sans Unicode"/>
              <a:buChar char="►"/>
              <a:tabLst>
                <a:tab pos="214629" algn="l"/>
              </a:tabLst>
            </a:pPr>
            <a:r>
              <a:rPr sz="1100" spc="-10" dirty="0"/>
              <a:t>Note</a:t>
            </a:r>
            <a:r>
              <a:rPr sz="1100" spc="-80" dirty="0"/>
              <a:t> </a:t>
            </a:r>
            <a:r>
              <a:rPr sz="1100" dirty="0"/>
              <a:t>that</a:t>
            </a:r>
            <a:r>
              <a:rPr sz="1100" spc="-55" dirty="0"/>
              <a:t> </a:t>
            </a:r>
            <a:r>
              <a:rPr sz="1100" spc="-35" dirty="0"/>
              <a:t>the</a:t>
            </a:r>
            <a:r>
              <a:rPr sz="1100" spc="-50" dirty="0"/>
              <a:t> </a:t>
            </a:r>
            <a:r>
              <a:rPr sz="1100" b="1" dirty="0">
                <a:latin typeface="Trebuchet MS"/>
                <a:cs typeface="Trebuchet MS"/>
              </a:rPr>
              <a:t>0</a:t>
            </a:r>
            <a:r>
              <a:rPr sz="1100" b="1" spc="-40" dirty="0">
                <a:latin typeface="Trebuchet MS"/>
                <a:cs typeface="Trebuchet MS"/>
              </a:rPr>
              <a:t> </a:t>
            </a:r>
            <a:r>
              <a:rPr sz="1100" spc="-40" dirty="0"/>
              <a:t>can</a:t>
            </a:r>
            <a:r>
              <a:rPr sz="1100" spc="-45" dirty="0"/>
              <a:t> </a:t>
            </a:r>
            <a:r>
              <a:rPr sz="1100" spc="-50" dirty="0"/>
              <a:t>be</a:t>
            </a:r>
            <a:r>
              <a:rPr sz="1100" spc="-40" dirty="0"/>
              <a:t> </a:t>
            </a:r>
            <a:r>
              <a:rPr sz="1100" spc="-20" dirty="0"/>
              <a:t>written</a:t>
            </a:r>
            <a:r>
              <a:rPr sz="1100" spc="-50" dirty="0"/>
              <a:t> </a:t>
            </a:r>
            <a:r>
              <a:rPr sz="1100" spc="-10" dirty="0"/>
              <a:t>trivially</a:t>
            </a:r>
            <a:r>
              <a:rPr sz="1100" spc="-50" dirty="0"/>
              <a:t> </a:t>
            </a:r>
            <a:r>
              <a:rPr sz="1100" spc="-60" dirty="0"/>
              <a:t>as</a:t>
            </a:r>
            <a:r>
              <a:rPr sz="1100" spc="-25" dirty="0"/>
              <a:t> </a:t>
            </a:r>
            <a:r>
              <a:rPr sz="1100" dirty="0"/>
              <a:t>a</a:t>
            </a:r>
            <a:r>
              <a:rPr sz="1100" spc="-50" dirty="0"/>
              <a:t> </a:t>
            </a:r>
            <a:r>
              <a:rPr sz="1100" spc="-35" dirty="0"/>
              <a:t>linear</a:t>
            </a:r>
            <a:r>
              <a:rPr sz="1100" spc="-50" dirty="0"/>
              <a:t> </a:t>
            </a:r>
            <a:r>
              <a:rPr sz="1100" spc="-35" dirty="0"/>
              <a:t>combination </a:t>
            </a:r>
            <a:r>
              <a:rPr sz="1100" dirty="0"/>
              <a:t>of</a:t>
            </a:r>
            <a:r>
              <a:rPr sz="1100" spc="-55" dirty="0"/>
              <a:t> </a:t>
            </a:r>
            <a:r>
              <a:rPr sz="1100" spc="-10" dirty="0"/>
              <a:t>the</a:t>
            </a:r>
            <a:r>
              <a:rPr sz="1100" spc="-25" dirty="0"/>
              <a:t> </a:t>
            </a:r>
            <a:r>
              <a:rPr sz="1100" spc="-40" dirty="0"/>
              <a:t>given</a:t>
            </a:r>
            <a:r>
              <a:rPr sz="1100" spc="-30" dirty="0"/>
              <a:t> </a:t>
            </a:r>
            <a:r>
              <a:rPr sz="1100" i="1" dirty="0">
                <a:latin typeface="Arial"/>
                <a:cs typeface="Arial"/>
              </a:rPr>
              <a:t>k</a:t>
            </a:r>
            <a:r>
              <a:rPr sz="1100" i="1" spc="95" dirty="0">
                <a:latin typeface="Arial"/>
                <a:cs typeface="Arial"/>
              </a:rPr>
              <a:t> </a:t>
            </a:r>
            <a:r>
              <a:rPr sz="1100" spc="-50" dirty="0"/>
              <a:t>vectors</a:t>
            </a:r>
            <a:r>
              <a:rPr sz="1100" spc="-25" dirty="0"/>
              <a:t> </a:t>
            </a:r>
            <a:r>
              <a:rPr sz="1100" b="1" spc="-30" dirty="0">
                <a:latin typeface="Trebuchet MS"/>
                <a:cs typeface="Trebuchet MS"/>
              </a:rPr>
              <a:t>x</a:t>
            </a:r>
            <a:r>
              <a:rPr sz="1200" i="1" spc="-44" baseline="-10416" dirty="0">
                <a:latin typeface="Arial"/>
                <a:cs typeface="Arial"/>
              </a:rPr>
              <a:t>i</a:t>
            </a:r>
            <a:r>
              <a:rPr sz="1200" i="1" spc="-142" baseline="-10416" dirty="0">
                <a:latin typeface="Arial"/>
                <a:cs typeface="Arial"/>
              </a:rPr>
              <a:t> </a:t>
            </a:r>
            <a:r>
              <a:rPr sz="1100" dirty="0"/>
              <a:t>s.</a:t>
            </a:r>
            <a:r>
              <a:rPr sz="1100" spc="80" dirty="0"/>
              <a:t> </a:t>
            </a:r>
            <a:r>
              <a:rPr sz="1100" dirty="0"/>
              <a:t>We</a:t>
            </a:r>
            <a:r>
              <a:rPr sz="1100" spc="-25" dirty="0"/>
              <a:t> </a:t>
            </a:r>
            <a:r>
              <a:rPr sz="1100" spc="-60" dirty="0"/>
              <a:t>are</a:t>
            </a:r>
            <a:r>
              <a:rPr sz="1100" spc="-25" dirty="0"/>
              <a:t> </a:t>
            </a:r>
            <a:r>
              <a:rPr sz="1100" spc="-75" dirty="0"/>
              <a:t>however</a:t>
            </a:r>
            <a:r>
              <a:rPr sz="1100" spc="-10" dirty="0"/>
              <a:t> </a:t>
            </a:r>
            <a:r>
              <a:rPr sz="1100" spc="-40" dirty="0"/>
              <a:t>interested</a:t>
            </a:r>
            <a:r>
              <a:rPr sz="1100" spc="-25" dirty="0"/>
              <a:t> in</a:t>
            </a:r>
            <a:endParaRPr sz="1100" dirty="0">
              <a:latin typeface="Arial"/>
              <a:cs typeface="Arial"/>
            </a:endParaRPr>
          </a:p>
          <a:p>
            <a:pPr marL="214629">
              <a:lnSpc>
                <a:spcPct val="100000"/>
              </a:lnSpc>
              <a:spcBef>
                <a:spcPts val="35"/>
              </a:spcBef>
            </a:pPr>
            <a:r>
              <a:rPr spc="-40" dirty="0"/>
              <a:t>non-</a:t>
            </a:r>
            <a:r>
              <a:rPr spc="-10" dirty="0"/>
              <a:t>trivial</a:t>
            </a:r>
            <a:r>
              <a:rPr spc="-30" dirty="0"/>
              <a:t> linear</a:t>
            </a:r>
            <a:r>
              <a:rPr spc="-25" dirty="0"/>
              <a:t> </a:t>
            </a:r>
            <a:r>
              <a:rPr spc="-35" dirty="0"/>
              <a:t>combinations </a:t>
            </a:r>
            <a:r>
              <a:rPr dirty="0"/>
              <a:t>of</a:t>
            </a:r>
            <a:r>
              <a:rPr spc="-25" dirty="0"/>
              <a:t> </a:t>
            </a:r>
            <a:r>
              <a:rPr spc="-50" dirty="0"/>
              <a:t>vectors</a:t>
            </a:r>
            <a:r>
              <a:rPr spc="-35" dirty="0"/>
              <a:t> </a:t>
            </a:r>
            <a:r>
              <a:rPr dirty="0"/>
              <a:t>to</a:t>
            </a:r>
            <a:r>
              <a:rPr spc="-30" dirty="0"/>
              <a:t> </a:t>
            </a:r>
            <a:r>
              <a:rPr spc="-20" dirty="0"/>
              <a:t>get</a:t>
            </a:r>
            <a:r>
              <a:rPr spc="-25" dirty="0"/>
              <a:t> </a:t>
            </a:r>
            <a:r>
              <a:rPr spc="-20" dirty="0"/>
              <a:t>the</a:t>
            </a:r>
            <a:r>
              <a:rPr spc="-35" dirty="0"/>
              <a:t> </a:t>
            </a:r>
            <a:r>
              <a:rPr b="1" spc="-50" dirty="0">
                <a:latin typeface="Trebuchet MS"/>
                <a:cs typeface="Trebuchet MS"/>
              </a:rPr>
              <a:t>0</a:t>
            </a:r>
            <a:r>
              <a:rPr spc="-50" dirty="0"/>
              <a:t>-</a:t>
            </a:r>
            <a:r>
              <a:rPr spc="-10" dirty="0"/>
              <a:t>vector.</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072AA-7BFB-EEDA-6A8E-DA8256E81DF2}"/>
              </a:ext>
            </a:extLst>
          </p:cNvPr>
          <p:cNvSpPr>
            <a:spLocks noGrp="1"/>
          </p:cNvSpPr>
          <p:nvPr>
            <p:ph type="title"/>
          </p:nvPr>
        </p:nvSpPr>
        <p:spPr>
          <a:xfrm>
            <a:off x="95300" y="72527"/>
            <a:ext cx="3277870" cy="215444"/>
          </a:xfrm>
        </p:spPr>
        <p:txBody>
          <a:bodyPr/>
          <a:lstStyle/>
          <a:p>
            <a:r>
              <a:rPr lang="en-IN" dirty="0"/>
              <a:t>Examples of Linear Combinations </a:t>
            </a:r>
          </a:p>
        </p:txBody>
      </p:sp>
      <p:sp>
        <p:nvSpPr>
          <p:cNvPr id="4" name="TextBox 3">
            <a:extLst>
              <a:ext uri="{FF2B5EF4-FFF2-40B4-BE49-F238E27FC236}">
                <a16:creationId xmlns:a16="http://schemas.microsoft.com/office/drawing/2014/main" id="{40A5F29F-59C7-CADE-4647-0A7C8F0BD32E}"/>
              </a:ext>
            </a:extLst>
          </p:cNvPr>
          <p:cNvSpPr txBox="1"/>
          <p:nvPr/>
        </p:nvSpPr>
        <p:spPr>
          <a:xfrm>
            <a:off x="95300" y="968375"/>
            <a:ext cx="4267150" cy="2954655"/>
          </a:xfrm>
          <a:prstGeom prst="rect">
            <a:avLst/>
          </a:prstGeom>
          <a:noFill/>
        </p:spPr>
        <p:txBody>
          <a:bodyPr wrap="square" rtlCol="0">
            <a:spAutoFit/>
          </a:bodyPr>
          <a:lstStyle/>
          <a:p>
            <a:r>
              <a:rPr lang="en-US" sz="1000" dirty="0"/>
              <a:t>Example 1. Let S = {[1, 0, 1], [1, 1,0], [1, 1, 1]}</a:t>
            </a:r>
          </a:p>
          <a:p>
            <a:r>
              <a:rPr lang="en-US" sz="1000" dirty="0"/>
              <a:t>Then the vector [1, -2, 3] is linear combination of the elements of S. </a:t>
            </a:r>
          </a:p>
          <a:p>
            <a:r>
              <a:rPr lang="en-US" sz="1000" dirty="0"/>
              <a:t>Since [1, -2, 3] = 3[1, 0, 1] + (-2) [1, 1,0].</a:t>
            </a:r>
          </a:p>
          <a:p>
            <a:endParaRPr lang="en-US" sz="1000" dirty="0"/>
          </a:p>
          <a:p>
            <a:r>
              <a:rPr lang="en-US" sz="1100" dirty="0"/>
              <a:t>Example 2 : Let S = {[1, 0, 0], [0,1, 0], [ 1, 2, 0]} Then the vector [1, 1, 1] is not a linear combination of elements of S.  But [-1, 4, 0] is a linear combination of elements of S. </a:t>
            </a:r>
          </a:p>
          <a:p>
            <a:r>
              <a:rPr lang="en-US" sz="1100" dirty="0"/>
              <a:t>How do you find a, b, c such that </a:t>
            </a:r>
          </a:p>
          <a:p>
            <a:r>
              <a:rPr lang="en-US" sz="1100" dirty="0"/>
              <a:t>[-1, 4, 0] = a[1, 0, 0] + b[0,1, 0] + c[ 1, 2, 0] </a:t>
            </a:r>
          </a:p>
          <a:p>
            <a:r>
              <a:rPr lang="en-US" sz="1100" dirty="0"/>
              <a:t>Simply by observation one can see that a=-1, b = 4, and c = 0.</a:t>
            </a:r>
          </a:p>
          <a:p>
            <a:r>
              <a:rPr lang="en-US" sz="1100" dirty="0"/>
              <a:t>.</a:t>
            </a:r>
          </a:p>
          <a:p>
            <a:endParaRPr lang="en-US" sz="1100" dirty="0"/>
          </a:p>
          <a:p>
            <a:endParaRPr lang="en-US" sz="1000" dirty="0"/>
          </a:p>
          <a:p>
            <a:endParaRPr lang="en-US" sz="1000" dirty="0"/>
          </a:p>
          <a:p>
            <a:endParaRPr lang="en-US" sz="1000" dirty="0"/>
          </a:p>
          <a:p>
            <a:endParaRPr lang="en-US" sz="1000" dirty="0"/>
          </a:p>
          <a:p>
            <a:endParaRPr lang="en-IN" dirty="0"/>
          </a:p>
        </p:txBody>
      </p:sp>
    </p:spTree>
    <p:extLst>
      <p:ext uri="{BB962C8B-B14F-4D97-AF65-F5344CB8AC3E}">
        <p14:creationId xmlns:p14="http://schemas.microsoft.com/office/powerpoint/2010/main" val="252709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4FF5-9DBC-D062-BCF6-787743A2939F}"/>
              </a:ext>
            </a:extLst>
          </p:cNvPr>
          <p:cNvSpPr>
            <a:spLocks noGrp="1"/>
          </p:cNvSpPr>
          <p:nvPr>
            <p:ph type="title"/>
          </p:nvPr>
        </p:nvSpPr>
        <p:spPr>
          <a:xfrm>
            <a:off x="95300" y="72527"/>
            <a:ext cx="3277870" cy="430887"/>
          </a:xfrm>
        </p:spPr>
        <p:txBody>
          <a:bodyPr/>
          <a:lstStyle/>
          <a:p>
            <a:r>
              <a:rPr lang="en-IN" dirty="0"/>
              <a:t>Gauss Elimination Method to fine the scalars in Linear combination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DE19E6-BBEA-CA84-7F37-B6344F7F0513}"/>
                  </a:ext>
                </a:extLst>
              </p:cNvPr>
              <p:cNvSpPr txBox="1"/>
              <p:nvPr/>
            </p:nvSpPr>
            <p:spPr>
              <a:xfrm>
                <a:off x="171450" y="892175"/>
                <a:ext cx="4267200" cy="2457339"/>
              </a:xfrm>
              <a:prstGeom prst="rect">
                <a:avLst/>
              </a:prstGeom>
              <a:noFill/>
            </p:spPr>
            <p:txBody>
              <a:bodyPr wrap="square" rtlCol="0">
                <a:spAutoFit/>
              </a:bodyPr>
              <a:lstStyle/>
              <a:p>
                <a:r>
                  <a:rPr lang="en-US" sz="1000" dirty="0"/>
                  <a:t>Generally we may not be able to find the scalars simply by observation. In that case we use Gauss elimination method to find such scalars.</a:t>
                </a:r>
              </a:p>
              <a:p>
                <a:endParaRPr lang="en-US" sz="1000" dirty="0"/>
              </a:p>
              <a:p>
                <a:r>
                  <a:rPr lang="en-US" sz="1000" dirty="0"/>
                  <a:t>Write </a:t>
                </a:r>
                <a14:m>
                  <m:oMath xmlns:m="http://schemas.openxmlformats.org/officeDocument/2006/math">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4</m:t>
                                    </m:r>
                                  </m:e>
                                </m:mr>
                                <m:mr>
                                  <m:e>
                                    <m:r>
                                      <a:rPr lang="en-IN" sz="1000" b="0" i="1" smtClean="0">
                                        <a:latin typeface="Cambria Math" panose="02040503050406030204" pitchFamily="18" charset="0"/>
                                      </a:rPr>
                                      <m:t>3</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1</m:t>
                                    </m:r>
                                  </m:e>
                                </m:mr>
                                <m:mr>
                                  <m:e>
                                    <m:r>
                                      <a:rPr lang="en-IN" sz="1000" b="0" i="1" smtClean="0">
                                        <a:latin typeface="Cambria Math" panose="02040503050406030204" pitchFamily="18" charset="0"/>
                                      </a:rPr>
                                      <m:t>2</m:t>
                                    </m:r>
                                  </m:e>
                                </m:mr>
                              </m:m>
                            </m:e>
                          </m:mr>
                        </m:m>
                      </m:e>
                    </m:d>
                    <m:r>
                      <a:rPr lang="en-IN" sz="1000" b="0" i="1" smtClean="0">
                        <a:latin typeface="Cambria Math" panose="02040503050406030204" pitchFamily="18" charset="0"/>
                      </a:rPr>
                      <m:t> </m:t>
                    </m:r>
                    <m:r>
                      <a:rPr lang="en-IN" sz="1000" b="0" i="1" smtClean="0">
                        <a:latin typeface="Cambria Math" panose="02040503050406030204" pitchFamily="18" charset="0"/>
                      </a:rPr>
                      <m:t>𝑎𝑠</m:t>
                    </m:r>
                    <m:r>
                      <a:rPr lang="en-IN" sz="1000" b="0" i="1" smtClean="0">
                        <a:latin typeface="Cambria Math" panose="02040503050406030204" pitchFamily="18" charset="0"/>
                      </a:rPr>
                      <m:t> </m:t>
                    </m:r>
                    <m:r>
                      <a:rPr lang="en-IN" sz="1000" b="0" i="1" smtClean="0">
                        <a:latin typeface="Cambria Math" panose="02040503050406030204" pitchFamily="18" charset="0"/>
                      </a:rPr>
                      <m:t>𝑎</m:t>
                    </m:r>
                    <m:r>
                      <a:rPr lang="en-IN" sz="1000" b="0" i="1" smtClean="0">
                        <a:latin typeface="Cambria Math" panose="02040503050406030204" pitchFamily="18" charset="0"/>
                      </a:rPr>
                      <m:t> </m:t>
                    </m:r>
                    <m:r>
                      <a:rPr lang="en-IN" sz="1000" b="0" i="1" smtClean="0">
                        <a:latin typeface="Cambria Math" panose="02040503050406030204" pitchFamily="18" charset="0"/>
                      </a:rPr>
                      <m:t>𝑙𝑖𝑛𝑒𝑎𝑟</m:t>
                    </m:r>
                    <m:r>
                      <a:rPr lang="en-IN" sz="1000" b="0" i="1" smtClean="0">
                        <a:latin typeface="Cambria Math" panose="02040503050406030204" pitchFamily="18" charset="0"/>
                      </a:rPr>
                      <m:t> </m:t>
                    </m:r>
                    <m:r>
                      <a:rPr lang="en-IN" sz="1000" b="0" i="1" smtClean="0">
                        <a:latin typeface="Cambria Math" panose="02040503050406030204" pitchFamily="18" charset="0"/>
                      </a:rPr>
                      <m:t>𝑐𝑜𝑚𝑏𝑖𝑛𝑎𝑡𝑖𝑜𝑛</m:t>
                    </m:r>
                    <m:r>
                      <a:rPr lang="en-IN" sz="1000" b="0" i="1" smtClean="0">
                        <a:latin typeface="Cambria Math" panose="02040503050406030204" pitchFamily="18" charset="0"/>
                      </a:rPr>
                      <m:t> </m:t>
                    </m:r>
                    <m:r>
                      <a:rPr lang="en-IN" sz="1000" b="0" i="1" smtClean="0">
                        <a:latin typeface="Cambria Math" panose="02040503050406030204" pitchFamily="18" charset="0"/>
                      </a:rPr>
                      <m:t>𝑜𝑓</m:t>
                    </m:r>
                    <m:r>
                      <a:rPr lang="en-IN" sz="1000" b="0" i="1" smtClean="0">
                        <a:latin typeface="Cambria Math" panose="02040503050406030204" pitchFamily="18" charset="0"/>
                      </a:rPr>
                      <m:t>  </m:t>
                    </m:r>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1</m:t>
                                    </m:r>
                                  </m:e>
                                </m:mr>
                                <m:mr>
                                  <m:e>
                                    <m:r>
                                      <a:rPr lang="en-IN" sz="1000" b="0" i="1" smtClean="0">
                                        <a:latin typeface="Cambria Math" panose="02040503050406030204" pitchFamily="18" charset="0"/>
                                      </a:rPr>
                                      <m:t>−1</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0</m:t>
                                    </m:r>
                                  </m:e>
                                </m:mr>
                                <m:mr>
                                  <m:e>
                                    <m:r>
                                      <a:rPr lang="en-IN" sz="1000" b="0" i="1" smtClean="0">
                                        <a:latin typeface="Cambria Math" panose="02040503050406030204" pitchFamily="18" charset="0"/>
                                      </a:rPr>
                                      <m:t>1</m:t>
                                    </m:r>
                                  </m:e>
                                </m:mr>
                              </m:m>
                            </m:e>
                          </m:mr>
                        </m:m>
                      </m:e>
                    </m:d>
                  </m:oMath>
                </a14:m>
                <a:r>
                  <a:rPr lang="en-US" sz="1000" dirty="0"/>
                  <a:t>,</a:t>
                </a:r>
                <a:r>
                  <a:rPr lang="en-IN" sz="1000" b="0" dirty="0"/>
                  <a:t> </a:t>
                </a:r>
                <a14:m>
                  <m:oMath xmlns:m="http://schemas.openxmlformats.org/officeDocument/2006/math">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0</m:t>
                                    </m:r>
                                  </m:e>
                                </m:mr>
                                <m:mr>
                                  <m:e>
                                    <m:r>
                                      <a:rPr lang="en-IN" sz="1000" b="0" i="1" smtClean="0">
                                        <a:latin typeface="Cambria Math" panose="02040503050406030204" pitchFamily="18" charset="0"/>
                                      </a:rPr>
                                      <m:t>1</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m:t>
                                    </m:r>
                                    <m:r>
                                      <a:rPr lang="en-IN" sz="1000" b="0" i="1" smtClean="0">
                                        <a:latin typeface="Cambria Math" panose="02040503050406030204" pitchFamily="18" charset="0"/>
                                      </a:rPr>
                                      <m:t>2</m:t>
                                    </m:r>
                                  </m:e>
                                </m:mr>
                                <m:mr>
                                  <m:e>
                                    <m:r>
                                      <a:rPr lang="en-IN" sz="1000" b="0" i="1" smtClean="0">
                                        <a:latin typeface="Cambria Math" panose="02040503050406030204" pitchFamily="18" charset="0"/>
                                      </a:rPr>
                                      <m:t>2</m:t>
                                    </m:r>
                                  </m:e>
                                </m:mr>
                              </m:m>
                            </m:e>
                          </m:mr>
                        </m:m>
                      </m:e>
                    </m:d>
                  </m:oMath>
                </a14:m>
                <a:r>
                  <a:rPr lang="en-US" sz="1000" dirty="0"/>
                  <a:t>,</a:t>
                </a:r>
                <a:r>
                  <a:rPr lang="en-IN" sz="1000" b="0" dirty="0"/>
                  <a:t> </a:t>
                </a:r>
                <a14:m>
                  <m:oMath xmlns:m="http://schemas.openxmlformats.org/officeDocument/2006/math">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3</m:t>
                                    </m:r>
                                  </m:e>
                                </m:mr>
                                <m:mr>
                                  <m:e>
                                    <m:r>
                                      <a:rPr lang="en-IN" sz="1000" b="0" i="1" smtClean="0">
                                        <a:latin typeface="Cambria Math" panose="02040503050406030204" pitchFamily="18" charset="0"/>
                                      </a:rPr>
                                      <m:t>−1</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0</m:t>
                                    </m:r>
                                  </m:e>
                                </m:mr>
                                <m:mr>
                                  <m:e>
                                    <m:r>
                                      <a:rPr lang="en-IN" sz="1000" b="0" i="1" smtClean="0">
                                        <a:latin typeface="Cambria Math" panose="02040503050406030204" pitchFamily="18" charset="0"/>
                                      </a:rPr>
                                      <m:t>1</m:t>
                                    </m:r>
                                  </m:e>
                                </m:mr>
                              </m:m>
                            </m:e>
                          </m:mr>
                        </m:m>
                      </m:e>
                    </m:d>
                    <m:r>
                      <a:rPr lang="en-IN" sz="1000" b="0" i="1" smtClean="0">
                        <a:latin typeface="Cambria Math" panose="02040503050406030204" pitchFamily="18" charset="0"/>
                      </a:rPr>
                      <m:t>,  </m:t>
                    </m:r>
                    <m:r>
                      <a:rPr lang="en-IN" sz="1000" b="0" i="1" smtClean="0">
                        <a:latin typeface="Cambria Math" panose="02040503050406030204" pitchFamily="18" charset="0"/>
                      </a:rPr>
                      <m:t>𝑎𝑛𝑑</m:t>
                    </m:r>
                    <m:r>
                      <a:rPr lang="en-IN" sz="1000" b="0" i="1" smtClean="0">
                        <a:latin typeface="Cambria Math" panose="02040503050406030204" pitchFamily="18" charset="0"/>
                      </a:rPr>
                      <m:t> </m:t>
                    </m:r>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1</m:t>
                                    </m:r>
                                  </m:e>
                                </m:mr>
                                <m:mr>
                                  <m:e>
                                    <m:r>
                                      <a:rPr lang="en-IN" sz="1000" b="0" i="1" smtClean="0">
                                        <a:latin typeface="Cambria Math" panose="02040503050406030204" pitchFamily="18" charset="0"/>
                                      </a:rPr>
                                      <m:t>1</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1</m:t>
                                    </m:r>
                                  </m:e>
                                </m:mr>
                                <m:mr>
                                  <m:e>
                                    <m:r>
                                      <a:rPr lang="en-IN" sz="1000" b="0" i="1" smtClean="0">
                                        <a:latin typeface="Cambria Math" panose="02040503050406030204" pitchFamily="18" charset="0"/>
                                      </a:rPr>
                                      <m:t>1</m:t>
                                    </m:r>
                                  </m:e>
                                </m:mr>
                              </m:m>
                            </m:e>
                          </m:mr>
                        </m:m>
                      </m:e>
                    </m:d>
                  </m:oMath>
                </a14:m>
                <a:r>
                  <a:rPr lang="en-US" sz="1000" dirty="0"/>
                  <a:t>.</a:t>
                </a:r>
              </a:p>
              <a:p>
                <a:r>
                  <a:rPr lang="en-IN" sz="1000" dirty="0"/>
                  <a:t>Solution:</a:t>
                </a:r>
              </a:p>
              <a:p>
                <a:r>
                  <a:rPr lang="en-IN" sz="1000" dirty="0"/>
                  <a:t>We have to find the scalars a, b, c, d such that </a:t>
                </a:r>
              </a:p>
              <a:p>
                <a14:m>
                  <m:oMath xmlns:m="http://schemas.openxmlformats.org/officeDocument/2006/math">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4</m:t>
                                    </m:r>
                                  </m:e>
                                </m:mr>
                                <m:mr>
                                  <m:e>
                                    <m:r>
                                      <a:rPr lang="en-IN" sz="1000" b="0" i="1" smtClean="0">
                                        <a:latin typeface="Cambria Math" panose="02040503050406030204" pitchFamily="18" charset="0"/>
                                      </a:rPr>
                                      <m:t>3</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1</m:t>
                                    </m:r>
                                  </m:e>
                                </m:mr>
                                <m:mr>
                                  <m:e>
                                    <m:r>
                                      <a:rPr lang="en-IN" sz="1000" b="0" i="1" smtClean="0">
                                        <a:latin typeface="Cambria Math" panose="02040503050406030204" pitchFamily="18" charset="0"/>
                                      </a:rPr>
                                      <m:t>2</m:t>
                                    </m:r>
                                  </m:e>
                                </m:mr>
                              </m:m>
                            </m:e>
                          </m:mr>
                        </m:m>
                      </m:e>
                    </m:d>
                  </m:oMath>
                </a14:m>
                <a:r>
                  <a:rPr lang="en-IN" sz="1000" dirty="0"/>
                  <a:t>= a</a:t>
                </a:r>
                <a14:m>
                  <m:oMath xmlns:m="http://schemas.openxmlformats.org/officeDocument/2006/math">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1</m:t>
                                    </m:r>
                                  </m:e>
                                </m:mr>
                                <m:mr>
                                  <m:e>
                                    <m:r>
                                      <a:rPr lang="en-IN" sz="1000" b="0" i="1" smtClean="0">
                                        <a:latin typeface="Cambria Math" panose="02040503050406030204" pitchFamily="18" charset="0"/>
                                      </a:rPr>
                                      <m:t>−1</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0</m:t>
                                    </m:r>
                                  </m:e>
                                </m:mr>
                                <m:mr>
                                  <m:e>
                                    <m:r>
                                      <a:rPr lang="en-IN" sz="1000" b="0" i="1" smtClean="0">
                                        <a:latin typeface="Cambria Math" panose="02040503050406030204" pitchFamily="18" charset="0"/>
                                      </a:rPr>
                                      <m:t>1</m:t>
                                    </m:r>
                                  </m:e>
                                </m:mr>
                              </m:m>
                            </m:e>
                          </m:mr>
                        </m:m>
                      </m:e>
                    </m:d>
                    <m:r>
                      <a:rPr lang="en-IN" sz="1000" b="0" i="0" smtClean="0">
                        <a:latin typeface="Cambria Math" panose="02040503050406030204" pitchFamily="18" charset="0"/>
                      </a:rPr>
                      <m:t>+</m:t>
                    </m:r>
                    <m:r>
                      <a:rPr lang="en-IN" sz="1000" b="0" i="1" smtClean="0">
                        <a:latin typeface="Cambria Math" panose="02040503050406030204" pitchFamily="18" charset="0"/>
                      </a:rPr>
                      <m:t>𝑏</m:t>
                    </m:r>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0</m:t>
                                    </m:r>
                                  </m:e>
                                </m:mr>
                                <m:mr>
                                  <m:e>
                                    <m:r>
                                      <a:rPr lang="en-IN" sz="1000" b="0" i="1" smtClean="0">
                                        <a:latin typeface="Cambria Math" panose="02040503050406030204" pitchFamily="18" charset="0"/>
                                      </a:rPr>
                                      <m:t>1</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m:t>
                                    </m:r>
                                    <m:r>
                                      <a:rPr lang="en-IN" sz="1000" b="0" i="1" smtClean="0">
                                        <a:latin typeface="Cambria Math" panose="02040503050406030204" pitchFamily="18" charset="0"/>
                                      </a:rPr>
                                      <m:t>2</m:t>
                                    </m:r>
                                  </m:e>
                                </m:mr>
                                <m:mr>
                                  <m:e>
                                    <m:r>
                                      <a:rPr lang="en-IN" sz="1000" b="0" i="1" smtClean="0">
                                        <a:latin typeface="Cambria Math" panose="02040503050406030204" pitchFamily="18" charset="0"/>
                                      </a:rPr>
                                      <m:t>2</m:t>
                                    </m:r>
                                  </m:e>
                                </m:mr>
                              </m:m>
                            </m:e>
                          </m:mr>
                        </m:m>
                      </m:e>
                    </m:d>
                    <m:r>
                      <a:rPr lang="en-IN" sz="1000" b="0" i="0" smtClean="0">
                        <a:latin typeface="Cambria Math" panose="02040503050406030204" pitchFamily="18" charset="0"/>
                      </a:rPr>
                      <m:t>+</m:t>
                    </m:r>
                    <m:r>
                      <m:rPr>
                        <m:sty m:val="p"/>
                      </m:rPr>
                      <a:rPr lang="en-IN" sz="1000" b="0" i="0" smtClean="0">
                        <a:latin typeface="Cambria Math" panose="02040503050406030204" pitchFamily="18" charset="0"/>
                      </a:rPr>
                      <m:t>c</m:t>
                    </m:r>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3</m:t>
                                    </m:r>
                                  </m:e>
                                </m:mr>
                                <m:mr>
                                  <m:e>
                                    <m:r>
                                      <a:rPr lang="en-IN" sz="1000" b="0" i="1" smtClean="0">
                                        <a:latin typeface="Cambria Math" panose="02040503050406030204" pitchFamily="18" charset="0"/>
                                      </a:rPr>
                                      <m:t>−1</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0</m:t>
                                    </m:r>
                                  </m:e>
                                </m:mr>
                                <m:mr>
                                  <m:e>
                                    <m:r>
                                      <a:rPr lang="en-IN" sz="1000" b="0" i="1" smtClean="0">
                                        <a:latin typeface="Cambria Math" panose="02040503050406030204" pitchFamily="18" charset="0"/>
                                      </a:rPr>
                                      <m:t>1</m:t>
                                    </m:r>
                                  </m:e>
                                </m:mr>
                              </m:m>
                            </m:e>
                          </m:mr>
                        </m:m>
                      </m:e>
                    </m:d>
                    <m:r>
                      <a:rPr lang="en-IN" sz="1000" b="0" i="1" smtClean="0">
                        <a:latin typeface="Cambria Math" panose="02040503050406030204" pitchFamily="18" charset="0"/>
                      </a:rPr>
                      <m:t>+</m:t>
                    </m:r>
                    <m:r>
                      <a:rPr lang="en-IN" sz="1000" b="0" i="1" smtClean="0">
                        <a:latin typeface="Cambria Math" panose="02040503050406030204" pitchFamily="18" charset="0"/>
                      </a:rPr>
                      <m:t>𝑑</m:t>
                    </m:r>
                    <m:d>
                      <m:dPr>
                        <m:begChr m:val="["/>
                        <m:endChr m:val="]"/>
                        <m:ctrlPr>
                          <a:rPr lang="en-IN" sz="1000" b="0" i="1" smtClean="0">
                            <a:latin typeface="Cambria Math" panose="02040503050406030204" pitchFamily="18" charset="0"/>
                          </a:rPr>
                        </m:ctrlPr>
                      </m:dPr>
                      <m:e>
                        <m:m>
                          <m:mPr>
                            <m:mcs>
                              <m:mc>
                                <m:mcPr>
                                  <m:count m:val="1"/>
                                  <m:mcJc m:val="center"/>
                                </m:mcPr>
                              </m:mc>
                            </m:mcs>
                            <m:ctrlPr>
                              <a:rPr lang="en-IN" sz="1000" b="0" i="1" smtClean="0">
                                <a:latin typeface="Cambria Math" panose="02040503050406030204" pitchFamily="18" charset="0"/>
                              </a:rPr>
                            </m:ctrlPr>
                          </m:mP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1</m:t>
                                    </m:r>
                                  </m:e>
                                </m:mr>
                                <m:mr>
                                  <m:e>
                                    <m:r>
                                      <a:rPr lang="en-IN" sz="1000" b="0" i="1" smtClean="0">
                                        <a:latin typeface="Cambria Math" panose="02040503050406030204" pitchFamily="18" charset="0"/>
                                      </a:rPr>
                                      <m:t>1</m:t>
                                    </m:r>
                                  </m:e>
                                </m:mr>
                              </m:m>
                            </m:e>
                          </m:mr>
                          <m:mr>
                            <m:e>
                              <m:m>
                                <m:mPr>
                                  <m:mcs>
                                    <m:mc>
                                      <m:mcPr>
                                        <m:count m:val="1"/>
                                        <m:mcJc m:val="center"/>
                                      </m:mcPr>
                                    </m:mc>
                                  </m:mcs>
                                  <m:ctrlPr>
                                    <a:rPr lang="en-IN" sz="1000" b="0" i="1" smtClean="0">
                                      <a:latin typeface="Cambria Math" panose="02040503050406030204" pitchFamily="18" charset="0"/>
                                    </a:rPr>
                                  </m:ctrlPr>
                                </m:mPr>
                                <m:mr>
                                  <m:e>
                                    <m:r>
                                      <m:rPr>
                                        <m:brk m:alnAt="7"/>
                                      </m:rPr>
                                      <a:rPr lang="en-IN" sz="1000" b="0" i="1" smtClean="0">
                                        <a:latin typeface="Cambria Math" panose="02040503050406030204" pitchFamily="18" charset="0"/>
                                      </a:rPr>
                                      <m:t>1</m:t>
                                    </m:r>
                                  </m:e>
                                </m:mr>
                                <m:mr>
                                  <m:e>
                                    <m:r>
                                      <a:rPr lang="en-IN" sz="1000" b="0" i="1" smtClean="0">
                                        <a:latin typeface="Cambria Math" panose="02040503050406030204" pitchFamily="18" charset="0"/>
                                      </a:rPr>
                                      <m:t>1</m:t>
                                    </m:r>
                                  </m:e>
                                </m:mr>
                              </m:m>
                            </m:e>
                          </m:mr>
                        </m:m>
                      </m:e>
                    </m:d>
                  </m:oMath>
                </a14:m>
                <a:r>
                  <a:rPr lang="en-US" sz="1000" dirty="0"/>
                  <a:t>.</a:t>
                </a:r>
              </a:p>
              <a:p>
                <a:r>
                  <a:rPr lang="en-IN" sz="1000" dirty="0"/>
                  <a:t>Equating the corresponding coordinates leads to the following system of equations in four variables.</a:t>
                </a:r>
              </a:p>
              <a:p>
                <a:endParaRPr lang="en-IN" sz="1000" dirty="0"/>
              </a:p>
            </p:txBody>
          </p:sp>
        </mc:Choice>
        <mc:Fallback xmlns="">
          <p:sp>
            <p:nvSpPr>
              <p:cNvPr id="4" name="TextBox 3">
                <a:extLst>
                  <a:ext uri="{FF2B5EF4-FFF2-40B4-BE49-F238E27FC236}">
                    <a16:creationId xmlns:a16="http://schemas.microsoft.com/office/drawing/2014/main" id="{7FDE19E6-BBEA-CA84-7F37-B6344F7F0513}"/>
                  </a:ext>
                </a:extLst>
              </p:cNvPr>
              <p:cNvSpPr txBox="1">
                <a:spLocks noRot="1" noChangeAspect="1" noMove="1" noResize="1" noEditPoints="1" noAdjustHandles="1" noChangeArrowheads="1" noChangeShapeType="1" noTextEdit="1"/>
              </p:cNvSpPr>
              <p:nvPr/>
            </p:nvSpPr>
            <p:spPr>
              <a:xfrm>
                <a:off x="171450" y="892175"/>
                <a:ext cx="4267200" cy="2457339"/>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043667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05E2-1DE0-0B31-DC2B-1D0AA58570BC}"/>
              </a:ext>
            </a:extLst>
          </p:cNvPr>
          <p:cNvSpPr>
            <a:spLocks noGrp="1"/>
          </p:cNvSpPr>
          <p:nvPr>
            <p:ph type="title"/>
          </p:nvPr>
        </p:nvSpPr>
        <p:spPr>
          <a:xfrm>
            <a:off x="95300" y="72527"/>
            <a:ext cx="3277870" cy="215444"/>
          </a:xfrm>
        </p:spPr>
        <p:txBody>
          <a:bodyPr/>
          <a:lstStyle/>
          <a:p>
            <a:r>
              <a:rPr lang="en-IN" dirty="0"/>
              <a:t>Example (</a:t>
            </a:r>
            <a:r>
              <a:rPr lang="en-IN" dirty="0" err="1"/>
              <a:t>Ctd</a:t>
            </a:r>
            <a:r>
              <a:rPr lang="en-IN" dirty="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F6AB09D-C960-CD60-09E1-392A08E46146}"/>
                  </a:ext>
                </a:extLst>
              </p:cNvPr>
              <p:cNvSpPr txBox="1"/>
              <p:nvPr/>
            </p:nvSpPr>
            <p:spPr>
              <a:xfrm>
                <a:off x="247650" y="892175"/>
                <a:ext cx="1143000" cy="584775"/>
              </a:xfrm>
              <a:prstGeom prst="rect">
                <a:avLst/>
              </a:prstGeom>
              <a:noFill/>
            </p:spPr>
            <p:txBody>
              <a:bodyPr wrap="square" rtlCol="0">
                <a:spAutoFit/>
              </a:bodyPr>
              <a:lstStyle/>
              <a:p>
                <a:pPr algn="l"/>
                <a14:m>
                  <m:oMath xmlns:m="http://schemas.openxmlformats.org/officeDocument/2006/math">
                    <m:r>
                      <a:rPr lang="en-IN" sz="800" b="0" i="1" smtClean="0">
                        <a:latin typeface="Cambria Math" panose="02040503050406030204" pitchFamily="18" charset="0"/>
                      </a:rPr>
                      <m:t>𝑎</m:t>
                    </m:r>
                    <m:r>
                      <a:rPr lang="en-IN" sz="800" b="0" i="1" smtClean="0">
                        <a:latin typeface="Cambria Math" panose="02040503050406030204" pitchFamily="18" charset="0"/>
                      </a:rPr>
                      <m:t>+3</m:t>
                    </m:r>
                    <m:r>
                      <a:rPr lang="en-IN" sz="800" b="0" i="1" smtClean="0">
                        <a:latin typeface="Cambria Math" panose="02040503050406030204" pitchFamily="18" charset="0"/>
                      </a:rPr>
                      <m:t>𝑐</m:t>
                    </m:r>
                    <m:r>
                      <a:rPr lang="en-IN" sz="800" b="0" i="1" smtClean="0">
                        <a:latin typeface="Cambria Math" panose="02040503050406030204" pitchFamily="18" charset="0"/>
                      </a:rPr>
                      <m:t>+</m:t>
                    </m:r>
                    <m:r>
                      <a:rPr lang="en-IN" sz="800" b="0" i="1" smtClean="0">
                        <a:latin typeface="Cambria Math" panose="02040503050406030204" pitchFamily="18" charset="0"/>
                      </a:rPr>
                      <m:t>𝑑</m:t>
                    </m:r>
                    <m:r>
                      <a:rPr lang="en-IN" sz="800" b="0" i="1" smtClean="0">
                        <a:latin typeface="Cambria Math" panose="02040503050406030204" pitchFamily="18" charset="0"/>
                      </a:rPr>
                      <m:t>=4</m:t>
                    </m:r>
                  </m:oMath>
                </a14:m>
                <a:r>
                  <a:rPr lang="en-IN" sz="800" dirty="0"/>
                  <a:t>                                       </a:t>
                </a:r>
                <a14:m>
                  <m:oMath xmlns:m="http://schemas.openxmlformats.org/officeDocument/2006/math">
                    <m:r>
                      <a:rPr lang="en-IN" sz="800" b="0" i="0" smtClean="0">
                        <a:latin typeface="Cambria Math" panose="02040503050406030204" pitchFamily="18" charset="0"/>
                      </a:rPr>
                      <m:t>−</m:t>
                    </m:r>
                    <m:r>
                      <a:rPr lang="en-IN" sz="800" b="0" i="1" smtClean="0">
                        <a:latin typeface="Cambria Math" panose="02040503050406030204" pitchFamily="18" charset="0"/>
                      </a:rPr>
                      <m:t>𝑎</m:t>
                    </m:r>
                    <m:r>
                      <a:rPr lang="en-IN" sz="800" b="0" i="1" smtClean="0">
                        <a:latin typeface="Cambria Math" panose="02040503050406030204" pitchFamily="18" charset="0"/>
                      </a:rPr>
                      <m:t>+</m:t>
                    </m:r>
                    <m:r>
                      <a:rPr lang="en-IN" sz="800" b="0" i="1" smtClean="0">
                        <a:latin typeface="Cambria Math" panose="02040503050406030204" pitchFamily="18" charset="0"/>
                      </a:rPr>
                      <m:t>𝑏</m:t>
                    </m:r>
                    <m:r>
                      <a:rPr lang="en-IN" sz="800" b="0" i="1" smtClean="0">
                        <a:latin typeface="Cambria Math" panose="02040503050406030204" pitchFamily="18" charset="0"/>
                      </a:rPr>
                      <m:t>−</m:t>
                    </m:r>
                    <m:r>
                      <a:rPr lang="en-IN" sz="800" b="0" i="1" smtClean="0">
                        <a:latin typeface="Cambria Math" panose="02040503050406030204" pitchFamily="18" charset="0"/>
                      </a:rPr>
                      <m:t>𝑐</m:t>
                    </m:r>
                    <m:r>
                      <a:rPr lang="en-IN" sz="800" b="0" i="1" smtClean="0">
                        <a:latin typeface="Cambria Math" panose="02040503050406030204" pitchFamily="18" charset="0"/>
                      </a:rPr>
                      <m:t>+</m:t>
                    </m:r>
                    <m:r>
                      <a:rPr lang="en-IN" sz="800" b="0" i="1" smtClean="0">
                        <a:latin typeface="Cambria Math" panose="02040503050406030204" pitchFamily="18" charset="0"/>
                      </a:rPr>
                      <m:t>𝑑</m:t>
                    </m:r>
                    <m:r>
                      <a:rPr lang="en-IN" sz="800" b="0" i="1" smtClean="0">
                        <a:latin typeface="Cambria Math" panose="02040503050406030204" pitchFamily="18" charset="0"/>
                      </a:rPr>
                      <m:t>=3</m:t>
                    </m:r>
                  </m:oMath>
                </a14:m>
                <a:endParaRPr lang="en-IN" sz="800" b="0" dirty="0"/>
              </a:p>
              <a:p>
                <a:pPr algn="l"/>
                <a14:m>
                  <m:oMathPara xmlns:m="http://schemas.openxmlformats.org/officeDocument/2006/math">
                    <m:oMathParaPr>
                      <m:jc m:val="centerGroup"/>
                    </m:oMathParaPr>
                    <m:oMath xmlns:m="http://schemas.openxmlformats.org/officeDocument/2006/math">
                      <m:r>
                        <a:rPr lang="en-IN" sz="800" b="0" i="1" smtClean="0">
                          <a:latin typeface="Cambria Math" panose="02040503050406030204" pitchFamily="18" charset="0"/>
                        </a:rPr>
                        <m:t>−2</m:t>
                      </m:r>
                      <m:r>
                        <a:rPr lang="en-IN" sz="800" b="0" i="1" smtClean="0">
                          <a:latin typeface="Cambria Math" panose="02040503050406030204" pitchFamily="18" charset="0"/>
                        </a:rPr>
                        <m:t>𝑏</m:t>
                      </m:r>
                      <m:r>
                        <a:rPr lang="en-IN" sz="800" b="0" i="1" smtClean="0">
                          <a:latin typeface="Cambria Math" panose="02040503050406030204" pitchFamily="18" charset="0"/>
                        </a:rPr>
                        <m:t>+</m:t>
                      </m:r>
                      <m:r>
                        <a:rPr lang="en-IN" sz="800" b="0" i="1" smtClean="0">
                          <a:latin typeface="Cambria Math" panose="02040503050406030204" pitchFamily="18" charset="0"/>
                        </a:rPr>
                        <m:t>𝑑</m:t>
                      </m:r>
                      <m:r>
                        <a:rPr lang="en-IN" sz="800" b="0" i="1" smtClean="0">
                          <a:latin typeface="Cambria Math" panose="02040503050406030204" pitchFamily="18" charset="0"/>
                        </a:rPr>
                        <m:t>=1</m:t>
                      </m:r>
                    </m:oMath>
                  </m:oMathPara>
                </a14:m>
                <a:endParaRPr lang="en-IN" sz="800" b="0" dirty="0"/>
              </a:p>
              <a:p>
                <a:pPr algn="l"/>
                <a14:m>
                  <m:oMathPara xmlns:m="http://schemas.openxmlformats.org/officeDocument/2006/math">
                    <m:oMathParaPr>
                      <m:jc m:val="centerGroup"/>
                    </m:oMathParaPr>
                    <m:oMath xmlns:m="http://schemas.openxmlformats.org/officeDocument/2006/math">
                      <m:r>
                        <a:rPr lang="en-IN" sz="800" b="0" i="1" smtClean="0">
                          <a:latin typeface="Cambria Math" panose="02040503050406030204" pitchFamily="18" charset="0"/>
                        </a:rPr>
                        <m:t>𝑎</m:t>
                      </m:r>
                      <m:r>
                        <a:rPr lang="en-IN" sz="800" b="0" i="1" smtClean="0">
                          <a:latin typeface="Cambria Math" panose="02040503050406030204" pitchFamily="18" charset="0"/>
                        </a:rPr>
                        <m:t>+2</m:t>
                      </m:r>
                      <m:r>
                        <a:rPr lang="en-IN" sz="800" b="0" i="1" smtClean="0">
                          <a:latin typeface="Cambria Math" panose="02040503050406030204" pitchFamily="18" charset="0"/>
                        </a:rPr>
                        <m:t>𝑏</m:t>
                      </m:r>
                      <m:r>
                        <a:rPr lang="en-IN" sz="800" b="0" i="1" smtClean="0">
                          <a:latin typeface="Cambria Math" panose="02040503050406030204" pitchFamily="18" charset="0"/>
                        </a:rPr>
                        <m:t>+</m:t>
                      </m:r>
                      <m:r>
                        <a:rPr lang="en-IN" sz="800" b="0" i="1" smtClean="0">
                          <a:latin typeface="Cambria Math" panose="02040503050406030204" pitchFamily="18" charset="0"/>
                        </a:rPr>
                        <m:t>𝑐</m:t>
                      </m:r>
                      <m:r>
                        <a:rPr lang="en-IN" sz="800" b="0" i="1" smtClean="0">
                          <a:latin typeface="Cambria Math" panose="02040503050406030204" pitchFamily="18" charset="0"/>
                        </a:rPr>
                        <m:t>+</m:t>
                      </m:r>
                      <m:r>
                        <a:rPr lang="en-IN" sz="800" b="0" i="1" smtClean="0">
                          <a:latin typeface="Cambria Math" panose="02040503050406030204" pitchFamily="18" charset="0"/>
                        </a:rPr>
                        <m:t>𝑑</m:t>
                      </m:r>
                      <m:r>
                        <a:rPr lang="en-IN" sz="800" b="0" i="1" smtClean="0">
                          <a:latin typeface="Cambria Math" panose="02040503050406030204" pitchFamily="18" charset="0"/>
                        </a:rPr>
                        <m:t>=2</m:t>
                      </m:r>
                    </m:oMath>
                  </m:oMathPara>
                </a14:m>
                <a:endParaRPr lang="en-IN" sz="800" b="0" dirty="0"/>
              </a:p>
            </p:txBody>
          </p:sp>
        </mc:Choice>
        <mc:Fallback xmlns="">
          <p:sp>
            <p:nvSpPr>
              <p:cNvPr id="5" name="TextBox 4">
                <a:extLst>
                  <a:ext uri="{FF2B5EF4-FFF2-40B4-BE49-F238E27FC236}">
                    <a16:creationId xmlns:a16="http://schemas.microsoft.com/office/drawing/2014/main" id="{3F6AB09D-C960-CD60-09E1-392A08E46146}"/>
                  </a:ext>
                </a:extLst>
              </p:cNvPr>
              <p:cNvSpPr txBox="1">
                <a:spLocks noRot="1" noChangeAspect="1" noMove="1" noResize="1" noEditPoints="1" noAdjustHandles="1" noChangeArrowheads="1" noChangeShapeType="1" noTextEdit="1"/>
              </p:cNvSpPr>
              <p:nvPr/>
            </p:nvSpPr>
            <p:spPr>
              <a:xfrm>
                <a:off x="247650" y="892175"/>
                <a:ext cx="1143000" cy="58477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C5F50D8-6E26-907A-234B-B4036119E48D}"/>
                  </a:ext>
                </a:extLst>
              </p:cNvPr>
              <p:cNvSpPr txBox="1"/>
              <p:nvPr/>
            </p:nvSpPr>
            <p:spPr>
              <a:xfrm>
                <a:off x="81933" y="1463987"/>
                <a:ext cx="4356717" cy="1161408"/>
              </a:xfrm>
              <a:prstGeom prst="rect">
                <a:avLst/>
              </a:prstGeom>
              <a:noFill/>
            </p:spPr>
            <p:txBody>
              <a:bodyPr wrap="square" rtlCol="0">
                <a:spAutoFit/>
              </a:bodyPr>
              <a:lstStyle/>
              <a:p>
                <a:r>
                  <a:rPr lang="en-IN" sz="800" dirty="0"/>
                  <a:t>The augmented matrix is   </a:t>
                </a:r>
                <a14:m>
                  <m:oMath xmlns:m="http://schemas.openxmlformats.org/officeDocument/2006/math">
                    <m:d>
                      <m:dPr>
                        <m:begChr m:val="["/>
                        <m:endChr m:val="]"/>
                        <m:ctrlPr>
                          <a:rPr lang="en-IN" sz="800" b="0" i="1" smtClean="0">
                            <a:latin typeface="Cambria Math" panose="02040503050406030204" pitchFamily="18" charset="0"/>
                          </a:rPr>
                        </m:ctrlPr>
                      </m:dPr>
                      <m:e>
                        <m:m>
                          <m:mPr>
                            <m:mcs>
                              <m:mc>
                                <m:mcPr>
                                  <m:count m:val="2"/>
                                  <m:mcJc m:val="center"/>
                                </m:mcPr>
                              </m:mc>
                            </m:mcs>
                            <m:ctrlPr>
                              <a:rPr lang="en-IN" sz="800" b="0" i="1" smtClean="0">
                                <a:latin typeface="Cambria Math" panose="02040503050406030204" pitchFamily="18" charset="0"/>
                              </a:rPr>
                            </m:ctrlPr>
                          </m:mPr>
                          <m:mr>
                            <m:e>
                              <m:m>
                                <m:mPr>
                                  <m:mcs>
                                    <m:mc>
                                      <m:mcPr>
                                        <m:count m:val="3"/>
                                        <m:mcJc m:val="center"/>
                                      </m:mcPr>
                                    </m:mc>
                                  </m:mcs>
                                  <m:ctrlPr>
                                    <a:rPr lang="en-IN" sz="800" b="0" i="1" smtClean="0">
                                      <a:latin typeface="Cambria Math" panose="02040503050406030204" pitchFamily="18" charset="0"/>
                                    </a:rPr>
                                  </m:ctrlPr>
                                </m:mPr>
                                <m:mr>
                                  <m:e>
                                    <m:r>
                                      <m:rPr>
                                        <m:brk m:alnAt="7"/>
                                      </m:rPr>
                                      <a:rPr lang="en-IN" sz="800" b="0" i="1" smtClean="0">
                                        <a:latin typeface="Cambria Math" panose="02040503050406030204" pitchFamily="18" charset="0"/>
                                      </a:rPr>
                                      <m:t>1</m:t>
                                    </m:r>
                                  </m:e>
                                  <m:e>
                                    <m:r>
                                      <a:rPr lang="en-IN" sz="800" b="0" i="1" smtClean="0">
                                        <a:latin typeface="Cambria Math" panose="02040503050406030204" pitchFamily="18" charset="0"/>
                                      </a:rPr>
                                      <m:t>0</m:t>
                                    </m:r>
                                  </m:e>
                                  <m:e>
                                    <m:r>
                                      <a:rPr lang="en-IN" sz="800" b="0" i="1" smtClean="0">
                                        <a:latin typeface="Cambria Math" panose="02040503050406030204" pitchFamily="18" charset="0"/>
                                      </a:rPr>
                                      <m:t>3</m:t>
                                    </m:r>
                                  </m:e>
                                </m:mr>
                                <m:mr>
                                  <m:e>
                                    <m:r>
                                      <a:rPr lang="en-IN" sz="800" b="0" i="1" smtClean="0">
                                        <a:latin typeface="Cambria Math" panose="02040503050406030204" pitchFamily="18" charset="0"/>
                                      </a:rPr>
                                      <m:t>−1</m:t>
                                    </m:r>
                                  </m:e>
                                  <m:e>
                                    <m:r>
                                      <a:rPr lang="en-IN" sz="800" b="0" i="1" smtClean="0">
                                        <a:latin typeface="Cambria Math" panose="02040503050406030204" pitchFamily="18" charset="0"/>
                                      </a:rPr>
                                      <m:t>1</m:t>
                                    </m:r>
                                  </m:e>
                                  <m:e>
                                    <m:r>
                                      <a:rPr lang="en-IN" sz="800" b="0" i="1" smtClean="0">
                                        <a:latin typeface="Cambria Math" panose="02040503050406030204" pitchFamily="18" charset="0"/>
                                      </a:rPr>
                                      <m:t>−1</m:t>
                                    </m:r>
                                  </m:e>
                                </m:mr>
                              </m:m>
                            </m:e>
                            <m:e>
                              <m:m>
                                <m:mPr>
                                  <m:mcs>
                                    <m:mc>
                                      <m:mcPr>
                                        <m:count m:val="2"/>
                                        <m:mcJc m:val="center"/>
                                      </m:mcPr>
                                    </m:mc>
                                  </m:mcs>
                                  <m:ctrlPr>
                                    <a:rPr lang="en-IN" sz="800" b="0" i="1" smtClean="0">
                                      <a:latin typeface="Cambria Math" panose="02040503050406030204" pitchFamily="18" charset="0"/>
                                    </a:rPr>
                                  </m:ctrlPr>
                                </m:mPr>
                                <m:mr>
                                  <m:e>
                                    <m:r>
                                      <m:rPr>
                                        <m:brk m:alnAt="7"/>
                                      </m:rPr>
                                      <a:rPr lang="en-IN" sz="800" b="0" i="1" smtClean="0">
                                        <a:latin typeface="Cambria Math" panose="02040503050406030204" pitchFamily="18" charset="0"/>
                                      </a:rPr>
                                      <m:t>1</m:t>
                                    </m:r>
                                  </m:e>
                                  <m:e>
                                    <m:r>
                                      <a:rPr lang="en-IN" sz="800" b="0" i="1" smtClean="0">
                                        <a:latin typeface="Cambria Math" panose="02040503050406030204" pitchFamily="18" charset="0"/>
                                      </a:rPr>
                                      <m:t>4</m:t>
                                    </m:r>
                                  </m:e>
                                </m:mr>
                                <m:mr>
                                  <m:e>
                                    <m:r>
                                      <a:rPr lang="en-IN" sz="800" b="0" i="1" smtClean="0">
                                        <a:latin typeface="Cambria Math" panose="02040503050406030204" pitchFamily="18" charset="0"/>
                                      </a:rPr>
                                      <m:t>1</m:t>
                                    </m:r>
                                  </m:e>
                                  <m:e>
                                    <m:r>
                                      <a:rPr lang="en-IN" sz="800" b="0" i="1" smtClean="0">
                                        <a:latin typeface="Cambria Math" panose="02040503050406030204" pitchFamily="18" charset="0"/>
                                      </a:rPr>
                                      <m:t>3</m:t>
                                    </m:r>
                                  </m:e>
                                </m:mr>
                              </m:m>
                            </m:e>
                          </m:mr>
                          <m:mr>
                            <m:e>
                              <m:m>
                                <m:mPr>
                                  <m:mcs>
                                    <m:mc>
                                      <m:mcPr>
                                        <m:count m:val="3"/>
                                        <m:mcJc m:val="center"/>
                                      </m:mcPr>
                                    </m:mc>
                                  </m:mcs>
                                  <m:ctrlPr>
                                    <a:rPr lang="en-IN" sz="800" b="0" i="1" smtClean="0">
                                      <a:latin typeface="Cambria Math" panose="02040503050406030204" pitchFamily="18" charset="0"/>
                                    </a:rPr>
                                  </m:ctrlPr>
                                </m:mPr>
                                <m:mr>
                                  <m:e>
                                    <m:r>
                                      <m:rPr>
                                        <m:brk m:alnAt="7"/>
                                      </m:rPr>
                                      <a:rPr lang="en-IN" sz="800" b="0" i="1" smtClean="0">
                                        <a:latin typeface="Cambria Math" panose="02040503050406030204" pitchFamily="18" charset="0"/>
                                      </a:rPr>
                                      <m:t>0</m:t>
                                    </m:r>
                                  </m:e>
                                  <m:e>
                                    <m:r>
                                      <a:rPr lang="en-IN" sz="800" b="0" i="1" smtClean="0">
                                        <a:latin typeface="Cambria Math" panose="02040503050406030204" pitchFamily="18" charset="0"/>
                                      </a:rPr>
                                      <m:t>−2</m:t>
                                    </m:r>
                                  </m:e>
                                  <m:e>
                                    <m:r>
                                      <a:rPr lang="en-IN" sz="800" b="0" i="1" smtClean="0">
                                        <a:latin typeface="Cambria Math" panose="02040503050406030204" pitchFamily="18" charset="0"/>
                                      </a:rPr>
                                      <m:t>0</m:t>
                                    </m:r>
                                  </m:e>
                                </m:mr>
                                <m:mr>
                                  <m:e>
                                    <m:r>
                                      <a:rPr lang="en-IN" sz="800" b="0" i="1" smtClean="0">
                                        <a:latin typeface="Cambria Math" panose="02040503050406030204" pitchFamily="18" charset="0"/>
                                      </a:rPr>
                                      <m:t>1</m:t>
                                    </m:r>
                                  </m:e>
                                  <m:e>
                                    <m:r>
                                      <a:rPr lang="en-IN" sz="800" b="0" i="1" smtClean="0">
                                        <a:latin typeface="Cambria Math" panose="02040503050406030204" pitchFamily="18" charset="0"/>
                                      </a:rPr>
                                      <m:t>2</m:t>
                                    </m:r>
                                  </m:e>
                                  <m:e>
                                    <m:r>
                                      <a:rPr lang="en-IN" sz="800" b="0" i="1" smtClean="0">
                                        <a:latin typeface="Cambria Math" panose="02040503050406030204" pitchFamily="18" charset="0"/>
                                      </a:rPr>
                                      <m:t>1</m:t>
                                    </m:r>
                                  </m:e>
                                </m:mr>
                              </m:m>
                            </m:e>
                            <m:e>
                              <m:m>
                                <m:mPr>
                                  <m:mcs>
                                    <m:mc>
                                      <m:mcPr>
                                        <m:count m:val="2"/>
                                        <m:mcJc m:val="center"/>
                                      </m:mcPr>
                                    </m:mc>
                                  </m:mcs>
                                  <m:ctrlPr>
                                    <a:rPr lang="en-IN" sz="800" b="0" i="1" smtClean="0">
                                      <a:latin typeface="Cambria Math" panose="02040503050406030204" pitchFamily="18" charset="0"/>
                                    </a:rPr>
                                  </m:ctrlPr>
                                </m:mPr>
                                <m:mr>
                                  <m:e>
                                    <m:r>
                                      <m:rPr>
                                        <m:brk m:alnAt="7"/>
                                      </m:rPr>
                                      <a:rPr lang="en-IN" sz="800" b="0" i="1" smtClean="0">
                                        <a:latin typeface="Cambria Math" panose="02040503050406030204" pitchFamily="18" charset="0"/>
                                      </a:rPr>
                                      <m:t>1</m:t>
                                    </m:r>
                                  </m:e>
                                  <m:e>
                                    <m:r>
                                      <a:rPr lang="en-IN" sz="800" b="0" i="1" smtClean="0">
                                        <a:latin typeface="Cambria Math" panose="02040503050406030204" pitchFamily="18" charset="0"/>
                                      </a:rPr>
                                      <m:t>1</m:t>
                                    </m:r>
                                  </m:e>
                                </m:mr>
                                <m:mr>
                                  <m:e>
                                    <m:r>
                                      <a:rPr lang="en-IN" sz="800" b="0" i="1" smtClean="0">
                                        <a:latin typeface="Cambria Math" panose="02040503050406030204" pitchFamily="18" charset="0"/>
                                      </a:rPr>
                                      <m:t>1</m:t>
                                    </m:r>
                                  </m:e>
                                  <m:e>
                                    <m:r>
                                      <a:rPr lang="en-IN" sz="800" b="0" i="1" smtClean="0">
                                        <a:latin typeface="Cambria Math" panose="02040503050406030204" pitchFamily="18" charset="0"/>
                                      </a:rPr>
                                      <m:t>2</m:t>
                                    </m:r>
                                  </m:e>
                                </m:mr>
                              </m:m>
                            </m:e>
                          </m:mr>
                        </m:m>
                      </m:e>
                    </m:d>
                  </m:oMath>
                </a14:m>
                <a:endParaRPr lang="en-IN" sz="800" dirty="0"/>
              </a:p>
              <a:p>
                <a:endParaRPr lang="en-IN" sz="800" dirty="0"/>
              </a:p>
              <a:p>
                <a:r>
                  <a:rPr lang="en-IN" sz="800" dirty="0"/>
                  <a:t>Note that the augmented matrix is formed by writing the given vectors as columns. The vector which we are trying to write as linear combination of the given vectors must be written after the augmentation bar.  So when you solve the problems you can straight away write this augmented matrix.</a:t>
                </a:r>
              </a:p>
            </p:txBody>
          </p:sp>
        </mc:Choice>
        <mc:Fallback xmlns="">
          <p:sp>
            <p:nvSpPr>
              <p:cNvPr id="6" name="TextBox 5">
                <a:extLst>
                  <a:ext uri="{FF2B5EF4-FFF2-40B4-BE49-F238E27FC236}">
                    <a16:creationId xmlns:a16="http://schemas.microsoft.com/office/drawing/2014/main" id="{DC5F50D8-6E26-907A-234B-B4036119E48D}"/>
                  </a:ext>
                </a:extLst>
              </p:cNvPr>
              <p:cNvSpPr txBox="1">
                <a:spLocks noRot="1" noChangeAspect="1" noMove="1" noResize="1" noEditPoints="1" noAdjustHandles="1" noChangeArrowheads="1" noChangeShapeType="1" noTextEdit="1"/>
              </p:cNvSpPr>
              <p:nvPr/>
            </p:nvSpPr>
            <p:spPr>
              <a:xfrm>
                <a:off x="81933" y="1463987"/>
                <a:ext cx="4356717" cy="1161408"/>
              </a:xfrm>
              <a:prstGeom prst="rect">
                <a:avLst/>
              </a:prstGeom>
              <a:blipFill>
                <a:blip r:embed="rId3"/>
                <a:stretch>
                  <a:fillRect b="-524"/>
                </a:stretch>
              </a:blipFill>
            </p:spPr>
            <p:txBody>
              <a:bodyPr/>
              <a:lstStyle/>
              <a:p>
                <a:r>
                  <a:rPr lang="en-IN">
                    <a:noFill/>
                  </a:rPr>
                  <a:t> </a:t>
                </a:r>
              </a:p>
            </p:txBody>
          </p:sp>
        </mc:Fallback>
      </mc:AlternateContent>
      <p:cxnSp>
        <p:nvCxnSpPr>
          <p:cNvPr id="8" name="Straight Connector 7">
            <a:extLst>
              <a:ext uri="{FF2B5EF4-FFF2-40B4-BE49-F238E27FC236}">
                <a16:creationId xmlns:a16="http://schemas.microsoft.com/office/drawing/2014/main" id="{6D82064B-46F1-DE53-A64A-FF835F29CD2E}"/>
              </a:ext>
            </a:extLst>
          </p:cNvPr>
          <p:cNvCxnSpPr/>
          <p:nvPr/>
        </p:nvCxnSpPr>
        <p:spPr>
          <a:xfrm>
            <a:off x="2152650" y="1501775"/>
            <a:ext cx="0" cy="4572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80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E71F7-7FE0-5EE1-9A59-9AD247BC0B79}"/>
              </a:ext>
            </a:extLst>
          </p:cNvPr>
          <p:cNvSpPr>
            <a:spLocks noGrp="1"/>
          </p:cNvSpPr>
          <p:nvPr>
            <p:ph type="title"/>
          </p:nvPr>
        </p:nvSpPr>
        <p:spPr>
          <a:xfrm>
            <a:off x="95300" y="72527"/>
            <a:ext cx="3277870" cy="215444"/>
          </a:xfrm>
        </p:spPr>
        <p:txBody>
          <a:bodyPr/>
          <a:lstStyle/>
          <a:p>
            <a:r>
              <a:rPr lang="en-IN" dirty="0"/>
              <a:t>Example (</a:t>
            </a:r>
            <a:r>
              <a:rPr lang="en-IN" dirty="0" err="1"/>
              <a:t>Ctd</a:t>
            </a:r>
            <a:r>
              <a:rPr lang="en-IN" dirty="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D3D7378-E4E6-18A8-B704-EDACEB280859}"/>
                  </a:ext>
                </a:extLst>
              </p:cNvPr>
              <p:cNvSpPr txBox="1"/>
              <p:nvPr/>
            </p:nvSpPr>
            <p:spPr>
              <a:xfrm>
                <a:off x="209550" y="968375"/>
                <a:ext cx="4191000" cy="1674305"/>
              </a:xfrm>
              <a:prstGeom prst="rect">
                <a:avLst/>
              </a:prstGeom>
              <a:noFill/>
            </p:spPr>
            <p:txBody>
              <a:bodyPr wrap="square" rtlCol="0">
                <a:spAutoFit/>
              </a:bodyPr>
              <a:lstStyle/>
              <a:p>
                <a:r>
                  <a:rPr lang="en-IN" sz="1000" dirty="0">
                    <a:solidFill>
                      <a:schemeClr val="tx1"/>
                    </a:solidFill>
                  </a:rPr>
                  <a:t>The echelon form of the augmented matrix  is   </a:t>
                </a:r>
                <a14:m>
                  <m:oMath xmlns:m="http://schemas.openxmlformats.org/officeDocument/2006/math">
                    <m:d>
                      <m:dPr>
                        <m:begChr m:val="["/>
                        <m:endChr m:val="]"/>
                        <m:ctrlPr>
                          <a:rPr lang="en-IN" sz="1000" b="0" i="1" smtClean="0">
                            <a:solidFill>
                              <a:schemeClr val="tx1"/>
                            </a:solidFill>
                            <a:latin typeface="Cambria Math" panose="02040503050406030204" pitchFamily="18" charset="0"/>
                          </a:rPr>
                        </m:ctrlPr>
                      </m:dPr>
                      <m:e>
                        <m:m>
                          <m:mPr>
                            <m:mcs>
                              <m:mc>
                                <m:mcPr>
                                  <m:count m:val="2"/>
                                  <m:mcJc m:val="center"/>
                                </m:mcPr>
                              </m:mc>
                            </m:mcs>
                            <m:ctrlPr>
                              <a:rPr lang="en-IN" sz="1000" b="0" i="1" smtClean="0">
                                <a:solidFill>
                                  <a:schemeClr val="tx1"/>
                                </a:solidFill>
                                <a:latin typeface="Cambria Math" panose="02040503050406030204" pitchFamily="18" charset="0"/>
                              </a:rPr>
                            </m:ctrlPr>
                          </m:mPr>
                          <m:mr>
                            <m:e>
                              <m:m>
                                <m:mPr>
                                  <m:mcs>
                                    <m:mc>
                                      <m:mcPr>
                                        <m:count m:val="3"/>
                                        <m:mcJc m:val="center"/>
                                      </m:mcPr>
                                    </m:mc>
                                  </m:mcs>
                                  <m:ctrlPr>
                                    <a:rPr lang="en-IN" sz="1000" b="0" i="1" smtClean="0">
                                      <a:solidFill>
                                        <a:schemeClr val="tx1"/>
                                      </a:solidFill>
                                      <a:latin typeface="Cambria Math" panose="02040503050406030204" pitchFamily="18" charset="0"/>
                                    </a:rPr>
                                  </m:ctrlPr>
                                </m:mPr>
                                <m:mr>
                                  <m:e>
                                    <m:r>
                                      <m:rPr>
                                        <m:brk m:alnAt="7"/>
                                      </m:rPr>
                                      <a:rPr lang="en-IN" sz="1000" b="0" i="1" smtClean="0">
                                        <a:solidFill>
                                          <a:schemeClr val="tx1"/>
                                        </a:solidFill>
                                        <a:latin typeface="Cambria Math" panose="02040503050406030204" pitchFamily="18" charset="0"/>
                                      </a:rPr>
                                      <m:t>1</m:t>
                                    </m:r>
                                  </m:e>
                                  <m:e>
                                    <m:r>
                                      <a:rPr lang="en-IN" sz="1000" b="0" i="1" smtClean="0">
                                        <a:solidFill>
                                          <a:schemeClr val="tx1"/>
                                        </a:solidFill>
                                        <a:latin typeface="Cambria Math" panose="02040503050406030204" pitchFamily="18" charset="0"/>
                                      </a:rPr>
                                      <m:t>0</m:t>
                                    </m:r>
                                  </m:e>
                                  <m:e>
                                    <m:r>
                                      <a:rPr lang="en-IN" sz="1000" b="0" i="1" smtClean="0">
                                        <a:solidFill>
                                          <a:schemeClr val="tx1"/>
                                        </a:solidFill>
                                        <a:latin typeface="Cambria Math" panose="02040503050406030204" pitchFamily="18" charset="0"/>
                                      </a:rPr>
                                      <m:t>3</m:t>
                                    </m:r>
                                  </m:e>
                                </m:mr>
                                <m:mr>
                                  <m:e>
                                    <m:r>
                                      <a:rPr lang="en-IN" sz="1000" b="0" i="1" smtClean="0">
                                        <a:solidFill>
                                          <a:schemeClr val="tx1"/>
                                        </a:solidFill>
                                        <a:latin typeface="Cambria Math" panose="02040503050406030204" pitchFamily="18" charset="0"/>
                                      </a:rPr>
                                      <m:t>0</m:t>
                                    </m:r>
                                  </m:e>
                                  <m:e>
                                    <m:r>
                                      <a:rPr lang="en-IN" sz="1000" b="0" i="1" smtClean="0">
                                        <a:solidFill>
                                          <a:schemeClr val="tx1"/>
                                        </a:solidFill>
                                        <a:latin typeface="Cambria Math" panose="02040503050406030204" pitchFamily="18" charset="0"/>
                                      </a:rPr>
                                      <m:t>1</m:t>
                                    </m:r>
                                  </m:e>
                                  <m:e>
                                    <m:r>
                                      <a:rPr lang="en-IN" sz="1000" b="0" i="1" smtClean="0">
                                        <a:solidFill>
                                          <a:schemeClr val="tx1"/>
                                        </a:solidFill>
                                        <a:latin typeface="Cambria Math" panose="02040503050406030204" pitchFamily="18" charset="0"/>
                                      </a:rPr>
                                      <m:t>2</m:t>
                                    </m:r>
                                  </m:e>
                                </m:mr>
                              </m:m>
                            </m:e>
                            <m:e>
                              <m:m>
                                <m:mPr>
                                  <m:mcs>
                                    <m:mc>
                                      <m:mcPr>
                                        <m:count m:val="2"/>
                                        <m:mcJc m:val="center"/>
                                      </m:mcPr>
                                    </m:mc>
                                  </m:mcs>
                                  <m:ctrlPr>
                                    <a:rPr lang="en-IN" sz="1000" b="0" i="1" smtClean="0">
                                      <a:solidFill>
                                        <a:schemeClr val="tx1"/>
                                      </a:solidFill>
                                      <a:latin typeface="Cambria Math" panose="02040503050406030204" pitchFamily="18" charset="0"/>
                                    </a:rPr>
                                  </m:ctrlPr>
                                </m:mPr>
                                <m:mr>
                                  <m:e>
                                    <m:r>
                                      <m:rPr>
                                        <m:brk m:alnAt="7"/>
                                      </m:rPr>
                                      <a:rPr lang="en-IN" sz="1000" b="0" i="1" smtClean="0">
                                        <a:solidFill>
                                          <a:schemeClr val="tx1"/>
                                        </a:solidFill>
                                        <a:latin typeface="Cambria Math" panose="02040503050406030204" pitchFamily="18" charset="0"/>
                                      </a:rPr>
                                      <m:t>1</m:t>
                                    </m:r>
                                  </m:e>
                                  <m:e>
                                    <m:r>
                                      <a:rPr lang="en-IN" sz="1000" b="0" i="1" smtClean="0">
                                        <a:solidFill>
                                          <a:schemeClr val="tx1"/>
                                        </a:solidFill>
                                        <a:latin typeface="Cambria Math" panose="02040503050406030204" pitchFamily="18" charset="0"/>
                                      </a:rPr>
                                      <m:t>4</m:t>
                                    </m:r>
                                  </m:e>
                                </m:mr>
                                <m:mr>
                                  <m:e>
                                    <m:r>
                                      <a:rPr lang="en-IN" sz="1000" b="0" i="1" smtClean="0">
                                        <a:solidFill>
                                          <a:schemeClr val="tx1"/>
                                        </a:solidFill>
                                        <a:latin typeface="Cambria Math" panose="02040503050406030204" pitchFamily="18" charset="0"/>
                                      </a:rPr>
                                      <m:t>2</m:t>
                                    </m:r>
                                  </m:e>
                                  <m:e>
                                    <m:r>
                                      <a:rPr lang="en-IN" sz="1000" b="0" i="1" smtClean="0">
                                        <a:solidFill>
                                          <a:schemeClr val="tx1"/>
                                        </a:solidFill>
                                        <a:latin typeface="Cambria Math" panose="02040503050406030204" pitchFamily="18" charset="0"/>
                                      </a:rPr>
                                      <m:t>7</m:t>
                                    </m:r>
                                  </m:e>
                                </m:mr>
                              </m:m>
                            </m:e>
                          </m:mr>
                          <m:mr>
                            <m:e>
                              <m:m>
                                <m:mPr>
                                  <m:mcs>
                                    <m:mc>
                                      <m:mcPr>
                                        <m:count m:val="3"/>
                                        <m:mcJc m:val="center"/>
                                      </m:mcPr>
                                    </m:mc>
                                  </m:mcs>
                                  <m:ctrlPr>
                                    <a:rPr lang="en-IN" sz="1000" b="0" i="1" smtClean="0">
                                      <a:solidFill>
                                        <a:schemeClr val="tx1"/>
                                      </a:solidFill>
                                      <a:latin typeface="Cambria Math" panose="02040503050406030204" pitchFamily="18" charset="0"/>
                                    </a:rPr>
                                  </m:ctrlPr>
                                </m:mPr>
                                <m:mr>
                                  <m:e>
                                    <m:r>
                                      <m:rPr>
                                        <m:brk m:alnAt="7"/>
                                      </m:rPr>
                                      <a:rPr lang="en-IN" sz="1000" b="0" i="1" smtClean="0">
                                        <a:solidFill>
                                          <a:schemeClr val="tx1"/>
                                        </a:solidFill>
                                        <a:latin typeface="Cambria Math" panose="02040503050406030204" pitchFamily="18" charset="0"/>
                                      </a:rPr>
                                      <m:t>0</m:t>
                                    </m:r>
                                  </m:e>
                                  <m:e>
                                    <m:r>
                                      <a:rPr lang="en-IN" sz="1000" b="0" i="1" smtClean="0">
                                        <a:solidFill>
                                          <a:schemeClr val="tx1"/>
                                        </a:solidFill>
                                        <a:latin typeface="Cambria Math" panose="02040503050406030204" pitchFamily="18" charset="0"/>
                                      </a:rPr>
                                      <m:t>0</m:t>
                                    </m:r>
                                  </m:e>
                                  <m:e>
                                    <m:r>
                                      <a:rPr lang="en-IN" sz="1000" b="0" i="1" smtClean="0">
                                        <a:solidFill>
                                          <a:schemeClr val="tx1"/>
                                        </a:solidFill>
                                        <a:latin typeface="Cambria Math" panose="02040503050406030204" pitchFamily="18" charset="0"/>
                                      </a:rPr>
                                      <m:t>4</m:t>
                                    </m:r>
                                  </m:e>
                                </m:mr>
                                <m:mr>
                                  <m:e>
                                    <m:r>
                                      <a:rPr lang="en-IN" sz="1000" b="0" i="1" smtClean="0">
                                        <a:solidFill>
                                          <a:schemeClr val="tx1"/>
                                        </a:solidFill>
                                        <a:latin typeface="Cambria Math" panose="02040503050406030204" pitchFamily="18" charset="0"/>
                                      </a:rPr>
                                      <m:t>0</m:t>
                                    </m:r>
                                  </m:e>
                                  <m:e>
                                    <m:r>
                                      <a:rPr lang="en-IN" sz="1000" b="0" i="1" smtClean="0">
                                        <a:solidFill>
                                          <a:schemeClr val="tx1"/>
                                        </a:solidFill>
                                        <a:latin typeface="Cambria Math" panose="02040503050406030204" pitchFamily="18" charset="0"/>
                                      </a:rPr>
                                      <m:t>0</m:t>
                                    </m:r>
                                  </m:e>
                                  <m:e>
                                    <m:r>
                                      <a:rPr lang="en-IN" sz="1000" b="0" i="1" smtClean="0">
                                        <a:solidFill>
                                          <a:schemeClr val="tx1"/>
                                        </a:solidFill>
                                        <a:latin typeface="Cambria Math" panose="02040503050406030204" pitchFamily="18" charset="0"/>
                                      </a:rPr>
                                      <m:t>0</m:t>
                                    </m:r>
                                  </m:e>
                                </m:mr>
                              </m:m>
                            </m:e>
                            <m:e>
                              <m:m>
                                <m:mPr>
                                  <m:mcs>
                                    <m:mc>
                                      <m:mcPr>
                                        <m:count m:val="2"/>
                                        <m:mcJc m:val="center"/>
                                      </m:mcPr>
                                    </m:mc>
                                  </m:mcs>
                                  <m:ctrlPr>
                                    <a:rPr lang="en-IN" sz="1000" b="0" i="1" smtClean="0">
                                      <a:solidFill>
                                        <a:schemeClr val="tx1"/>
                                      </a:solidFill>
                                      <a:latin typeface="Cambria Math" panose="02040503050406030204" pitchFamily="18" charset="0"/>
                                    </a:rPr>
                                  </m:ctrlPr>
                                </m:mPr>
                                <m:mr>
                                  <m:e>
                                    <m:r>
                                      <m:rPr>
                                        <m:brk m:alnAt="7"/>
                                      </m:rPr>
                                      <a:rPr lang="en-IN" sz="1000" b="0" i="1" smtClean="0">
                                        <a:solidFill>
                                          <a:schemeClr val="tx1"/>
                                        </a:solidFill>
                                        <a:latin typeface="Cambria Math" panose="02040503050406030204" pitchFamily="18" charset="0"/>
                                      </a:rPr>
                                      <m:t>5</m:t>
                                    </m:r>
                                  </m:e>
                                  <m:e>
                                    <m:r>
                                      <a:rPr lang="en-IN" sz="1000" b="0" i="1" smtClean="0">
                                        <a:solidFill>
                                          <a:schemeClr val="tx1"/>
                                        </a:solidFill>
                                        <a:latin typeface="Cambria Math" panose="02040503050406030204" pitchFamily="18" charset="0"/>
                                      </a:rPr>
                                      <m:t>15</m:t>
                                    </m:r>
                                  </m:e>
                                </m:mr>
                                <m:mr>
                                  <m:e>
                                    <m:f>
                                      <m:fPr>
                                        <m:ctrlPr>
                                          <a:rPr lang="en-IN" sz="1000" b="0" i="1" smtClean="0">
                                            <a:solidFill>
                                              <a:schemeClr val="tx1"/>
                                            </a:solidFill>
                                            <a:latin typeface="Cambria Math" panose="02040503050406030204" pitchFamily="18" charset="0"/>
                                          </a:rPr>
                                        </m:ctrlPr>
                                      </m:fPr>
                                      <m:num>
                                        <m:r>
                                          <a:rPr lang="en-IN" sz="1000" b="0" i="1" smtClean="0">
                                            <a:solidFill>
                                              <a:schemeClr val="tx1"/>
                                            </a:solidFill>
                                            <a:latin typeface="Cambria Math" panose="02040503050406030204" pitchFamily="18" charset="0"/>
                                          </a:rPr>
                                          <m:t>7</m:t>
                                        </m:r>
                                      </m:num>
                                      <m:den>
                                        <m:r>
                                          <a:rPr lang="en-IN" sz="1000" b="0" i="1" smtClean="0">
                                            <a:solidFill>
                                              <a:schemeClr val="tx1"/>
                                            </a:solidFill>
                                            <a:latin typeface="Cambria Math" panose="02040503050406030204" pitchFamily="18" charset="0"/>
                                          </a:rPr>
                                          <m:t>2</m:t>
                                        </m:r>
                                      </m:den>
                                    </m:f>
                                  </m:e>
                                  <m:e>
                                    <m:f>
                                      <m:fPr>
                                        <m:ctrlPr>
                                          <a:rPr lang="en-IN" sz="1000" b="0" i="1" smtClean="0">
                                            <a:solidFill>
                                              <a:schemeClr val="tx1"/>
                                            </a:solidFill>
                                            <a:latin typeface="Cambria Math" panose="02040503050406030204" pitchFamily="18" charset="0"/>
                                          </a:rPr>
                                        </m:ctrlPr>
                                      </m:fPr>
                                      <m:num>
                                        <m:r>
                                          <a:rPr lang="en-IN" sz="1000" b="0" i="1" smtClean="0">
                                            <a:solidFill>
                                              <a:schemeClr val="tx1"/>
                                            </a:solidFill>
                                            <a:latin typeface="Cambria Math" panose="02040503050406030204" pitchFamily="18" charset="0"/>
                                          </a:rPr>
                                          <m:t>13</m:t>
                                        </m:r>
                                      </m:num>
                                      <m:den>
                                        <m:r>
                                          <a:rPr lang="en-IN" sz="1000" b="0" i="1" smtClean="0">
                                            <a:solidFill>
                                              <a:schemeClr val="tx1"/>
                                            </a:solidFill>
                                            <a:latin typeface="Cambria Math" panose="02040503050406030204" pitchFamily="18" charset="0"/>
                                          </a:rPr>
                                          <m:t>2</m:t>
                                        </m:r>
                                      </m:den>
                                    </m:f>
                                  </m:e>
                                </m:mr>
                              </m:m>
                            </m:e>
                          </m:mr>
                        </m:m>
                      </m:e>
                    </m:d>
                  </m:oMath>
                </a14:m>
                <a:endParaRPr lang="en-IN" sz="1000" b="0" dirty="0">
                  <a:solidFill>
                    <a:schemeClr val="tx1"/>
                  </a:solidFill>
                </a:endParaRPr>
              </a:p>
              <a:p>
                <a:r>
                  <a:rPr lang="en-IN" sz="1000" dirty="0">
                    <a:solidFill>
                      <a:schemeClr val="tx1"/>
                    </a:solidFill>
                  </a:rPr>
                  <a:t>If we convert back the above matrix to equations we get</a:t>
                </a:r>
              </a:p>
              <a:p>
                <a:pPr marL="0" marR="0" lvl="0" indent="0" algn="ctr"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lang="en-IN" sz="800" b="0" i="1" smtClean="0">
                        <a:solidFill>
                          <a:schemeClr val="tx1"/>
                        </a:solidFill>
                        <a:latin typeface="Cambria Math" panose="02040503050406030204" pitchFamily="18" charset="0"/>
                      </a:rPr>
                      <m:t> </m:t>
                    </m:r>
                    <m:r>
                      <a:rPr lang="en-IN" sz="800" i="1">
                        <a:solidFill>
                          <a:schemeClr val="tx1"/>
                        </a:solidFill>
                        <a:latin typeface="Cambria Math" panose="02040503050406030204" pitchFamily="18" charset="0"/>
                      </a:rPr>
                      <m:t>𝑎</m:t>
                    </m:r>
                    <m:r>
                      <a:rPr lang="en-IN" sz="800" i="1">
                        <a:solidFill>
                          <a:schemeClr val="tx1"/>
                        </a:solidFill>
                        <a:latin typeface="Cambria Math" panose="02040503050406030204" pitchFamily="18" charset="0"/>
                      </a:rPr>
                      <m:t>+3</m:t>
                    </m:r>
                    <m:r>
                      <a:rPr lang="en-IN" sz="800" i="1">
                        <a:solidFill>
                          <a:schemeClr val="tx1"/>
                        </a:solidFill>
                        <a:latin typeface="Cambria Math" panose="02040503050406030204" pitchFamily="18" charset="0"/>
                      </a:rPr>
                      <m:t>𝑐</m:t>
                    </m:r>
                    <m:r>
                      <a:rPr lang="en-IN" sz="800" i="1">
                        <a:solidFill>
                          <a:schemeClr val="tx1"/>
                        </a:solidFill>
                        <a:latin typeface="Cambria Math" panose="02040503050406030204" pitchFamily="18" charset="0"/>
                      </a:rPr>
                      <m:t>+</m:t>
                    </m:r>
                    <m:r>
                      <a:rPr lang="en-IN" sz="800" i="1">
                        <a:solidFill>
                          <a:schemeClr val="tx1"/>
                        </a:solidFill>
                        <a:latin typeface="Cambria Math" panose="02040503050406030204" pitchFamily="18" charset="0"/>
                      </a:rPr>
                      <m:t>𝑑</m:t>
                    </m:r>
                    <m:r>
                      <a:rPr lang="en-IN" sz="800" i="1">
                        <a:solidFill>
                          <a:schemeClr val="tx1"/>
                        </a:solidFill>
                        <a:latin typeface="Cambria Math" panose="02040503050406030204" pitchFamily="18" charset="0"/>
                      </a:rPr>
                      <m:t>=4</m:t>
                    </m:r>
                  </m:oMath>
                </a14:m>
                <a:r>
                  <a:rPr lang="en-IN" sz="800" dirty="0">
                    <a:solidFill>
                      <a:schemeClr val="tx1"/>
                    </a:solidFill>
                  </a:rPr>
                  <a:t>                                       </a:t>
                </a:r>
                <a:endParaRPr lang="en-IN" sz="800" dirty="0">
                  <a:solidFill>
                    <a:schemeClr val="tx1"/>
                  </a:solidFill>
                  <a:latin typeface="Cambria Math" panose="020405030504060302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800" i="1">
                          <a:solidFill>
                            <a:schemeClr val="tx1"/>
                          </a:solidFill>
                          <a:latin typeface="Cambria Math" panose="02040503050406030204" pitchFamily="18" charset="0"/>
                        </a:rPr>
                        <m:t>𝑏</m:t>
                      </m:r>
                      <m:r>
                        <a:rPr lang="en-IN" sz="800" b="0" i="1" smtClean="0">
                          <a:solidFill>
                            <a:schemeClr val="tx1"/>
                          </a:solidFill>
                          <a:latin typeface="Cambria Math" panose="02040503050406030204" pitchFamily="18" charset="0"/>
                        </a:rPr>
                        <m:t>+2</m:t>
                      </m:r>
                      <m:r>
                        <a:rPr lang="en-IN" sz="800" i="1">
                          <a:solidFill>
                            <a:schemeClr val="tx1"/>
                          </a:solidFill>
                          <a:latin typeface="Cambria Math" panose="02040503050406030204" pitchFamily="18" charset="0"/>
                        </a:rPr>
                        <m:t>𝑐</m:t>
                      </m:r>
                      <m:r>
                        <a:rPr lang="en-IN" sz="800" i="1">
                          <a:solidFill>
                            <a:schemeClr val="tx1"/>
                          </a:solidFill>
                          <a:latin typeface="Cambria Math" panose="02040503050406030204" pitchFamily="18" charset="0"/>
                        </a:rPr>
                        <m:t>+2</m:t>
                      </m:r>
                      <m:r>
                        <a:rPr lang="en-IN" sz="800" i="1">
                          <a:solidFill>
                            <a:schemeClr val="tx1"/>
                          </a:solidFill>
                          <a:latin typeface="Cambria Math" panose="02040503050406030204" pitchFamily="18" charset="0"/>
                        </a:rPr>
                        <m:t>𝑑</m:t>
                      </m:r>
                      <m:r>
                        <a:rPr lang="en-IN" sz="800" i="1">
                          <a:solidFill>
                            <a:schemeClr val="tx1"/>
                          </a:solidFill>
                          <a:latin typeface="Cambria Math" panose="02040503050406030204" pitchFamily="18" charset="0"/>
                        </a:rPr>
                        <m:t>=7</m:t>
                      </m:r>
                    </m:oMath>
                  </m:oMathPara>
                </a14:m>
                <a:endParaRPr lang="en-IN" sz="800" dirty="0">
                  <a:solidFill>
                    <a:schemeClr val="tx1"/>
                  </a:solidFill>
                </a:endParaRPr>
              </a:p>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800" i="1" smtClean="0">
                          <a:solidFill>
                            <a:schemeClr val="tx1"/>
                          </a:solidFill>
                          <a:latin typeface="Cambria Math" panose="02040503050406030204" pitchFamily="18" charset="0"/>
                        </a:rPr>
                        <m:t>4</m:t>
                      </m:r>
                      <m:r>
                        <a:rPr lang="en-IN" sz="800" b="0" i="1" smtClean="0">
                          <a:solidFill>
                            <a:schemeClr val="tx1"/>
                          </a:solidFill>
                          <a:latin typeface="Cambria Math" panose="02040503050406030204" pitchFamily="18" charset="0"/>
                        </a:rPr>
                        <m:t>𝑐</m:t>
                      </m:r>
                      <m:r>
                        <a:rPr lang="en-IN" sz="800" i="1">
                          <a:solidFill>
                            <a:schemeClr val="tx1"/>
                          </a:solidFill>
                          <a:latin typeface="Cambria Math" panose="02040503050406030204" pitchFamily="18" charset="0"/>
                        </a:rPr>
                        <m:t>+</m:t>
                      </m:r>
                      <m:r>
                        <a:rPr lang="en-IN" sz="800" b="0" i="1" smtClean="0">
                          <a:solidFill>
                            <a:schemeClr val="tx1"/>
                          </a:solidFill>
                          <a:latin typeface="Cambria Math" panose="02040503050406030204" pitchFamily="18" charset="0"/>
                        </a:rPr>
                        <m:t>5</m:t>
                      </m:r>
                      <m:r>
                        <a:rPr lang="en-IN" sz="800" i="1">
                          <a:solidFill>
                            <a:schemeClr val="tx1"/>
                          </a:solidFill>
                          <a:latin typeface="Cambria Math" panose="02040503050406030204" pitchFamily="18" charset="0"/>
                        </a:rPr>
                        <m:t>𝑑</m:t>
                      </m:r>
                      <m:r>
                        <a:rPr lang="en-IN" sz="800" i="1">
                          <a:solidFill>
                            <a:schemeClr val="tx1"/>
                          </a:solidFill>
                          <a:latin typeface="Cambria Math" panose="02040503050406030204" pitchFamily="18" charset="0"/>
                        </a:rPr>
                        <m:t>=15</m:t>
                      </m:r>
                    </m:oMath>
                  </m:oMathPara>
                </a14:m>
                <a:endParaRPr lang="en-IN" sz="800" dirty="0">
                  <a:solidFill>
                    <a:schemeClr val="tx1"/>
                  </a:solidFill>
                </a:endParaRPr>
              </a:p>
              <a:p>
                <a:pPr marL="0" marR="0" lvl="0" indent="0" algn="ctr" defTabSz="914400" eaLnBrk="1" fontAlgn="auto" latinLnBrk="0" hangingPunct="1">
                  <a:lnSpc>
                    <a:spcPct val="100000"/>
                  </a:lnSpc>
                  <a:spcBef>
                    <a:spcPts val="0"/>
                  </a:spcBef>
                  <a:spcAft>
                    <a:spcPts val="0"/>
                  </a:spcAft>
                  <a:buClrTx/>
                  <a:buSzTx/>
                  <a:buFontTx/>
                  <a:buNone/>
                  <a:tabLst/>
                  <a:defRPr/>
                </a:pPr>
                <a:r>
                  <a:rPr lang="en-IN" sz="800" dirty="0">
                    <a:solidFill>
                      <a:schemeClr val="tx1"/>
                    </a:solidFill>
                  </a:rPr>
                  <a:t>7/2 </a:t>
                </a:r>
                <a14:m>
                  <m:oMath xmlns:m="http://schemas.openxmlformats.org/officeDocument/2006/math">
                    <m:r>
                      <a:rPr lang="en-IN" sz="800" i="1">
                        <a:solidFill>
                          <a:schemeClr val="tx1"/>
                        </a:solidFill>
                        <a:latin typeface="Cambria Math" panose="02040503050406030204" pitchFamily="18" charset="0"/>
                      </a:rPr>
                      <m:t>𝑑</m:t>
                    </m:r>
                    <m:r>
                      <a:rPr lang="en-IN" sz="800" i="1">
                        <a:solidFill>
                          <a:schemeClr val="tx1"/>
                        </a:solidFill>
                        <a:latin typeface="Cambria Math" panose="02040503050406030204" pitchFamily="18" charset="0"/>
                      </a:rPr>
                      <m:t>=13/2</m:t>
                    </m:r>
                  </m:oMath>
                </a14:m>
                <a:endParaRPr lang="en-IN" sz="800" dirty="0">
                  <a:solidFill>
                    <a:schemeClr val="tx1"/>
                  </a:solidFill>
                </a:endParaRPr>
              </a:p>
              <a:p>
                <a:endParaRPr lang="en-IN" sz="1000" dirty="0">
                  <a:solidFill>
                    <a:srgbClr val="FF0000"/>
                  </a:solidFill>
                </a:endParaRPr>
              </a:p>
              <a:p>
                <a:r>
                  <a:rPr lang="en-IN" sz="1000" dirty="0">
                    <a:solidFill>
                      <a:srgbClr val="FF0000"/>
                    </a:solidFill>
                  </a:rPr>
                  <a:t>                        </a:t>
                </a:r>
              </a:p>
            </p:txBody>
          </p:sp>
        </mc:Choice>
        <mc:Fallback xmlns="">
          <p:sp>
            <p:nvSpPr>
              <p:cNvPr id="5" name="TextBox 4">
                <a:extLst>
                  <a:ext uri="{FF2B5EF4-FFF2-40B4-BE49-F238E27FC236}">
                    <a16:creationId xmlns:a16="http://schemas.microsoft.com/office/drawing/2014/main" id="{6D3D7378-E4E6-18A8-B704-EDACEB280859}"/>
                  </a:ext>
                </a:extLst>
              </p:cNvPr>
              <p:cNvSpPr txBox="1">
                <a:spLocks noRot="1" noChangeAspect="1" noMove="1" noResize="1" noEditPoints="1" noAdjustHandles="1" noChangeArrowheads="1" noChangeShapeType="1" noTextEdit="1"/>
              </p:cNvSpPr>
              <p:nvPr/>
            </p:nvSpPr>
            <p:spPr>
              <a:xfrm>
                <a:off x="209550" y="968375"/>
                <a:ext cx="4191000" cy="1674305"/>
              </a:xfrm>
              <a:prstGeom prst="rect">
                <a:avLst/>
              </a:prstGeom>
              <a:blipFill>
                <a:blip r:embed="rId2"/>
                <a:stretch>
                  <a:fillRect/>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BE2519DC-7B0A-8565-D12C-F438D3EFE99B}"/>
              </a:ext>
            </a:extLst>
          </p:cNvPr>
          <p:cNvSpPr txBox="1"/>
          <p:nvPr/>
        </p:nvSpPr>
        <p:spPr>
          <a:xfrm>
            <a:off x="247650" y="2416175"/>
            <a:ext cx="4114800" cy="246221"/>
          </a:xfrm>
          <a:prstGeom prst="rect">
            <a:avLst/>
          </a:prstGeom>
          <a:noFill/>
        </p:spPr>
        <p:txBody>
          <a:bodyPr wrap="square" rtlCol="0">
            <a:spAutoFit/>
          </a:bodyPr>
          <a:lstStyle/>
          <a:p>
            <a:r>
              <a:rPr lang="en-IN" sz="1000" dirty="0">
                <a:latin typeface="+mn-lt"/>
              </a:rPr>
              <a:t>By back substitution we get   d = 13/7, c = 10/7,  b = 3/7, and a = -15/7.</a:t>
            </a:r>
          </a:p>
        </p:txBody>
      </p:sp>
    </p:spTree>
    <p:extLst>
      <p:ext uri="{BB962C8B-B14F-4D97-AF65-F5344CB8AC3E}">
        <p14:creationId xmlns:p14="http://schemas.microsoft.com/office/powerpoint/2010/main" val="1443272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9CB58-7C0E-F312-AC6E-74361B3BA254}"/>
              </a:ext>
            </a:extLst>
          </p:cNvPr>
          <p:cNvSpPr>
            <a:spLocks noGrp="1"/>
          </p:cNvSpPr>
          <p:nvPr>
            <p:ph type="title"/>
          </p:nvPr>
        </p:nvSpPr>
        <p:spPr>
          <a:xfrm>
            <a:off x="95300" y="72527"/>
            <a:ext cx="3277870" cy="215444"/>
          </a:xfrm>
        </p:spPr>
        <p:txBody>
          <a:bodyPr/>
          <a:lstStyle/>
          <a:p>
            <a:r>
              <a:rPr lang="en-IN" dirty="0"/>
              <a:t>Example </a:t>
            </a:r>
            <a:r>
              <a:rPr lang="en-IN" dirty="0" err="1"/>
              <a:t>ctd</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E5C481B-AC99-3B8D-E4EE-7E394DC37464}"/>
                  </a:ext>
                </a:extLst>
              </p:cNvPr>
              <p:cNvSpPr>
                <a:spLocks noGrp="1"/>
              </p:cNvSpPr>
              <p:nvPr>
                <p:ph type="body" idx="1"/>
              </p:nvPr>
            </p:nvSpPr>
            <p:spPr>
              <a:xfrm>
                <a:off x="421957" y="954175"/>
                <a:ext cx="3864610" cy="792909"/>
              </a:xfrm>
            </p:spPr>
            <p:txBody>
              <a:bodyPr/>
              <a:lstStyle/>
              <a:p>
                <a:r>
                  <a:rPr lang="en-IN" dirty="0"/>
                  <a:t>Therefore </a:t>
                </a:r>
                <a14:m>
                  <m:oMath xmlns:m="http://schemas.openxmlformats.org/officeDocument/2006/math">
                    <m:d>
                      <m:dPr>
                        <m:begChr m:val="["/>
                        <m:endChr m:val="]"/>
                        <m:ctrlPr>
                          <a:rPr lang="en-IN" sz="1100" b="0" i="1" smtClean="0">
                            <a:latin typeface="Cambria Math" panose="02040503050406030204" pitchFamily="18" charset="0"/>
                          </a:rPr>
                        </m:ctrlPr>
                      </m:dPr>
                      <m:e>
                        <m:m>
                          <m:mPr>
                            <m:mcs>
                              <m:mc>
                                <m:mcPr>
                                  <m:count m:val="1"/>
                                  <m:mcJc m:val="center"/>
                                </m:mcPr>
                              </m:mc>
                            </m:mcs>
                            <m:ctrlPr>
                              <a:rPr lang="en-IN" sz="1100" b="0" i="1" smtClean="0">
                                <a:latin typeface="Cambria Math" panose="02040503050406030204" pitchFamily="18" charset="0"/>
                              </a:rPr>
                            </m:ctrlPr>
                          </m:mP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4</m:t>
                                    </m:r>
                                  </m:e>
                                </m:mr>
                                <m:mr>
                                  <m:e>
                                    <m:r>
                                      <a:rPr lang="en-IN" sz="1100" b="0" i="1" smtClean="0">
                                        <a:latin typeface="Cambria Math" panose="02040503050406030204" pitchFamily="18" charset="0"/>
                                      </a:rPr>
                                      <m:t>3</m:t>
                                    </m:r>
                                  </m:e>
                                </m:mr>
                              </m:m>
                            </m:e>
                          </m:m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1</m:t>
                                    </m:r>
                                  </m:e>
                                </m:mr>
                                <m:mr>
                                  <m:e>
                                    <m:r>
                                      <a:rPr lang="en-IN" sz="1100" b="0" i="1" smtClean="0">
                                        <a:latin typeface="Cambria Math" panose="02040503050406030204" pitchFamily="18" charset="0"/>
                                      </a:rPr>
                                      <m:t>2</m:t>
                                    </m:r>
                                  </m:e>
                                </m:mr>
                              </m:m>
                            </m:e>
                          </m:mr>
                        </m:m>
                      </m:e>
                    </m:d>
                  </m:oMath>
                </a14:m>
                <a:r>
                  <a:rPr lang="en-IN" sz="1100" dirty="0"/>
                  <a:t>= (-15/7)</a:t>
                </a:r>
                <a14:m>
                  <m:oMath xmlns:m="http://schemas.openxmlformats.org/officeDocument/2006/math">
                    <m:d>
                      <m:dPr>
                        <m:begChr m:val="["/>
                        <m:endChr m:val="]"/>
                        <m:ctrlPr>
                          <a:rPr lang="en-IN" sz="1100" b="0" i="1" smtClean="0">
                            <a:latin typeface="Cambria Math" panose="02040503050406030204" pitchFamily="18" charset="0"/>
                          </a:rPr>
                        </m:ctrlPr>
                      </m:dPr>
                      <m:e>
                        <m:m>
                          <m:mPr>
                            <m:mcs>
                              <m:mc>
                                <m:mcPr>
                                  <m:count m:val="1"/>
                                  <m:mcJc m:val="center"/>
                                </m:mcPr>
                              </m:mc>
                            </m:mcs>
                            <m:ctrlPr>
                              <a:rPr lang="en-IN" sz="1100" b="0" i="1" smtClean="0">
                                <a:latin typeface="Cambria Math" panose="02040503050406030204" pitchFamily="18" charset="0"/>
                              </a:rPr>
                            </m:ctrlPr>
                          </m:mP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1</m:t>
                                    </m:r>
                                  </m:e>
                                </m:mr>
                                <m:mr>
                                  <m:e>
                                    <m:r>
                                      <a:rPr lang="en-IN" sz="1100" b="0" i="1" smtClean="0">
                                        <a:latin typeface="Cambria Math" panose="02040503050406030204" pitchFamily="18" charset="0"/>
                                      </a:rPr>
                                      <m:t>−1</m:t>
                                    </m:r>
                                  </m:e>
                                </m:mr>
                              </m:m>
                            </m:e>
                          </m:m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0</m:t>
                                    </m:r>
                                  </m:e>
                                </m:mr>
                                <m:mr>
                                  <m:e>
                                    <m:r>
                                      <a:rPr lang="en-IN" sz="1100" b="0" i="1" smtClean="0">
                                        <a:latin typeface="Cambria Math" panose="02040503050406030204" pitchFamily="18" charset="0"/>
                                      </a:rPr>
                                      <m:t>1</m:t>
                                    </m:r>
                                  </m:e>
                                </m:mr>
                              </m:m>
                            </m:e>
                          </m:mr>
                        </m:m>
                      </m:e>
                    </m:d>
                    <m:r>
                      <a:rPr lang="en-IN" sz="1100" b="0" i="0" smtClean="0">
                        <a:latin typeface="Cambria Math" panose="02040503050406030204" pitchFamily="18" charset="0"/>
                      </a:rPr>
                      <m:t>+</m:t>
                    </m:r>
                    <m:r>
                      <a:rPr lang="en-IN" sz="1100" b="0" i="1" smtClean="0">
                        <a:latin typeface="Cambria Math" panose="02040503050406030204" pitchFamily="18" charset="0"/>
                      </a:rPr>
                      <m:t>(</m:t>
                    </m:r>
                    <m:f>
                      <m:fPr>
                        <m:ctrlPr>
                          <a:rPr lang="en-IN" sz="1100" b="0" i="1" smtClean="0">
                            <a:latin typeface="Cambria Math" panose="02040503050406030204" pitchFamily="18" charset="0"/>
                          </a:rPr>
                        </m:ctrlPr>
                      </m:fPr>
                      <m:num>
                        <m:r>
                          <a:rPr lang="en-IN" sz="1100" b="0" i="1" smtClean="0">
                            <a:latin typeface="Cambria Math" panose="02040503050406030204" pitchFamily="18" charset="0"/>
                          </a:rPr>
                          <m:t>3</m:t>
                        </m:r>
                      </m:num>
                      <m:den>
                        <m:r>
                          <a:rPr lang="en-IN" sz="1100" b="0" i="1" smtClean="0">
                            <a:latin typeface="Cambria Math" panose="02040503050406030204" pitchFamily="18" charset="0"/>
                          </a:rPr>
                          <m:t>7</m:t>
                        </m:r>
                      </m:den>
                    </m:f>
                    <m:r>
                      <a:rPr lang="en-IN" sz="1100" b="0" i="1" smtClean="0">
                        <a:latin typeface="Cambria Math" panose="02040503050406030204" pitchFamily="18" charset="0"/>
                      </a:rPr>
                      <m:t>)</m:t>
                    </m:r>
                    <m:d>
                      <m:dPr>
                        <m:begChr m:val="["/>
                        <m:endChr m:val="]"/>
                        <m:ctrlPr>
                          <a:rPr lang="en-IN" sz="1100" b="0" i="1" smtClean="0">
                            <a:latin typeface="Cambria Math" panose="02040503050406030204" pitchFamily="18" charset="0"/>
                          </a:rPr>
                        </m:ctrlPr>
                      </m:dPr>
                      <m:e>
                        <m:m>
                          <m:mPr>
                            <m:mcs>
                              <m:mc>
                                <m:mcPr>
                                  <m:count m:val="1"/>
                                  <m:mcJc m:val="center"/>
                                </m:mcPr>
                              </m:mc>
                            </m:mcs>
                            <m:ctrlPr>
                              <a:rPr lang="en-IN" sz="1100" b="0" i="1" smtClean="0">
                                <a:latin typeface="Cambria Math" panose="02040503050406030204" pitchFamily="18" charset="0"/>
                              </a:rPr>
                            </m:ctrlPr>
                          </m:mP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0</m:t>
                                    </m:r>
                                  </m:e>
                                </m:mr>
                                <m:mr>
                                  <m:e>
                                    <m:r>
                                      <a:rPr lang="en-IN" sz="1100" b="0" i="1" smtClean="0">
                                        <a:latin typeface="Cambria Math" panose="02040503050406030204" pitchFamily="18" charset="0"/>
                                      </a:rPr>
                                      <m:t>1</m:t>
                                    </m:r>
                                  </m:e>
                                </m:mr>
                              </m:m>
                            </m:e>
                          </m:m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m:t>
                                    </m:r>
                                    <m:r>
                                      <a:rPr lang="en-IN" sz="1100" b="0" i="1" smtClean="0">
                                        <a:latin typeface="Cambria Math" panose="02040503050406030204" pitchFamily="18" charset="0"/>
                                      </a:rPr>
                                      <m:t>2</m:t>
                                    </m:r>
                                  </m:e>
                                </m:mr>
                                <m:mr>
                                  <m:e>
                                    <m:r>
                                      <a:rPr lang="en-IN" sz="1100" b="0" i="1" smtClean="0">
                                        <a:latin typeface="Cambria Math" panose="02040503050406030204" pitchFamily="18" charset="0"/>
                                      </a:rPr>
                                      <m:t>2</m:t>
                                    </m:r>
                                  </m:e>
                                </m:mr>
                              </m:m>
                            </m:e>
                          </m:mr>
                        </m:m>
                      </m:e>
                    </m:d>
                    <m:r>
                      <a:rPr lang="en-IN" sz="1100" b="0" i="0" smtClean="0">
                        <a:latin typeface="Cambria Math" panose="02040503050406030204" pitchFamily="18" charset="0"/>
                      </a:rPr>
                      <m:t>+</m:t>
                    </m:r>
                    <m:r>
                      <a:rPr lang="en-IN" sz="1100" b="0" i="1" smtClean="0">
                        <a:latin typeface="Cambria Math" panose="02040503050406030204" pitchFamily="18" charset="0"/>
                      </a:rPr>
                      <m:t>(</m:t>
                    </m:r>
                    <m:f>
                      <m:fPr>
                        <m:ctrlPr>
                          <a:rPr lang="en-IN" sz="1100" b="0" i="1" smtClean="0">
                            <a:latin typeface="Cambria Math" panose="02040503050406030204" pitchFamily="18" charset="0"/>
                          </a:rPr>
                        </m:ctrlPr>
                      </m:fPr>
                      <m:num>
                        <m:r>
                          <a:rPr lang="en-IN" sz="1100" b="0" i="1" smtClean="0">
                            <a:latin typeface="Cambria Math" panose="02040503050406030204" pitchFamily="18" charset="0"/>
                          </a:rPr>
                          <m:t>10</m:t>
                        </m:r>
                      </m:num>
                      <m:den>
                        <m:r>
                          <a:rPr lang="en-IN" sz="1100" b="0" i="1" smtClean="0">
                            <a:latin typeface="Cambria Math" panose="02040503050406030204" pitchFamily="18" charset="0"/>
                          </a:rPr>
                          <m:t>7</m:t>
                        </m:r>
                      </m:den>
                    </m:f>
                    <m:r>
                      <a:rPr lang="en-IN" sz="1100" b="0" i="1" smtClean="0">
                        <a:latin typeface="Cambria Math" panose="02040503050406030204" pitchFamily="18" charset="0"/>
                      </a:rPr>
                      <m:t>)</m:t>
                    </m:r>
                    <m:d>
                      <m:dPr>
                        <m:begChr m:val="["/>
                        <m:endChr m:val="]"/>
                        <m:ctrlPr>
                          <a:rPr lang="en-IN" sz="1100" b="0" i="1" smtClean="0">
                            <a:latin typeface="Cambria Math" panose="02040503050406030204" pitchFamily="18" charset="0"/>
                          </a:rPr>
                        </m:ctrlPr>
                      </m:dPr>
                      <m:e>
                        <m:m>
                          <m:mPr>
                            <m:mcs>
                              <m:mc>
                                <m:mcPr>
                                  <m:count m:val="1"/>
                                  <m:mcJc m:val="center"/>
                                </m:mcPr>
                              </m:mc>
                            </m:mcs>
                            <m:ctrlPr>
                              <a:rPr lang="en-IN" sz="1100" b="0" i="1" smtClean="0">
                                <a:latin typeface="Cambria Math" panose="02040503050406030204" pitchFamily="18" charset="0"/>
                              </a:rPr>
                            </m:ctrlPr>
                          </m:mP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3</m:t>
                                    </m:r>
                                  </m:e>
                                </m:mr>
                                <m:mr>
                                  <m:e>
                                    <m:r>
                                      <a:rPr lang="en-IN" sz="1100" b="0" i="1" smtClean="0">
                                        <a:latin typeface="Cambria Math" panose="02040503050406030204" pitchFamily="18" charset="0"/>
                                      </a:rPr>
                                      <m:t>−1</m:t>
                                    </m:r>
                                  </m:e>
                                </m:mr>
                              </m:m>
                            </m:e>
                          </m:m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0</m:t>
                                    </m:r>
                                  </m:e>
                                </m:mr>
                                <m:mr>
                                  <m:e>
                                    <m:r>
                                      <a:rPr lang="en-IN" sz="1100" b="0" i="1" smtClean="0">
                                        <a:latin typeface="Cambria Math" panose="02040503050406030204" pitchFamily="18" charset="0"/>
                                      </a:rPr>
                                      <m:t>1</m:t>
                                    </m:r>
                                  </m:e>
                                </m:mr>
                              </m:m>
                            </m:e>
                          </m:mr>
                        </m:m>
                      </m:e>
                    </m:d>
                    <m:r>
                      <a:rPr lang="en-IN" sz="1100" b="0" i="1" smtClean="0">
                        <a:latin typeface="Cambria Math" panose="02040503050406030204" pitchFamily="18" charset="0"/>
                      </a:rPr>
                      <m:t>+(</m:t>
                    </m:r>
                    <m:f>
                      <m:fPr>
                        <m:ctrlPr>
                          <a:rPr lang="en-IN" sz="1100" b="0" i="1" smtClean="0">
                            <a:latin typeface="Cambria Math" panose="02040503050406030204" pitchFamily="18" charset="0"/>
                          </a:rPr>
                        </m:ctrlPr>
                      </m:fPr>
                      <m:num>
                        <m:r>
                          <a:rPr lang="en-IN" sz="1100" b="0" i="1" smtClean="0">
                            <a:latin typeface="Cambria Math" panose="02040503050406030204" pitchFamily="18" charset="0"/>
                          </a:rPr>
                          <m:t>13</m:t>
                        </m:r>
                      </m:num>
                      <m:den>
                        <m:r>
                          <a:rPr lang="en-IN" sz="1100" b="0" i="1" smtClean="0">
                            <a:latin typeface="Cambria Math" panose="02040503050406030204" pitchFamily="18" charset="0"/>
                          </a:rPr>
                          <m:t>7</m:t>
                        </m:r>
                      </m:den>
                    </m:f>
                    <m:r>
                      <a:rPr lang="en-IN" sz="1100" b="0" i="1" smtClean="0">
                        <a:latin typeface="Cambria Math" panose="02040503050406030204" pitchFamily="18" charset="0"/>
                      </a:rPr>
                      <m:t>)</m:t>
                    </m:r>
                    <m:d>
                      <m:dPr>
                        <m:begChr m:val="["/>
                        <m:endChr m:val="]"/>
                        <m:ctrlPr>
                          <a:rPr lang="en-IN" sz="1100" b="0" i="1" smtClean="0">
                            <a:latin typeface="Cambria Math" panose="02040503050406030204" pitchFamily="18" charset="0"/>
                          </a:rPr>
                        </m:ctrlPr>
                      </m:dPr>
                      <m:e>
                        <m:m>
                          <m:mPr>
                            <m:mcs>
                              <m:mc>
                                <m:mcPr>
                                  <m:count m:val="1"/>
                                  <m:mcJc m:val="center"/>
                                </m:mcPr>
                              </m:mc>
                            </m:mcs>
                            <m:ctrlPr>
                              <a:rPr lang="en-IN" sz="1100" b="0" i="1" smtClean="0">
                                <a:latin typeface="Cambria Math" panose="02040503050406030204" pitchFamily="18" charset="0"/>
                              </a:rPr>
                            </m:ctrlPr>
                          </m:mP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1</m:t>
                                    </m:r>
                                  </m:e>
                                </m:mr>
                                <m:mr>
                                  <m:e>
                                    <m:r>
                                      <a:rPr lang="en-IN" sz="1100" b="0" i="1" smtClean="0">
                                        <a:latin typeface="Cambria Math" panose="02040503050406030204" pitchFamily="18" charset="0"/>
                                      </a:rPr>
                                      <m:t>1</m:t>
                                    </m:r>
                                  </m:e>
                                </m:mr>
                              </m:m>
                            </m:e>
                          </m:mr>
                          <m:mr>
                            <m:e>
                              <m:m>
                                <m:mPr>
                                  <m:mcs>
                                    <m:mc>
                                      <m:mcPr>
                                        <m:count m:val="1"/>
                                        <m:mcJc m:val="center"/>
                                      </m:mcPr>
                                    </m:mc>
                                  </m:mcs>
                                  <m:ctrlPr>
                                    <a:rPr lang="en-IN" sz="1100" b="0" i="1" smtClean="0">
                                      <a:latin typeface="Cambria Math" panose="02040503050406030204" pitchFamily="18" charset="0"/>
                                    </a:rPr>
                                  </m:ctrlPr>
                                </m:mPr>
                                <m:mr>
                                  <m:e>
                                    <m:r>
                                      <m:rPr>
                                        <m:brk m:alnAt="7"/>
                                      </m:rPr>
                                      <a:rPr lang="en-IN" sz="1100" b="0" i="1" smtClean="0">
                                        <a:latin typeface="Cambria Math" panose="02040503050406030204" pitchFamily="18" charset="0"/>
                                      </a:rPr>
                                      <m:t>1</m:t>
                                    </m:r>
                                  </m:e>
                                </m:mr>
                                <m:mr>
                                  <m:e>
                                    <m:r>
                                      <a:rPr lang="en-IN" sz="1100" b="0" i="1" smtClean="0">
                                        <a:latin typeface="Cambria Math" panose="02040503050406030204" pitchFamily="18" charset="0"/>
                                      </a:rPr>
                                      <m:t>1</m:t>
                                    </m:r>
                                  </m:e>
                                </m:mr>
                              </m:m>
                            </m:e>
                          </m:mr>
                        </m:m>
                      </m:e>
                    </m:d>
                  </m:oMath>
                </a14:m>
                <a:r>
                  <a:rPr lang="en-US" sz="1100" dirty="0"/>
                  <a:t>.</a:t>
                </a:r>
              </a:p>
              <a:p>
                <a:endParaRPr lang="en-IN" dirty="0"/>
              </a:p>
            </p:txBody>
          </p:sp>
        </mc:Choice>
        <mc:Fallback xmlns="">
          <p:sp>
            <p:nvSpPr>
              <p:cNvPr id="3" name="Text Placeholder 2">
                <a:extLst>
                  <a:ext uri="{FF2B5EF4-FFF2-40B4-BE49-F238E27FC236}">
                    <a16:creationId xmlns:a16="http://schemas.microsoft.com/office/drawing/2014/main" id="{6E5C481B-AC99-3B8D-E4EE-7E394DC37464}"/>
                  </a:ext>
                </a:extLst>
              </p:cNvPr>
              <p:cNvSpPr>
                <a:spLocks noGrp="1" noRot="1" noChangeAspect="1" noMove="1" noResize="1" noEditPoints="1" noAdjustHandles="1" noChangeArrowheads="1" noChangeShapeType="1" noTextEdit="1"/>
              </p:cNvSpPr>
              <p:nvPr>
                <p:ph type="body" idx="1"/>
              </p:nvPr>
            </p:nvSpPr>
            <p:spPr>
              <a:xfrm>
                <a:off x="421957" y="954175"/>
                <a:ext cx="3864610" cy="792909"/>
              </a:xfrm>
              <a:blipFill>
                <a:blip r:embed="rId2"/>
                <a:stretch>
                  <a:fillRect l="-2208" r="-473"/>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3557E4A6-6EBA-115B-499F-18406960B62E}"/>
              </a:ext>
            </a:extLst>
          </p:cNvPr>
          <p:cNvSpPr txBox="1"/>
          <p:nvPr/>
        </p:nvSpPr>
        <p:spPr>
          <a:xfrm>
            <a:off x="171450" y="1747084"/>
            <a:ext cx="4115117" cy="1323439"/>
          </a:xfrm>
          <a:prstGeom prst="rect">
            <a:avLst/>
          </a:prstGeom>
          <a:noFill/>
        </p:spPr>
        <p:txBody>
          <a:bodyPr wrap="square" rtlCol="0">
            <a:spAutoFit/>
          </a:bodyPr>
          <a:lstStyle/>
          <a:p>
            <a:r>
              <a:rPr lang="en-IN" sz="1000" dirty="0"/>
              <a:t>Now we ask an important question:</a:t>
            </a:r>
          </a:p>
          <a:p>
            <a:r>
              <a:rPr lang="en-IN" sz="1000" dirty="0"/>
              <a:t>Why echelon form or reduced echelon form of an augmented matrix of a system of linear equations does not alter the solutions of the linear system?</a:t>
            </a:r>
          </a:p>
          <a:p>
            <a:r>
              <a:rPr lang="en-IN" sz="1000" dirty="0"/>
              <a:t>Note that this fact (answer to the question) is used in solving the above problem.</a:t>
            </a:r>
          </a:p>
          <a:p>
            <a:r>
              <a:rPr lang="en-IN" sz="1000" dirty="0"/>
              <a:t>We obtain </a:t>
            </a:r>
            <a:r>
              <a:rPr kumimoji="0" lang="en-IN" sz="1000" b="0" i="0" u="none" strike="noStrike" kern="0" cap="none" spc="0" normalizeH="0" baseline="0" noProof="0" dirty="0">
                <a:ln>
                  <a:noFill/>
                </a:ln>
                <a:solidFill>
                  <a:sysClr val="windowText" lastClr="000000"/>
                </a:solidFill>
                <a:effectLst/>
                <a:uLnTx/>
                <a:uFillTx/>
              </a:rPr>
              <a:t>echelon form or reduced echelon form of an augmented matrix by applying elementary row operations.</a:t>
            </a:r>
            <a:endParaRPr lang="en-IN" sz="1000" dirty="0"/>
          </a:p>
        </p:txBody>
      </p:sp>
    </p:spTree>
    <p:extLst>
      <p:ext uri="{BB962C8B-B14F-4D97-AF65-F5344CB8AC3E}">
        <p14:creationId xmlns:p14="http://schemas.microsoft.com/office/powerpoint/2010/main" val="3696149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lum contrast="40000"/>
          </a:blip>
          <a:stretch>
            <a:fillRect/>
          </a:stretch>
        </p:blipFill>
        <p:spPr>
          <a:xfrm>
            <a:off x="161643" y="769938"/>
            <a:ext cx="4426144" cy="1229360"/>
          </a:xfrm>
          <a:prstGeom prst="rect">
            <a:avLst/>
          </a:prstGeom>
        </p:spPr>
      </p:pic>
      <p:sp>
        <p:nvSpPr>
          <p:cNvPr id="3" name="Content Placeholder 2"/>
          <p:cNvSpPr>
            <a:spLocks noGrp="1"/>
          </p:cNvSpPr>
          <p:nvPr>
            <p:ph sz="quarter" idx="10"/>
          </p:nvPr>
        </p:nvSpPr>
        <p:spPr/>
        <p:txBody>
          <a:bodyPr/>
          <a:lstStyle/>
          <a:p>
            <a:r>
              <a:rPr lang="en-US" dirty="0"/>
              <a:t>Elementary Row operations do not alter the solution</a:t>
            </a:r>
          </a:p>
        </p:txBody>
      </p:sp>
      <p:sp>
        <p:nvSpPr>
          <p:cNvPr id="2" name="TextBox 1">
            <a:extLst>
              <a:ext uri="{FF2B5EF4-FFF2-40B4-BE49-F238E27FC236}">
                <a16:creationId xmlns:a16="http://schemas.microsoft.com/office/drawing/2014/main" id="{E864EAF6-2955-6B22-6B47-37AEAB4B1433}"/>
              </a:ext>
            </a:extLst>
          </p:cNvPr>
          <p:cNvSpPr txBox="1"/>
          <p:nvPr/>
        </p:nvSpPr>
        <p:spPr>
          <a:xfrm>
            <a:off x="247650" y="2111375"/>
            <a:ext cx="4038600" cy="553998"/>
          </a:xfrm>
          <a:prstGeom prst="rect">
            <a:avLst/>
          </a:prstGeom>
          <a:noFill/>
        </p:spPr>
        <p:txBody>
          <a:bodyPr wrap="square" rtlCol="0">
            <a:spAutoFit/>
          </a:bodyPr>
          <a:lstStyle/>
          <a:p>
            <a:r>
              <a:rPr lang="en-IN" sz="1000" dirty="0"/>
              <a:t>Note that the elementary operations that correspond to elementary row operations do not change the solutions of the system.</a:t>
            </a:r>
          </a:p>
          <a:p>
            <a:r>
              <a:rPr lang="en-IN" sz="1000" dirty="0"/>
              <a:t>More over the elementary row operations are reversible. </a:t>
            </a:r>
          </a:p>
        </p:txBody>
      </p:sp>
    </p:spTree>
    <p:extLst>
      <p:ext uri="{BB962C8B-B14F-4D97-AF65-F5344CB8AC3E}">
        <p14:creationId xmlns:p14="http://schemas.microsoft.com/office/powerpoint/2010/main" val="1370744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CD7A7-1378-229D-0CB9-52BCBDD31B83}"/>
              </a:ext>
            </a:extLst>
          </p:cNvPr>
          <p:cNvSpPr>
            <a:spLocks noGrp="1"/>
          </p:cNvSpPr>
          <p:nvPr>
            <p:ph type="title"/>
          </p:nvPr>
        </p:nvSpPr>
        <p:spPr>
          <a:xfrm>
            <a:off x="95300" y="72527"/>
            <a:ext cx="3277870" cy="215444"/>
          </a:xfrm>
        </p:spPr>
        <p:txBody>
          <a:bodyPr/>
          <a:lstStyle/>
          <a:p>
            <a:r>
              <a:rPr lang="en-IN" dirty="0"/>
              <a:t>Why elementary operations are reversible</a:t>
            </a:r>
          </a:p>
        </p:txBody>
      </p:sp>
      <p:pic>
        <p:nvPicPr>
          <p:cNvPr id="7" name="Content Placeholder 3">
            <a:extLst>
              <a:ext uri="{FF2B5EF4-FFF2-40B4-BE49-F238E27FC236}">
                <a16:creationId xmlns:a16="http://schemas.microsoft.com/office/drawing/2014/main" id="{254497EC-3E54-FD83-9FB1-6494BA61849C}"/>
              </a:ext>
            </a:extLst>
          </p:cNvPr>
          <p:cNvPicPr>
            <a:picLocks noChangeAspect="1"/>
          </p:cNvPicPr>
          <p:nvPr/>
        </p:nvPicPr>
        <p:blipFill>
          <a:blip r:embed="rId2">
            <a:lum contrast="40000"/>
          </a:blip>
          <a:srcRect l="48426" t="-8651" b="-1"/>
          <a:stretch/>
        </p:blipFill>
        <p:spPr>
          <a:xfrm>
            <a:off x="117297" y="739775"/>
            <a:ext cx="2282737" cy="1335723"/>
          </a:xfrm>
          <a:prstGeom prst="rect">
            <a:avLst/>
          </a:prstGeom>
        </p:spPr>
      </p:pic>
      <p:cxnSp>
        <p:nvCxnSpPr>
          <p:cNvPr id="9" name="Straight Connector 8">
            <a:extLst>
              <a:ext uri="{FF2B5EF4-FFF2-40B4-BE49-F238E27FC236}">
                <a16:creationId xmlns:a16="http://schemas.microsoft.com/office/drawing/2014/main" id="{910E3B9B-29C3-A399-2CA7-5E16692043B2}"/>
              </a:ext>
            </a:extLst>
          </p:cNvPr>
          <p:cNvCxnSpPr/>
          <p:nvPr/>
        </p:nvCxnSpPr>
        <p:spPr>
          <a:xfrm>
            <a:off x="2381250" y="739775"/>
            <a:ext cx="76200" cy="198120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EE16DD1F-39BB-32DF-E563-236A8CFF5755}"/>
              </a:ext>
            </a:extLst>
          </p:cNvPr>
          <p:cNvSpPr txBox="1"/>
          <p:nvPr/>
        </p:nvSpPr>
        <p:spPr>
          <a:xfrm>
            <a:off x="2465553" y="792727"/>
            <a:ext cx="2027249" cy="1215717"/>
          </a:xfrm>
          <a:prstGeom prst="rect">
            <a:avLst/>
          </a:prstGeom>
          <a:noFill/>
        </p:spPr>
        <p:txBody>
          <a:bodyPr wrap="square" rtlCol="0">
            <a:spAutoFit/>
          </a:bodyPr>
          <a:lstStyle/>
          <a:p>
            <a:r>
              <a:rPr lang="en-IN" sz="1000" b="1" dirty="0"/>
              <a:t>Inverse operations</a:t>
            </a:r>
          </a:p>
          <a:p>
            <a:r>
              <a:rPr lang="en-IN" sz="900" dirty="0"/>
              <a:t>1. Interchange the same two rows again</a:t>
            </a:r>
          </a:p>
          <a:p>
            <a:r>
              <a:rPr lang="en-IN" sz="900" dirty="0"/>
              <a:t>2. If the non zero constant is c then again multiply the same row by 1/c.</a:t>
            </a:r>
          </a:p>
          <a:p>
            <a:r>
              <a:rPr lang="en-IN" sz="900" dirty="0"/>
              <a:t>3. If row </a:t>
            </a:r>
            <a:r>
              <a:rPr lang="en-IN" sz="900" dirty="0" err="1"/>
              <a:t>R</a:t>
            </a:r>
            <a:r>
              <a:rPr lang="en-IN" sz="900" baseline="-25000" dirty="0" err="1"/>
              <a:t>j</a:t>
            </a:r>
            <a:r>
              <a:rPr lang="en-IN" sz="900" dirty="0"/>
              <a:t> is replaced by R</a:t>
            </a:r>
            <a:r>
              <a:rPr lang="en-IN" sz="900" baseline="-25000" dirty="0"/>
              <a:t>j</a:t>
            </a:r>
            <a:r>
              <a:rPr lang="en-IN" sz="900" dirty="0"/>
              <a:t>+aR</a:t>
            </a:r>
            <a:r>
              <a:rPr lang="en-IN" sz="900" baseline="-25000" dirty="0"/>
              <a:t>i </a:t>
            </a:r>
            <a:r>
              <a:rPr lang="en-IN" sz="900" dirty="0"/>
              <a:t> then the inverse operation is </a:t>
            </a:r>
            <a:r>
              <a:rPr lang="en-IN" sz="900" dirty="0" err="1"/>
              <a:t>R</a:t>
            </a:r>
            <a:r>
              <a:rPr lang="en-IN" sz="900" baseline="-25000" dirty="0" err="1"/>
              <a:t>j</a:t>
            </a:r>
            <a:r>
              <a:rPr lang="en-IN" sz="900" dirty="0" err="1"/>
              <a:t>is</a:t>
            </a:r>
            <a:r>
              <a:rPr lang="en-IN" sz="900" dirty="0"/>
              <a:t> replaced by </a:t>
            </a:r>
            <a:r>
              <a:rPr lang="en-IN" sz="900" dirty="0" err="1"/>
              <a:t>R</a:t>
            </a:r>
            <a:r>
              <a:rPr lang="en-IN" sz="900" baseline="-25000" dirty="0" err="1"/>
              <a:t>j</a:t>
            </a:r>
            <a:r>
              <a:rPr lang="en-IN" sz="900" dirty="0"/>
              <a:t>+(-a)R</a:t>
            </a:r>
            <a:r>
              <a:rPr lang="en-IN" sz="900" baseline="-25000" dirty="0"/>
              <a:t>i </a:t>
            </a:r>
            <a:endParaRPr lang="en-IN" sz="900" dirty="0"/>
          </a:p>
        </p:txBody>
      </p:sp>
    </p:spTree>
    <p:extLst>
      <p:ext uri="{BB962C8B-B14F-4D97-AF65-F5344CB8AC3E}">
        <p14:creationId xmlns:p14="http://schemas.microsoft.com/office/powerpoint/2010/main" val="4105042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9617" y="846772"/>
            <a:ext cx="4096216" cy="268923"/>
          </a:xfrm>
          <a:prstGeom prst="rect">
            <a:avLst/>
          </a:prstGeom>
        </p:spPr>
      </p:pic>
      <p:sp>
        <p:nvSpPr>
          <p:cNvPr id="3" name="Content Placeholder 2"/>
          <p:cNvSpPr>
            <a:spLocks noGrp="1"/>
          </p:cNvSpPr>
          <p:nvPr>
            <p:ph sz="quarter" idx="10"/>
          </p:nvPr>
        </p:nvSpPr>
        <p:spPr/>
        <p:txBody>
          <a:bodyPr/>
          <a:lstStyle/>
          <a:p>
            <a:r>
              <a:rPr lang="en-US" dirty="0"/>
              <a:t>Spanning a Vector Space</a:t>
            </a:r>
          </a:p>
        </p:txBody>
      </p:sp>
      <p:sp>
        <p:nvSpPr>
          <p:cNvPr id="5" name="TextBox 4"/>
          <p:cNvSpPr txBox="1"/>
          <p:nvPr/>
        </p:nvSpPr>
        <p:spPr>
          <a:xfrm>
            <a:off x="76835" y="1307783"/>
            <a:ext cx="4110673" cy="651204"/>
          </a:xfrm>
          <a:prstGeom prst="rect">
            <a:avLst/>
          </a:prstGeom>
          <a:noFill/>
        </p:spPr>
        <p:txBody>
          <a:bodyPr wrap="square" rtlCol="0">
            <a:spAutoFit/>
          </a:bodyPr>
          <a:lstStyle/>
          <a:p>
            <a:pPr algn="l" defTabSz="461040" rtl="0"/>
            <a:r>
              <a:rPr lang="en-US" sz="908" kern="1200" dirty="0">
                <a:solidFill>
                  <a:prstClr val="black"/>
                </a:solidFill>
                <a:latin typeface="Tw Cen MT" panose="020B0602020104020603"/>
                <a:ea typeface="+mn-ea"/>
                <a:cs typeface="+mn-cs"/>
              </a:rPr>
              <a:t>Example 1. (1,0,0), (0,1,0), (0,0,1) spans R</a:t>
            </a:r>
            <a:r>
              <a:rPr lang="en-US" sz="908" kern="1200" baseline="30000" dirty="0">
                <a:solidFill>
                  <a:prstClr val="black"/>
                </a:solidFill>
                <a:latin typeface="Tw Cen MT" panose="020B0602020104020603"/>
                <a:ea typeface="+mn-ea"/>
                <a:cs typeface="+mn-cs"/>
              </a:rPr>
              <a:t>3</a:t>
            </a:r>
            <a:endParaRPr lang="en-US" sz="908" kern="1200" dirty="0">
              <a:solidFill>
                <a:prstClr val="black"/>
              </a:solidFill>
              <a:latin typeface="Tw Cen MT" panose="020B0602020104020603"/>
              <a:ea typeface="+mn-ea"/>
              <a:cs typeface="+mn-cs"/>
            </a:endParaRPr>
          </a:p>
          <a:p>
            <a:pPr algn="l" defTabSz="461040" rtl="0"/>
            <a:r>
              <a:rPr lang="en-US" sz="908" kern="1200" dirty="0">
                <a:solidFill>
                  <a:prstClr val="black"/>
                </a:solidFill>
                <a:latin typeface="Tw Cen MT" panose="020B0602020104020603"/>
                <a:ea typeface="+mn-ea"/>
                <a:cs typeface="+mn-cs"/>
              </a:rPr>
              <a:t>Example 2. . (1,0,0), (0,1,0), (1,1,1) spans R</a:t>
            </a:r>
            <a:r>
              <a:rPr lang="en-US" sz="908" kern="1200" baseline="30000" dirty="0">
                <a:solidFill>
                  <a:prstClr val="black"/>
                </a:solidFill>
                <a:latin typeface="Tw Cen MT" panose="020B0602020104020603"/>
                <a:ea typeface="+mn-ea"/>
                <a:cs typeface="+mn-cs"/>
              </a:rPr>
              <a:t>3</a:t>
            </a:r>
            <a:r>
              <a:rPr lang="en-US" sz="908" kern="1200" dirty="0">
                <a:solidFill>
                  <a:prstClr val="black"/>
                </a:solidFill>
                <a:latin typeface="Tw Cen MT" panose="020B0602020104020603"/>
                <a:ea typeface="+mn-ea"/>
                <a:cs typeface="+mn-cs"/>
              </a:rPr>
              <a:t>,  since (x, y, z) = (x-z)(1,0,0) + </a:t>
            </a:r>
          </a:p>
          <a:p>
            <a:pPr algn="l" defTabSz="461040" rtl="0"/>
            <a:r>
              <a:rPr lang="en-US" sz="908" kern="1200" dirty="0">
                <a:solidFill>
                  <a:prstClr val="black"/>
                </a:solidFill>
                <a:latin typeface="Tw Cen MT" panose="020B0602020104020603"/>
                <a:ea typeface="+mn-ea"/>
                <a:cs typeface="+mn-cs"/>
              </a:rPr>
              <a:t>(y-z)(0,1,0)+z(1,1,1)</a:t>
            </a:r>
          </a:p>
          <a:p>
            <a:pPr algn="l" defTabSz="461040" rtl="0"/>
            <a:r>
              <a:rPr lang="en-US" sz="908" kern="1200" dirty="0">
                <a:solidFill>
                  <a:prstClr val="black"/>
                </a:solidFill>
                <a:latin typeface="Tw Cen MT" panose="020B0602020104020603"/>
                <a:ea typeface="+mn-ea"/>
                <a:cs typeface="+mn-cs"/>
              </a:rPr>
              <a:t>Example 3. </a:t>
            </a:r>
          </a:p>
        </p:txBody>
      </p:sp>
      <p:pic>
        <p:nvPicPr>
          <p:cNvPr id="6" name="Picture 5"/>
          <p:cNvPicPr>
            <a:picLocks noChangeAspect="1"/>
          </p:cNvPicPr>
          <p:nvPr/>
        </p:nvPicPr>
        <p:blipFill>
          <a:blip r:embed="rId3"/>
          <a:stretch>
            <a:fillRect/>
          </a:stretch>
        </p:blipFill>
        <p:spPr>
          <a:xfrm>
            <a:off x="0" y="1912949"/>
            <a:ext cx="3841750" cy="262498"/>
          </a:xfrm>
          <a:prstGeom prst="rect">
            <a:avLst/>
          </a:prstGeom>
        </p:spPr>
      </p:pic>
      <p:pic>
        <p:nvPicPr>
          <p:cNvPr id="7" name="Picture 6"/>
          <p:cNvPicPr>
            <a:picLocks noChangeAspect="1"/>
          </p:cNvPicPr>
          <p:nvPr/>
        </p:nvPicPr>
        <p:blipFill>
          <a:blip r:embed="rId4"/>
          <a:stretch>
            <a:fillRect/>
          </a:stretch>
        </p:blipFill>
        <p:spPr>
          <a:xfrm>
            <a:off x="12323" y="2402375"/>
            <a:ext cx="4209712" cy="327342"/>
          </a:xfrm>
          <a:prstGeom prst="rect">
            <a:avLst/>
          </a:prstGeom>
        </p:spPr>
      </p:pic>
      <p:sp>
        <p:nvSpPr>
          <p:cNvPr id="8" name="TextBox 7"/>
          <p:cNvSpPr txBox="1"/>
          <p:nvPr/>
        </p:nvSpPr>
        <p:spPr>
          <a:xfrm>
            <a:off x="126508" y="2175447"/>
            <a:ext cx="2074545" cy="232051"/>
          </a:xfrm>
          <a:prstGeom prst="rect">
            <a:avLst/>
          </a:prstGeom>
          <a:noFill/>
        </p:spPr>
        <p:txBody>
          <a:bodyPr wrap="square" rtlCol="0">
            <a:spAutoFit/>
          </a:bodyPr>
          <a:lstStyle/>
          <a:p>
            <a:pPr algn="l" defTabSz="461040" rtl="0"/>
            <a:r>
              <a:rPr lang="en-US" sz="908" kern="1200" dirty="0">
                <a:solidFill>
                  <a:prstClr val="black"/>
                </a:solidFill>
                <a:latin typeface="Tw Cen MT" panose="020B0602020104020603"/>
                <a:ea typeface="+mn-ea"/>
                <a:cs typeface="+mn-cs"/>
              </a:rPr>
              <a:t>Example 4</a:t>
            </a:r>
          </a:p>
        </p:txBody>
      </p:sp>
      <p:sp>
        <p:nvSpPr>
          <p:cNvPr id="2" name="TextBox 1"/>
          <p:cNvSpPr txBox="1"/>
          <p:nvPr/>
        </p:nvSpPr>
        <p:spPr>
          <a:xfrm>
            <a:off x="126508" y="2844483"/>
            <a:ext cx="3830495" cy="232051"/>
          </a:xfrm>
          <a:prstGeom prst="rect">
            <a:avLst/>
          </a:prstGeom>
          <a:noFill/>
        </p:spPr>
        <p:txBody>
          <a:bodyPr wrap="square" rtlCol="0">
            <a:spAutoFit/>
          </a:bodyPr>
          <a:lstStyle/>
          <a:p>
            <a:pPr algn="l" defTabSz="461040" rtl="0"/>
            <a:r>
              <a:rPr lang="en-US" sz="908" kern="1200" dirty="0">
                <a:solidFill>
                  <a:prstClr val="black"/>
                </a:solidFill>
                <a:latin typeface="Tw Cen MT" panose="020B0602020104020603"/>
                <a:ea typeface="+mn-ea"/>
                <a:cs typeface="+mn-cs"/>
              </a:rPr>
              <a:t>Is it always true that span of any n vectors of V a subspace of V ?</a:t>
            </a:r>
          </a:p>
        </p:txBody>
      </p:sp>
    </p:spTree>
    <p:extLst>
      <p:ext uri="{BB962C8B-B14F-4D97-AF65-F5344CB8AC3E}">
        <p14:creationId xmlns:p14="http://schemas.microsoft.com/office/powerpoint/2010/main" val="4169858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Theorem : If v</a:t>
                </a:r>
                <a:r>
                  <a:rPr lang="en-US" baseline="-25000" dirty="0"/>
                  <a:t>1</a:t>
                </a:r>
                <a:r>
                  <a:rPr lang="en-US" dirty="0"/>
                  <a:t>, v</a:t>
                </a:r>
                <a:r>
                  <a:rPr lang="en-US" baseline="-25000" dirty="0"/>
                  <a:t>2</a:t>
                </a:r>
                <a:r>
                  <a:rPr lang="en-US" dirty="0"/>
                  <a:t>, …</a:t>
                </a:r>
                <a:r>
                  <a:rPr lang="en-US" dirty="0" err="1"/>
                  <a:t>v</a:t>
                </a:r>
                <a:r>
                  <a:rPr lang="en-US" baseline="-25000" dirty="0" err="1"/>
                  <a:t>n</a:t>
                </a:r>
                <a:r>
                  <a:rPr lang="en-US" dirty="0"/>
                  <a:t> are vectors in a vector space V and let U be the set of all vectors in V which are linear combinations of v</a:t>
                </a:r>
                <a:r>
                  <a:rPr lang="en-US" baseline="-25000" dirty="0"/>
                  <a:t>1</a:t>
                </a:r>
                <a:r>
                  <a:rPr lang="en-US" dirty="0"/>
                  <a:t>, v</a:t>
                </a:r>
                <a:r>
                  <a:rPr lang="en-US" baseline="-25000" dirty="0"/>
                  <a:t>2</a:t>
                </a:r>
                <a:r>
                  <a:rPr lang="en-US" dirty="0"/>
                  <a:t>,… </a:t>
                </a:r>
                <a:r>
                  <a:rPr lang="en-US" dirty="0" err="1"/>
                  <a:t>v</a:t>
                </a:r>
                <a:r>
                  <a:rPr lang="en-US" baseline="-25000" dirty="0" err="1"/>
                  <a:t>n</a:t>
                </a:r>
                <a:r>
                  <a:rPr lang="en-US" dirty="0" err="1"/>
                  <a:t>.</a:t>
                </a:r>
                <a:r>
                  <a:rPr lang="en-US" dirty="0"/>
                  <a:t> Then U</a:t>
                </a:r>
                <a:r>
                  <a:rPr lang="en-US" baseline="-25000" dirty="0"/>
                  <a:t> </a:t>
                </a:r>
                <a:r>
                  <a:rPr lang="en-US" dirty="0"/>
                  <a:t> is a subspace of V.</a:t>
                </a:r>
              </a:p>
              <a:p>
                <a:r>
                  <a:rPr lang="en-US" dirty="0"/>
                  <a:t>Note : U is said to be generated by v</a:t>
                </a:r>
                <a:r>
                  <a:rPr lang="en-US" baseline="-25000" dirty="0"/>
                  <a:t>1</a:t>
                </a:r>
                <a:r>
                  <a:rPr lang="en-US" dirty="0"/>
                  <a:t>, v</a:t>
                </a:r>
                <a:r>
                  <a:rPr lang="en-US" baseline="-25000" dirty="0"/>
                  <a:t>2</a:t>
                </a:r>
                <a:r>
                  <a:rPr lang="en-US" dirty="0"/>
                  <a:t>,… </a:t>
                </a:r>
                <a:r>
                  <a:rPr lang="en-US" dirty="0" err="1"/>
                  <a:t>v</a:t>
                </a:r>
                <a:r>
                  <a:rPr lang="en-US" baseline="-25000" dirty="0" err="1"/>
                  <a:t>n</a:t>
                </a:r>
                <a:r>
                  <a:rPr lang="en-US" dirty="0"/>
                  <a:t> and is denoted by span{v</a:t>
                </a:r>
                <a:r>
                  <a:rPr lang="en-US" baseline="-25000" dirty="0"/>
                  <a:t>1</a:t>
                </a:r>
                <a:r>
                  <a:rPr lang="en-US" dirty="0"/>
                  <a:t>, v</a:t>
                </a:r>
                <a:r>
                  <a:rPr lang="en-US" baseline="-25000" dirty="0"/>
                  <a:t>2</a:t>
                </a:r>
                <a:r>
                  <a:rPr lang="en-US" dirty="0"/>
                  <a:t>, … </a:t>
                </a:r>
                <a:r>
                  <a:rPr lang="en-US" dirty="0" err="1"/>
                  <a:t>v</a:t>
                </a:r>
                <a:r>
                  <a:rPr lang="en-US" baseline="-25000" dirty="0" err="1"/>
                  <a:t>n</a:t>
                </a:r>
                <a:r>
                  <a:rPr lang="en-US" dirty="0"/>
                  <a:t>}.</a:t>
                </a:r>
              </a:p>
              <a:p>
                <a:endParaRPr lang="en-US" dirty="0"/>
              </a:p>
              <a:p>
                <a:r>
                  <a:rPr lang="en-US" dirty="0"/>
                  <a:t>Example : R</a:t>
                </a:r>
                <a:r>
                  <a:rPr lang="en-US" baseline="30000" dirty="0"/>
                  <a:t>3</a:t>
                </a:r>
                <a:r>
                  <a:rPr lang="en-US" dirty="0"/>
                  <a:t> = span {(1,0,0), (0,1,0), (0,0,1)}</a:t>
                </a:r>
              </a:p>
              <a:p>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e>
                    </m:d>
                  </m:oMath>
                </a14:m>
                <a:r>
                  <a:rPr lang="en-US" dirty="0"/>
                  <a:t> is a subspace of M</a:t>
                </a:r>
                <a:r>
                  <a:rPr lang="en-US" baseline="-25000" dirty="0"/>
                  <a:t>22</a:t>
                </a:r>
                <a:r>
                  <a:rPr lang="en-US" dirty="0"/>
                  <a:t> but  not equal to M</a:t>
                </a:r>
                <a:r>
                  <a:rPr lang="en-US" baseline="-25000" dirty="0"/>
                  <a:t>22.</a:t>
                </a:r>
              </a:p>
              <a:p>
                <a:r>
                  <a:rPr lang="en-US" dirty="0"/>
                  <a:t> </a:t>
                </a:r>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1704" t="-942" r="-1333"/>
                </a:stretch>
              </a:blipFill>
            </p:spPr>
            <p:txBody>
              <a:bodyPr/>
              <a:lstStyle/>
              <a:p>
                <a:r>
                  <a:rPr lang="en-US">
                    <a:noFill/>
                  </a:rPr>
                  <a:t> </a:t>
                </a:r>
              </a:p>
            </p:txBody>
          </p:sp>
        </mc:Fallback>
      </mc:AlternateContent>
      <p:sp>
        <p:nvSpPr>
          <p:cNvPr id="3" name="Content Placeholder 2"/>
          <p:cNvSpPr>
            <a:spLocks noGrp="1"/>
          </p:cNvSpPr>
          <p:nvPr>
            <p:ph sz="quarter" idx="10"/>
          </p:nvPr>
        </p:nvSpPr>
        <p:spPr/>
        <p:txBody>
          <a:bodyPr/>
          <a:lstStyle/>
          <a:p>
            <a:r>
              <a:rPr lang="en-US" dirty="0"/>
              <a:t>Spanning a Vector Space</a:t>
            </a:r>
          </a:p>
        </p:txBody>
      </p:sp>
    </p:spTree>
    <p:extLst>
      <p:ext uri="{BB962C8B-B14F-4D97-AF65-F5344CB8AC3E}">
        <p14:creationId xmlns:p14="http://schemas.microsoft.com/office/powerpoint/2010/main" val="4109694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72527"/>
            <a:ext cx="3277870" cy="232756"/>
          </a:xfrm>
          <a:prstGeom prst="rect">
            <a:avLst/>
          </a:prstGeom>
        </p:spPr>
        <p:txBody>
          <a:bodyPr vert="horz" wrap="square" lIns="0" tIns="17145" rIns="0" bIns="0" rtlCol="0">
            <a:spAutoFit/>
          </a:bodyPr>
          <a:lstStyle/>
          <a:p>
            <a:pPr marL="12700">
              <a:lnSpc>
                <a:spcPct val="100000"/>
              </a:lnSpc>
              <a:spcBef>
                <a:spcPts val="135"/>
              </a:spcBef>
            </a:pPr>
            <a:r>
              <a:rPr spc="-30" dirty="0"/>
              <a:t>Linear</a:t>
            </a:r>
            <a:r>
              <a:rPr spc="-55" dirty="0"/>
              <a:t> dependence</a:t>
            </a:r>
            <a:r>
              <a:rPr lang="en-IN" spc="-55" dirty="0"/>
              <a:t> and independence</a:t>
            </a:r>
            <a:endParaRPr spc="-55" dirty="0"/>
          </a:p>
        </p:txBody>
      </p:sp>
      <p:sp>
        <p:nvSpPr>
          <p:cNvPr id="3" name="object 3"/>
          <p:cNvSpPr txBox="1"/>
          <p:nvPr/>
        </p:nvSpPr>
        <p:spPr>
          <a:xfrm>
            <a:off x="421957" y="987626"/>
            <a:ext cx="3751579" cy="191770"/>
          </a:xfrm>
          <a:prstGeom prst="rect">
            <a:avLst/>
          </a:prstGeom>
        </p:spPr>
        <p:txBody>
          <a:bodyPr vert="horz" wrap="square" lIns="0" tIns="11430" rIns="0" bIns="0" rtlCol="0">
            <a:spAutoFit/>
          </a:bodyPr>
          <a:lstStyle/>
          <a:p>
            <a:pPr marL="215265" indent="-177165">
              <a:lnSpc>
                <a:spcPct val="100000"/>
              </a:lnSpc>
              <a:spcBef>
                <a:spcPts val="90"/>
              </a:spcBef>
              <a:buClr>
                <a:srgbClr val="3333B2"/>
              </a:buClr>
              <a:buFont typeface="Lucida Sans Unicode"/>
              <a:buChar char="►"/>
              <a:tabLst>
                <a:tab pos="215265" algn="l"/>
              </a:tabLst>
            </a:pPr>
            <a:r>
              <a:rPr sz="1100" spc="-35" dirty="0">
                <a:latin typeface="Tahoma"/>
                <a:cs typeface="Tahoma"/>
              </a:rPr>
              <a:t>Consider</a:t>
            </a:r>
            <a:r>
              <a:rPr sz="1100" spc="-55" dirty="0">
                <a:latin typeface="Tahoma"/>
                <a:cs typeface="Tahoma"/>
              </a:rPr>
              <a:t> </a:t>
            </a:r>
            <a:r>
              <a:rPr sz="1100" dirty="0">
                <a:latin typeface="Tahoma"/>
                <a:cs typeface="Tahoma"/>
              </a:rPr>
              <a:t>a</a:t>
            </a:r>
            <a:r>
              <a:rPr sz="1100" spc="-15" dirty="0">
                <a:latin typeface="Tahoma"/>
                <a:cs typeface="Tahoma"/>
              </a:rPr>
              <a:t> </a:t>
            </a:r>
            <a:r>
              <a:rPr sz="1100" spc="-35" dirty="0">
                <a:latin typeface="Tahoma"/>
                <a:cs typeface="Tahoma"/>
              </a:rPr>
              <a:t>vector</a:t>
            </a:r>
            <a:r>
              <a:rPr sz="1100" spc="-5" dirty="0">
                <a:latin typeface="Tahoma"/>
                <a:cs typeface="Tahoma"/>
              </a:rPr>
              <a:t> </a:t>
            </a:r>
            <a:r>
              <a:rPr sz="1100" spc="-60" dirty="0">
                <a:latin typeface="Tahoma"/>
                <a:cs typeface="Tahoma"/>
              </a:rPr>
              <a:t>space</a:t>
            </a:r>
            <a:r>
              <a:rPr sz="1100" spc="-10" dirty="0">
                <a:latin typeface="Tahoma"/>
                <a:cs typeface="Tahoma"/>
              </a:rPr>
              <a:t> </a:t>
            </a:r>
            <a:r>
              <a:rPr sz="1100" i="1" dirty="0">
                <a:latin typeface="Arial"/>
                <a:cs typeface="Arial"/>
              </a:rPr>
              <a:t>V</a:t>
            </a:r>
            <a:r>
              <a:rPr sz="1100" i="1" spc="190" dirty="0">
                <a:latin typeface="Arial"/>
                <a:cs typeface="Arial"/>
              </a:rPr>
              <a:t> </a:t>
            </a:r>
            <a:r>
              <a:rPr sz="1100" spc="-35" dirty="0">
                <a:latin typeface="Tahoma"/>
                <a:cs typeface="Tahoma"/>
              </a:rPr>
              <a:t>and</a:t>
            </a:r>
            <a:r>
              <a:rPr sz="1100" spc="-5" dirty="0">
                <a:latin typeface="Tahoma"/>
                <a:cs typeface="Tahoma"/>
              </a:rPr>
              <a:t> </a:t>
            </a:r>
            <a:r>
              <a:rPr sz="1100" i="1" dirty="0">
                <a:latin typeface="Arial"/>
                <a:cs typeface="Arial"/>
              </a:rPr>
              <a:t>k</a:t>
            </a:r>
            <a:r>
              <a:rPr sz="1100" i="1" spc="114" dirty="0">
                <a:latin typeface="Arial"/>
                <a:cs typeface="Arial"/>
              </a:rPr>
              <a:t> </a:t>
            </a:r>
            <a:r>
              <a:rPr sz="1100" spc="-50" dirty="0">
                <a:latin typeface="Tahoma"/>
                <a:cs typeface="Tahoma"/>
              </a:rPr>
              <a:t>vectors</a:t>
            </a:r>
            <a:r>
              <a:rPr sz="1100" spc="-10" dirty="0">
                <a:latin typeface="Tahoma"/>
                <a:cs typeface="Tahoma"/>
              </a:rPr>
              <a:t> </a:t>
            </a:r>
            <a:r>
              <a:rPr sz="1100" b="1" dirty="0">
                <a:latin typeface="Trebuchet MS"/>
                <a:cs typeface="Trebuchet MS"/>
              </a:rPr>
              <a:t>x</a:t>
            </a:r>
            <a:r>
              <a:rPr sz="1200" baseline="-10416" dirty="0">
                <a:latin typeface="Tahoma"/>
                <a:cs typeface="Tahoma"/>
              </a:rPr>
              <a:t>1</a:t>
            </a:r>
            <a:r>
              <a:rPr sz="1100" dirty="0">
                <a:latin typeface="Tahoma"/>
                <a:cs typeface="Tahoma"/>
              </a:rPr>
              <a:t>,</a:t>
            </a:r>
            <a:r>
              <a:rPr sz="1100" spc="-5" dirty="0">
                <a:latin typeface="Tahoma"/>
                <a:cs typeface="Tahoma"/>
              </a:rPr>
              <a:t> </a:t>
            </a:r>
            <a:r>
              <a:rPr sz="1100" b="1" dirty="0">
                <a:latin typeface="Trebuchet MS"/>
                <a:cs typeface="Trebuchet MS"/>
              </a:rPr>
              <a:t>x</a:t>
            </a:r>
            <a:r>
              <a:rPr sz="1200" baseline="-10416" dirty="0">
                <a:latin typeface="Tahoma"/>
                <a:cs typeface="Tahoma"/>
              </a:rPr>
              <a:t>2</a:t>
            </a:r>
            <a:r>
              <a:rPr sz="1100" dirty="0">
                <a:latin typeface="Tahoma"/>
                <a:cs typeface="Tahoma"/>
              </a:rPr>
              <a:t>,</a:t>
            </a:r>
            <a:r>
              <a:rPr sz="1100" spc="-5" dirty="0">
                <a:latin typeface="Tahoma"/>
                <a:cs typeface="Tahoma"/>
              </a:rPr>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90" dirty="0">
                <a:latin typeface="Calibri"/>
                <a:cs typeface="Calibri"/>
              </a:rPr>
              <a:t> </a:t>
            </a:r>
            <a:r>
              <a:rPr sz="1100" b="1" dirty="0">
                <a:latin typeface="Trebuchet MS"/>
                <a:cs typeface="Trebuchet MS"/>
              </a:rPr>
              <a:t>x</a:t>
            </a:r>
            <a:r>
              <a:rPr sz="1200" i="1" baseline="-13888" dirty="0">
                <a:latin typeface="Arial"/>
                <a:cs typeface="Arial"/>
              </a:rPr>
              <a:t>k</a:t>
            </a:r>
            <a:r>
              <a:rPr sz="1200" i="1" spc="254" baseline="-13888" dirty="0">
                <a:latin typeface="Arial"/>
                <a:cs typeface="Arial"/>
              </a:rPr>
              <a:t> </a:t>
            </a:r>
            <a:r>
              <a:rPr sz="1100" spc="-155" dirty="0">
                <a:latin typeface="Lucida Sans Unicode"/>
                <a:cs typeface="Lucida Sans Unicode"/>
              </a:rPr>
              <a:t>∈</a:t>
            </a:r>
            <a:r>
              <a:rPr sz="1100" spc="-45" dirty="0">
                <a:latin typeface="Lucida Sans Unicode"/>
                <a:cs typeface="Lucida Sans Unicode"/>
              </a:rPr>
              <a:t> </a:t>
            </a:r>
            <a:r>
              <a:rPr sz="1100" i="1" spc="-20" dirty="0">
                <a:latin typeface="Arial"/>
                <a:cs typeface="Arial"/>
              </a:rPr>
              <a:t>V</a:t>
            </a:r>
            <a:r>
              <a:rPr sz="1100" i="1" spc="-130" dirty="0">
                <a:latin typeface="Arial"/>
                <a:cs typeface="Arial"/>
              </a:rPr>
              <a:t> </a:t>
            </a:r>
            <a:r>
              <a:rPr sz="1100" spc="-50" dirty="0">
                <a:latin typeface="Tahoma"/>
                <a:cs typeface="Tahoma"/>
              </a:rPr>
              <a:t>.</a:t>
            </a:r>
            <a:endParaRPr sz="1100">
              <a:latin typeface="Tahoma"/>
              <a:cs typeface="Tahoma"/>
            </a:endParaRPr>
          </a:p>
        </p:txBody>
      </p:sp>
      <p:sp>
        <p:nvSpPr>
          <p:cNvPr id="4" name="object 4"/>
          <p:cNvSpPr txBox="1"/>
          <p:nvPr/>
        </p:nvSpPr>
        <p:spPr>
          <a:xfrm>
            <a:off x="624395" y="1159699"/>
            <a:ext cx="3504565" cy="191770"/>
          </a:xfrm>
          <a:prstGeom prst="rect">
            <a:avLst/>
          </a:prstGeom>
        </p:spPr>
        <p:txBody>
          <a:bodyPr vert="horz" wrap="square" lIns="0" tIns="11430" rIns="0" bIns="0" rtlCol="0">
            <a:spAutoFit/>
          </a:bodyPr>
          <a:lstStyle/>
          <a:p>
            <a:pPr marL="12700">
              <a:lnSpc>
                <a:spcPct val="100000"/>
              </a:lnSpc>
              <a:spcBef>
                <a:spcPts val="90"/>
              </a:spcBef>
            </a:pPr>
            <a:r>
              <a:rPr sz="1100" dirty="0">
                <a:latin typeface="Tahoma"/>
                <a:cs typeface="Tahoma"/>
              </a:rPr>
              <a:t>Then</a:t>
            </a:r>
            <a:r>
              <a:rPr sz="1100" spc="-40" dirty="0">
                <a:latin typeface="Tahoma"/>
                <a:cs typeface="Tahoma"/>
              </a:rPr>
              <a:t> </a:t>
            </a:r>
            <a:r>
              <a:rPr sz="1100" dirty="0">
                <a:latin typeface="Tahoma"/>
                <a:cs typeface="Tahoma"/>
              </a:rPr>
              <a:t>if</a:t>
            </a:r>
            <a:r>
              <a:rPr sz="1100" spc="-35" dirty="0">
                <a:latin typeface="Tahoma"/>
                <a:cs typeface="Tahoma"/>
              </a:rPr>
              <a:t> </a:t>
            </a:r>
            <a:r>
              <a:rPr sz="1100" spc="-45" dirty="0">
                <a:latin typeface="Tahoma"/>
                <a:cs typeface="Tahoma"/>
              </a:rPr>
              <a:t>there</a:t>
            </a:r>
            <a:r>
              <a:rPr sz="1100" spc="-35" dirty="0">
                <a:latin typeface="Tahoma"/>
                <a:cs typeface="Tahoma"/>
              </a:rPr>
              <a:t> </a:t>
            </a:r>
            <a:r>
              <a:rPr sz="1100" dirty="0">
                <a:latin typeface="Tahoma"/>
                <a:cs typeface="Tahoma"/>
              </a:rPr>
              <a:t>is</a:t>
            </a:r>
            <a:r>
              <a:rPr sz="1100" spc="-40" dirty="0">
                <a:latin typeface="Tahoma"/>
                <a:cs typeface="Tahoma"/>
              </a:rPr>
              <a:t> </a:t>
            </a:r>
            <a:r>
              <a:rPr sz="1100" dirty="0">
                <a:latin typeface="Tahoma"/>
                <a:cs typeface="Tahoma"/>
              </a:rPr>
              <a:t>a</a:t>
            </a:r>
            <a:r>
              <a:rPr sz="1100" spc="-35" dirty="0">
                <a:latin typeface="Tahoma"/>
                <a:cs typeface="Tahoma"/>
              </a:rPr>
              <a:t> </a:t>
            </a:r>
            <a:r>
              <a:rPr sz="1100" spc="-60" dirty="0">
                <a:latin typeface="Tahoma"/>
                <a:cs typeface="Tahoma"/>
              </a:rPr>
              <a:t>non-</a:t>
            </a:r>
            <a:r>
              <a:rPr sz="1100" dirty="0">
                <a:latin typeface="Tahoma"/>
                <a:cs typeface="Tahoma"/>
              </a:rPr>
              <a:t>trivial</a:t>
            </a:r>
            <a:r>
              <a:rPr sz="1100" spc="-35" dirty="0">
                <a:latin typeface="Tahoma"/>
                <a:cs typeface="Tahoma"/>
              </a:rPr>
              <a:t> </a:t>
            </a:r>
            <a:r>
              <a:rPr sz="1100" spc="-30" dirty="0">
                <a:latin typeface="Tahoma"/>
                <a:cs typeface="Tahoma"/>
              </a:rPr>
              <a:t>linear</a:t>
            </a:r>
            <a:r>
              <a:rPr sz="1100" spc="-40" dirty="0">
                <a:latin typeface="Tahoma"/>
                <a:cs typeface="Tahoma"/>
              </a:rPr>
              <a:t> </a:t>
            </a:r>
            <a:r>
              <a:rPr sz="1100" spc="-30" dirty="0">
                <a:latin typeface="Tahoma"/>
                <a:cs typeface="Tahoma"/>
              </a:rPr>
              <a:t>combination</a:t>
            </a:r>
            <a:r>
              <a:rPr sz="1100" spc="-35" dirty="0">
                <a:latin typeface="Tahoma"/>
                <a:cs typeface="Tahoma"/>
              </a:rPr>
              <a:t> </a:t>
            </a:r>
            <a:r>
              <a:rPr sz="1100" dirty="0">
                <a:latin typeface="Tahoma"/>
                <a:cs typeface="Tahoma"/>
              </a:rPr>
              <a:t>of</a:t>
            </a:r>
            <a:r>
              <a:rPr sz="1100" spc="-35" dirty="0">
                <a:latin typeface="Tahoma"/>
                <a:cs typeface="Tahoma"/>
              </a:rPr>
              <a:t> </a:t>
            </a:r>
            <a:r>
              <a:rPr sz="1100" spc="-10" dirty="0">
                <a:latin typeface="Tahoma"/>
                <a:cs typeface="Tahoma"/>
              </a:rPr>
              <a:t>the</a:t>
            </a:r>
            <a:r>
              <a:rPr sz="1100" spc="-35" dirty="0">
                <a:latin typeface="Tahoma"/>
                <a:cs typeface="Tahoma"/>
              </a:rPr>
              <a:t> </a:t>
            </a:r>
            <a:r>
              <a:rPr sz="1100" spc="-25" dirty="0">
                <a:latin typeface="Tahoma"/>
                <a:cs typeface="Tahoma"/>
              </a:rPr>
              <a:t>given</a:t>
            </a:r>
            <a:endParaRPr sz="1100">
              <a:latin typeface="Tahoma"/>
              <a:cs typeface="Tahoma"/>
            </a:endParaRPr>
          </a:p>
        </p:txBody>
      </p:sp>
      <p:sp>
        <p:nvSpPr>
          <p:cNvPr id="5" name="object 5"/>
          <p:cNvSpPr txBox="1"/>
          <p:nvPr/>
        </p:nvSpPr>
        <p:spPr>
          <a:xfrm>
            <a:off x="624395" y="1331771"/>
            <a:ext cx="1278255" cy="191770"/>
          </a:xfrm>
          <a:prstGeom prst="rect">
            <a:avLst/>
          </a:prstGeom>
        </p:spPr>
        <p:txBody>
          <a:bodyPr vert="horz" wrap="square" lIns="0" tIns="11430" rIns="0" bIns="0" rtlCol="0">
            <a:spAutoFit/>
          </a:bodyPr>
          <a:lstStyle/>
          <a:p>
            <a:pPr marL="12700">
              <a:lnSpc>
                <a:spcPct val="100000"/>
              </a:lnSpc>
              <a:spcBef>
                <a:spcPts val="90"/>
              </a:spcBef>
            </a:pPr>
            <a:r>
              <a:rPr sz="1100" spc="-50" dirty="0">
                <a:latin typeface="Tahoma"/>
                <a:cs typeface="Tahoma"/>
              </a:rPr>
              <a:t>vectors</a:t>
            </a:r>
            <a:r>
              <a:rPr sz="1100" spc="-30" dirty="0">
                <a:latin typeface="Tahoma"/>
                <a:cs typeface="Tahoma"/>
              </a:rPr>
              <a:t> </a:t>
            </a:r>
            <a:r>
              <a:rPr sz="1100" spc="-40" dirty="0">
                <a:latin typeface="Tahoma"/>
                <a:cs typeface="Tahoma"/>
              </a:rPr>
              <a:t>such</a:t>
            </a:r>
            <a:r>
              <a:rPr sz="1100" spc="-5" dirty="0">
                <a:latin typeface="Tahoma"/>
                <a:cs typeface="Tahoma"/>
              </a:rPr>
              <a:t> </a:t>
            </a:r>
            <a:r>
              <a:rPr sz="1100" dirty="0">
                <a:latin typeface="Tahoma"/>
                <a:cs typeface="Tahoma"/>
              </a:rPr>
              <a:t>that</a:t>
            </a:r>
            <a:r>
              <a:rPr sz="1100" spc="-10" dirty="0">
                <a:latin typeface="Tahoma"/>
                <a:cs typeface="Tahoma"/>
              </a:rPr>
              <a:t> </a:t>
            </a:r>
            <a:r>
              <a:rPr sz="1100" spc="-60" dirty="0">
                <a:latin typeface="Tahoma"/>
                <a:cs typeface="Tahoma"/>
              </a:rPr>
              <a:t>0</a:t>
            </a:r>
            <a:r>
              <a:rPr sz="1100" spc="-45" dirty="0">
                <a:latin typeface="Tahoma"/>
                <a:cs typeface="Tahoma"/>
              </a:rPr>
              <a:t> </a:t>
            </a:r>
            <a:r>
              <a:rPr sz="1100" spc="-50" dirty="0">
                <a:latin typeface="Tahoma"/>
                <a:cs typeface="Tahoma"/>
              </a:rPr>
              <a:t>=</a:t>
            </a:r>
            <a:endParaRPr sz="1100" dirty="0">
              <a:latin typeface="Tahoma"/>
              <a:cs typeface="Tahoma"/>
            </a:endParaRPr>
          </a:p>
        </p:txBody>
      </p:sp>
      <p:sp>
        <p:nvSpPr>
          <p:cNvPr id="6" name="object 6"/>
          <p:cNvSpPr txBox="1"/>
          <p:nvPr/>
        </p:nvSpPr>
        <p:spPr>
          <a:xfrm>
            <a:off x="1947937" y="1361070"/>
            <a:ext cx="172085" cy="191770"/>
          </a:xfrm>
          <a:prstGeom prst="rect">
            <a:avLst/>
          </a:prstGeom>
        </p:spPr>
        <p:txBody>
          <a:bodyPr vert="horz" wrap="square" lIns="0" tIns="11430" rIns="0" bIns="0" rtlCol="0">
            <a:spAutoFit/>
          </a:bodyPr>
          <a:lstStyle/>
          <a:p>
            <a:pPr marL="12700">
              <a:lnSpc>
                <a:spcPct val="100000"/>
              </a:lnSpc>
              <a:spcBef>
                <a:spcPts val="90"/>
              </a:spcBef>
            </a:pPr>
            <a:r>
              <a:rPr sz="1100" spc="450" dirty="0">
                <a:latin typeface="Lucida Sans Unicode"/>
                <a:cs typeface="Lucida Sans Unicode"/>
              </a:rPr>
              <a:t>Σ</a:t>
            </a:r>
            <a:endParaRPr sz="1100" dirty="0">
              <a:latin typeface="Lucida Sans Unicode"/>
              <a:cs typeface="Lucida Sans Unicode"/>
            </a:endParaRPr>
          </a:p>
        </p:txBody>
      </p:sp>
      <p:sp>
        <p:nvSpPr>
          <p:cNvPr id="7" name="object 7"/>
          <p:cNvSpPr txBox="1"/>
          <p:nvPr/>
        </p:nvSpPr>
        <p:spPr>
          <a:xfrm>
            <a:off x="2062187" y="1305253"/>
            <a:ext cx="197485" cy="147320"/>
          </a:xfrm>
          <a:prstGeom prst="rect">
            <a:avLst/>
          </a:prstGeom>
        </p:spPr>
        <p:txBody>
          <a:bodyPr vert="horz" wrap="square" lIns="0" tIns="12065" rIns="0" bIns="0" rtlCol="0">
            <a:spAutoFit/>
          </a:bodyPr>
          <a:lstStyle/>
          <a:p>
            <a:pPr marL="12700">
              <a:lnSpc>
                <a:spcPct val="100000"/>
              </a:lnSpc>
              <a:spcBef>
                <a:spcPts val="95"/>
              </a:spcBef>
            </a:pPr>
            <a:r>
              <a:rPr sz="800" i="1" dirty="0">
                <a:latin typeface="Arial"/>
                <a:cs typeface="Arial"/>
              </a:rPr>
              <a:t>i</a:t>
            </a:r>
            <a:r>
              <a:rPr sz="800" i="1" spc="-120" dirty="0">
                <a:latin typeface="Arial"/>
                <a:cs typeface="Arial"/>
              </a:rPr>
              <a:t> </a:t>
            </a:r>
            <a:r>
              <a:rPr sz="800" spc="-25" dirty="0">
                <a:latin typeface="Tahoma"/>
                <a:cs typeface="Tahoma"/>
              </a:rPr>
              <a:t>=</a:t>
            </a:r>
            <a:r>
              <a:rPr sz="800" i="1" spc="-25" dirty="0">
                <a:latin typeface="Arial"/>
                <a:cs typeface="Arial"/>
              </a:rPr>
              <a:t>k</a:t>
            </a:r>
            <a:endParaRPr sz="800">
              <a:latin typeface="Arial"/>
              <a:cs typeface="Arial"/>
            </a:endParaRPr>
          </a:p>
        </p:txBody>
      </p:sp>
      <p:sp>
        <p:nvSpPr>
          <p:cNvPr id="8" name="object 8"/>
          <p:cNvSpPr txBox="1"/>
          <p:nvPr/>
        </p:nvSpPr>
        <p:spPr>
          <a:xfrm>
            <a:off x="2062187" y="1410067"/>
            <a:ext cx="198755" cy="147320"/>
          </a:xfrm>
          <a:prstGeom prst="rect">
            <a:avLst/>
          </a:prstGeom>
        </p:spPr>
        <p:txBody>
          <a:bodyPr vert="horz" wrap="square" lIns="0" tIns="12065" rIns="0" bIns="0" rtlCol="0">
            <a:spAutoFit/>
          </a:bodyPr>
          <a:lstStyle/>
          <a:p>
            <a:pPr marL="12700">
              <a:lnSpc>
                <a:spcPct val="100000"/>
              </a:lnSpc>
              <a:spcBef>
                <a:spcPts val="95"/>
              </a:spcBef>
            </a:pPr>
            <a:r>
              <a:rPr sz="800" i="1" dirty="0">
                <a:latin typeface="Arial"/>
                <a:cs typeface="Arial"/>
              </a:rPr>
              <a:t>i</a:t>
            </a:r>
            <a:r>
              <a:rPr sz="800" i="1" spc="-120" dirty="0">
                <a:latin typeface="Arial"/>
                <a:cs typeface="Arial"/>
              </a:rPr>
              <a:t> </a:t>
            </a:r>
            <a:r>
              <a:rPr sz="800" spc="-25" dirty="0">
                <a:latin typeface="Tahoma"/>
                <a:cs typeface="Tahoma"/>
              </a:rPr>
              <a:t>=1</a:t>
            </a:r>
            <a:endParaRPr sz="800">
              <a:latin typeface="Tahoma"/>
              <a:cs typeface="Tahoma"/>
            </a:endParaRPr>
          </a:p>
        </p:txBody>
      </p:sp>
      <p:sp>
        <p:nvSpPr>
          <p:cNvPr id="9" name="object 9"/>
          <p:cNvSpPr txBox="1"/>
          <p:nvPr/>
        </p:nvSpPr>
        <p:spPr>
          <a:xfrm>
            <a:off x="2352636" y="1390737"/>
            <a:ext cx="1823720" cy="147320"/>
          </a:xfrm>
          <a:prstGeom prst="rect">
            <a:avLst/>
          </a:prstGeom>
        </p:spPr>
        <p:txBody>
          <a:bodyPr vert="horz" wrap="square" lIns="0" tIns="12065" rIns="0" bIns="0" rtlCol="0">
            <a:spAutoFit/>
          </a:bodyPr>
          <a:lstStyle/>
          <a:p>
            <a:pPr marL="12700">
              <a:lnSpc>
                <a:spcPct val="100000"/>
              </a:lnSpc>
              <a:spcBef>
                <a:spcPts val="95"/>
              </a:spcBef>
              <a:tabLst>
                <a:tab pos="1784350" algn="l"/>
              </a:tabLst>
            </a:pPr>
            <a:r>
              <a:rPr sz="800" i="1" dirty="0">
                <a:latin typeface="Arial"/>
                <a:cs typeface="Arial"/>
              </a:rPr>
              <a:t>i</a:t>
            </a:r>
            <a:r>
              <a:rPr sz="800" i="1" spc="480" dirty="0">
                <a:latin typeface="Arial"/>
                <a:cs typeface="Arial"/>
              </a:rPr>
              <a:t> </a:t>
            </a:r>
            <a:r>
              <a:rPr sz="800" i="1" spc="-50" dirty="0">
                <a:latin typeface="Arial"/>
                <a:cs typeface="Arial"/>
              </a:rPr>
              <a:t>i</a:t>
            </a:r>
            <a:r>
              <a:rPr sz="800" i="1" dirty="0">
                <a:latin typeface="Arial"/>
                <a:cs typeface="Arial"/>
              </a:rPr>
              <a:t>	</a:t>
            </a:r>
            <a:r>
              <a:rPr sz="800" i="1" spc="-50" dirty="0">
                <a:latin typeface="Arial"/>
                <a:cs typeface="Arial"/>
              </a:rPr>
              <a:t>i</a:t>
            </a:r>
            <a:endParaRPr sz="800">
              <a:latin typeface="Arial"/>
              <a:cs typeface="Arial"/>
            </a:endParaRPr>
          </a:p>
        </p:txBody>
      </p:sp>
      <p:sp>
        <p:nvSpPr>
          <p:cNvPr id="10" name="object 10"/>
          <p:cNvSpPr txBox="1"/>
          <p:nvPr/>
        </p:nvSpPr>
        <p:spPr>
          <a:xfrm>
            <a:off x="2271814" y="1331771"/>
            <a:ext cx="1973580" cy="191770"/>
          </a:xfrm>
          <a:prstGeom prst="rect">
            <a:avLst/>
          </a:prstGeom>
        </p:spPr>
        <p:txBody>
          <a:bodyPr vert="horz" wrap="square" lIns="0" tIns="11430" rIns="0" bIns="0" rtlCol="0">
            <a:spAutoFit/>
          </a:bodyPr>
          <a:lstStyle/>
          <a:p>
            <a:pPr marL="12700">
              <a:lnSpc>
                <a:spcPct val="100000"/>
              </a:lnSpc>
              <a:spcBef>
                <a:spcPts val="90"/>
              </a:spcBef>
            </a:pPr>
            <a:r>
              <a:rPr sz="1100" i="1" spc="120" dirty="0">
                <a:latin typeface="Calibri"/>
                <a:cs typeface="Calibri"/>
              </a:rPr>
              <a:t>λ</a:t>
            </a:r>
            <a:r>
              <a:rPr sz="1100" i="1" spc="40" dirty="0">
                <a:latin typeface="Calibri"/>
                <a:cs typeface="Calibri"/>
              </a:rPr>
              <a:t> </a:t>
            </a:r>
            <a:r>
              <a:rPr sz="1100" b="1" dirty="0">
                <a:latin typeface="Trebuchet MS"/>
                <a:cs typeface="Trebuchet MS"/>
              </a:rPr>
              <a:t>x</a:t>
            </a:r>
            <a:r>
              <a:rPr sz="1100" b="1" spc="285" dirty="0">
                <a:latin typeface="Trebuchet MS"/>
                <a:cs typeface="Trebuchet MS"/>
              </a:rPr>
              <a:t> </a:t>
            </a:r>
            <a:r>
              <a:rPr sz="1100" spc="-60" dirty="0">
                <a:latin typeface="Tahoma"/>
                <a:cs typeface="Tahoma"/>
              </a:rPr>
              <a:t>where</a:t>
            </a:r>
            <a:r>
              <a:rPr sz="1100" spc="-20" dirty="0">
                <a:latin typeface="Tahoma"/>
                <a:cs typeface="Tahoma"/>
              </a:rPr>
              <a:t> </a:t>
            </a:r>
            <a:r>
              <a:rPr sz="1100" dirty="0">
                <a:latin typeface="Tahoma"/>
                <a:cs typeface="Tahoma"/>
              </a:rPr>
              <a:t>at</a:t>
            </a:r>
            <a:r>
              <a:rPr sz="1100" spc="-20" dirty="0">
                <a:latin typeface="Tahoma"/>
                <a:cs typeface="Tahoma"/>
              </a:rPr>
              <a:t> </a:t>
            </a:r>
            <a:r>
              <a:rPr sz="1100" spc="-25" dirty="0">
                <a:latin typeface="Tahoma"/>
                <a:cs typeface="Tahoma"/>
              </a:rPr>
              <a:t>least</a:t>
            </a:r>
            <a:r>
              <a:rPr sz="1100" spc="-30" dirty="0">
                <a:latin typeface="Tahoma"/>
                <a:cs typeface="Tahoma"/>
              </a:rPr>
              <a:t> </a:t>
            </a:r>
            <a:r>
              <a:rPr sz="1100" spc="-45" dirty="0">
                <a:latin typeface="Tahoma"/>
                <a:cs typeface="Tahoma"/>
              </a:rPr>
              <a:t>one</a:t>
            </a:r>
            <a:r>
              <a:rPr sz="1100" spc="-20" dirty="0">
                <a:latin typeface="Tahoma"/>
                <a:cs typeface="Tahoma"/>
              </a:rPr>
              <a:t> </a:t>
            </a:r>
            <a:r>
              <a:rPr sz="1100" dirty="0">
                <a:latin typeface="Tahoma"/>
                <a:cs typeface="Tahoma"/>
              </a:rPr>
              <a:t>of</a:t>
            </a:r>
            <a:r>
              <a:rPr sz="1100" spc="-20" dirty="0">
                <a:latin typeface="Tahoma"/>
                <a:cs typeface="Tahoma"/>
              </a:rPr>
              <a:t> </a:t>
            </a:r>
            <a:r>
              <a:rPr sz="1100" spc="-10" dirty="0">
                <a:latin typeface="Tahoma"/>
                <a:cs typeface="Tahoma"/>
              </a:rPr>
              <a:t>the</a:t>
            </a:r>
            <a:r>
              <a:rPr sz="1100" spc="-25" dirty="0">
                <a:latin typeface="Tahoma"/>
                <a:cs typeface="Tahoma"/>
              </a:rPr>
              <a:t> </a:t>
            </a:r>
            <a:r>
              <a:rPr sz="1100" i="1" spc="120" dirty="0">
                <a:latin typeface="Calibri"/>
                <a:cs typeface="Calibri"/>
              </a:rPr>
              <a:t>λ</a:t>
            </a:r>
            <a:r>
              <a:rPr sz="1100" i="1" spc="45" dirty="0">
                <a:latin typeface="Calibri"/>
                <a:cs typeface="Calibri"/>
              </a:rPr>
              <a:t> </a:t>
            </a:r>
            <a:r>
              <a:rPr sz="1100" spc="-50" dirty="0">
                <a:latin typeface="Tahoma"/>
                <a:cs typeface="Tahoma"/>
              </a:rPr>
              <a:t>s</a:t>
            </a:r>
            <a:endParaRPr sz="1100">
              <a:latin typeface="Tahoma"/>
              <a:cs typeface="Tahoma"/>
            </a:endParaRPr>
          </a:p>
        </p:txBody>
      </p:sp>
      <p:sp>
        <p:nvSpPr>
          <p:cNvPr id="11" name="object 11"/>
          <p:cNvSpPr txBox="1"/>
          <p:nvPr/>
        </p:nvSpPr>
        <p:spPr>
          <a:xfrm>
            <a:off x="409257" y="1503843"/>
            <a:ext cx="3745865" cy="1089786"/>
          </a:xfrm>
          <a:prstGeom prst="rect">
            <a:avLst/>
          </a:prstGeom>
        </p:spPr>
        <p:txBody>
          <a:bodyPr vert="horz" wrap="square" lIns="0" tIns="6985" rIns="0" bIns="0" rtlCol="0">
            <a:spAutoFit/>
          </a:bodyPr>
          <a:lstStyle/>
          <a:p>
            <a:pPr marL="227329" marR="374015">
              <a:lnSpc>
                <a:spcPct val="102600"/>
              </a:lnSpc>
              <a:spcBef>
                <a:spcPts val="55"/>
              </a:spcBef>
            </a:pPr>
            <a:r>
              <a:rPr sz="1100" dirty="0">
                <a:latin typeface="Tahoma"/>
                <a:cs typeface="Tahoma"/>
              </a:rPr>
              <a:t>is</a:t>
            </a:r>
            <a:r>
              <a:rPr sz="1100" spc="-60" dirty="0">
                <a:latin typeface="Tahoma"/>
                <a:cs typeface="Tahoma"/>
              </a:rPr>
              <a:t> non-</a:t>
            </a:r>
            <a:r>
              <a:rPr sz="1100" spc="-30" dirty="0">
                <a:latin typeface="Tahoma"/>
                <a:cs typeface="Tahoma"/>
              </a:rPr>
              <a:t>zero,</a:t>
            </a:r>
            <a:r>
              <a:rPr sz="1100" spc="-15" dirty="0">
                <a:latin typeface="Tahoma"/>
                <a:cs typeface="Tahoma"/>
              </a:rPr>
              <a:t> </a:t>
            </a:r>
            <a:r>
              <a:rPr sz="1100" spc="-25" dirty="0">
                <a:latin typeface="Tahoma"/>
                <a:cs typeface="Tahoma"/>
              </a:rPr>
              <a:t>then</a:t>
            </a:r>
            <a:r>
              <a:rPr sz="1100" spc="-20" dirty="0">
                <a:latin typeface="Tahoma"/>
                <a:cs typeface="Tahoma"/>
              </a:rPr>
              <a:t> </a:t>
            </a:r>
            <a:r>
              <a:rPr sz="1100" spc="-10" dirty="0">
                <a:latin typeface="Tahoma"/>
                <a:cs typeface="Tahoma"/>
              </a:rPr>
              <a:t>the</a:t>
            </a:r>
            <a:r>
              <a:rPr sz="1100" spc="-15" dirty="0">
                <a:latin typeface="Tahoma"/>
                <a:cs typeface="Tahoma"/>
              </a:rPr>
              <a:t> </a:t>
            </a:r>
            <a:r>
              <a:rPr sz="1100" spc="-50" dirty="0">
                <a:latin typeface="Tahoma"/>
                <a:cs typeface="Tahoma"/>
              </a:rPr>
              <a:t>vectors</a:t>
            </a:r>
            <a:r>
              <a:rPr sz="1100" spc="-20" dirty="0">
                <a:latin typeface="Tahoma"/>
                <a:cs typeface="Tahoma"/>
              </a:rPr>
              <a:t> </a:t>
            </a:r>
            <a:r>
              <a:rPr sz="1100" b="1" dirty="0">
                <a:latin typeface="Trebuchet MS"/>
                <a:cs typeface="Trebuchet MS"/>
              </a:rPr>
              <a:t>x</a:t>
            </a:r>
            <a:r>
              <a:rPr sz="1200" baseline="-10416" dirty="0">
                <a:latin typeface="Tahoma"/>
                <a:cs typeface="Tahoma"/>
              </a:rPr>
              <a:t>1</a:t>
            </a:r>
            <a:r>
              <a:rPr sz="1100" dirty="0">
                <a:latin typeface="Tahoma"/>
                <a:cs typeface="Tahoma"/>
              </a:rPr>
              <a:t>,</a:t>
            </a:r>
            <a:r>
              <a:rPr sz="1100" spc="-20" dirty="0">
                <a:latin typeface="Tahoma"/>
                <a:cs typeface="Tahoma"/>
              </a:rPr>
              <a:t> </a:t>
            </a:r>
            <a:r>
              <a:rPr sz="1100" b="1" dirty="0">
                <a:latin typeface="Trebuchet MS"/>
                <a:cs typeface="Trebuchet MS"/>
              </a:rPr>
              <a:t>x</a:t>
            </a:r>
            <a:r>
              <a:rPr sz="1200" baseline="-10416" dirty="0">
                <a:latin typeface="Tahoma"/>
                <a:cs typeface="Tahoma"/>
              </a:rPr>
              <a:t>2</a:t>
            </a:r>
            <a:r>
              <a:rPr sz="1100" dirty="0">
                <a:latin typeface="Tahoma"/>
                <a:cs typeface="Tahoma"/>
              </a:rPr>
              <a:t>,</a:t>
            </a:r>
            <a:r>
              <a:rPr sz="1100" spc="-15" dirty="0">
                <a:latin typeface="Tahoma"/>
                <a:cs typeface="Tahoma"/>
              </a:rPr>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80" dirty="0">
                <a:latin typeface="Calibri"/>
                <a:cs typeface="Calibri"/>
              </a:rPr>
              <a:t> </a:t>
            </a:r>
            <a:r>
              <a:rPr sz="1100" b="1" dirty="0">
                <a:latin typeface="Trebuchet MS"/>
                <a:cs typeface="Trebuchet MS"/>
              </a:rPr>
              <a:t>x</a:t>
            </a:r>
            <a:r>
              <a:rPr sz="1200" i="1" baseline="-13888" dirty="0">
                <a:latin typeface="Arial"/>
                <a:cs typeface="Arial"/>
              </a:rPr>
              <a:t>k</a:t>
            </a:r>
            <a:r>
              <a:rPr sz="1200" i="1" spc="307" baseline="-13888" dirty="0">
                <a:latin typeface="Arial"/>
                <a:cs typeface="Arial"/>
              </a:rPr>
              <a:t> </a:t>
            </a:r>
            <a:r>
              <a:rPr sz="1100" spc="-60" dirty="0">
                <a:latin typeface="Tahoma"/>
                <a:cs typeface="Tahoma"/>
              </a:rPr>
              <a:t>are</a:t>
            </a:r>
            <a:r>
              <a:rPr sz="1100" spc="-15" dirty="0">
                <a:latin typeface="Tahoma"/>
                <a:cs typeface="Tahoma"/>
              </a:rPr>
              <a:t> </a:t>
            </a:r>
            <a:r>
              <a:rPr sz="1100" spc="-35" dirty="0">
                <a:latin typeface="Tahoma"/>
                <a:cs typeface="Tahoma"/>
              </a:rPr>
              <a:t>linearly </a:t>
            </a:r>
            <a:r>
              <a:rPr sz="1100" spc="-10" dirty="0">
                <a:latin typeface="Tahoma"/>
                <a:cs typeface="Tahoma"/>
              </a:rPr>
              <a:t>dependent.</a:t>
            </a:r>
            <a:endParaRPr lang="en-IN" sz="1100" spc="-10" dirty="0">
              <a:latin typeface="Tahoma"/>
              <a:cs typeface="Tahoma"/>
            </a:endParaRPr>
          </a:p>
          <a:p>
            <a:pPr marL="227329" marR="374015">
              <a:lnSpc>
                <a:spcPct val="102600"/>
              </a:lnSpc>
              <a:spcBef>
                <a:spcPts val="55"/>
              </a:spcBef>
            </a:pPr>
            <a:endParaRPr sz="1100" dirty="0">
              <a:latin typeface="Tahoma"/>
              <a:cs typeface="Tahoma"/>
            </a:endParaRPr>
          </a:p>
          <a:p>
            <a:pPr marL="227329" marR="43180" indent="-177165">
              <a:lnSpc>
                <a:spcPct val="102600"/>
              </a:lnSpc>
              <a:spcBef>
                <a:spcPts val="300"/>
              </a:spcBef>
              <a:buClr>
                <a:srgbClr val="3333B2"/>
              </a:buClr>
              <a:buFont typeface="Lucida Sans Unicode"/>
              <a:buChar char="►"/>
              <a:tabLst>
                <a:tab pos="227329" algn="l"/>
              </a:tabLst>
            </a:pPr>
            <a:r>
              <a:rPr sz="1100" dirty="0">
                <a:latin typeface="Tahoma"/>
                <a:cs typeface="Tahoma"/>
              </a:rPr>
              <a:t>Put</a:t>
            </a:r>
            <a:r>
              <a:rPr sz="1100" spc="-50" dirty="0">
                <a:latin typeface="Tahoma"/>
                <a:cs typeface="Tahoma"/>
              </a:rPr>
              <a:t> </a:t>
            </a:r>
            <a:r>
              <a:rPr sz="1100" spc="-35" dirty="0">
                <a:latin typeface="Tahoma"/>
                <a:cs typeface="Tahoma"/>
              </a:rPr>
              <a:t>another</a:t>
            </a:r>
            <a:r>
              <a:rPr sz="1100" spc="-10" dirty="0">
                <a:latin typeface="Tahoma"/>
                <a:cs typeface="Tahoma"/>
              </a:rPr>
              <a:t> </a:t>
            </a:r>
            <a:r>
              <a:rPr sz="1100" spc="-90" dirty="0">
                <a:latin typeface="Tahoma"/>
                <a:cs typeface="Tahoma"/>
              </a:rPr>
              <a:t>way,</a:t>
            </a:r>
            <a:r>
              <a:rPr sz="1100" spc="5" dirty="0">
                <a:latin typeface="Tahoma"/>
                <a:cs typeface="Tahoma"/>
              </a:rPr>
              <a:t> </a:t>
            </a:r>
            <a:r>
              <a:rPr sz="1100" dirty="0">
                <a:latin typeface="Tahoma"/>
                <a:cs typeface="Tahoma"/>
              </a:rPr>
              <a:t>if</a:t>
            </a:r>
            <a:r>
              <a:rPr sz="1100" spc="-15" dirty="0">
                <a:latin typeface="Tahoma"/>
                <a:cs typeface="Tahoma"/>
              </a:rPr>
              <a:t> </a:t>
            </a:r>
            <a:r>
              <a:rPr sz="1100" spc="-10" dirty="0">
                <a:latin typeface="Tahoma"/>
                <a:cs typeface="Tahoma"/>
              </a:rPr>
              <a:t>the </a:t>
            </a:r>
            <a:r>
              <a:rPr sz="1100" spc="-20" dirty="0">
                <a:latin typeface="Tahoma"/>
                <a:cs typeface="Tahoma"/>
              </a:rPr>
              <a:t>only</a:t>
            </a:r>
            <a:r>
              <a:rPr sz="1100" spc="-15" dirty="0">
                <a:latin typeface="Tahoma"/>
                <a:cs typeface="Tahoma"/>
              </a:rPr>
              <a:t> </a:t>
            </a:r>
            <a:r>
              <a:rPr sz="1100" spc="-75" dirty="0">
                <a:latin typeface="Tahoma"/>
                <a:cs typeface="Tahoma"/>
              </a:rPr>
              <a:t>way</a:t>
            </a:r>
            <a:r>
              <a:rPr sz="1100" spc="-10" dirty="0">
                <a:latin typeface="Tahoma"/>
                <a:cs typeface="Tahoma"/>
              </a:rPr>
              <a:t> </a:t>
            </a:r>
            <a:r>
              <a:rPr sz="1100" spc="-95" dirty="0">
                <a:latin typeface="Tahoma"/>
                <a:cs typeface="Tahoma"/>
              </a:rPr>
              <a:t>we</a:t>
            </a:r>
            <a:r>
              <a:rPr sz="1100" spc="10" dirty="0">
                <a:latin typeface="Tahoma"/>
                <a:cs typeface="Tahoma"/>
              </a:rPr>
              <a:t> </a:t>
            </a:r>
            <a:r>
              <a:rPr sz="1100" spc="-20" dirty="0">
                <a:latin typeface="Tahoma"/>
                <a:cs typeface="Tahoma"/>
              </a:rPr>
              <a:t>can</a:t>
            </a:r>
            <a:r>
              <a:rPr sz="1100" spc="-10" dirty="0">
                <a:latin typeface="Tahoma"/>
                <a:cs typeface="Tahoma"/>
              </a:rPr>
              <a:t> </a:t>
            </a:r>
            <a:r>
              <a:rPr sz="1100" spc="-40" dirty="0">
                <a:latin typeface="Tahoma"/>
                <a:cs typeface="Tahoma"/>
              </a:rPr>
              <a:t>combine</a:t>
            </a:r>
            <a:r>
              <a:rPr sz="1100" spc="-15" dirty="0">
                <a:latin typeface="Tahoma"/>
                <a:cs typeface="Tahoma"/>
              </a:rPr>
              <a:t> </a:t>
            </a:r>
            <a:r>
              <a:rPr sz="1100" spc="-50" dirty="0">
                <a:latin typeface="Tahoma"/>
                <a:cs typeface="Tahoma"/>
              </a:rPr>
              <a:t>vectors</a:t>
            </a:r>
            <a:r>
              <a:rPr sz="1100" spc="-10" dirty="0">
                <a:latin typeface="Tahoma"/>
                <a:cs typeface="Tahoma"/>
              </a:rPr>
              <a:t> </a:t>
            </a:r>
            <a:r>
              <a:rPr sz="1100" spc="-25" dirty="0">
                <a:latin typeface="Tahoma"/>
                <a:cs typeface="Tahoma"/>
              </a:rPr>
              <a:t>to </a:t>
            </a:r>
            <a:r>
              <a:rPr sz="1100" spc="-20" dirty="0">
                <a:latin typeface="Tahoma"/>
                <a:cs typeface="Tahoma"/>
              </a:rPr>
              <a:t>get</a:t>
            </a:r>
            <a:r>
              <a:rPr sz="1100" spc="-50" dirty="0">
                <a:latin typeface="Tahoma"/>
                <a:cs typeface="Tahoma"/>
              </a:rPr>
              <a:t> </a:t>
            </a:r>
            <a:r>
              <a:rPr sz="1100" spc="-10" dirty="0">
                <a:latin typeface="Tahoma"/>
                <a:cs typeface="Tahoma"/>
              </a:rPr>
              <a:t>the</a:t>
            </a:r>
            <a:r>
              <a:rPr sz="1100" spc="-45" dirty="0">
                <a:latin typeface="Tahoma"/>
                <a:cs typeface="Tahoma"/>
              </a:rPr>
              <a:t> </a:t>
            </a:r>
            <a:r>
              <a:rPr sz="1100" b="1" spc="-50" dirty="0">
                <a:latin typeface="Trebuchet MS"/>
                <a:cs typeface="Trebuchet MS"/>
              </a:rPr>
              <a:t>0</a:t>
            </a:r>
            <a:r>
              <a:rPr sz="1100" spc="-50" dirty="0">
                <a:latin typeface="Tahoma"/>
                <a:cs typeface="Tahoma"/>
              </a:rPr>
              <a:t>-</a:t>
            </a:r>
            <a:r>
              <a:rPr sz="1100" spc="-35" dirty="0">
                <a:latin typeface="Tahoma"/>
                <a:cs typeface="Tahoma"/>
              </a:rPr>
              <a:t>vector</a:t>
            </a:r>
            <a:r>
              <a:rPr sz="1100" spc="-45" dirty="0">
                <a:latin typeface="Tahoma"/>
                <a:cs typeface="Tahoma"/>
              </a:rPr>
              <a:t> </a:t>
            </a:r>
            <a:r>
              <a:rPr sz="1100" dirty="0">
                <a:latin typeface="Tahoma"/>
                <a:cs typeface="Tahoma"/>
              </a:rPr>
              <a:t>is</a:t>
            </a:r>
            <a:r>
              <a:rPr sz="1100" spc="-50" dirty="0">
                <a:latin typeface="Tahoma"/>
                <a:cs typeface="Tahoma"/>
              </a:rPr>
              <a:t> </a:t>
            </a:r>
            <a:r>
              <a:rPr sz="1100" spc="-30" dirty="0">
                <a:latin typeface="Tahoma"/>
                <a:cs typeface="Tahoma"/>
              </a:rPr>
              <a:t>by</a:t>
            </a:r>
            <a:r>
              <a:rPr sz="1100" spc="-40" dirty="0">
                <a:latin typeface="Tahoma"/>
                <a:cs typeface="Tahoma"/>
              </a:rPr>
              <a:t> </a:t>
            </a:r>
            <a:r>
              <a:rPr sz="1100" spc="-10" dirty="0">
                <a:latin typeface="Tahoma"/>
                <a:cs typeface="Tahoma"/>
              </a:rPr>
              <a:t>letting</a:t>
            </a:r>
            <a:r>
              <a:rPr sz="1100" spc="-50" dirty="0">
                <a:latin typeface="Tahoma"/>
                <a:cs typeface="Tahoma"/>
              </a:rPr>
              <a:t> </a:t>
            </a:r>
            <a:r>
              <a:rPr sz="1100" dirty="0">
                <a:latin typeface="Tahoma"/>
                <a:cs typeface="Tahoma"/>
              </a:rPr>
              <a:t>all</a:t>
            </a:r>
            <a:r>
              <a:rPr sz="1100" spc="-45" dirty="0">
                <a:latin typeface="Tahoma"/>
                <a:cs typeface="Tahoma"/>
              </a:rPr>
              <a:t> </a:t>
            </a:r>
            <a:r>
              <a:rPr sz="1100" spc="-10" dirty="0">
                <a:latin typeface="Tahoma"/>
                <a:cs typeface="Tahoma"/>
              </a:rPr>
              <a:t>the</a:t>
            </a:r>
            <a:r>
              <a:rPr sz="1100" spc="-40" dirty="0">
                <a:latin typeface="Tahoma"/>
                <a:cs typeface="Tahoma"/>
              </a:rPr>
              <a:t> </a:t>
            </a:r>
            <a:r>
              <a:rPr sz="1100" i="1" spc="70" dirty="0">
                <a:latin typeface="Calibri"/>
                <a:cs typeface="Calibri"/>
              </a:rPr>
              <a:t>λ</a:t>
            </a:r>
            <a:r>
              <a:rPr sz="1200" i="1" spc="104" baseline="-10416" dirty="0">
                <a:latin typeface="Arial"/>
                <a:cs typeface="Arial"/>
              </a:rPr>
              <a:t>i</a:t>
            </a:r>
            <a:r>
              <a:rPr sz="1200" i="1" spc="277" baseline="-10416" dirty="0">
                <a:latin typeface="Arial"/>
                <a:cs typeface="Arial"/>
              </a:rPr>
              <a:t> </a:t>
            </a:r>
            <a:r>
              <a:rPr sz="1100" spc="-10" dirty="0">
                <a:latin typeface="Tahoma"/>
                <a:cs typeface="Tahoma"/>
              </a:rPr>
              <a:t>be</a:t>
            </a:r>
            <a:r>
              <a:rPr sz="1100" spc="-45" dirty="0">
                <a:latin typeface="Tahoma"/>
                <a:cs typeface="Tahoma"/>
              </a:rPr>
              <a:t> </a:t>
            </a:r>
            <a:r>
              <a:rPr sz="1100" spc="-35" dirty="0">
                <a:latin typeface="Tahoma"/>
                <a:cs typeface="Tahoma"/>
              </a:rPr>
              <a:t>zero,</a:t>
            </a:r>
            <a:r>
              <a:rPr sz="1100" spc="-45" dirty="0">
                <a:latin typeface="Tahoma"/>
                <a:cs typeface="Tahoma"/>
              </a:rPr>
              <a:t> </a:t>
            </a:r>
            <a:r>
              <a:rPr sz="1100" spc="-25" dirty="0">
                <a:latin typeface="Tahoma"/>
                <a:cs typeface="Tahoma"/>
              </a:rPr>
              <a:t>then</a:t>
            </a:r>
            <a:r>
              <a:rPr sz="1100" spc="-45" dirty="0">
                <a:latin typeface="Tahoma"/>
                <a:cs typeface="Tahoma"/>
              </a:rPr>
              <a:t> </a:t>
            </a:r>
            <a:r>
              <a:rPr sz="1100" spc="-25" dirty="0">
                <a:latin typeface="Tahoma"/>
                <a:cs typeface="Tahoma"/>
              </a:rPr>
              <a:t>the </a:t>
            </a:r>
            <a:r>
              <a:rPr sz="1100" spc="-50" dirty="0">
                <a:latin typeface="Tahoma"/>
                <a:cs typeface="Tahoma"/>
              </a:rPr>
              <a:t>vectors</a:t>
            </a:r>
            <a:r>
              <a:rPr sz="1100" spc="-5" dirty="0">
                <a:latin typeface="Tahoma"/>
                <a:cs typeface="Tahoma"/>
              </a:rPr>
              <a:t> </a:t>
            </a:r>
            <a:r>
              <a:rPr sz="1100" spc="-60" dirty="0">
                <a:latin typeface="Tahoma"/>
                <a:cs typeface="Tahoma"/>
              </a:rPr>
              <a:t>are</a:t>
            </a:r>
            <a:r>
              <a:rPr sz="1100" spc="-5" dirty="0">
                <a:latin typeface="Tahoma"/>
                <a:cs typeface="Tahoma"/>
              </a:rPr>
              <a:t> </a:t>
            </a:r>
            <a:r>
              <a:rPr sz="1100" spc="-30" dirty="0">
                <a:latin typeface="Tahoma"/>
                <a:cs typeface="Tahoma"/>
              </a:rPr>
              <a:t>linearly</a:t>
            </a:r>
            <a:r>
              <a:rPr sz="1100" spc="-5" dirty="0">
                <a:latin typeface="Tahoma"/>
                <a:cs typeface="Tahoma"/>
              </a:rPr>
              <a:t> </a:t>
            </a:r>
            <a:r>
              <a:rPr sz="1100" spc="-10" dirty="0">
                <a:latin typeface="Tahoma"/>
                <a:cs typeface="Tahoma"/>
              </a:rPr>
              <a:t>independent.</a:t>
            </a:r>
            <a:endParaRPr sz="1100" dirty="0">
              <a:latin typeface="Tahoma"/>
              <a:cs typeface="Tahoma"/>
            </a:endParaRP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lum bright="20000"/>
          </a:blip>
          <a:stretch>
            <a:fillRect/>
          </a:stretch>
        </p:blipFill>
        <p:spPr>
          <a:xfrm>
            <a:off x="153670" y="808355"/>
            <a:ext cx="4231674" cy="768350"/>
          </a:xfrm>
          <a:prstGeom prst="rect">
            <a:avLst/>
          </a:prstGeom>
        </p:spPr>
      </p:pic>
      <p:sp>
        <p:nvSpPr>
          <p:cNvPr id="3" name="Content Placeholder 2"/>
          <p:cNvSpPr>
            <a:spLocks noGrp="1"/>
          </p:cNvSpPr>
          <p:nvPr>
            <p:ph sz="quarter" idx="10"/>
          </p:nvPr>
        </p:nvSpPr>
        <p:spPr/>
        <p:txBody>
          <a:bodyPr>
            <a:normAutofit fontScale="77500" lnSpcReduction="20000"/>
          </a:bodyPr>
          <a:lstStyle/>
          <a:p>
            <a:r>
              <a:rPr lang="en-US" dirty="0"/>
              <a:t>Linear Independence of Vectors (Same definitions with different way of stating)</a:t>
            </a:r>
          </a:p>
        </p:txBody>
      </p:sp>
      <mc:AlternateContent xmlns:mc="http://schemas.openxmlformats.org/markup-compatibility/2006" xmlns:a14="http://schemas.microsoft.com/office/drawing/2010/main">
        <mc:Choice Requires="a14">
          <p:sp>
            <p:nvSpPr>
              <p:cNvPr id="5" name="TextBox 4"/>
              <p:cNvSpPr txBox="1"/>
              <p:nvPr/>
            </p:nvSpPr>
            <p:spPr>
              <a:xfrm>
                <a:off x="247650" y="1730376"/>
                <a:ext cx="4137694" cy="1552989"/>
              </a:xfrm>
              <a:prstGeom prst="rect">
                <a:avLst/>
              </a:prstGeom>
              <a:noFill/>
            </p:spPr>
            <p:txBody>
              <a:bodyPr wrap="square" rtlCol="0">
                <a:spAutoFit/>
              </a:bodyPr>
              <a:lstStyle/>
              <a:p>
                <a:pPr algn="l" defTabSz="461040" rtl="0"/>
                <a:r>
                  <a:rPr lang="en-US" sz="908" kern="1200" dirty="0">
                    <a:solidFill>
                      <a:prstClr val="black"/>
                    </a:solidFill>
                    <a:latin typeface="Tw Cen MT" panose="020B0602020104020603"/>
                    <a:ea typeface="+mn-ea"/>
                    <a:cs typeface="+mn-cs"/>
                  </a:rPr>
                  <a:t>Example 1. The set {(1,0,0 ), (0, 1, 0), (0, 0, 1)} is linearly independent subset of R</a:t>
                </a:r>
                <a:r>
                  <a:rPr lang="en-US" sz="908" kern="1200" baseline="30000" dirty="0">
                    <a:solidFill>
                      <a:prstClr val="black"/>
                    </a:solidFill>
                    <a:latin typeface="Tw Cen MT" panose="020B0602020104020603"/>
                    <a:ea typeface="+mn-ea"/>
                    <a:cs typeface="+mn-cs"/>
                  </a:rPr>
                  <a:t>3</a:t>
                </a:r>
                <a:r>
                  <a:rPr lang="en-US" sz="908" kern="1200" dirty="0">
                    <a:solidFill>
                      <a:prstClr val="black"/>
                    </a:solidFill>
                    <a:latin typeface="Tw Cen MT" panose="020B0602020104020603"/>
                    <a:ea typeface="+mn-ea"/>
                    <a:cs typeface="+mn-cs"/>
                  </a:rPr>
                  <a:t>.</a:t>
                </a:r>
              </a:p>
              <a:p>
                <a:pPr algn="l" defTabSz="461040" rtl="0"/>
                <a:r>
                  <a:rPr lang="en-US" sz="908" kern="1200" dirty="0">
                    <a:solidFill>
                      <a:prstClr val="black"/>
                    </a:solidFill>
                    <a:latin typeface="Tw Cen MT" panose="020B0602020104020603"/>
                    <a:ea typeface="+mn-ea"/>
                    <a:cs typeface="+mn-cs"/>
                  </a:rPr>
                  <a:t>Proof is obvious.</a:t>
                </a:r>
              </a:p>
              <a:p>
                <a:pPr algn="l" defTabSz="461040" rtl="0"/>
                <a:r>
                  <a:rPr lang="en-US" sz="908" kern="1200" dirty="0">
                    <a:solidFill>
                      <a:prstClr val="black"/>
                    </a:solidFill>
                    <a:latin typeface="Tw Cen MT" panose="020B0602020104020603"/>
                    <a:ea typeface="+mn-ea"/>
                    <a:cs typeface="+mn-cs"/>
                  </a:rPr>
                  <a:t>Example 2. The set  </a:t>
                </a:r>
                <a14:m>
                  <m:oMath xmlns:m="http://schemas.openxmlformats.org/officeDocument/2006/math">
                    <m:d>
                      <m:dPr>
                        <m:begChr m:val="{"/>
                        <m:endChr m:val="}"/>
                        <m:ctrlPr>
                          <a:rPr lang="en-US" sz="908" i="1" kern="1200">
                            <a:solidFill>
                              <a:prstClr val="black"/>
                            </a:solidFill>
                            <a:latin typeface="Cambria Math" panose="02040503050406030204" pitchFamily="18" charset="0"/>
                            <a:ea typeface="+mn-ea"/>
                            <a:cs typeface="+mn-cs"/>
                          </a:rPr>
                        </m:ctrlPr>
                      </m:dPr>
                      <m:e>
                        <m:d>
                          <m:dPr>
                            <m:ctrlPr>
                              <a:rPr lang="en-US" sz="908" i="1" kern="1200">
                                <a:solidFill>
                                  <a:prstClr val="black"/>
                                </a:solidFill>
                                <a:latin typeface="Cambria Math" panose="02040503050406030204" pitchFamily="18" charset="0"/>
                                <a:ea typeface="+mn-ea"/>
                                <a:cs typeface="+mn-cs"/>
                              </a:rPr>
                            </m:ctrlPr>
                          </m:dPr>
                          <m:e>
                            <m:m>
                              <m:mPr>
                                <m:mcs>
                                  <m:mc>
                                    <m:mcPr>
                                      <m:count m:val="2"/>
                                      <m:mcJc m:val="center"/>
                                    </m:mcPr>
                                  </m:mc>
                                </m:mcs>
                                <m:ctrlPr>
                                  <a:rPr lang="en-US" sz="908" i="1" kern="1200">
                                    <a:solidFill>
                                      <a:prstClr val="black"/>
                                    </a:solidFill>
                                    <a:latin typeface="Cambria Math" panose="02040503050406030204" pitchFamily="18" charset="0"/>
                                    <a:ea typeface="+mn-ea"/>
                                    <a:cs typeface="+mn-cs"/>
                                  </a:rPr>
                                </m:ctrlPr>
                              </m:mPr>
                              <m:mr>
                                <m:e>
                                  <m:r>
                                    <m:rPr>
                                      <m:brk m:alnAt="7"/>
                                    </m:rPr>
                                    <a:rPr lang="en-US" sz="908" i="1" kern="1200">
                                      <a:solidFill>
                                        <a:prstClr val="black"/>
                                      </a:solidFill>
                                      <a:latin typeface="Cambria Math" panose="02040503050406030204" pitchFamily="18" charset="0"/>
                                      <a:ea typeface="+mn-ea"/>
                                      <a:cs typeface="+mn-cs"/>
                                    </a:rPr>
                                    <m:t>1</m:t>
                                  </m:r>
                                </m:e>
                                <m:e>
                                  <m:r>
                                    <a:rPr lang="en-US" sz="908" i="1" kern="1200">
                                      <a:solidFill>
                                        <a:prstClr val="black"/>
                                      </a:solidFill>
                                      <a:latin typeface="Cambria Math" panose="02040503050406030204" pitchFamily="18" charset="0"/>
                                      <a:ea typeface="+mn-ea"/>
                                      <a:cs typeface="+mn-cs"/>
                                    </a:rPr>
                                    <m:t>1</m:t>
                                  </m:r>
                                </m:e>
                              </m:mr>
                              <m:mr>
                                <m:e>
                                  <m:r>
                                    <a:rPr lang="en-US" sz="908" i="1" kern="1200">
                                      <a:solidFill>
                                        <a:prstClr val="black"/>
                                      </a:solidFill>
                                      <a:latin typeface="Cambria Math" panose="02040503050406030204" pitchFamily="18" charset="0"/>
                                      <a:ea typeface="+mn-ea"/>
                                      <a:cs typeface="+mn-cs"/>
                                    </a:rPr>
                                    <m:t>−1</m:t>
                                  </m:r>
                                </m:e>
                                <m:e>
                                  <m:r>
                                    <a:rPr lang="en-US" sz="908" i="1" kern="1200">
                                      <a:solidFill>
                                        <a:prstClr val="black"/>
                                      </a:solidFill>
                                      <a:latin typeface="Cambria Math" panose="02040503050406030204" pitchFamily="18" charset="0"/>
                                      <a:ea typeface="+mn-ea"/>
                                      <a:cs typeface="+mn-cs"/>
                                    </a:rPr>
                                    <m:t>3</m:t>
                                  </m:r>
                                </m:e>
                              </m:mr>
                            </m:m>
                          </m:e>
                        </m:d>
                        <m:r>
                          <a:rPr lang="en-US" sz="908" i="1" kern="1200">
                            <a:solidFill>
                              <a:prstClr val="black"/>
                            </a:solidFill>
                            <a:latin typeface="Cambria Math" panose="02040503050406030204" pitchFamily="18" charset="0"/>
                            <a:ea typeface="+mn-ea"/>
                            <a:cs typeface="+mn-cs"/>
                          </a:rPr>
                          <m:t>,</m:t>
                        </m:r>
                        <m:d>
                          <m:dPr>
                            <m:ctrlPr>
                              <a:rPr lang="en-US" sz="908" i="1" kern="1200">
                                <a:solidFill>
                                  <a:prstClr val="black"/>
                                </a:solidFill>
                                <a:latin typeface="Cambria Math" panose="02040503050406030204" pitchFamily="18" charset="0"/>
                                <a:ea typeface="+mn-ea"/>
                                <a:cs typeface="+mn-cs"/>
                              </a:rPr>
                            </m:ctrlPr>
                          </m:dPr>
                          <m:e>
                            <m:m>
                              <m:mPr>
                                <m:mcs>
                                  <m:mc>
                                    <m:mcPr>
                                      <m:count m:val="2"/>
                                      <m:mcJc m:val="center"/>
                                    </m:mcPr>
                                  </m:mc>
                                </m:mcs>
                                <m:ctrlPr>
                                  <a:rPr lang="en-US" sz="908" i="1" kern="1200">
                                    <a:solidFill>
                                      <a:prstClr val="black"/>
                                    </a:solidFill>
                                    <a:latin typeface="Cambria Math" panose="02040503050406030204" pitchFamily="18" charset="0"/>
                                    <a:ea typeface="+mn-ea"/>
                                    <a:cs typeface="+mn-cs"/>
                                  </a:rPr>
                                </m:ctrlPr>
                              </m:mPr>
                              <m:mr>
                                <m:e>
                                  <m:r>
                                    <m:rPr>
                                      <m:brk m:alnAt="7"/>
                                    </m:rPr>
                                    <a:rPr lang="en-US" sz="908" i="1" kern="1200">
                                      <a:solidFill>
                                        <a:prstClr val="black"/>
                                      </a:solidFill>
                                      <a:latin typeface="Cambria Math" panose="02040503050406030204" pitchFamily="18" charset="0"/>
                                      <a:ea typeface="+mn-ea"/>
                                      <a:cs typeface="+mn-cs"/>
                                    </a:rPr>
                                    <m:t>−</m:t>
                                  </m:r>
                                  <m:r>
                                    <a:rPr lang="en-US" sz="908" i="1" kern="1200">
                                      <a:solidFill>
                                        <a:prstClr val="black"/>
                                      </a:solidFill>
                                      <a:latin typeface="Cambria Math" panose="02040503050406030204" pitchFamily="18" charset="0"/>
                                      <a:ea typeface="+mn-ea"/>
                                      <a:cs typeface="+mn-cs"/>
                                    </a:rPr>
                                    <m:t>2,</m:t>
                                  </m:r>
                                </m:e>
                                <m:e>
                                  <m:r>
                                    <a:rPr lang="en-US" sz="908" i="1" kern="1200">
                                      <a:solidFill>
                                        <a:prstClr val="black"/>
                                      </a:solidFill>
                                      <a:latin typeface="Cambria Math" panose="02040503050406030204" pitchFamily="18" charset="0"/>
                                      <a:ea typeface="+mn-ea"/>
                                      <a:cs typeface="+mn-cs"/>
                                    </a:rPr>
                                    <m:t>−1</m:t>
                                  </m:r>
                                </m:e>
                              </m:mr>
                              <m:mr>
                                <m:e>
                                  <m:r>
                                    <a:rPr lang="en-US" sz="908" i="1" kern="1200">
                                      <a:solidFill>
                                        <a:prstClr val="black"/>
                                      </a:solidFill>
                                      <a:latin typeface="Cambria Math" panose="02040503050406030204" pitchFamily="18" charset="0"/>
                                      <a:ea typeface="+mn-ea"/>
                                      <a:cs typeface="+mn-cs"/>
                                    </a:rPr>
                                    <m:t>0,</m:t>
                                  </m:r>
                                </m:e>
                                <m:e>
                                  <m:r>
                                    <a:rPr lang="en-US" sz="908" i="1" kern="1200">
                                      <a:solidFill>
                                        <a:prstClr val="black"/>
                                      </a:solidFill>
                                      <a:latin typeface="Cambria Math" panose="02040503050406030204" pitchFamily="18" charset="0"/>
                                      <a:ea typeface="+mn-ea"/>
                                      <a:cs typeface="+mn-cs"/>
                                    </a:rPr>
                                    <m:t>2</m:t>
                                  </m:r>
                                </m:e>
                              </m:mr>
                            </m:m>
                          </m:e>
                        </m:d>
                        <m:r>
                          <a:rPr lang="en-US" sz="908" i="1" kern="1200">
                            <a:solidFill>
                              <a:prstClr val="black"/>
                            </a:solidFill>
                            <a:latin typeface="Cambria Math" panose="02040503050406030204" pitchFamily="18" charset="0"/>
                            <a:ea typeface="+mn-ea"/>
                            <a:cs typeface="+mn-cs"/>
                          </a:rPr>
                          <m:t>,</m:t>
                        </m:r>
                        <m:d>
                          <m:dPr>
                            <m:ctrlPr>
                              <a:rPr lang="en-US" sz="908" i="1" kern="1200">
                                <a:solidFill>
                                  <a:prstClr val="black"/>
                                </a:solidFill>
                                <a:latin typeface="Cambria Math" panose="02040503050406030204" pitchFamily="18" charset="0"/>
                                <a:ea typeface="+mn-ea"/>
                                <a:cs typeface="+mn-cs"/>
                              </a:rPr>
                            </m:ctrlPr>
                          </m:dPr>
                          <m:e>
                            <m:m>
                              <m:mPr>
                                <m:mcs>
                                  <m:mc>
                                    <m:mcPr>
                                      <m:count m:val="2"/>
                                      <m:mcJc m:val="center"/>
                                    </m:mcPr>
                                  </m:mc>
                                </m:mcs>
                                <m:ctrlPr>
                                  <a:rPr lang="en-US" sz="908" i="1" kern="1200">
                                    <a:solidFill>
                                      <a:prstClr val="black"/>
                                    </a:solidFill>
                                    <a:latin typeface="Cambria Math" panose="02040503050406030204" pitchFamily="18" charset="0"/>
                                    <a:ea typeface="+mn-ea"/>
                                    <a:cs typeface="+mn-cs"/>
                                  </a:rPr>
                                </m:ctrlPr>
                              </m:mPr>
                              <m:mr>
                                <m:e>
                                  <m:r>
                                    <m:rPr>
                                      <m:brk m:alnAt="7"/>
                                    </m:rPr>
                                    <a:rPr lang="en-US" sz="908" i="1" kern="1200">
                                      <a:solidFill>
                                        <a:prstClr val="black"/>
                                      </a:solidFill>
                                      <a:latin typeface="Cambria Math" panose="02040503050406030204" pitchFamily="18" charset="0"/>
                                      <a:ea typeface="+mn-ea"/>
                                      <a:cs typeface="+mn-cs"/>
                                    </a:rPr>
                                    <m:t>−</m:t>
                                  </m:r>
                                  <m:r>
                                    <a:rPr lang="en-US" sz="908" i="1" kern="1200">
                                      <a:solidFill>
                                        <a:prstClr val="black"/>
                                      </a:solidFill>
                                      <a:latin typeface="Cambria Math" panose="02040503050406030204" pitchFamily="18" charset="0"/>
                                      <a:ea typeface="+mn-ea"/>
                                      <a:cs typeface="+mn-cs"/>
                                    </a:rPr>
                                    <m:t>4</m:t>
                                  </m:r>
                                </m:e>
                                <m:e>
                                  <m:r>
                                    <a:rPr lang="en-US" sz="908" i="1" kern="1200">
                                      <a:solidFill>
                                        <a:prstClr val="black"/>
                                      </a:solidFill>
                                      <a:latin typeface="Cambria Math" panose="02040503050406030204" pitchFamily="18" charset="0"/>
                                      <a:ea typeface="+mn-ea"/>
                                      <a:cs typeface="+mn-cs"/>
                                    </a:rPr>
                                    <m:t>−1</m:t>
                                  </m:r>
                                </m:e>
                              </m:mr>
                              <m:mr>
                                <m:e>
                                  <m:r>
                                    <a:rPr lang="en-US" sz="908" i="1" kern="1200">
                                      <a:solidFill>
                                        <a:prstClr val="black"/>
                                      </a:solidFill>
                                      <a:latin typeface="Cambria Math" panose="02040503050406030204" pitchFamily="18" charset="0"/>
                                      <a:ea typeface="+mn-ea"/>
                                      <a:cs typeface="+mn-cs"/>
                                    </a:rPr>
                                    <m:t>−2</m:t>
                                  </m:r>
                                </m:e>
                                <m:e>
                                  <m:r>
                                    <a:rPr lang="en-US" sz="908" i="1" kern="1200">
                                      <a:solidFill>
                                        <a:prstClr val="black"/>
                                      </a:solidFill>
                                      <a:latin typeface="Cambria Math" panose="02040503050406030204" pitchFamily="18" charset="0"/>
                                      <a:ea typeface="+mn-ea"/>
                                      <a:cs typeface="+mn-cs"/>
                                    </a:rPr>
                                    <m:t>12</m:t>
                                  </m:r>
                                </m:e>
                              </m:mr>
                            </m:m>
                          </m:e>
                        </m:d>
                      </m:e>
                    </m:d>
                    <m:r>
                      <a:rPr lang="en-US" sz="908" kern="1200">
                        <a:solidFill>
                          <a:prstClr val="black"/>
                        </a:solidFill>
                        <a:latin typeface="Cambria Math" panose="02040503050406030204" pitchFamily="18" charset="0"/>
                        <a:ea typeface="+mn-ea"/>
                        <a:cs typeface="+mn-cs"/>
                      </a:rPr>
                      <m:t> </m:t>
                    </m:r>
                  </m:oMath>
                </a14:m>
                <a:r>
                  <a:rPr lang="en-US" sz="908" kern="1200" dirty="0">
                    <a:solidFill>
                      <a:prstClr val="black"/>
                    </a:solidFill>
                    <a:latin typeface="Tw Cen MT" panose="020B0602020104020603"/>
                    <a:ea typeface="+mn-ea"/>
                    <a:cs typeface="+mn-cs"/>
                  </a:rPr>
                  <a:t>is a linearly dependent subset of M</a:t>
                </a:r>
                <a:r>
                  <a:rPr lang="en-US" sz="908" kern="1200" baseline="-25000" dirty="0">
                    <a:solidFill>
                      <a:prstClr val="black"/>
                    </a:solidFill>
                    <a:latin typeface="Tw Cen MT" panose="020B0602020104020603"/>
                    <a:ea typeface="+mn-ea"/>
                    <a:cs typeface="+mn-cs"/>
                  </a:rPr>
                  <a:t>22</a:t>
                </a:r>
                <a:r>
                  <a:rPr lang="en-US" sz="908" kern="1200" dirty="0">
                    <a:solidFill>
                      <a:prstClr val="black"/>
                    </a:solidFill>
                    <a:latin typeface="Tw Cen MT" panose="020B0602020104020603"/>
                    <a:ea typeface="+mn-ea"/>
                    <a:cs typeface="+mn-cs"/>
                  </a:rPr>
                  <a:t>.  </a:t>
                </a:r>
              </a:p>
              <a:p>
                <a:pPr algn="l" defTabSz="461040" rtl="0"/>
                <a:r>
                  <a:rPr lang="en-US" sz="908" kern="1200" dirty="0">
                    <a:solidFill>
                      <a:prstClr val="black"/>
                    </a:solidFill>
                    <a:latin typeface="Tw Cen MT" panose="020B0602020104020603"/>
                    <a:ea typeface="+mn-ea"/>
                    <a:cs typeface="+mn-cs"/>
                  </a:rPr>
                  <a:t>For example </a:t>
                </a:r>
              </a:p>
              <a:p>
                <a:pPr algn="l" defTabSz="461040" rtl="0"/>
                <a14:m>
                  <m:oMathPara xmlns:m="http://schemas.openxmlformats.org/officeDocument/2006/math">
                    <m:oMathParaPr>
                      <m:jc m:val="centerGroup"/>
                    </m:oMathParaPr>
                    <m:oMath xmlns:m="http://schemas.openxmlformats.org/officeDocument/2006/math">
                      <m:r>
                        <a:rPr lang="en-US" sz="908" i="1" kern="1200">
                          <a:solidFill>
                            <a:prstClr val="black"/>
                          </a:solidFill>
                          <a:latin typeface="Cambria Math" panose="02040503050406030204" pitchFamily="18" charset="0"/>
                          <a:ea typeface="+mn-ea"/>
                          <a:cs typeface="+mn-cs"/>
                        </a:rPr>
                        <m:t>−2</m:t>
                      </m:r>
                      <m:d>
                        <m:dPr>
                          <m:begChr m:val="["/>
                          <m:endChr m:val="]"/>
                          <m:ctrlPr>
                            <a:rPr lang="en-US" sz="908" i="1" kern="1200">
                              <a:solidFill>
                                <a:prstClr val="black"/>
                              </a:solidFill>
                              <a:latin typeface="Cambria Math" panose="02040503050406030204" pitchFamily="18" charset="0"/>
                              <a:ea typeface="+mn-ea"/>
                              <a:cs typeface="+mn-cs"/>
                            </a:rPr>
                          </m:ctrlPr>
                        </m:dPr>
                        <m:e>
                          <m:m>
                            <m:mPr>
                              <m:mcs>
                                <m:mc>
                                  <m:mcPr>
                                    <m:count m:val="2"/>
                                    <m:mcJc m:val="center"/>
                                  </m:mcPr>
                                </m:mc>
                              </m:mcs>
                              <m:ctrlPr>
                                <a:rPr lang="en-US" sz="908" i="1" kern="1200">
                                  <a:solidFill>
                                    <a:prstClr val="black"/>
                                  </a:solidFill>
                                  <a:latin typeface="Cambria Math" panose="02040503050406030204" pitchFamily="18" charset="0"/>
                                  <a:ea typeface="+mn-ea"/>
                                  <a:cs typeface="+mn-cs"/>
                                </a:rPr>
                              </m:ctrlPr>
                            </m:mPr>
                            <m:mr>
                              <m:e>
                                <m:r>
                                  <m:rPr>
                                    <m:brk m:alnAt="7"/>
                                  </m:rPr>
                                  <a:rPr lang="en-US" sz="908" i="1" kern="1200">
                                    <a:solidFill>
                                      <a:prstClr val="black"/>
                                    </a:solidFill>
                                    <a:latin typeface="Cambria Math" panose="02040503050406030204" pitchFamily="18" charset="0"/>
                                    <a:ea typeface="+mn-ea"/>
                                    <a:cs typeface="+mn-cs"/>
                                  </a:rPr>
                                  <m:t>1</m:t>
                                </m:r>
                              </m:e>
                              <m:e>
                                <m:r>
                                  <a:rPr lang="en-US" sz="908" i="1" kern="1200">
                                    <a:solidFill>
                                      <a:prstClr val="black"/>
                                    </a:solidFill>
                                    <a:latin typeface="Cambria Math" panose="02040503050406030204" pitchFamily="18" charset="0"/>
                                    <a:ea typeface="+mn-ea"/>
                                    <a:cs typeface="+mn-cs"/>
                                  </a:rPr>
                                  <m:t>1</m:t>
                                </m:r>
                              </m:e>
                            </m:mr>
                            <m:mr>
                              <m:e>
                                <m:r>
                                  <a:rPr lang="en-US" sz="908" i="1" kern="1200">
                                    <a:solidFill>
                                      <a:prstClr val="black"/>
                                    </a:solidFill>
                                    <a:latin typeface="Cambria Math" panose="02040503050406030204" pitchFamily="18" charset="0"/>
                                    <a:ea typeface="+mn-ea"/>
                                    <a:cs typeface="+mn-cs"/>
                                  </a:rPr>
                                  <m:t>−1</m:t>
                                </m:r>
                              </m:e>
                              <m:e>
                                <m:r>
                                  <a:rPr lang="en-US" sz="908" i="1" kern="1200">
                                    <a:solidFill>
                                      <a:prstClr val="black"/>
                                    </a:solidFill>
                                    <a:latin typeface="Cambria Math" panose="02040503050406030204" pitchFamily="18" charset="0"/>
                                    <a:ea typeface="+mn-ea"/>
                                    <a:cs typeface="+mn-cs"/>
                                  </a:rPr>
                                  <m:t>3</m:t>
                                </m:r>
                              </m:e>
                            </m:mr>
                          </m:m>
                        </m:e>
                      </m:d>
                      <m:r>
                        <a:rPr lang="en-US" sz="908" i="1" kern="1200">
                          <a:solidFill>
                            <a:prstClr val="black"/>
                          </a:solidFill>
                          <a:latin typeface="Cambria Math" panose="02040503050406030204" pitchFamily="18" charset="0"/>
                          <a:ea typeface="+mn-ea"/>
                          <a:cs typeface="+mn-cs"/>
                        </a:rPr>
                        <m:t>−3</m:t>
                      </m:r>
                      <m:d>
                        <m:dPr>
                          <m:begChr m:val="["/>
                          <m:endChr m:val="]"/>
                          <m:ctrlPr>
                            <a:rPr lang="en-US" sz="908" i="1" kern="1200">
                              <a:solidFill>
                                <a:prstClr val="black"/>
                              </a:solidFill>
                              <a:latin typeface="Cambria Math" panose="02040503050406030204" pitchFamily="18" charset="0"/>
                              <a:ea typeface="+mn-ea"/>
                              <a:cs typeface="+mn-cs"/>
                            </a:rPr>
                          </m:ctrlPr>
                        </m:dPr>
                        <m:e>
                          <m:m>
                            <m:mPr>
                              <m:mcs>
                                <m:mc>
                                  <m:mcPr>
                                    <m:count m:val="2"/>
                                    <m:mcJc m:val="center"/>
                                  </m:mcPr>
                                </m:mc>
                              </m:mcs>
                              <m:ctrlPr>
                                <a:rPr lang="en-US" sz="908" i="1" kern="1200">
                                  <a:solidFill>
                                    <a:prstClr val="black"/>
                                  </a:solidFill>
                                  <a:latin typeface="Cambria Math" panose="02040503050406030204" pitchFamily="18" charset="0"/>
                                  <a:ea typeface="+mn-ea"/>
                                  <a:cs typeface="+mn-cs"/>
                                </a:rPr>
                              </m:ctrlPr>
                            </m:mPr>
                            <m:mr>
                              <m:e>
                                <m:r>
                                  <m:rPr>
                                    <m:brk m:alnAt="7"/>
                                  </m:rPr>
                                  <a:rPr lang="en-US" sz="908" i="1" kern="1200">
                                    <a:solidFill>
                                      <a:prstClr val="black"/>
                                    </a:solidFill>
                                    <a:latin typeface="Cambria Math" panose="02040503050406030204" pitchFamily="18" charset="0"/>
                                    <a:ea typeface="+mn-ea"/>
                                    <a:cs typeface="+mn-cs"/>
                                  </a:rPr>
                                  <m:t>−</m:t>
                                </m:r>
                                <m:r>
                                  <a:rPr lang="en-US" sz="908" i="1" kern="1200">
                                    <a:solidFill>
                                      <a:prstClr val="black"/>
                                    </a:solidFill>
                                    <a:latin typeface="Cambria Math" panose="02040503050406030204" pitchFamily="18" charset="0"/>
                                    <a:ea typeface="+mn-ea"/>
                                    <a:cs typeface="+mn-cs"/>
                                  </a:rPr>
                                  <m:t>2</m:t>
                                </m:r>
                              </m:e>
                              <m:e>
                                <m:r>
                                  <a:rPr lang="en-US" sz="908" i="1" kern="1200">
                                    <a:solidFill>
                                      <a:prstClr val="black"/>
                                    </a:solidFill>
                                    <a:latin typeface="Cambria Math" panose="02040503050406030204" pitchFamily="18" charset="0"/>
                                    <a:ea typeface="+mn-ea"/>
                                    <a:cs typeface="+mn-cs"/>
                                  </a:rPr>
                                  <m:t>−1</m:t>
                                </m:r>
                              </m:e>
                            </m:mr>
                            <m:mr>
                              <m:e>
                                <m:r>
                                  <a:rPr lang="en-US" sz="908" i="1" kern="1200">
                                    <a:solidFill>
                                      <a:prstClr val="black"/>
                                    </a:solidFill>
                                    <a:latin typeface="Cambria Math" panose="02040503050406030204" pitchFamily="18" charset="0"/>
                                    <a:ea typeface="+mn-ea"/>
                                    <a:cs typeface="+mn-cs"/>
                                  </a:rPr>
                                  <m:t>0</m:t>
                                </m:r>
                              </m:e>
                              <m:e>
                                <m:r>
                                  <a:rPr lang="en-US" sz="908" i="1" kern="1200">
                                    <a:solidFill>
                                      <a:prstClr val="black"/>
                                    </a:solidFill>
                                    <a:latin typeface="Cambria Math" panose="02040503050406030204" pitchFamily="18" charset="0"/>
                                    <a:ea typeface="+mn-ea"/>
                                    <a:cs typeface="+mn-cs"/>
                                  </a:rPr>
                                  <m:t>2</m:t>
                                </m:r>
                              </m:e>
                            </m:mr>
                          </m:m>
                        </m:e>
                      </m:d>
                      <m:r>
                        <a:rPr lang="en-US" sz="908" i="1" kern="1200">
                          <a:solidFill>
                            <a:prstClr val="black"/>
                          </a:solidFill>
                          <a:latin typeface="Cambria Math" panose="02040503050406030204" pitchFamily="18" charset="0"/>
                          <a:ea typeface="+mn-ea"/>
                          <a:cs typeface="+mn-cs"/>
                        </a:rPr>
                        <m:t>+1</m:t>
                      </m:r>
                      <m:d>
                        <m:dPr>
                          <m:begChr m:val="["/>
                          <m:endChr m:val="]"/>
                          <m:ctrlPr>
                            <a:rPr lang="en-US" sz="908" i="1" kern="1200">
                              <a:solidFill>
                                <a:prstClr val="black"/>
                              </a:solidFill>
                              <a:latin typeface="Cambria Math" panose="02040503050406030204" pitchFamily="18" charset="0"/>
                              <a:ea typeface="+mn-ea"/>
                              <a:cs typeface="+mn-cs"/>
                            </a:rPr>
                          </m:ctrlPr>
                        </m:dPr>
                        <m:e>
                          <m:m>
                            <m:mPr>
                              <m:mcs>
                                <m:mc>
                                  <m:mcPr>
                                    <m:count m:val="2"/>
                                    <m:mcJc m:val="center"/>
                                  </m:mcPr>
                                </m:mc>
                              </m:mcs>
                              <m:ctrlPr>
                                <a:rPr lang="en-US" sz="908" i="1" kern="1200">
                                  <a:solidFill>
                                    <a:prstClr val="black"/>
                                  </a:solidFill>
                                  <a:latin typeface="Cambria Math" panose="02040503050406030204" pitchFamily="18" charset="0"/>
                                  <a:ea typeface="+mn-ea"/>
                                  <a:cs typeface="+mn-cs"/>
                                </a:rPr>
                              </m:ctrlPr>
                            </m:mPr>
                            <m:mr>
                              <m:e>
                                <m:r>
                                  <m:rPr>
                                    <m:brk m:alnAt="7"/>
                                  </m:rPr>
                                  <a:rPr lang="en-US" sz="908" i="1" kern="1200">
                                    <a:solidFill>
                                      <a:prstClr val="black"/>
                                    </a:solidFill>
                                    <a:latin typeface="Cambria Math" panose="02040503050406030204" pitchFamily="18" charset="0"/>
                                    <a:ea typeface="+mn-ea"/>
                                    <a:cs typeface="+mn-cs"/>
                                  </a:rPr>
                                  <m:t>−</m:t>
                                </m:r>
                                <m:r>
                                  <a:rPr lang="en-US" sz="908" i="1" kern="1200">
                                    <a:solidFill>
                                      <a:prstClr val="black"/>
                                    </a:solidFill>
                                    <a:latin typeface="Cambria Math" panose="02040503050406030204" pitchFamily="18" charset="0"/>
                                    <a:ea typeface="+mn-ea"/>
                                    <a:cs typeface="+mn-cs"/>
                                  </a:rPr>
                                  <m:t>4</m:t>
                                </m:r>
                              </m:e>
                              <m:e>
                                <m:r>
                                  <a:rPr lang="en-US" sz="908" i="1" kern="1200">
                                    <a:solidFill>
                                      <a:prstClr val="black"/>
                                    </a:solidFill>
                                    <a:latin typeface="Cambria Math" panose="02040503050406030204" pitchFamily="18" charset="0"/>
                                    <a:ea typeface="+mn-ea"/>
                                    <a:cs typeface="+mn-cs"/>
                                  </a:rPr>
                                  <m:t>−1</m:t>
                                </m:r>
                              </m:e>
                            </m:mr>
                            <m:mr>
                              <m:e>
                                <m:r>
                                  <a:rPr lang="en-US" sz="908" i="1" kern="1200">
                                    <a:solidFill>
                                      <a:prstClr val="black"/>
                                    </a:solidFill>
                                    <a:latin typeface="Cambria Math" panose="02040503050406030204" pitchFamily="18" charset="0"/>
                                    <a:ea typeface="+mn-ea"/>
                                    <a:cs typeface="+mn-cs"/>
                                  </a:rPr>
                                  <m:t>−2</m:t>
                                </m:r>
                              </m:e>
                              <m:e>
                                <m:r>
                                  <a:rPr lang="en-US" sz="908" i="1" kern="1200">
                                    <a:solidFill>
                                      <a:prstClr val="black"/>
                                    </a:solidFill>
                                    <a:latin typeface="Cambria Math" panose="02040503050406030204" pitchFamily="18" charset="0"/>
                                    <a:ea typeface="+mn-ea"/>
                                    <a:cs typeface="+mn-cs"/>
                                  </a:rPr>
                                  <m:t>12</m:t>
                                </m:r>
                              </m:e>
                            </m:mr>
                          </m:m>
                        </m:e>
                      </m:d>
                      <m:r>
                        <a:rPr lang="en-US" sz="908" kern="1200">
                          <a:solidFill>
                            <a:prstClr val="black"/>
                          </a:solidFill>
                          <a:latin typeface="Cambria Math" panose="02040503050406030204" pitchFamily="18" charset="0"/>
                          <a:ea typeface="+mn-ea"/>
                          <a:cs typeface="+mn-cs"/>
                        </a:rPr>
                        <m:t>=</m:t>
                      </m:r>
                      <m:d>
                        <m:dPr>
                          <m:begChr m:val="["/>
                          <m:endChr m:val="]"/>
                          <m:ctrlPr>
                            <a:rPr lang="en-US" sz="908" i="1" kern="1200">
                              <a:solidFill>
                                <a:prstClr val="black"/>
                              </a:solidFill>
                              <a:latin typeface="Cambria Math" panose="02040503050406030204" pitchFamily="18" charset="0"/>
                              <a:ea typeface="+mn-ea"/>
                              <a:cs typeface="+mn-cs"/>
                            </a:rPr>
                          </m:ctrlPr>
                        </m:dPr>
                        <m:e>
                          <m:m>
                            <m:mPr>
                              <m:mcs>
                                <m:mc>
                                  <m:mcPr>
                                    <m:count m:val="2"/>
                                    <m:mcJc m:val="center"/>
                                  </m:mcPr>
                                </m:mc>
                              </m:mcs>
                              <m:ctrlPr>
                                <a:rPr lang="en-US" sz="908" i="1" kern="1200">
                                  <a:solidFill>
                                    <a:prstClr val="black"/>
                                  </a:solidFill>
                                  <a:latin typeface="Cambria Math" panose="02040503050406030204" pitchFamily="18" charset="0"/>
                                  <a:ea typeface="+mn-ea"/>
                                  <a:cs typeface="+mn-cs"/>
                                </a:rPr>
                              </m:ctrlPr>
                            </m:mPr>
                            <m:mr>
                              <m:e>
                                <m:r>
                                  <m:rPr>
                                    <m:brk m:alnAt="7"/>
                                  </m:rPr>
                                  <a:rPr lang="en-US" sz="908" i="1" kern="1200">
                                    <a:solidFill>
                                      <a:prstClr val="black"/>
                                    </a:solidFill>
                                    <a:latin typeface="Cambria Math" panose="02040503050406030204" pitchFamily="18" charset="0"/>
                                    <a:ea typeface="+mn-ea"/>
                                    <a:cs typeface="+mn-cs"/>
                                  </a:rPr>
                                  <m:t>0</m:t>
                                </m:r>
                              </m:e>
                              <m:e>
                                <m:r>
                                  <a:rPr lang="en-US" sz="908" i="1" kern="1200">
                                    <a:solidFill>
                                      <a:prstClr val="black"/>
                                    </a:solidFill>
                                    <a:latin typeface="Cambria Math" panose="02040503050406030204" pitchFamily="18" charset="0"/>
                                    <a:ea typeface="+mn-ea"/>
                                    <a:cs typeface="+mn-cs"/>
                                  </a:rPr>
                                  <m:t>0</m:t>
                                </m:r>
                              </m:e>
                            </m:mr>
                            <m:mr>
                              <m:e>
                                <m:r>
                                  <a:rPr lang="en-US" sz="908" i="1" kern="1200">
                                    <a:solidFill>
                                      <a:prstClr val="black"/>
                                    </a:solidFill>
                                    <a:latin typeface="Cambria Math" panose="02040503050406030204" pitchFamily="18" charset="0"/>
                                    <a:ea typeface="+mn-ea"/>
                                    <a:cs typeface="+mn-cs"/>
                                  </a:rPr>
                                  <m:t>0</m:t>
                                </m:r>
                              </m:e>
                              <m:e>
                                <m:r>
                                  <a:rPr lang="en-US" sz="908" i="1" kern="1200">
                                    <a:solidFill>
                                      <a:prstClr val="black"/>
                                    </a:solidFill>
                                    <a:latin typeface="Cambria Math" panose="02040503050406030204" pitchFamily="18" charset="0"/>
                                    <a:ea typeface="+mn-ea"/>
                                    <a:cs typeface="+mn-cs"/>
                                  </a:rPr>
                                  <m:t>0</m:t>
                                </m:r>
                              </m:e>
                            </m:mr>
                          </m:m>
                        </m:e>
                      </m:d>
                    </m:oMath>
                  </m:oMathPara>
                </a14:m>
                <a:endParaRPr lang="en-US" sz="908" kern="1200" dirty="0">
                  <a:solidFill>
                    <a:prstClr val="black"/>
                  </a:solidFill>
                  <a:latin typeface="Tw Cen MT" panose="020B0602020104020603"/>
                  <a:ea typeface="+mn-ea"/>
                  <a:cs typeface="+mn-cs"/>
                </a:endParaRPr>
              </a:p>
              <a:p>
                <a:pPr algn="l" defTabSz="461040" rtl="0"/>
                <a:endParaRPr lang="en-US" sz="908" kern="1200" dirty="0">
                  <a:solidFill>
                    <a:prstClr val="black"/>
                  </a:solidFill>
                  <a:latin typeface="Tw Cen MT" panose="020B0602020104020603"/>
                  <a:ea typeface="+mn-ea"/>
                  <a:cs typeface="+mn-cs"/>
                </a:endParaRPr>
              </a:p>
              <a:p>
                <a:pPr algn="l" defTabSz="461040" rtl="0"/>
                <a:endParaRPr lang="en-US" sz="908" kern="1200" dirty="0">
                  <a:solidFill>
                    <a:prstClr val="black"/>
                  </a:solidFill>
                  <a:latin typeface="Tw Cen MT" panose="020B0602020104020603"/>
                  <a:ea typeface="+mn-ea"/>
                  <a:cs typeface="+mn-cs"/>
                </a:endParaRPr>
              </a:p>
              <a:p>
                <a:pPr algn="l" defTabSz="461040" rtl="0"/>
                <a:endParaRPr lang="en-US" sz="908" kern="1200" dirty="0">
                  <a:solidFill>
                    <a:prstClr val="black"/>
                  </a:solidFill>
                  <a:latin typeface="Tw Cen MT" panose="020B0602020104020603"/>
                  <a:ea typeface="+mn-ea"/>
                  <a:cs typeface="+mn-cs"/>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47650" y="1730376"/>
                <a:ext cx="4137694" cy="1552989"/>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06217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lum bright="-20000" contrast="40000"/>
          </a:blip>
          <a:stretch>
            <a:fillRect/>
          </a:stretch>
        </p:blipFill>
        <p:spPr>
          <a:xfrm>
            <a:off x="268923" y="846773"/>
            <a:ext cx="3880621" cy="2074545"/>
          </a:xfrm>
          <a:prstGeom prst="rect">
            <a:avLst/>
          </a:prstGeom>
        </p:spPr>
      </p:pic>
      <p:sp>
        <p:nvSpPr>
          <p:cNvPr id="3" name="Content Placeholder 2"/>
          <p:cNvSpPr>
            <a:spLocks noGrp="1"/>
          </p:cNvSpPr>
          <p:nvPr>
            <p:ph sz="quarter" idx="10"/>
          </p:nvPr>
        </p:nvSpPr>
        <p:spPr/>
        <p:txBody>
          <a:bodyPr>
            <a:normAutofit fontScale="85000" lnSpcReduction="10000"/>
          </a:bodyPr>
          <a:lstStyle/>
          <a:p>
            <a:r>
              <a:rPr lang="en-US" dirty="0"/>
              <a:t>Geometrical Meaning of Linear Independence and Dependence in R</a:t>
            </a:r>
            <a:r>
              <a:rPr lang="en-US" baseline="30000" dirty="0"/>
              <a:t>3</a:t>
            </a:r>
            <a:endParaRPr lang="en-US" dirty="0"/>
          </a:p>
        </p:txBody>
      </p:sp>
    </p:spTree>
    <p:extLst>
      <p:ext uri="{BB962C8B-B14F-4D97-AF65-F5344CB8AC3E}">
        <p14:creationId xmlns:p14="http://schemas.microsoft.com/office/powerpoint/2010/main" val="2534444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pPr marL="285750" indent="-285750">
                  <a:buFont typeface="Wingdings" panose="05000000000000000000" pitchFamily="2" charset="2"/>
                  <a:buChar char="Ø"/>
                </a:pPr>
                <a:r>
                  <a:rPr lang="en-US" dirty="0"/>
                  <a:t>In a vector space any set which contains 0 is linearly</a:t>
                </a:r>
              </a:p>
              <a:p>
                <a:pPr marL="0" indent="0"/>
                <a:r>
                  <a:rPr lang="en-US" dirty="0"/>
                  <a:t>       dependent. Why?</a:t>
                </a:r>
              </a:p>
              <a:p>
                <a:pPr marL="285750" indent="-285750">
                  <a:buFont typeface="Wingdings" panose="05000000000000000000" pitchFamily="2" charset="2"/>
                  <a:buChar char="Ø"/>
                </a:pPr>
                <a:r>
                  <a:rPr lang="en-US" dirty="0"/>
                  <a:t>In a vector space V any set which contains a linearly</a:t>
                </a:r>
              </a:p>
              <a:p>
                <a:pPr marL="0" indent="0"/>
                <a:r>
                  <a:rPr lang="en-US" dirty="0"/>
                  <a:t>       dependent set is linearly dependent. Why? </a:t>
                </a:r>
              </a:p>
              <a:p>
                <a:pPr marL="0" indent="0"/>
                <a:endParaRPr lang="en-US" dirty="0"/>
              </a:p>
              <a:p>
                <a:pPr marL="0" indent="0"/>
                <a:r>
                  <a:rPr lang="en-US" dirty="0"/>
                  <a:t>        Why are the following sets linearly dependent ?</a:t>
                </a:r>
              </a:p>
              <a:p>
                <a:pPr marL="0" indent="0"/>
                <a:r>
                  <a:rPr lang="en-US" dirty="0"/>
                  <a:t>1.    { [1, 1, 0, -1], [1,0,1,1], [0,0,0,0]} is a linearly dependent subset of R</a:t>
                </a:r>
                <a:r>
                  <a:rPr lang="en-US" baseline="30000" dirty="0"/>
                  <a:t>4</a:t>
                </a:r>
                <a:r>
                  <a:rPr lang="en-US" dirty="0"/>
                  <a:t>.</a:t>
                </a:r>
              </a:p>
              <a:p>
                <a:pPr marL="0" indent="0"/>
                <a:r>
                  <a:rPr lang="en-US" dirty="0"/>
                  <a:t>2.    The set </a:t>
                </a:r>
                <a14:m>
                  <m:oMath xmlns:m="http://schemas.openxmlformats.org/officeDocument/2006/math">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−2</m:t>
                                  </m:r>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a:rPr lang="en-US" b="0" i="1" smtClean="0">
                                      <a:latin typeface="Cambria Math" panose="02040503050406030204" pitchFamily="18" charset="0"/>
                                    </a:rPr>
                                    <m:t>2</m:t>
                                  </m:r>
                                </m:e>
                              </m:mr>
                              <m:mr>
                                <m:e>
                                  <m:r>
                                    <a:rPr lang="en-US" b="0" i="1" smtClean="0">
                                      <a:latin typeface="Cambria Math" panose="02040503050406030204" pitchFamily="18" charset="0"/>
                                    </a:rPr>
                                    <m:t>2</m:t>
                                  </m:r>
                                </m:e>
                                <m:e>
                                  <m:r>
                                    <a:rPr lang="en-US" b="0" i="1" smtClean="0">
                                      <a:latin typeface="Cambria Math" panose="02040503050406030204" pitchFamily="18" charset="0"/>
                                    </a:rPr>
                                    <m:t>−4</m:t>
                                  </m:r>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−2</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e>
                    </m:d>
                    <m:r>
                      <a:rPr lang="en-US" b="0" i="1" smtClean="0">
                        <a:latin typeface="Cambria Math" panose="02040503050406030204" pitchFamily="18" charset="0"/>
                      </a:rPr>
                      <m:t> </m:t>
                    </m:r>
                  </m:oMath>
                </a14:m>
                <a:r>
                  <a:rPr lang="en-US" dirty="0"/>
                  <a:t>is linearly dependent </a:t>
                </a:r>
              </a:p>
              <a:p>
                <a:pPr marL="0" indent="0"/>
                <a:r>
                  <a:rPr lang="en-US" dirty="0"/>
                  <a:t>        subset of M</a:t>
                </a:r>
                <a:r>
                  <a:rPr lang="en-US" baseline="-25000" dirty="0"/>
                  <a:t>22</a:t>
                </a:r>
                <a:r>
                  <a:rPr lang="en-US" dirty="0"/>
                  <a:t>. Prove this? Call the above vectors as v</a:t>
                </a:r>
                <a:r>
                  <a:rPr lang="en-US" baseline="-25000" dirty="0"/>
                  <a:t>1</a:t>
                </a:r>
                <a:r>
                  <a:rPr lang="en-US" dirty="0"/>
                  <a:t>, v</a:t>
                </a:r>
                <a:r>
                  <a:rPr lang="en-US" baseline="-25000" dirty="0"/>
                  <a:t>2</a:t>
                </a:r>
                <a:r>
                  <a:rPr lang="en-US" dirty="0"/>
                  <a:t> </a:t>
                </a:r>
              </a:p>
              <a:p>
                <a:pPr marL="0" indent="0"/>
                <a:r>
                  <a:rPr lang="en-US" dirty="0"/>
                  <a:t>        and v</a:t>
                </a:r>
                <a:r>
                  <a:rPr lang="en-US" baseline="-25000" dirty="0"/>
                  <a:t>3</a:t>
                </a:r>
                <a:r>
                  <a:rPr lang="en-US" dirty="0"/>
                  <a:t>. What will you get if you compute (-2)v</a:t>
                </a:r>
                <a:r>
                  <a:rPr lang="en-US" baseline="-25000" dirty="0"/>
                  <a:t>1</a:t>
                </a:r>
                <a:r>
                  <a:rPr lang="en-US" dirty="0"/>
                  <a:t>+ 1v</a:t>
                </a:r>
                <a:r>
                  <a:rPr lang="en-US" baseline="-25000" dirty="0"/>
                  <a:t>2</a:t>
                </a:r>
                <a:r>
                  <a:rPr lang="en-US" dirty="0"/>
                  <a:t>+0v</a:t>
                </a:r>
                <a:r>
                  <a:rPr lang="en-US" baseline="-25000" dirty="0"/>
                  <a:t>3</a:t>
                </a:r>
                <a:r>
                  <a:rPr lang="en-US" dirty="0"/>
                  <a:t>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1028" t="-802"/>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US" dirty="0"/>
              <a:t>More Results on Linearly Dependent set</a:t>
            </a:r>
          </a:p>
        </p:txBody>
      </p:sp>
    </p:spTree>
    <p:extLst>
      <p:ext uri="{BB962C8B-B14F-4D97-AF65-F5344CB8AC3E}">
        <p14:creationId xmlns:p14="http://schemas.microsoft.com/office/powerpoint/2010/main" val="610085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72527"/>
            <a:ext cx="3277870" cy="448200"/>
          </a:xfrm>
          <a:prstGeom prst="rect">
            <a:avLst/>
          </a:prstGeom>
        </p:spPr>
        <p:txBody>
          <a:bodyPr vert="horz" wrap="square" lIns="0" tIns="17145" rIns="0" bIns="0" rtlCol="0">
            <a:spAutoFit/>
          </a:bodyPr>
          <a:lstStyle/>
          <a:p>
            <a:pPr marL="12700">
              <a:lnSpc>
                <a:spcPct val="100000"/>
              </a:lnSpc>
              <a:spcBef>
                <a:spcPts val="135"/>
              </a:spcBef>
            </a:pPr>
            <a:r>
              <a:rPr lang="en-IN" spc="-30" dirty="0"/>
              <a:t>What do the </a:t>
            </a:r>
            <a:r>
              <a:rPr spc="-30" dirty="0"/>
              <a:t>Linear</a:t>
            </a:r>
            <a:r>
              <a:rPr spc="-55" dirty="0"/>
              <a:t> dependence</a:t>
            </a:r>
            <a:r>
              <a:rPr lang="en-IN" spc="-55" dirty="0"/>
              <a:t> and independence mean in ML?</a:t>
            </a:r>
            <a:endParaRPr spc="-55" dirty="0"/>
          </a:p>
        </p:txBody>
      </p:sp>
      <p:sp>
        <p:nvSpPr>
          <p:cNvPr id="3" name="object 3"/>
          <p:cNvSpPr txBox="1"/>
          <p:nvPr/>
        </p:nvSpPr>
        <p:spPr>
          <a:xfrm>
            <a:off x="247651" y="892175"/>
            <a:ext cx="4009072" cy="1038489"/>
          </a:xfrm>
          <a:prstGeom prst="rect">
            <a:avLst/>
          </a:prstGeom>
        </p:spPr>
        <p:txBody>
          <a:bodyPr vert="horz" wrap="square" lIns="0" tIns="6985" rIns="0" bIns="0" rtlCol="0">
            <a:spAutoFit/>
          </a:bodyPr>
          <a:lstStyle/>
          <a:p>
            <a:pPr marL="201930" marR="17780" indent="-177165">
              <a:lnSpc>
                <a:spcPct val="102600"/>
              </a:lnSpc>
              <a:spcBef>
                <a:spcPts val="55"/>
              </a:spcBef>
              <a:buClr>
                <a:srgbClr val="3333B2"/>
              </a:buClr>
              <a:buFont typeface="Lucida Sans Unicode"/>
              <a:buChar char="►"/>
              <a:tabLst>
                <a:tab pos="201930" algn="l"/>
              </a:tabLst>
            </a:pPr>
            <a:r>
              <a:rPr sz="1100" dirty="0">
                <a:latin typeface="Tahoma"/>
                <a:cs typeface="Tahoma"/>
              </a:rPr>
              <a:t>What</a:t>
            </a:r>
            <a:r>
              <a:rPr sz="1100" spc="-75" dirty="0">
                <a:latin typeface="Tahoma"/>
                <a:cs typeface="Tahoma"/>
              </a:rPr>
              <a:t> </a:t>
            </a:r>
            <a:r>
              <a:rPr sz="1100" spc="-55" dirty="0">
                <a:latin typeface="Tahoma"/>
                <a:cs typeface="Tahoma"/>
              </a:rPr>
              <a:t>does</a:t>
            </a:r>
            <a:r>
              <a:rPr sz="1100" spc="-30" dirty="0">
                <a:latin typeface="Tahoma"/>
                <a:cs typeface="Tahoma"/>
              </a:rPr>
              <a:t> </a:t>
            </a:r>
            <a:r>
              <a:rPr sz="1100" spc="-10" dirty="0">
                <a:latin typeface="Tahoma"/>
                <a:cs typeface="Tahoma"/>
              </a:rPr>
              <a:t>the</a:t>
            </a:r>
            <a:r>
              <a:rPr sz="1100" spc="-45" dirty="0">
                <a:latin typeface="Tahoma"/>
                <a:cs typeface="Tahoma"/>
              </a:rPr>
              <a:t> </a:t>
            </a:r>
            <a:r>
              <a:rPr sz="1100" spc="-35" dirty="0">
                <a:latin typeface="Tahoma"/>
                <a:cs typeface="Tahoma"/>
              </a:rPr>
              <a:t>concept</a:t>
            </a:r>
            <a:r>
              <a:rPr sz="1100" spc="-50" dirty="0">
                <a:latin typeface="Tahoma"/>
                <a:cs typeface="Tahoma"/>
              </a:rPr>
              <a:t> </a:t>
            </a:r>
            <a:r>
              <a:rPr sz="1100" dirty="0">
                <a:latin typeface="Tahoma"/>
                <a:cs typeface="Tahoma"/>
              </a:rPr>
              <a:t>of</a:t>
            </a:r>
            <a:r>
              <a:rPr sz="1100" spc="-40" dirty="0">
                <a:latin typeface="Tahoma"/>
                <a:cs typeface="Tahoma"/>
              </a:rPr>
              <a:t> </a:t>
            </a:r>
            <a:r>
              <a:rPr sz="1100" spc="-30" dirty="0">
                <a:latin typeface="Tahoma"/>
                <a:cs typeface="Tahoma"/>
              </a:rPr>
              <a:t>linear</a:t>
            </a:r>
            <a:r>
              <a:rPr sz="1100" spc="-45" dirty="0">
                <a:latin typeface="Tahoma"/>
                <a:cs typeface="Tahoma"/>
              </a:rPr>
              <a:t> </a:t>
            </a:r>
            <a:r>
              <a:rPr sz="1100" spc="-55" dirty="0">
                <a:latin typeface="Tahoma"/>
                <a:cs typeface="Tahoma"/>
              </a:rPr>
              <a:t>independence</a:t>
            </a:r>
            <a:r>
              <a:rPr sz="1100" spc="-30" dirty="0">
                <a:latin typeface="Tahoma"/>
                <a:cs typeface="Tahoma"/>
              </a:rPr>
              <a:t> </a:t>
            </a:r>
            <a:r>
              <a:rPr sz="1100" spc="-25" dirty="0">
                <a:latin typeface="Tahoma"/>
                <a:cs typeface="Tahoma"/>
              </a:rPr>
              <a:t>capture?</a:t>
            </a:r>
            <a:r>
              <a:rPr sz="1100" spc="55" dirty="0">
                <a:latin typeface="Tahoma"/>
                <a:cs typeface="Tahoma"/>
              </a:rPr>
              <a:t> </a:t>
            </a:r>
            <a:r>
              <a:rPr sz="1100" spc="-30" dirty="0">
                <a:latin typeface="Tahoma"/>
                <a:cs typeface="Tahoma"/>
              </a:rPr>
              <a:t>If</a:t>
            </a:r>
            <a:r>
              <a:rPr sz="1100" spc="-45" dirty="0">
                <a:latin typeface="Tahoma"/>
                <a:cs typeface="Tahoma"/>
              </a:rPr>
              <a:t> </a:t>
            </a:r>
            <a:r>
              <a:rPr sz="1100" spc="-25" dirty="0">
                <a:latin typeface="Tahoma"/>
                <a:cs typeface="Tahoma"/>
              </a:rPr>
              <a:t>the </a:t>
            </a:r>
            <a:r>
              <a:rPr sz="1100" spc="-50" dirty="0">
                <a:latin typeface="Tahoma"/>
                <a:cs typeface="Tahoma"/>
              </a:rPr>
              <a:t>vectors</a:t>
            </a:r>
            <a:r>
              <a:rPr sz="1100" spc="-40" dirty="0">
                <a:latin typeface="Tahoma"/>
                <a:cs typeface="Tahoma"/>
              </a:rPr>
              <a:t> </a:t>
            </a:r>
            <a:r>
              <a:rPr sz="1100" spc="-60" dirty="0">
                <a:latin typeface="Tahoma"/>
                <a:cs typeface="Tahoma"/>
              </a:rPr>
              <a:t>are</a:t>
            </a:r>
            <a:r>
              <a:rPr sz="1100" spc="-25" dirty="0">
                <a:latin typeface="Tahoma"/>
                <a:cs typeface="Tahoma"/>
              </a:rPr>
              <a:t> </a:t>
            </a:r>
            <a:r>
              <a:rPr sz="1100" spc="-30" dirty="0">
                <a:latin typeface="Tahoma"/>
                <a:cs typeface="Tahoma"/>
              </a:rPr>
              <a:t>linearly</a:t>
            </a:r>
            <a:r>
              <a:rPr sz="1100" spc="-55" dirty="0">
                <a:latin typeface="Tahoma"/>
                <a:cs typeface="Tahoma"/>
              </a:rPr>
              <a:t> </a:t>
            </a:r>
            <a:r>
              <a:rPr sz="1100" spc="-50" dirty="0">
                <a:latin typeface="Tahoma"/>
                <a:cs typeface="Tahoma"/>
              </a:rPr>
              <a:t>dependent</a:t>
            </a:r>
            <a:r>
              <a:rPr sz="1100" spc="-30" dirty="0">
                <a:latin typeface="Tahoma"/>
                <a:cs typeface="Tahoma"/>
              </a:rPr>
              <a:t> </a:t>
            </a:r>
            <a:r>
              <a:rPr sz="1100" spc="-95" dirty="0">
                <a:latin typeface="Tahoma"/>
                <a:cs typeface="Tahoma"/>
              </a:rPr>
              <a:t>we</a:t>
            </a:r>
            <a:r>
              <a:rPr sz="1100" spc="10" dirty="0">
                <a:latin typeface="Tahoma"/>
                <a:cs typeface="Tahoma"/>
              </a:rPr>
              <a:t> </a:t>
            </a:r>
            <a:r>
              <a:rPr sz="1100" spc="-20" dirty="0">
                <a:latin typeface="Tahoma"/>
                <a:cs typeface="Tahoma"/>
              </a:rPr>
              <a:t>can</a:t>
            </a:r>
            <a:r>
              <a:rPr sz="1100" spc="-30" dirty="0">
                <a:latin typeface="Tahoma"/>
                <a:cs typeface="Tahoma"/>
              </a:rPr>
              <a:t> </a:t>
            </a:r>
            <a:r>
              <a:rPr sz="1100" spc="-20" dirty="0">
                <a:latin typeface="Tahoma"/>
                <a:cs typeface="Tahoma"/>
              </a:rPr>
              <a:t>write</a:t>
            </a:r>
            <a:r>
              <a:rPr sz="1100" spc="-25" dirty="0">
                <a:latin typeface="Tahoma"/>
                <a:cs typeface="Tahoma"/>
              </a:rPr>
              <a:t> </a:t>
            </a:r>
            <a:r>
              <a:rPr sz="1100" spc="-45" dirty="0">
                <a:latin typeface="Tahoma"/>
                <a:cs typeface="Tahoma"/>
              </a:rPr>
              <a:t>one</a:t>
            </a:r>
            <a:r>
              <a:rPr sz="1100" spc="-30" dirty="0">
                <a:latin typeface="Tahoma"/>
                <a:cs typeface="Tahoma"/>
              </a:rPr>
              <a:t> </a:t>
            </a:r>
            <a:r>
              <a:rPr sz="1100" dirty="0">
                <a:latin typeface="Tahoma"/>
                <a:cs typeface="Tahoma"/>
              </a:rPr>
              <a:t>of</a:t>
            </a:r>
            <a:r>
              <a:rPr sz="1100" spc="-25" dirty="0">
                <a:latin typeface="Tahoma"/>
                <a:cs typeface="Tahoma"/>
              </a:rPr>
              <a:t> </a:t>
            </a:r>
            <a:r>
              <a:rPr sz="1100" spc="-10" dirty="0">
                <a:latin typeface="Tahoma"/>
                <a:cs typeface="Tahoma"/>
              </a:rPr>
              <a:t>the</a:t>
            </a:r>
            <a:r>
              <a:rPr sz="1100" spc="-30" dirty="0">
                <a:latin typeface="Tahoma"/>
                <a:cs typeface="Tahoma"/>
              </a:rPr>
              <a:t> </a:t>
            </a:r>
            <a:r>
              <a:rPr sz="1100" spc="-25" dirty="0">
                <a:latin typeface="Tahoma"/>
                <a:cs typeface="Tahoma"/>
              </a:rPr>
              <a:t>vectors </a:t>
            </a:r>
            <a:r>
              <a:rPr sz="1100" dirty="0">
                <a:latin typeface="Tahoma"/>
                <a:cs typeface="Tahoma"/>
              </a:rPr>
              <a:t>in</a:t>
            </a:r>
            <a:r>
              <a:rPr sz="1100" spc="-45" dirty="0">
                <a:latin typeface="Tahoma"/>
                <a:cs typeface="Tahoma"/>
              </a:rPr>
              <a:t> </a:t>
            </a:r>
            <a:r>
              <a:rPr sz="1100" spc="-30" dirty="0">
                <a:latin typeface="Tahoma"/>
                <a:cs typeface="Tahoma"/>
              </a:rPr>
              <a:t>terms</a:t>
            </a:r>
            <a:r>
              <a:rPr sz="1100" spc="-40" dirty="0">
                <a:latin typeface="Tahoma"/>
                <a:cs typeface="Tahoma"/>
              </a:rPr>
              <a:t> </a:t>
            </a:r>
            <a:r>
              <a:rPr sz="1100" dirty="0">
                <a:latin typeface="Tahoma"/>
                <a:cs typeface="Tahoma"/>
              </a:rPr>
              <a:t>of</a:t>
            </a:r>
            <a:r>
              <a:rPr sz="1100" spc="-40" dirty="0">
                <a:latin typeface="Tahoma"/>
                <a:cs typeface="Tahoma"/>
              </a:rPr>
              <a:t> </a:t>
            </a:r>
            <a:r>
              <a:rPr sz="1100" spc="-10" dirty="0">
                <a:latin typeface="Tahoma"/>
                <a:cs typeface="Tahoma"/>
              </a:rPr>
              <a:t>the</a:t>
            </a:r>
            <a:r>
              <a:rPr sz="1100" spc="-45" dirty="0">
                <a:latin typeface="Tahoma"/>
                <a:cs typeface="Tahoma"/>
              </a:rPr>
              <a:t> </a:t>
            </a:r>
            <a:r>
              <a:rPr sz="1100" spc="-35" dirty="0">
                <a:latin typeface="Tahoma"/>
                <a:cs typeface="Tahoma"/>
              </a:rPr>
              <a:t>others,</a:t>
            </a:r>
            <a:r>
              <a:rPr sz="1100" spc="-40" dirty="0">
                <a:latin typeface="Tahoma"/>
                <a:cs typeface="Tahoma"/>
              </a:rPr>
              <a:t> </a:t>
            </a:r>
            <a:r>
              <a:rPr sz="1100" spc="-30" dirty="0">
                <a:latin typeface="Tahoma"/>
                <a:cs typeface="Tahoma"/>
              </a:rPr>
              <a:t>so</a:t>
            </a:r>
            <a:r>
              <a:rPr sz="1100" spc="-45" dirty="0">
                <a:latin typeface="Tahoma"/>
                <a:cs typeface="Tahoma"/>
              </a:rPr>
              <a:t> </a:t>
            </a:r>
            <a:r>
              <a:rPr sz="1100" dirty="0">
                <a:latin typeface="Tahoma"/>
                <a:cs typeface="Tahoma"/>
              </a:rPr>
              <a:t>that</a:t>
            </a:r>
            <a:r>
              <a:rPr sz="1100" spc="-45" dirty="0">
                <a:latin typeface="Tahoma"/>
                <a:cs typeface="Tahoma"/>
              </a:rPr>
              <a:t> </a:t>
            </a:r>
            <a:r>
              <a:rPr sz="1100" spc="-35" dirty="0">
                <a:latin typeface="Tahoma"/>
                <a:cs typeface="Tahoma"/>
              </a:rPr>
              <a:t>vector</a:t>
            </a:r>
            <a:r>
              <a:rPr sz="1100" spc="-45" dirty="0">
                <a:latin typeface="Tahoma"/>
                <a:cs typeface="Tahoma"/>
              </a:rPr>
              <a:t> </a:t>
            </a:r>
            <a:r>
              <a:rPr sz="1100" dirty="0">
                <a:latin typeface="Tahoma"/>
                <a:cs typeface="Tahoma"/>
              </a:rPr>
              <a:t>is</a:t>
            </a:r>
            <a:r>
              <a:rPr sz="1100" spc="-45" dirty="0">
                <a:latin typeface="Tahoma"/>
                <a:cs typeface="Tahoma"/>
              </a:rPr>
              <a:t> </a:t>
            </a:r>
            <a:r>
              <a:rPr sz="1100" spc="-35" dirty="0">
                <a:latin typeface="Tahoma"/>
                <a:cs typeface="Tahoma"/>
              </a:rPr>
              <a:t>redundant.</a:t>
            </a:r>
            <a:r>
              <a:rPr sz="1100" spc="60" dirty="0">
                <a:latin typeface="Tahoma"/>
                <a:cs typeface="Tahoma"/>
              </a:rPr>
              <a:t> </a:t>
            </a:r>
            <a:r>
              <a:rPr sz="1100" dirty="0">
                <a:latin typeface="Tahoma"/>
                <a:cs typeface="Tahoma"/>
              </a:rPr>
              <a:t>On</a:t>
            </a:r>
            <a:r>
              <a:rPr sz="1100" spc="-40" dirty="0">
                <a:latin typeface="Tahoma"/>
                <a:cs typeface="Tahoma"/>
              </a:rPr>
              <a:t> </a:t>
            </a:r>
            <a:r>
              <a:rPr sz="1100" spc="-25" dirty="0">
                <a:latin typeface="Tahoma"/>
                <a:cs typeface="Tahoma"/>
              </a:rPr>
              <a:t>the other</a:t>
            </a:r>
            <a:r>
              <a:rPr sz="1100" spc="-60" dirty="0">
                <a:latin typeface="Tahoma"/>
                <a:cs typeface="Tahoma"/>
              </a:rPr>
              <a:t> </a:t>
            </a:r>
            <a:r>
              <a:rPr sz="1100" spc="-35" dirty="0">
                <a:latin typeface="Tahoma"/>
                <a:cs typeface="Tahoma"/>
              </a:rPr>
              <a:t>hand,</a:t>
            </a:r>
            <a:r>
              <a:rPr sz="1100" spc="-40" dirty="0">
                <a:latin typeface="Tahoma"/>
                <a:cs typeface="Tahoma"/>
              </a:rPr>
              <a:t> </a:t>
            </a:r>
            <a:r>
              <a:rPr sz="1100" spc="-60" dirty="0">
                <a:latin typeface="Tahoma"/>
                <a:cs typeface="Tahoma"/>
              </a:rPr>
              <a:t>when</a:t>
            </a:r>
            <a:r>
              <a:rPr sz="1100" spc="-25" dirty="0">
                <a:latin typeface="Tahoma"/>
                <a:cs typeface="Tahoma"/>
              </a:rPr>
              <a:t> </a:t>
            </a:r>
            <a:r>
              <a:rPr sz="1100" spc="-10" dirty="0">
                <a:latin typeface="Tahoma"/>
                <a:cs typeface="Tahoma"/>
              </a:rPr>
              <a:t>the</a:t>
            </a:r>
            <a:r>
              <a:rPr sz="1100" spc="-40" dirty="0">
                <a:latin typeface="Tahoma"/>
                <a:cs typeface="Tahoma"/>
              </a:rPr>
              <a:t> vectors</a:t>
            </a:r>
            <a:r>
              <a:rPr sz="1100" spc="-35" dirty="0">
                <a:latin typeface="Tahoma"/>
                <a:cs typeface="Tahoma"/>
              </a:rPr>
              <a:t> </a:t>
            </a:r>
            <a:r>
              <a:rPr sz="1100" spc="-60" dirty="0">
                <a:latin typeface="Tahoma"/>
                <a:cs typeface="Tahoma"/>
              </a:rPr>
              <a:t>are</a:t>
            </a:r>
            <a:r>
              <a:rPr sz="1100" spc="-30" dirty="0">
                <a:latin typeface="Tahoma"/>
                <a:cs typeface="Tahoma"/>
              </a:rPr>
              <a:t> linearly</a:t>
            </a:r>
            <a:r>
              <a:rPr sz="1100" spc="-35" dirty="0">
                <a:latin typeface="Tahoma"/>
                <a:cs typeface="Tahoma"/>
              </a:rPr>
              <a:t> </a:t>
            </a:r>
            <a:r>
              <a:rPr sz="1100" spc="-45" dirty="0">
                <a:latin typeface="Tahoma"/>
                <a:cs typeface="Tahoma"/>
              </a:rPr>
              <a:t>independent,</a:t>
            </a:r>
            <a:r>
              <a:rPr sz="1100" spc="-40" dirty="0">
                <a:latin typeface="Tahoma"/>
                <a:cs typeface="Tahoma"/>
              </a:rPr>
              <a:t> </a:t>
            </a:r>
            <a:r>
              <a:rPr sz="1100" spc="-20" dirty="0">
                <a:latin typeface="Tahoma"/>
                <a:cs typeface="Tahoma"/>
              </a:rPr>
              <a:t>each </a:t>
            </a:r>
            <a:r>
              <a:rPr sz="1100" spc="-35" dirty="0">
                <a:latin typeface="Tahoma"/>
                <a:cs typeface="Tahoma"/>
              </a:rPr>
              <a:t>vector</a:t>
            </a:r>
            <a:r>
              <a:rPr sz="1100" spc="-50" dirty="0">
                <a:latin typeface="Tahoma"/>
                <a:cs typeface="Tahoma"/>
              </a:rPr>
              <a:t> </a:t>
            </a:r>
            <a:r>
              <a:rPr sz="1100" spc="-40" dirty="0">
                <a:latin typeface="Tahoma"/>
                <a:cs typeface="Tahoma"/>
              </a:rPr>
              <a:t>brings</a:t>
            </a:r>
            <a:r>
              <a:rPr sz="1100" spc="-50" dirty="0">
                <a:latin typeface="Tahoma"/>
                <a:cs typeface="Tahoma"/>
              </a:rPr>
              <a:t> </a:t>
            </a:r>
            <a:r>
              <a:rPr sz="1100" spc="-40" dirty="0">
                <a:latin typeface="Tahoma"/>
                <a:cs typeface="Tahoma"/>
              </a:rPr>
              <a:t>something</a:t>
            </a:r>
            <a:r>
              <a:rPr sz="1100" spc="-45" dirty="0">
                <a:latin typeface="Tahoma"/>
                <a:cs typeface="Tahoma"/>
              </a:rPr>
              <a:t> </a:t>
            </a:r>
            <a:r>
              <a:rPr sz="1100" dirty="0">
                <a:latin typeface="Tahoma"/>
                <a:cs typeface="Tahoma"/>
              </a:rPr>
              <a:t>to</a:t>
            </a:r>
            <a:r>
              <a:rPr sz="1100" spc="-45" dirty="0">
                <a:latin typeface="Tahoma"/>
                <a:cs typeface="Tahoma"/>
              </a:rPr>
              <a:t> </a:t>
            </a:r>
            <a:r>
              <a:rPr sz="1100" spc="-10" dirty="0">
                <a:latin typeface="Tahoma"/>
                <a:cs typeface="Tahoma"/>
              </a:rPr>
              <a:t>the</a:t>
            </a:r>
            <a:r>
              <a:rPr sz="1100" spc="-45" dirty="0">
                <a:latin typeface="Tahoma"/>
                <a:cs typeface="Tahoma"/>
              </a:rPr>
              <a:t> </a:t>
            </a:r>
            <a:r>
              <a:rPr sz="1100" spc="-20" dirty="0">
                <a:latin typeface="Tahoma"/>
                <a:cs typeface="Tahoma"/>
              </a:rPr>
              <a:t>table</a:t>
            </a:r>
            <a:r>
              <a:rPr sz="1100" spc="-45" dirty="0">
                <a:latin typeface="Tahoma"/>
                <a:cs typeface="Tahoma"/>
              </a:rPr>
              <a:t> </a:t>
            </a:r>
            <a:r>
              <a:rPr sz="1100" spc="-30" dirty="0">
                <a:latin typeface="Tahoma"/>
                <a:cs typeface="Tahoma"/>
              </a:rPr>
              <a:t>which</a:t>
            </a:r>
            <a:r>
              <a:rPr sz="1100" spc="-45" dirty="0">
                <a:latin typeface="Tahoma"/>
                <a:cs typeface="Tahoma"/>
              </a:rPr>
              <a:t> </a:t>
            </a:r>
            <a:r>
              <a:rPr sz="1100" spc="-10" dirty="0">
                <a:latin typeface="Tahoma"/>
                <a:cs typeface="Tahoma"/>
              </a:rPr>
              <a:t>the</a:t>
            </a:r>
            <a:r>
              <a:rPr sz="1100" spc="-45" dirty="0">
                <a:latin typeface="Tahoma"/>
                <a:cs typeface="Tahoma"/>
              </a:rPr>
              <a:t> </a:t>
            </a:r>
            <a:r>
              <a:rPr sz="1100" spc="-25" dirty="0">
                <a:latin typeface="Tahoma"/>
                <a:cs typeface="Tahoma"/>
              </a:rPr>
              <a:t>other</a:t>
            </a:r>
            <a:r>
              <a:rPr sz="1100" spc="-50" dirty="0">
                <a:latin typeface="Tahoma"/>
                <a:cs typeface="Tahoma"/>
              </a:rPr>
              <a:t> </a:t>
            </a:r>
            <a:r>
              <a:rPr sz="1100" spc="-10" dirty="0">
                <a:latin typeface="Tahoma"/>
                <a:cs typeface="Tahoma"/>
              </a:rPr>
              <a:t>vectors </a:t>
            </a:r>
            <a:r>
              <a:rPr sz="1100" spc="-30" dirty="0">
                <a:latin typeface="Tahoma"/>
                <a:cs typeface="Tahoma"/>
              </a:rPr>
              <a:t>collectively</a:t>
            </a:r>
            <a:r>
              <a:rPr sz="1100" spc="-25" dirty="0">
                <a:latin typeface="Tahoma"/>
                <a:cs typeface="Tahoma"/>
              </a:rPr>
              <a:t> cannot</a:t>
            </a:r>
            <a:r>
              <a:rPr sz="1100" spc="-20" dirty="0">
                <a:latin typeface="Tahoma"/>
                <a:cs typeface="Tahoma"/>
              </a:rPr>
              <a:t> </a:t>
            </a:r>
            <a:r>
              <a:rPr sz="1100" spc="-10" dirty="0">
                <a:latin typeface="Tahoma"/>
                <a:cs typeface="Tahoma"/>
              </a:rPr>
              <a:t>replace.</a:t>
            </a:r>
            <a:endParaRPr sz="1100" dirty="0">
              <a:latin typeface="Tahoma"/>
              <a:cs typeface="Tahoma"/>
            </a:endParaRP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72527"/>
            <a:ext cx="3421379" cy="471805"/>
          </a:xfrm>
          <a:prstGeom prst="rect">
            <a:avLst/>
          </a:prstGeom>
        </p:spPr>
        <p:txBody>
          <a:bodyPr vert="horz" wrap="square" lIns="0" tIns="2540" rIns="0" bIns="0" rtlCol="0">
            <a:spAutoFit/>
          </a:bodyPr>
          <a:lstStyle/>
          <a:p>
            <a:pPr marL="12700" marR="5080">
              <a:lnSpc>
                <a:spcPct val="106700"/>
              </a:lnSpc>
              <a:spcBef>
                <a:spcPts val="20"/>
              </a:spcBef>
            </a:pPr>
            <a:r>
              <a:rPr spc="-10" dirty="0"/>
              <a:t>Using</a:t>
            </a:r>
            <a:r>
              <a:rPr spc="-60" dirty="0"/>
              <a:t> </a:t>
            </a:r>
            <a:r>
              <a:rPr spc="-45" dirty="0"/>
              <a:t>Gaussian</a:t>
            </a:r>
            <a:r>
              <a:rPr spc="-55" dirty="0"/>
              <a:t> </a:t>
            </a:r>
            <a:r>
              <a:rPr spc="-30" dirty="0"/>
              <a:t>elimination</a:t>
            </a:r>
            <a:r>
              <a:rPr spc="-55" dirty="0"/>
              <a:t> </a:t>
            </a:r>
            <a:r>
              <a:rPr dirty="0"/>
              <a:t>to</a:t>
            </a:r>
            <a:r>
              <a:rPr spc="-55" dirty="0"/>
              <a:t> </a:t>
            </a:r>
            <a:r>
              <a:rPr spc="-30" dirty="0"/>
              <a:t>check</a:t>
            </a:r>
            <a:r>
              <a:rPr spc="-60" dirty="0"/>
              <a:t> </a:t>
            </a:r>
            <a:r>
              <a:rPr spc="-10" dirty="0"/>
              <a:t>for</a:t>
            </a:r>
            <a:r>
              <a:rPr spc="-55" dirty="0"/>
              <a:t> </a:t>
            </a:r>
            <a:r>
              <a:rPr spc="-40" dirty="0"/>
              <a:t>linear </a:t>
            </a:r>
            <a:r>
              <a:rPr spc="-10" dirty="0"/>
              <a:t>independence</a:t>
            </a:r>
          </a:p>
        </p:txBody>
      </p:sp>
      <p:sp>
        <p:nvSpPr>
          <p:cNvPr id="3" name="object 3"/>
          <p:cNvSpPr txBox="1"/>
          <p:nvPr/>
        </p:nvSpPr>
        <p:spPr>
          <a:xfrm>
            <a:off x="247650" y="968375"/>
            <a:ext cx="4031297" cy="1864100"/>
          </a:xfrm>
          <a:prstGeom prst="rect">
            <a:avLst/>
          </a:prstGeom>
        </p:spPr>
        <p:txBody>
          <a:bodyPr vert="horz" wrap="square" lIns="0" tIns="6985" rIns="0" bIns="0" rtlCol="0">
            <a:spAutoFit/>
          </a:bodyPr>
          <a:lstStyle/>
          <a:p>
            <a:pPr marL="214629" marR="30480" indent="-177165">
              <a:lnSpc>
                <a:spcPct val="102600"/>
              </a:lnSpc>
              <a:spcBef>
                <a:spcPts val="55"/>
              </a:spcBef>
              <a:buClr>
                <a:srgbClr val="3333B2"/>
              </a:buClr>
              <a:buFont typeface="Lucida Sans Unicode"/>
              <a:buChar char="►"/>
              <a:tabLst>
                <a:tab pos="214629" algn="l"/>
              </a:tabLst>
            </a:pPr>
            <a:r>
              <a:rPr sz="1100" spc="55" dirty="0">
                <a:latin typeface="Tahoma"/>
                <a:cs typeface="Tahoma"/>
              </a:rPr>
              <a:t>A</a:t>
            </a:r>
            <a:r>
              <a:rPr sz="1100" spc="-40" dirty="0">
                <a:latin typeface="Tahoma"/>
                <a:cs typeface="Tahoma"/>
              </a:rPr>
              <a:t> </a:t>
            </a:r>
            <a:r>
              <a:rPr sz="1100" spc="-20" dirty="0">
                <a:latin typeface="Tahoma"/>
                <a:cs typeface="Tahoma"/>
              </a:rPr>
              <a:t>practical</a:t>
            </a:r>
            <a:r>
              <a:rPr sz="1100" spc="-25" dirty="0">
                <a:latin typeface="Tahoma"/>
                <a:cs typeface="Tahoma"/>
              </a:rPr>
              <a:t> </a:t>
            </a:r>
            <a:r>
              <a:rPr sz="1100" spc="-75" dirty="0">
                <a:latin typeface="Tahoma"/>
                <a:cs typeface="Tahoma"/>
              </a:rPr>
              <a:t>way</a:t>
            </a:r>
            <a:r>
              <a:rPr sz="1100" spc="-15" dirty="0">
                <a:latin typeface="Tahoma"/>
                <a:cs typeface="Tahoma"/>
              </a:rPr>
              <a:t> </a:t>
            </a:r>
            <a:r>
              <a:rPr sz="1100" dirty="0">
                <a:latin typeface="Tahoma"/>
                <a:cs typeface="Tahoma"/>
              </a:rPr>
              <a:t>of</a:t>
            </a:r>
            <a:r>
              <a:rPr sz="1100" spc="-25" dirty="0">
                <a:latin typeface="Tahoma"/>
                <a:cs typeface="Tahoma"/>
              </a:rPr>
              <a:t> </a:t>
            </a:r>
            <a:r>
              <a:rPr sz="1100" spc="-35" dirty="0">
                <a:latin typeface="Tahoma"/>
                <a:cs typeface="Tahoma"/>
              </a:rPr>
              <a:t>checking</a:t>
            </a:r>
            <a:r>
              <a:rPr sz="1100" spc="-30" dirty="0">
                <a:latin typeface="Tahoma"/>
                <a:cs typeface="Tahoma"/>
              </a:rPr>
              <a:t> </a:t>
            </a:r>
            <a:r>
              <a:rPr sz="1100" spc="-45" dirty="0">
                <a:latin typeface="Tahoma"/>
                <a:cs typeface="Tahoma"/>
              </a:rPr>
              <a:t>whether</a:t>
            </a:r>
            <a:r>
              <a:rPr sz="1100" spc="-25" dirty="0">
                <a:latin typeface="Tahoma"/>
                <a:cs typeface="Tahoma"/>
              </a:rPr>
              <a:t> </a:t>
            </a:r>
            <a:r>
              <a:rPr sz="1100" dirty="0">
                <a:latin typeface="Tahoma"/>
                <a:cs typeface="Tahoma"/>
              </a:rPr>
              <a:t>a</a:t>
            </a:r>
            <a:r>
              <a:rPr sz="1100" spc="-25" dirty="0">
                <a:latin typeface="Tahoma"/>
                <a:cs typeface="Tahoma"/>
              </a:rPr>
              <a:t> </a:t>
            </a:r>
            <a:r>
              <a:rPr sz="1100" spc="-35" dirty="0">
                <a:latin typeface="Tahoma"/>
                <a:cs typeface="Tahoma"/>
              </a:rPr>
              <a:t>bunch</a:t>
            </a:r>
            <a:r>
              <a:rPr sz="1100" spc="-25" dirty="0">
                <a:latin typeface="Tahoma"/>
                <a:cs typeface="Tahoma"/>
              </a:rPr>
              <a:t> </a:t>
            </a:r>
            <a:r>
              <a:rPr sz="1100" dirty="0">
                <a:latin typeface="Tahoma"/>
                <a:cs typeface="Tahoma"/>
              </a:rPr>
              <a:t>of</a:t>
            </a:r>
            <a:r>
              <a:rPr sz="1100" spc="-25" dirty="0">
                <a:latin typeface="Tahoma"/>
                <a:cs typeface="Tahoma"/>
              </a:rPr>
              <a:t> </a:t>
            </a:r>
            <a:r>
              <a:rPr sz="1100" spc="-45" dirty="0">
                <a:latin typeface="Tahoma"/>
                <a:cs typeface="Tahoma"/>
              </a:rPr>
              <a:t>vectors</a:t>
            </a:r>
            <a:r>
              <a:rPr sz="1100" spc="-30" dirty="0">
                <a:latin typeface="Tahoma"/>
                <a:cs typeface="Tahoma"/>
              </a:rPr>
              <a:t> </a:t>
            </a:r>
            <a:r>
              <a:rPr sz="1100" spc="-25" dirty="0">
                <a:latin typeface="Tahoma"/>
                <a:cs typeface="Tahoma"/>
              </a:rPr>
              <a:t>are </a:t>
            </a:r>
            <a:r>
              <a:rPr sz="1100" spc="-30" dirty="0">
                <a:latin typeface="Tahoma"/>
                <a:cs typeface="Tahoma"/>
              </a:rPr>
              <a:t>linearly</a:t>
            </a:r>
            <a:r>
              <a:rPr sz="1100" spc="-35" dirty="0">
                <a:latin typeface="Tahoma"/>
                <a:cs typeface="Tahoma"/>
              </a:rPr>
              <a:t> </a:t>
            </a:r>
            <a:r>
              <a:rPr sz="1100" spc="-45" dirty="0">
                <a:latin typeface="Tahoma"/>
                <a:cs typeface="Tahoma"/>
              </a:rPr>
              <a:t>independent</a:t>
            </a:r>
            <a:r>
              <a:rPr sz="1100" spc="-30" dirty="0">
                <a:latin typeface="Tahoma"/>
                <a:cs typeface="Tahoma"/>
              </a:rPr>
              <a:t> </a:t>
            </a:r>
            <a:r>
              <a:rPr sz="1100" dirty="0">
                <a:latin typeface="Tahoma"/>
                <a:cs typeface="Tahoma"/>
              </a:rPr>
              <a:t>is</a:t>
            </a:r>
            <a:r>
              <a:rPr sz="1100" spc="-30" dirty="0">
                <a:latin typeface="Tahoma"/>
                <a:cs typeface="Tahoma"/>
              </a:rPr>
              <a:t> </a:t>
            </a:r>
            <a:r>
              <a:rPr sz="1100" dirty="0">
                <a:latin typeface="Tahoma"/>
                <a:cs typeface="Tahoma"/>
              </a:rPr>
              <a:t>to</a:t>
            </a:r>
            <a:r>
              <a:rPr sz="1100" spc="-35" dirty="0">
                <a:latin typeface="Tahoma"/>
                <a:cs typeface="Tahoma"/>
              </a:rPr>
              <a:t> </a:t>
            </a:r>
            <a:r>
              <a:rPr sz="1100" dirty="0">
                <a:latin typeface="Tahoma"/>
                <a:cs typeface="Tahoma"/>
              </a:rPr>
              <a:t>fill</a:t>
            </a:r>
            <a:r>
              <a:rPr sz="1100" spc="-25" dirty="0">
                <a:latin typeface="Tahoma"/>
                <a:cs typeface="Tahoma"/>
              </a:rPr>
              <a:t> </a:t>
            </a:r>
            <a:r>
              <a:rPr sz="1100" dirty="0">
                <a:latin typeface="Tahoma"/>
                <a:cs typeface="Tahoma"/>
              </a:rPr>
              <a:t>out</a:t>
            </a:r>
            <a:r>
              <a:rPr sz="1100" spc="-30" dirty="0">
                <a:latin typeface="Tahoma"/>
                <a:cs typeface="Tahoma"/>
              </a:rPr>
              <a:t> </a:t>
            </a:r>
            <a:r>
              <a:rPr sz="1100" spc="-10" dirty="0">
                <a:latin typeface="Tahoma"/>
                <a:cs typeface="Tahoma"/>
              </a:rPr>
              <a:t>the</a:t>
            </a:r>
            <a:r>
              <a:rPr sz="1100" spc="-30" dirty="0">
                <a:latin typeface="Tahoma"/>
                <a:cs typeface="Tahoma"/>
              </a:rPr>
              <a:t> </a:t>
            </a:r>
            <a:r>
              <a:rPr sz="1100" spc="-40" dirty="0">
                <a:latin typeface="Tahoma"/>
                <a:cs typeface="Tahoma"/>
              </a:rPr>
              <a:t>columns</a:t>
            </a:r>
            <a:r>
              <a:rPr sz="1100" spc="-30" dirty="0">
                <a:latin typeface="Tahoma"/>
                <a:cs typeface="Tahoma"/>
              </a:rPr>
              <a:t> </a:t>
            </a:r>
            <a:r>
              <a:rPr sz="1100" dirty="0">
                <a:latin typeface="Tahoma"/>
                <a:cs typeface="Tahoma"/>
              </a:rPr>
              <a:t>of</a:t>
            </a:r>
            <a:r>
              <a:rPr sz="1100" spc="-30" dirty="0">
                <a:latin typeface="Tahoma"/>
                <a:cs typeface="Tahoma"/>
              </a:rPr>
              <a:t> </a:t>
            </a:r>
            <a:r>
              <a:rPr sz="1100" dirty="0">
                <a:latin typeface="Tahoma"/>
                <a:cs typeface="Tahoma"/>
              </a:rPr>
              <a:t>a</a:t>
            </a:r>
            <a:r>
              <a:rPr sz="1100" spc="-30" dirty="0">
                <a:latin typeface="Tahoma"/>
                <a:cs typeface="Tahoma"/>
              </a:rPr>
              <a:t> </a:t>
            </a:r>
            <a:r>
              <a:rPr sz="1100" spc="-20" dirty="0">
                <a:latin typeface="Tahoma"/>
                <a:cs typeface="Tahoma"/>
              </a:rPr>
              <a:t>matrix</a:t>
            </a:r>
            <a:r>
              <a:rPr sz="1100" spc="-30" dirty="0">
                <a:latin typeface="Tahoma"/>
                <a:cs typeface="Tahoma"/>
              </a:rPr>
              <a:t> </a:t>
            </a:r>
            <a:r>
              <a:rPr sz="1100" spc="-20" dirty="0">
                <a:latin typeface="Tahoma"/>
                <a:cs typeface="Tahoma"/>
              </a:rPr>
              <a:t>with </a:t>
            </a:r>
            <a:r>
              <a:rPr sz="1100" spc="-10" dirty="0">
                <a:latin typeface="Tahoma"/>
                <a:cs typeface="Tahoma"/>
              </a:rPr>
              <a:t>the</a:t>
            </a:r>
            <a:r>
              <a:rPr sz="1100" spc="-45" dirty="0">
                <a:latin typeface="Tahoma"/>
                <a:cs typeface="Tahoma"/>
              </a:rPr>
              <a:t> </a:t>
            </a:r>
            <a:r>
              <a:rPr sz="1100" spc="-40" dirty="0">
                <a:latin typeface="Tahoma"/>
                <a:cs typeface="Tahoma"/>
              </a:rPr>
              <a:t>given</a:t>
            </a:r>
            <a:r>
              <a:rPr sz="1100" spc="-45" dirty="0">
                <a:latin typeface="Tahoma"/>
                <a:cs typeface="Tahoma"/>
              </a:rPr>
              <a:t> vectors</a:t>
            </a:r>
            <a:r>
              <a:rPr sz="1100" spc="-40" dirty="0">
                <a:latin typeface="Tahoma"/>
                <a:cs typeface="Tahoma"/>
              </a:rPr>
              <a:t> </a:t>
            </a:r>
            <a:r>
              <a:rPr sz="1100" spc="-35" dirty="0">
                <a:latin typeface="Tahoma"/>
                <a:cs typeface="Tahoma"/>
              </a:rPr>
              <a:t>and</a:t>
            </a:r>
            <a:r>
              <a:rPr sz="1100" spc="-45" dirty="0">
                <a:latin typeface="Tahoma"/>
                <a:cs typeface="Tahoma"/>
              </a:rPr>
              <a:t> </a:t>
            </a:r>
            <a:r>
              <a:rPr sz="1100" spc="-25" dirty="0">
                <a:latin typeface="Tahoma"/>
                <a:cs typeface="Tahoma"/>
              </a:rPr>
              <a:t>then</a:t>
            </a:r>
            <a:r>
              <a:rPr sz="1100" spc="-40" dirty="0">
                <a:latin typeface="Tahoma"/>
                <a:cs typeface="Tahoma"/>
              </a:rPr>
              <a:t> perform </a:t>
            </a:r>
            <a:r>
              <a:rPr sz="1100" spc="-35" dirty="0">
                <a:latin typeface="Tahoma"/>
                <a:cs typeface="Tahoma"/>
              </a:rPr>
              <a:t>Gaussian</a:t>
            </a:r>
            <a:r>
              <a:rPr sz="1100" spc="-45" dirty="0">
                <a:latin typeface="Tahoma"/>
                <a:cs typeface="Tahoma"/>
              </a:rPr>
              <a:t> </a:t>
            </a:r>
            <a:r>
              <a:rPr sz="1100" spc="-25" dirty="0">
                <a:latin typeface="Tahoma"/>
                <a:cs typeface="Tahoma"/>
              </a:rPr>
              <a:t>elimination</a:t>
            </a:r>
            <a:r>
              <a:rPr sz="1100" spc="-40" dirty="0">
                <a:latin typeface="Tahoma"/>
                <a:cs typeface="Tahoma"/>
              </a:rPr>
              <a:t> </a:t>
            </a:r>
            <a:r>
              <a:rPr sz="1100" spc="-25" dirty="0">
                <a:latin typeface="Tahoma"/>
                <a:cs typeface="Tahoma"/>
              </a:rPr>
              <a:t>to </a:t>
            </a:r>
            <a:r>
              <a:rPr sz="1100" spc="-20" dirty="0">
                <a:latin typeface="Tahoma"/>
                <a:cs typeface="Tahoma"/>
              </a:rPr>
              <a:t>get</a:t>
            </a:r>
            <a:r>
              <a:rPr sz="1100" spc="-55" dirty="0">
                <a:latin typeface="Tahoma"/>
                <a:cs typeface="Tahoma"/>
              </a:rPr>
              <a:t> </a:t>
            </a:r>
            <a:r>
              <a:rPr sz="1100" spc="-10" dirty="0">
                <a:latin typeface="Tahoma"/>
                <a:cs typeface="Tahoma"/>
              </a:rPr>
              <a:t>the</a:t>
            </a:r>
            <a:r>
              <a:rPr sz="1100" spc="-50" dirty="0">
                <a:latin typeface="Tahoma"/>
                <a:cs typeface="Tahoma"/>
              </a:rPr>
              <a:t> </a:t>
            </a:r>
            <a:r>
              <a:rPr sz="1100" spc="-70" dirty="0">
                <a:latin typeface="Tahoma"/>
                <a:cs typeface="Tahoma"/>
              </a:rPr>
              <a:t>row-</a:t>
            </a:r>
            <a:r>
              <a:rPr sz="1100" spc="-45" dirty="0">
                <a:latin typeface="Tahoma"/>
                <a:cs typeface="Tahoma"/>
              </a:rPr>
              <a:t>echelon</a:t>
            </a:r>
            <a:r>
              <a:rPr sz="1100" spc="-40" dirty="0">
                <a:latin typeface="Tahoma"/>
                <a:cs typeface="Tahoma"/>
              </a:rPr>
              <a:t> </a:t>
            </a:r>
            <a:r>
              <a:rPr sz="1100" spc="-20" dirty="0">
                <a:latin typeface="Tahoma"/>
                <a:cs typeface="Tahoma"/>
              </a:rPr>
              <a:t>form</a:t>
            </a:r>
            <a:endParaRPr lang="en-IN" sz="1100" spc="-20" dirty="0">
              <a:latin typeface="Tahoma"/>
              <a:cs typeface="Tahoma"/>
            </a:endParaRPr>
          </a:p>
          <a:p>
            <a:pPr marL="37464" marR="30480">
              <a:lnSpc>
                <a:spcPct val="102600"/>
              </a:lnSpc>
              <a:spcBef>
                <a:spcPts val="55"/>
              </a:spcBef>
              <a:buClr>
                <a:srgbClr val="3333B2"/>
              </a:buClr>
              <a:tabLst>
                <a:tab pos="214629" algn="l"/>
              </a:tabLst>
            </a:pPr>
            <a:endParaRPr sz="1100" dirty="0">
              <a:latin typeface="Tahoma"/>
              <a:cs typeface="Tahoma"/>
            </a:endParaRPr>
          </a:p>
          <a:p>
            <a:pPr marL="214629" marR="249554" indent="-177165">
              <a:lnSpc>
                <a:spcPct val="102699"/>
              </a:lnSpc>
              <a:spcBef>
                <a:spcPts val="300"/>
              </a:spcBef>
              <a:buClr>
                <a:srgbClr val="3333B2"/>
              </a:buClr>
              <a:buFont typeface="Lucida Sans Unicode"/>
              <a:buChar char="►"/>
              <a:tabLst>
                <a:tab pos="214629" algn="l"/>
              </a:tabLst>
            </a:pPr>
            <a:r>
              <a:rPr sz="1100" dirty="0">
                <a:latin typeface="Tahoma"/>
                <a:cs typeface="Tahoma"/>
              </a:rPr>
              <a:t>The</a:t>
            </a:r>
            <a:r>
              <a:rPr sz="1100" spc="-30" dirty="0">
                <a:latin typeface="Tahoma"/>
                <a:cs typeface="Tahoma"/>
              </a:rPr>
              <a:t> </a:t>
            </a:r>
            <a:r>
              <a:rPr sz="1100" spc="-10" dirty="0">
                <a:latin typeface="Tahoma"/>
                <a:cs typeface="Tahoma"/>
              </a:rPr>
              <a:t>pivot</a:t>
            </a:r>
            <a:r>
              <a:rPr sz="1100" spc="-25" dirty="0">
                <a:latin typeface="Tahoma"/>
                <a:cs typeface="Tahoma"/>
              </a:rPr>
              <a:t> </a:t>
            </a:r>
            <a:r>
              <a:rPr sz="1100" spc="-40" dirty="0">
                <a:latin typeface="Tahoma"/>
                <a:cs typeface="Tahoma"/>
              </a:rPr>
              <a:t>columns</a:t>
            </a:r>
            <a:r>
              <a:rPr sz="1100" spc="-35" dirty="0">
                <a:latin typeface="Tahoma"/>
                <a:cs typeface="Tahoma"/>
              </a:rPr>
              <a:t> </a:t>
            </a:r>
            <a:r>
              <a:rPr sz="1100" spc="-20" dirty="0">
                <a:latin typeface="Tahoma"/>
                <a:cs typeface="Tahoma"/>
              </a:rPr>
              <a:t>indicate</a:t>
            </a:r>
            <a:r>
              <a:rPr sz="1100" spc="-25" dirty="0">
                <a:latin typeface="Tahoma"/>
                <a:cs typeface="Tahoma"/>
              </a:rPr>
              <a:t> </a:t>
            </a:r>
            <a:r>
              <a:rPr sz="1100" dirty="0">
                <a:latin typeface="Tahoma"/>
                <a:cs typeface="Tahoma"/>
              </a:rPr>
              <a:t>all</a:t>
            </a:r>
            <a:r>
              <a:rPr sz="1100" spc="-25" dirty="0">
                <a:latin typeface="Tahoma"/>
                <a:cs typeface="Tahoma"/>
              </a:rPr>
              <a:t> </a:t>
            </a:r>
            <a:r>
              <a:rPr sz="1100" spc="-10" dirty="0">
                <a:latin typeface="Tahoma"/>
                <a:cs typeface="Tahoma"/>
              </a:rPr>
              <a:t>the</a:t>
            </a:r>
            <a:r>
              <a:rPr sz="1100" spc="-30" dirty="0">
                <a:latin typeface="Tahoma"/>
                <a:cs typeface="Tahoma"/>
              </a:rPr>
              <a:t> </a:t>
            </a:r>
            <a:r>
              <a:rPr sz="1100" spc="-50" dirty="0">
                <a:latin typeface="Tahoma"/>
                <a:cs typeface="Tahoma"/>
              </a:rPr>
              <a:t>vectors</a:t>
            </a:r>
            <a:r>
              <a:rPr sz="1100" spc="-25" dirty="0">
                <a:latin typeface="Tahoma"/>
                <a:cs typeface="Tahoma"/>
              </a:rPr>
              <a:t> </a:t>
            </a:r>
            <a:r>
              <a:rPr sz="1100" dirty="0">
                <a:latin typeface="Tahoma"/>
                <a:cs typeface="Tahoma"/>
              </a:rPr>
              <a:t>that</a:t>
            </a:r>
            <a:r>
              <a:rPr sz="1100" spc="-30" dirty="0">
                <a:latin typeface="Tahoma"/>
                <a:cs typeface="Tahoma"/>
              </a:rPr>
              <a:t> </a:t>
            </a:r>
            <a:r>
              <a:rPr sz="1100" spc="-60" dirty="0">
                <a:latin typeface="Tahoma"/>
                <a:cs typeface="Tahoma"/>
              </a:rPr>
              <a:t>are</a:t>
            </a:r>
            <a:r>
              <a:rPr sz="1100" spc="-30" dirty="0">
                <a:latin typeface="Tahoma"/>
                <a:cs typeface="Tahoma"/>
              </a:rPr>
              <a:t> </a:t>
            </a:r>
            <a:r>
              <a:rPr sz="1100" spc="-35" dirty="0">
                <a:latin typeface="Tahoma"/>
                <a:cs typeface="Tahoma"/>
              </a:rPr>
              <a:t>linearly </a:t>
            </a:r>
            <a:r>
              <a:rPr sz="1100" spc="-45" dirty="0">
                <a:latin typeface="Tahoma"/>
                <a:cs typeface="Tahoma"/>
              </a:rPr>
              <a:t>independent, </a:t>
            </a:r>
            <a:r>
              <a:rPr sz="1100" spc="-35" dirty="0">
                <a:latin typeface="Tahoma"/>
                <a:cs typeface="Tahoma"/>
              </a:rPr>
              <a:t>and</a:t>
            </a:r>
            <a:r>
              <a:rPr sz="1100" spc="-45" dirty="0">
                <a:latin typeface="Tahoma"/>
                <a:cs typeface="Tahoma"/>
              </a:rPr>
              <a:t> </a:t>
            </a:r>
            <a:r>
              <a:rPr sz="1100" spc="-25" dirty="0">
                <a:latin typeface="Tahoma"/>
                <a:cs typeface="Tahoma"/>
              </a:rPr>
              <a:t>they</a:t>
            </a:r>
            <a:r>
              <a:rPr sz="1100" spc="-40" dirty="0">
                <a:latin typeface="Tahoma"/>
                <a:cs typeface="Tahoma"/>
              </a:rPr>
              <a:t> </a:t>
            </a:r>
            <a:r>
              <a:rPr sz="1100" spc="-60" dirty="0">
                <a:latin typeface="Tahoma"/>
                <a:cs typeface="Tahoma"/>
              </a:rPr>
              <a:t>are</a:t>
            </a:r>
            <a:r>
              <a:rPr sz="1100" spc="-25" dirty="0">
                <a:latin typeface="Tahoma"/>
                <a:cs typeface="Tahoma"/>
              </a:rPr>
              <a:t> </a:t>
            </a:r>
            <a:r>
              <a:rPr sz="1100" dirty="0">
                <a:latin typeface="Tahoma"/>
                <a:cs typeface="Tahoma"/>
              </a:rPr>
              <a:t>all</a:t>
            </a:r>
            <a:r>
              <a:rPr sz="1100" spc="-40" dirty="0">
                <a:latin typeface="Tahoma"/>
                <a:cs typeface="Tahoma"/>
              </a:rPr>
              <a:t> </a:t>
            </a:r>
            <a:r>
              <a:rPr sz="1100" spc="-10" dirty="0">
                <a:latin typeface="Tahoma"/>
                <a:cs typeface="Tahoma"/>
              </a:rPr>
              <a:t>on</a:t>
            </a:r>
            <a:r>
              <a:rPr sz="1100" spc="-35" dirty="0">
                <a:latin typeface="Tahoma"/>
                <a:cs typeface="Tahoma"/>
              </a:rPr>
              <a:t> </a:t>
            </a:r>
            <a:r>
              <a:rPr sz="1100" spc="-10" dirty="0">
                <a:latin typeface="Tahoma"/>
                <a:cs typeface="Tahoma"/>
              </a:rPr>
              <a:t>the</a:t>
            </a:r>
            <a:r>
              <a:rPr sz="1100" spc="-40" dirty="0">
                <a:latin typeface="Tahoma"/>
                <a:cs typeface="Tahoma"/>
              </a:rPr>
              <a:t> </a:t>
            </a:r>
            <a:r>
              <a:rPr sz="1100" spc="-10" dirty="0">
                <a:latin typeface="Tahoma"/>
                <a:cs typeface="Tahoma"/>
              </a:rPr>
              <a:t>left.</a:t>
            </a:r>
            <a:endParaRPr lang="en-IN" sz="1100" spc="-10" dirty="0">
              <a:latin typeface="Tahoma"/>
              <a:cs typeface="Tahoma"/>
            </a:endParaRPr>
          </a:p>
          <a:p>
            <a:pPr marL="37464" marR="249554">
              <a:lnSpc>
                <a:spcPct val="102699"/>
              </a:lnSpc>
              <a:spcBef>
                <a:spcPts val="300"/>
              </a:spcBef>
              <a:buClr>
                <a:srgbClr val="3333B2"/>
              </a:buClr>
              <a:tabLst>
                <a:tab pos="214629" algn="l"/>
              </a:tabLst>
            </a:pPr>
            <a:endParaRPr sz="1100" dirty="0">
              <a:latin typeface="Tahoma"/>
              <a:cs typeface="Tahoma"/>
            </a:endParaRPr>
          </a:p>
          <a:p>
            <a:pPr marL="214629" marR="646430" indent="-177165">
              <a:lnSpc>
                <a:spcPct val="102600"/>
              </a:lnSpc>
              <a:spcBef>
                <a:spcPts val="300"/>
              </a:spcBef>
              <a:buClr>
                <a:srgbClr val="3333B2"/>
              </a:buClr>
              <a:buFont typeface="Lucida Sans Unicode"/>
              <a:buChar char="►"/>
              <a:tabLst>
                <a:tab pos="214629" algn="l"/>
              </a:tabLst>
            </a:pPr>
            <a:r>
              <a:rPr sz="1100" dirty="0">
                <a:latin typeface="Tahoma"/>
                <a:cs typeface="Tahoma"/>
              </a:rPr>
              <a:t>The</a:t>
            </a:r>
            <a:r>
              <a:rPr sz="1100" spc="-40" dirty="0">
                <a:latin typeface="Tahoma"/>
                <a:cs typeface="Tahoma"/>
              </a:rPr>
              <a:t> </a:t>
            </a:r>
            <a:r>
              <a:rPr sz="1100" spc="-45" dirty="0">
                <a:latin typeface="Tahoma"/>
                <a:cs typeface="Tahoma"/>
              </a:rPr>
              <a:t>non-</a:t>
            </a:r>
            <a:r>
              <a:rPr sz="1100" spc="-20" dirty="0">
                <a:latin typeface="Tahoma"/>
                <a:cs typeface="Tahoma"/>
              </a:rPr>
              <a:t>pivot</a:t>
            </a:r>
            <a:r>
              <a:rPr sz="1100" spc="-25" dirty="0">
                <a:latin typeface="Tahoma"/>
                <a:cs typeface="Tahoma"/>
              </a:rPr>
              <a:t> </a:t>
            </a:r>
            <a:r>
              <a:rPr sz="1100" spc="-40" dirty="0">
                <a:latin typeface="Tahoma"/>
                <a:cs typeface="Tahoma"/>
              </a:rPr>
              <a:t>columns</a:t>
            </a:r>
            <a:r>
              <a:rPr sz="1100" spc="-30" dirty="0">
                <a:latin typeface="Tahoma"/>
                <a:cs typeface="Tahoma"/>
              </a:rPr>
              <a:t> </a:t>
            </a:r>
            <a:r>
              <a:rPr sz="1100" spc="-20" dirty="0">
                <a:latin typeface="Tahoma"/>
                <a:cs typeface="Tahoma"/>
              </a:rPr>
              <a:t>can</a:t>
            </a:r>
            <a:r>
              <a:rPr sz="1100" spc="-30" dirty="0">
                <a:latin typeface="Tahoma"/>
                <a:cs typeface="Tahoma"/>
              </a:rPr>
              <a:t> </a:t>
            </a:r>
            <a:r>
              <a:rPr sz="1100" spc="-10" dirty="0">
                <a:latin typeface="Tahoma"/>
                <a:cs typeface="Tahoma"/>
              </a:rPr>
              <a:t>be</a:t>
            </a:r>
            <a:r>
              <a:rPr sz="1100" spc="-25" dirty="0">
                <a:latin typeface="Tahoma"/>
                <a:cs typeface="Tahoma"/>
              </a:rPr>
              <a:t> </a:t>
            </a:r>
            <a:r>
              <a:rPr sz="1100" spc="-75" dirty="0">
                <a:latin typeface="Tahoma"/>
                <a:cs typeface="Tahoma"/>
              </a:rPr>
              <a:t>expressed</a:t>
            </a:r>
            <a:r>
              <a:rPr sz="1100" spc="-10" dirty="0">
                <a:latin typeface="Tahoma"/>
                <a:cs typeface="Tahoma"/>
              </a:rPr>
              <a:t> </a:t>
            </a:r>
            <a:r>
              <a:rPr sz="1100" spc="-30" dirty="0">
                <a:latin typeface="Tahoma"/>
                <a:cs typeface="Tahoma"/>
              </a:rPr>
              <a:t>as </a:t>
            </a:r>
            <a:r>
              <a:rPr sz="1100" dirty="0">
                <a:latin typeface="Tahoma"/>
                <a:cs typeface="Tahoma"/>
              </a:rPr>
              <a:t>a</a:t>
            </a:r>
            <a:r>
              <a:rPr sz="1100" spc="-25" dirty="0">
                <a:latin typeface="Tahoma"/>
                <a:cs typeface="Tahoma"/>
              </a:rPr>
              <a:t> </a:t>
            </a:r>
            <a:r>
              <a:rPr sz="1100" spc="-40" dirty="0">
                <a:latin typeface="Tahoma"/>
                <a:cs typeface="Tahoma"/>
              </a:rPr>
              <a:t>linear </a:t>
            </a:r>
            <a:r>
              <a:rPr sz="1100" spc="-30" dirty="0">
                <a:latin typeface="Tahoma"/>
                <a:cs typeface="Tahoma"/>
              </a:rPr>
              <a:t>combination</a:t>
            </a:r>
            <a:r>
              <a:rPr sz="1100" spc="-50" dirty="0">
                <a:latin typeface="Tahoma"/>
                <a:cs typeface="Tahoma"/>
              </a:rPr>
              <a:t> </a:t>
            </a:r>
            <a:r>
              <a:rPr sz="1100" dirty="0">
                <a:latin typeface="Tahoma"/>
                <a:cs typeface="Tahoma"/>
              </a:rPr>
              <a:t>of</a:t>
            </a:r>
            <a:r>
              <a:rPr sz="1100" spc="-45" dirty="0">
                <a:latin typeface="Tahoma"/>
                <a:cs typeface="Tahoma"/>
              </a:rPr>
              <a:t> </a:t>
            </a:r>
            <a:r>
              <a:rPr sz="1100" spc="-10" dirty="0">
                <a:latin typeface="Tahoma"/>
                <a:cs typeface="Tahoma"/>
              </a:rPr>
              <a:t>the</a:t>
            </a:r>
            <a:r>
              <a:rPr sz="1100" spc="-45" dirty="0">
                <a:latin typeface="Tahoma"/>
                <a:cs typeface="Tahoma"/>
              </a:rPr>
              <a:t> </a:t>
            </a:r>
            <a:r>
              <a:rPr sz="1100" spc="-10" dirty="0">
                <a:latin typeface="Tahoma"/>
                <a:cs typeface="Tahoma"/>
              </a:rPr>
              <a:t>pivot</a:t>
            </a:r>
            <a:r>
              <a:rPr sz="1100" spc="-50" dirty="0">
                <a:latin typeface="Tahoma"/>
                <a:cs typeface="Tahoma"/>
              </a:rPr>
              <a:t> </a:t>
            </a:r>
            <a:r>
              <a:rPr sz="1100" spc="-10" dirty="0">
                <a:latin typeface="Tahoma"/>
                <a:cs typeface="Tahoma"/>
              </a:rPr>
              <a:t>columns</a:t>
            </a:r>
            <a:endParaRPr sz="1100" dirty="0">
              <a:latin typeface="Tahoma"/>
              <a:cs typeface="Tahoma"/>
            </a:endParaRP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53670" y="739775"/>
                <a:ext cx="4149090" cy="2283935"/>
              </a:xfrm>
            </p:spPr>
            <p:txBody>
              <a:bodyPr>
                <a:normAutofit fontScale="70000" lnSpcReduction="20000"/>
              </a:bodyPr>
              <a:lstStyle/>
              <a:p>
                <a:endParaRPr lang="en-US" dirty="0"/>
              </a:p>
              <a:p>
                <a:r>
                  <a:rPr lang="en-US" dirty="0"/>
                  <a:t>Determine whether the set </a:t>
                </a:r>
                <a14:m>
                  <m:oMath xmlns:m="http://schemas.openxmlformats.org/officeDocument/2006/math">
                    <m:d>
                      <m:dPr>
                        <m:begChr m:val="{"/>
                        <m:endChr m:val="}"/>
                        <m:ctrlPr>
                          <a:rPr lang="en-IN" b="0" i="1" smtClean="0">
                            <a:latin typeface="Cambria Math" panose="02040503050406030204" pitchFamily="18" charset="0"/>
                          </a:rPr>
                        </m:ctrlPr>
                      </m:dPr>
                      <m:e>
                        <m:d>
                          <m:dPr>
                            <m:begChr m:val="["/>
                            <m:endChr m:val="]"/>
                            <m:ctrlPr>
                              <a:rPr lang="en-IN" b="0" i="1" smtClean="0">
                                <a:latin typeface="Cambria Math" panose="02040503050406030204" pitchFamily="18" charset="0"/>
                              </a:rPr>
                            </m:ctrlPr>
                          </m:dPr>
                          <m:e>
                            <m:m>
                              <m:mPr>
                                <m:mcs>
                                  <m:mc>
                                    <m:mcPr>
                                      <m:count m:val="1"/>
                                      <m:mcJc m:val="center"/>
                                    </m:mcPr>
                                  </m:mc>
                                </m:mcs>
                                <m:ctrlPr>
                                  <a:rPr lang="en-IN" b="0" i="1" smtClean="0">
                                    <a:latin typeface="Cambria Math" panose="02040503050406030204" pitchFamily="18" charset="0"/>
                                  </a:rPr>
                                </m:ctrlPr>
                              </m:mP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1</m:t>
                                        </m:r>
                                      </m:e>
                                    </m:mr>
                                    <m:mr>
                                      <m:e>
                                        <m:r>
                                          <a:rPr lang="en-IN" b="0" i="1" smtClean="0">
                                            <a:latin typeface="Cambria Math" panose="02040503050406030204" pitchFamily="18" charset="0"/>
                                          </a:rPr>
                                          <m:t>2</m:t>
                                        </m:r>
                                      </m:e>
                                    </m:mr>
                                  </m:m>
                                </m:e>
                              </m:m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3</m:t>
                                        </m:r>
                                      </m:e>
                                    </m:mr>
                                    <m:mr>
                                      <m:e>
                                        <m:r>
                                          <a:rPr lang="en-IN" b="0" i="1" smtClean="0">
                                            <a:latin typeface="Cambria Math" panose="02040503050406030204" pitchFamily="18" charset="0"/>
                                          </a:rPr>
                                          <m:t>1</m:t>
                                        </m:r>
                                      </m:e>
                                    </m:mr>
                                  </m:m>
                                </m:e>
                              </m:mr>
                            </m:m>
                          </m:e>
                        </m:d>
                        <m:r>
                          <a:rPr lang="en-IN" b="0" i="0" smtClean="0">
                            <a:latin typeface="Cambria Math" panose="02040503050406030204" pitchFamily="18" charset="0"/>
                          </a:rPr>
                          <m:t>,</m:t>
                        </m:r>
                        <m:d>
                          <m:dPr>
                            <m:begChr m:val="["/>
                            <m:endChr m:val="]"/>
                            <m:ctrlPr>
                              <a:rPr lang="en-IN" i="1">
                                <a:latin typeface="Cambria Math" panose="02040503050406030204" pitchFamily="18" charset="0"/>
                              </a:rPr>
                            </m:ctrlPr>
                          </m:dPr>
                          <m:e>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i="1">
                                            <a:latin typeface="Cambria Math" panose="02040503050406030204" pitchFamily="18" charset="0"/>
                                          </a:rPr>
                                          <m:t>1</m:t>
                                        </m:r>
                                      </m:e>
                                    </m:mr>
                                    <m:mr>
                                      <m:e>
                                        <m:r>
                                          <a:rPr lang="en-IN" b="0" i="1" smtClean="0">
                                            <a:latin typeface="Cambria Math" panose="02040503050406030204" pitchFamily="18" charset="0"/>
                                          </a:rPr>
                                          <m:t>1</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1</m:t>
                                        </m:r>
                                      </m:e>
                                    </m:mr>
                                    <m:mr>
                                      <m:e>
                                        <m:r>
                                          <a:rPr lang="en-IN" i="1">
                                            <a:latin typeface="Cambria Math" panose="02040503050406030204" pitchFamily="18" charset="0"/>
                                          </a:rPr>
                                          <m:t>1</m:t>
                                        </m:r>
                                      </m:e>
                                    </m:mr>
                                  </m:m>
                                </m:e>
                              </m:mr>
                            </m:m>
                          </m:e>
                        </m:d>
                        <m:r>
                          <a:rPr lang="en-IN" b="0" i="0" smtClean="0">
                            <a:latin typeface="Cambria Math" panose="02040503050406030204" pitchFamily="18" charset="0"/>
                          </a:rPr>
                          <m:t>,</m:t>
                        </m:r>
                        <m:d>
                          <m:dPr>
                            <m:begChr m:val="["/>
                            <m:endChr m:val="]"/>
                            <m:ctrlPr>
                              <a:rPr lang="en-IN" i="1">
                                <a:latin typeface="Cambria Math" panose="02040503050406030204" pitchFamily="18" charset="0"/>
                              </a:rPr>
                            </m:ctrlPr>
                          </m:dPr>
                          <m:e>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2</m:t>
                                        </m:r>
                                      </m:e>
                                    </m:mr>
                                    <m:mr>
                                      <m:e>
                                        <m:r>
                                          <a:rPr lang="en-IN" b="0" i="1" smtClean="0">
                                            <a:latin typeface="Cambria Math" panose="02040503050406030204" pitchFamily="18" charset="0"/>
                                          </a:rPr>
                                          <m:t>1</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4</m:t>
                                        </m:r>
                                      </m:e>
                                    </m:mr>
                                    <m:mr>
                                      <m:e>
                                        <m:r>
                                          <a:rPr lang="en-IN" b="0" i="1" smtClean="0">
                                            <a:latin typeface="Cambria Math" panose="02040503050406030204" pitchFamily="18" charset="0"/>
                                          </a:rPr>
                                          <m:t>2</m:t>
                                        </m:r>
                                      </m:e>
                                    </m:mr>
                                  </m:m>
                                </m:e>
                              </m:mr>
                            </m:m>
                          </m:e>
                        </m:d>
                      </m:e>
                    </m:d>
                    <m:r>
                      <a:rPr lang="en-IN" b="0" i="1" smtClean="0">
                        <a:latin typeface="Cambria Math" panose="02040503050406030204" pitchFamily="18" charset="0"/>
                      </a:rPr>
                      <m:t> </m:t>
                    </m:r>
                  </m:oMath>
                </a14:m>
                <a:r>
                  <a:rPr lang="en-US" dirty="0"/>
                  <a:t>is a linearly</a:t>
                </a:r>
              </a:p>
              <a:p>
                <a:r>
                  <a:rPr lang="en-US" dirty="0"/>
                  <a:t> independent subset of R</a:t>
                </a:r>
                <a:r>
                  <a:rPr lang="en-US" baseline="30000" dirty="0"/>
                  <a:t>4</a:t>
                </a:r>
                <a:r>
                  <a:rPr lang="en-US" dirty="0"/>
                  <a:t>.</a:t>
                </a:r>
              </a:p>
              <a:p>
                <a:endParaRPr lang="en-US" dirty="0"/>
              </a:p>
              <a:p>
                <a:r>
                  <a:rPr lang="en-US" dirty="0"/>
                  <a:t>Suppose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1</m:t>
                        </m:r>
                      </m:sub>
                    </m:sSub>
                    <m:d>
                      <m:dPr>
                        <m:begChr m:val="["/>
                        <m:endChr m:val="]"/>
                        <m:ctrlPr>
                          <a:rPr lang="en-IN" b="0" i="1" smtClean="0">
                            <a:latin typeface="Cambria Math" panose="02040503050406030204" pitchFamily="18" charset="0"/>
                          </a:rPr>
                        </m:ctrlPr>
                      </m:dPr>
                      <m:e>
                        <m:m>
                          <m:mPr>
                            <m:mcs>
                              <m:mc>
                                <m:mcPr>
                                  <m:count m:val="1"/>
                                  <m:mcJc m:val="center"/>
                                </m:mcPr>
                              </m:mc>
                            </m:mcs>
                            <m:ctrlPr>
                              <a:rPr lang="en-IN" b="0" i="1" smtClean="0">
                                <a:latin typeface="Cambria Math" panose="02040503050406030204" pitchFamily="18" charset="0"/>
                              </a:rPr>
                            </m:ctrlPr>
                          </m:mP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1</m:t>
                                    </m:r>
                                  </m:e>
                                </m:mr>
                                <m:mr>
                                  <m:e>
                                    <m:r>
                                      <a:rPr lang="en-IN" b="0" i="1" smtClean="0">
                                        <a:latin typeface="Cambria Math" panose="02040503050406030204" pitchFamily="18" charset="0"/>
                                      </a:rPr>
                                      <m:t>2</m:t>
                                    </m:r>
                                  </m:e>
                                </m:mr>
                              </m:m>
                            </m:e>
                          </m:m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3</m:t>
                                    </m:r>
                                  </m:e>
                                </m:mr>
                                <m:mr>
                                  <m:e>
                                    <m:r>
                                      <a:rPr lang="en-IN" b="0" i="1" smtClean="0">
                                        <a:latin typeface="Cambria Math" panose="02040503050406030204" pitchFamily="18" charset="0"/>
                                      </a:rPr>
                                      <m:t>1</m:t>
                                    </m:r>
                                  </m:e>
                                </m:mr>
                              </m:m>
                            </m:e>
                          </m:mr>
                        </m:m>
                      </m:e>
                    </m:d>
                    <m:r>
                      <a:rPr lang="en-IN" b="0" i="0"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2</m:t>
                        </m:r>
                      </m:sub>
                    </m:sSub>
                    <m:d>
                      <m:dPr>
                        <m:begChr m:val="["/>
                        <m:endChr m:val="]"/>
                        <m:ctrlPr>
                          <a:rPr lang="en-IN" i="1">
                            <a:latin typeface="Cambria Math" panose="02040503050406030204" pitchFamily="18" charset="0"/>
                          </a:rPr>
                        </m:ctrlPr>
                      </m:dPr>
                      <m:e>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i="1">
                                        <a:latin typeface="Cambria Math" panose="02040503050406030204" pitchFamily="18" charset="0"/>
                                      </a:rPr>
                                      <m:t>1</m:t>
                                    </m:r>
                                  </m:e>
                                </m:mr>
                                <m:mr>
                                  <m:e>
                                    <m:r>
                                      <a:rPr lang="en-IN" b="0" i="1" smtClean="0">
                                        <a:latin typeface="Cambria Math" panose="02040503050406030204" pitchFamily="18" charset="0"/>
                                      </a:rPr>
                                      <m:t>1</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1</m:t>
                                    </m:r>
                                  </m:e>
                                </m:mr>
                                <m:mr>
                                  <m:e>
                                    <m:r>
                                      <a:rPr lang="en-IN" i="1">
                                        <a:latin typeface="Cambria Math" panose="02040503050406030204" pitchFamily="18" charset="0"/>
                                      </a:rPr>
                                      <m:t>1</m:t>
                                    </m:r>
                                  </m:e>
                                </m:mr>
                              </m:m>
                            </m:e>
                          </m:mr>
                        </m:m>
                      </m:e>
                    </m:d>
                    <m:r>
                      <a:rPr lang="en-IN" b="0" i="0"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3</m:t>
                        </m:r>
                      </m:sub>
                    </m:sSub>
                    <m:d>
                      <m:dPr>
                        <m:begChr m:val="["/>
                        <m:endChr m:val="]"/>
                        <m:ctrlPr>
                          <a:rPr lang="en-IN" i="1">
                            <a:latin typeface="Cambria Math" panose="02040503050406030204" pitchFamily="18" charset="0"/>
                          </a:rPr>
                        </m:ctrlPr>
                      </m:dPr>
                      <m:e>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2</m:t>
                                    </m:r>
                                  </m:e>
                                </m:mr>
                                <m:mr>
                                  <m:e>
                                    <m:r>
                                      <a:rPr lang="en-IN" b="0" i="1" smtClean="0">
                                        <a:latin typeface="Cambria Math" panose="02040503050406030204" pitchFamily="18" charset="0"/>
                                      </a:rPr>
                                      <m:t>1</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4</m:t>
                                    </m:r>
                                  </m:e>
                                </m:mr>
                                <m:mr>
                                  <m:e>
                                    <m:r>
                                      <a:rPr lang="en-IN" b="0" i="1" smtClean="0">
                                        <a:latin typeface="Cambria Math" panose="02040503050406030204" pitchFamily="18" charset="0"/>
                                      </a:rPr>
                                      <m:t>2</m:t>
                                    </m:r>
                                  </m:e>
                                </m:mr>
                              </m:m>
                            </m:e>
                          </m:mr>
                        </m:m>
                      </m:e>
                    </m:d>
                    <m:r>
                      <a:rPr lang="en-IN" b="0" i="1" smtClean="0">
                        <a:latin typeface="Cambria Math" panose="02040503050406030204" pitchFamily="18" charset="0"/>
                      </a:rPr>
                      <m:t>=</m:t>
                    </m:r>
                    <m:d>
                      <m:dPr>
                        <m:begChr m:val="["/>
                        <m:endChr m:val="]"/>
                        <m:ctrlPr>
                          <a:rPr lang="en-IN" i="1">
                            <a:latin typeface="Cambria Math" panose="02040503050406030204" pitchFamily="18" charset="0"/>
                          </a:rPr>
                        </m:ctrlPr>
                      </m:dPr>
                      <m:e>
                        <m:m>
                          <m:mPr>
                            <m:mcs>
                              <m:mc>
                                <m:mcPr>
                                  <m:count m:val="1"/>
                                  <m:mcJc m:val="center"/>
                                </m:mcPr>
                              </m:mc>
                            </m:mcs>
                            <m:ctrlPr>
                              <a:rPr lang="en-IN" i="1" smtClean="0">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0</m:t>
                                    </m:r>
                                  </m:e>
                                </m:mr>
                                <m:mr>
                                  <m:e>
                                    <m:r>
                                      <a:rPr lang="en-IN" b="0" i="1" smtClean="0">
                                        <a:latin typeface="Cambria Math" panose="02040503050406030204" pitchFamily="18" charset="0"/>
                                      </a:rPr>
                                      <m:t>0</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0</m:t>
                                    </m:r>
                                  </m:e>
                                </m:mr>
                                <m:mr>
                                  <m:e>
                                    <m:r>
                                      <a:rPr lang="en-IN" b="0" i="1" smtClean="0">
                                        <a:latin typeface="Cambria Math" panose="02040503050406030204" pitchFamily="18" charset="0"/>
                                      </a:rPr>
                                      <m:t>0</m:t>
                                    </m:r>
                                  </m:e>
                                </m:mr>
                              </m:m>
                            </m:e>
                          </m:mr>
                        </m:m>
                      </m:e>
                    </m:d>
                  </m:oMath>
                </a14:m>
                <a:endParaRPr lang="en-US" b="0" dirty="0"/>
              </a:p>
              <a:p>
                <a:endParaRPr lang="en-US" dirty="0"/>
              </a:p>
              <a:p>
                <a:r>
                  <a:rPr lang="en-US" dirty="0"/>
                  <a:t>This leads to solve the system of equations </a:t>
                </a:r>
              </a:p>
              <a:p>
                <a:r>
                  <a:rPr lang="en-US" dirty="0"/>
                  <a:t>  c</a:t>
                </a:r>
                <a:r>
                  <a:rPr lang="en-US" baseline="-25000" dirty="0"/>
                  <a:t>1</a:t>
                </a:r>
                <a:r>
                  <a:rPr lang="en-US" dirty="0"/>
                  <a:t> + c</a:t>
                </a:r>
                <a:r>
                  <a:rPr lang="en-US" baseline="-25000" dirty="0"/>
                  <a:t>2</a:t>
                </a:r>
                <a:r>
                  <a:rPr lang="en-US" dirty="0"/>
                  <a:t> + 2c</a:t>
                </a:r>
                <a:r>
                  <a:rPr lang="en-US" baseline="-25000" dirty="0"/>
                  <a:t>3</a:t>
                </a:r>
                <a:r>
                  <a:rPr lang="en-US" dirty="0"/>
                  <a:t> = 0</a:t>
                </a:r>
              </a:p>
              <a:p>
                <a:r>
                  <a:rPr lang="en-US" dirty="0"/>
                  <a:t> 2c</a:t>
                </a:r>
                <a:r>
                  <a:rPr lang="en-US" baseline="-25000" dirty="0"/>
                  <a:t>1</a:t>
                </a:r>
                <a:r>
                  <a:rPr lang="en-US" dirty="0"/>
                  <a:t> + c</a:t>
                </a:r>
                <a:r>
                  <a:rPr lang="en-US" baseline="-25000" dirty="0"/>
                  <a:t>2</a:t>
                </a:r>
                <a:r>
                  <a:rPr lang="en-US" dirty="0"/>
                  <a:t> + c</a:t>
                </a:r>
                <a:r>
                  <a:rPr lang="en-US" baseline="-25000" dirty="0"/>
                  <a:t>3 </a:t>
                </a:r>
                <a:r>
                  <a:rPr lang="en-US" dirty="0"/>
                  <a:t>= 0 </a:t>
                </a:r>
              </a:p>
              <a:p>
                <a:r>
                  <a:rPr lang="en-US" dirty="0"/>
                  <a:t> 3c</a:t>
                </a:r>
                <a:r>
                  <a:rPr lang="en-US" baseline="-25000" dirty="0"/>
                  <a:t>1</a:t>
                </a:r>
                <a:r>
                  <a:rPr lang="en-US" dirty="0"/>
                  <a:t> + c</a:t>
                </a:r>
                <a:r>
                  <a:rPr lang="en-US" baseline="-25000" dirty="0"/>
                  <a:t>2</a:t>
                </a:r>
                <a:r>
                  <a:rPr lang="en-US" dirty="0"/>
                  <a:t> + 4c</a:t>
                </a:r>
                <a:r>
                  <a:rPr lang="en-US" baseline="-25000" dirty="0"/>
                  <a:t>3</a:t>
                </a:r>
                <a:r>
                  <a:rPr lang="en-US" dirty="0"/>
                  <a:t> = 0</a:t>
                </a:r>
              </a:p>
              <a:p>
                <a:r>
                  <a:rPr lang="en-US" dirty="0"/>
                  <a:t> c</a:t>
                </a:r>
                <a:r>
                  <a:rPr lang="en-US" baseline="-25000" dirty="0"/>
                  <a:t>1</a:t>
                </a:r>
                <a:r>
                  <a:rPr lang="en-US" dirty="0"/>
                  <a:t> + c</a:t>
                </a:r>
                <a:r>
                  <a:rPr lang="en-US" baseline="-25000" dirty="0"/>
                  <a:t>2</a:t>
                </a:r>
                <a:r>
                  <a:rPr lang="en-US" dirty="0"/>
                  <a:t> + 2c</a:t>
                </a:r>
                <a:r>
                  <a:rPr lang="en-US" baseline="-25000" dirty="0"/>
                  <a:t>3</a:t>
                </a:r>
                <a:r>
                  <a:rPr lang="en-US" dirty="0"/>
                  <a:t>  = 0</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53670" y="739775"/>
                <a:ext cx="4149090" cy="2283935"/>
              </a:xfrm>
              <a:blipFill>
                <a:blip r:embed="rId3"/>
                <a:stretch>
                  <a:fillRect l="-441"/>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US" dirty="0"/>
              <a:t>Example</a:t>
            </a:r>
          </a:p>
        </p:txBody>
      </p:sp>
    </p:spTree>
    <p:extLst>
      <p:ext uri="{BB962C8B-B14F-4D97-AF65-F5344CB8AC3E}">
        <p14:creationId xmlns:p14="http://schemas.microsoft.com/office/powerpoint/2010/main" val="3625955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8B3DBA1-7173-ADEF-1078-1C235D217268}"/>
                  </a:ext>
                </a:extLst>
              </p:cNvPr>
              <p:cNvSpPr>
                <a:spLocks noGrp="1"/>
              </p:cNvSpPr>
              <p:nvPr>
                <p:ph idx="1"/>
              </p:nvPr>
            </p:nvSpPr>
            <p:spPr/>
            <p:txBody>
              <a:bodyPr/>
              <a:lstStyle/>
              <a:p>
                <a:r>
                  <a:rPr lang="en-IN" dirty="0"/>
                  <a:t>The augmented matrix of the above homogenous system is </a:t>
                </a:r>
                <a14:m>
                  <m:oMath xmlns:m="http://schemas.openxmlformats.org/officeDocument/2006/math">
                    <m:d>
                      <m:dPr>
                        <m:begChr m:val="["/>
                        <m:endChr m:val="]"/>
                        <m:ctrlPr>
                          <a:rPr lang="en-IN" b="0" i="1" smtClean="0">
                            <a:latin typeface="Cambria Math" panose="02040503050406030204" pitchFamily="18" charset="0"/>
                          </a:rPr>
                        </m:ctrlPr>
                      </m:dPr>
                      <m:e>
                        <m:m>
                          <m:mPr>
                            <m:mcs>
                              <m:mc>
                                <m:mcPr>
                                  <m:count m:val="2"/>
                                  <m:mcJc m:val="center"/>
                                </m:mcPr>
                              </m:mc>
                            </m:mcs>
                            <m:ctrlPr>
                              <a:rPr lang="en-IN" b="0" i="1" smtClean="0">
                                <a:latin typeface="Cambria Math" panose="02040503050406030204" pitchFamily="18" charset="0"/>
                              </a:rPr>
                            </m:ctrlPr>
                          </m:mPr>
                          <m:mr>
                            <m:e>
                              <m:m>
                                <m:mPr>
                                  <m:mcs>
                                    <m:mc>
                                      <m:mcPr>
                                        <m:count m:val="2"/>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1</m:t>
                                    </m:r>
                                  </m:e>
                                  <m:e>
                                    <m:r>
                                      <a:rPr lang="en-IN" b="0" i="1" smtClean="0">
                                        <a:latin typeface="Cambria Math" panose="02040503050406030204" pitchFamily="18" charset="0"/>
                                      </a:rPr>
                                      <m:t>1</m:t>
                                    </m:r>
                                  </m:e>
                                </m:mr>
                                <m:mr>
                                  <m:e>
                                    <m:r>
                                      <a:rPr lang="en-IN" b="0" i="1" smtClean="0">
                                        <a:latin typeface="Cambria Math" panose="02040503050406030204" pitchFamily="18" charset="0"/>
                                      </a:rPr>
                                      <m:t>2</m:t>
                                    </m:r>
                                  </m:e>
                                  <m:e>
                                    <m:r>
                                      <a:rPr lang="en-IN" b="0" i="1" smtClean="0">
                                        <a:latin typeface="Cambria Math" panose="02040503050406030204" pitchFamily="18" charset="0"/>
                                      </a:rPr>
                                      <m:t>1</m:t>
                                    </m:r>
                                  </m:e>
                                </m:mr>
                              </m:m>
                            </m:e>
                            <m:e>
                              <m:m>
                                <m:mPr>
                                  <m:mcs>
                                    <m:mc>
                                      <m:mcPr>
                                        <m:count m:val="2"/>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1</m:t>
                                    </m:r>
                                  </m:e>
                                  <m:e>
                                    <m:r>
                                      <a:rPr lang="en-IN" b="0" i="1" smtClean="0">
                                        <a:latin typeface="Cambria Math" panose="02040503050406030204" pitchFamily="18" charset="0"/>
                                      </a:rPr>
                                      <m:t>0</m:t>
                                    </m:r>
                                  </m:e>
                                </m:mr>
                              </m:m>
                            </m:e>
                          </m:mr>
                          <m:mr>
                            <m:e>
                              <m:m>
                                <m:mPr>
                                  <m:mcs>
                                    <m:mc>
                                      <m:mcPr>
                                        <m:count m:val="2"/>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3</m:t>
                                    </m:r>
                                  </m:e>
                                  <m:e>
                                    <m:r>
                                      <a:rPr lang="en-IN" b="0" i="1" smtClean="0">
                                        <a:latin typeface="Cambria Math" panose="02040503050406030204" pitchFamily="18" charset="0"/>
                                      </a:rPr>
                                      <m:t>1</m:t>
                                    </m:r>
                                  </m:e>
                                </m:mr>
                                <m:mr>
                                  <m:e>
                                    <m:r>
                                      <a:rPr lang="en-IN" b="0" i="1" smtClean="0">
                                        <a:latin typeface="Cambria Math" panose="02040503050406030204" pitchFamily="18" charset="0"/>
                                      </a:rPr>
                                      <m:t>1</m:t>
                                    </m:r>
                                  </m:e>
                                  <m:e>
                                    <m:r>
                                      <a:rPr lang="en-IN" b="0" i="1" smtClean="0">
                                        <a:latin typeface="Cambria Math" panose="02040503050406030204" pitchFamily="18" charset="0"/>
                                      </a:rPr>
                                      <m:t>1</m:t>
                                    </m:r>
                                  </m:e>
                                </m:mr>
                              </m:m>
                            </m:e>
                            <m:e>
                              <m:m>
                                <m:mPr>
                                  <m:mcs>
                                    <m:mc>
                                      <m:mcPr>
                                        <m:count m:val="2"/>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4</m:t>
                                    </m:r>
                                  </m:e>
                                  <m:e>
                                    <m:r>
                                      <a:rPr lang="en-IN" b="0" i="1" smtClean="0">
                                        <a:latin typeface="Cambria Math" panose="02040503050406030204" pitchFamily="18" charset="0"/>
                                      </a:rPr>
                                      <m:t>0</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
                            </m:e>
                          </m:mr>
                        </m:m>
                      </m:e>
                    </m:d>
                  </m:oMath>
                </a14:m>
                <a:r>
                  <a:rPr lang="en-IN" dirty="0"/>
                  <a:t>. Note that the coefficient matrix (before the augmented bar) is formed by just writing the given vectors as columns. So when you solve the problems you can straight away write this augmented matrix.</a:t>
                </a:r>
              </a:p>
              <a:p>
                <a:r>
                  <a:rPr lang="en-IN" dirty="0"/>
                  <a:t>Already we have explained this when we deal with linear combination of vectors.</a:t>
                </a:r>
              </a:p>
            </p:txBody>
          </p:sp>
        </mc:Choice>
        <mc:Fallback xmlns="">
          <p:sp>
            <p:nvSpPr>
              <p:cNvPr id="2" name="Content Placeholder 1">
                <a:extLst>
                  <a:ext uri="{FF2B5EF4-FFF2-40B4-BE49-F238E27FC236}">
                    <a16:creationId xmlns:a16="http://schemas.microsoft.com/office/drawing/2014/main" id="{38B3DBA1-7173-ADEF-1078-1C235D217268}"/>
                  </a:ext>
                </a:extLst>
              </p:cNvPr>
              <p:cNvSpPr>
                <a:spLocks noGrp="1" noRot="1" noChangeAspect="1" noMove="1" noResize="1" noEditPoints="1" noAdjustHandles="1" noChangeArrowheads="1" noChangeShapeType="1" noTextEdit="1"/>
              </p:cNvSpPr>
              <p:nvPr>
                <p:ph idx="1"/>
              </p:nvPr>
            </p:nvSpPr>
            <p:spPr>
              <a:blipFill>
                <a:blip r:embed="rId2"/>
                <a:stretch>
                  <a:fillRect l="-1175" t="-267" r="-1909"/>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E4D485B0-134E-53D6-2A52-4029C66A6302}"/>
              </a:ext>
            </a:extLst>
          </p:cNvPr>
          <p:cNvSpPr>
            <a:spLocks noGrp="1"/>
          </p:cNvSpPr>
          <p:nvPr>
            <p:ph sz="quarter" idx="10"/>
          </p:nvPr>
        </p:nvSpPr>
        <p:spPr/>
        <p:txBody>
          <a:bodyPr/>
          <a:lstStyle/>
          <a:p>
            <a:r>
              <a:rPr lang="en-IN" dirty="0"/>
              <a:t>Example(</a:t>
            </a:r>
            <a:r>
              <a:rPr lang="en-IN" dirty="0" err="1"/>
              <a:t>Ctd</a:t>
            </a:r>
            <a:r>
              <a:rPr lang="en-IN" dirty="0"/>
              <a:t>)</a:t>
            </a:r>
          </a:p>
        </p:txBody>
      </p:sp>
      <p:cxnSp>
        <p:nvCxnSpPr>
          <p:cNvPr id="6" name="Straight Connector 5">
            <a:extLst>
              <a:ext uri="{FF2B5EF4-FFF2-40B4-BE49-F238E27FC236}">
                <a16:creationId xmlns:a16="http://schemas.microsoft.com/office/drawing/2014/main" id="{BF279DFA-6593-7CD9-ABED-92E52F00D08C}"/>
              </a:ext>
            </a:extLst>
          </p:cNvPr>
          <p:cNvCxnSpPr/>
          <p:nvPr/>
        </p:nvCxnSpPr>
        <p:spPr>
          <a:xfrm>
            <a:off x="1085850" y="1044575"/>
            <a:ext cx="0" cy="68580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21740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19653B-0778-B0F7-AE41-A570BB33C17A}"/>
              </a:ext>
            </a:extLst>
          </p:cNvPr>
          <p:cNvSpPr>
            <a:spLocks noGrp="1"/>
          </p:cNvSpPr>
          <p:nvPr>
            <p:ph sz="quarter" idx="10"/>
          </p:nvPr>
        </p:nvSpPr>
        <p:spPr/>
        <p:txBody>
          <a:bodyPr/>
          <a:lstStyle/>
          <a:p>
            <a:r>
              <a:rPr lang="en-IN" dirty="0"/>
              <a:t>Example(</a:t>
            </a:r>
            <a:r>
              <a:rPr lang="en-IN" dirty="0" err="1"/>
              <a:t>Ctd</a:t>
            </a:r>
            <a:r>
              <a:rPr lang="en-IN" dirty="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A988673-ED1E-3250-5AC9-851E7806E436}"/>
                  </a:ext>
                </a:extLst>
              </p:cNvPr>
              <p:cNvSpPr txBox="1"/>
              <p:nvPr/>
            </p:nvSpPr>
            <p:spPr>
              <a:xfrm>
                <a:off x="594893" y="1117512"/>
                <a:ext cx="1786357" cy="7782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dPr>
                        <m:e>
                          <m:m>
                            <m:mPr>
                              <m:mcs>
                                <m:mc>
                                  <m:mcPr>
                                    <m:count m:val="2"/>
                                    <m:mcJc m:val="center"/>
                                  </m:mcPr>
                                </m:mc>
                              </m:mcs>
                              <m:ctrl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mPr>
                            <m:mr>
                              <m:e>
                                <m:m>
                                  <m:mPr>
                                    <m:mcs>
                                      <m:mc>
                                        <m:mcPr>
                                          <m:count m:val="2"/>
                                          <m:mcJc m:val="center"/>
                                        </m:mcPr>
                                      </m:mc>
                                    </m:mcs>
                                    <m:ctrl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mPr>
                                  <m:mr>
                                    <m:e>
                                      <m:r>
                                        <m:rPr>
                                          <m:brk m:alnAt="7"/>
                                        </m:r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r>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
                              </m:e>
                              <m:e>
                                <m:m>
                                  <m:mPr>
                                    <m:mcs>
                                      <m:mc>
                                        <m:mcPr>
                                          <m:count m:val="2"/>
                                          <m:mcJc m:val="center"/>
                                        </m:mcPr>
                                      </m:mc>
                                    </m:mcs>
                                    <m:ctrl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mPr>
                                  <m:mr>
                                    <m:e>
                                      <m:r>
                                        <m:rPr>
                                          <m:brk m:alnAt="7"/>
                                        </m:r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2</m:t>
                                      </m:r>
                                    </m:e>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r>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−3</m:t>
                                      </m:r>
                                    </m:e>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
                              </m:e>
                            </m:mr>
                            <m:mr>
                              <m:e>
                                <m:m>
                                  <m:mPr>
                                    <m:mcs>
                                      <m:mc>
                                        <m:mcPr>
                                          <m:count m:val="2"/>
                                          <m:mcJc m:val="center"/>
                                        </m:mcPr>
                                      </m:mc>
                                    </m:mcs>
                                    <m:ctrl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mPr>
                                  <m:mr>
                                    <m:e>
                                      <m:r>
                                        <m:rPr>
                                          <m:brk m:alnAt="7"/>
                                        </m:r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r>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
                              </m:e>
                              <m:e>
                                <m:m>
                                  <m:mPr>
                                    <m:mcs>
                                      <m:mc>
                                        <m:mcPr>
                                          <m:count m:val="2"/>
                                          <m:mcJc m:val="center"/>
                                        </m:mcPr>
                                      </m:mc>
                                    </m:mcs>
                                    <m:ctrl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mPr>
                                  <m:mr>
                                    <m:e>
                                      <m:r>
                                        <m:rPr>
                                          <m:brk m:alnAt="7"/>
                                        </m:rP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3</m:t>
                                      </m:r>
                                    </m:e>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  0</m:t>
                                      </m:r>
                                    </m:e>
                                  </m:mr>
                                  <m:mr>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e>
                                      <m:r>
                                        <a:rPr kumimoji="0" lang="en-IN" sz="1210" b="0" i="1" u="none" strike="noStrike" kern="1200" cap="none" spc="0" normalizeH="0" baseline="0" noProof="0" smtClean="0">
                                          <a:ln>
                                            <a:noFill/>
                                          </a:ln>
                                          <a:solidFill>
                                            <a:prstClr val="black"/>
                                          </a:solidFill>
                                          <a:effectLst/>
                                          <a:uLnTx/>
                                          <a:uFillTx/>
                                          <a:latin typeface="Cambria Math" panose="02040503050406030204" pitchFamily="18" charset="0"/>
                                          <a:ea typeface="+mn-ea"/>
                                        </a:rPr>
                                        <m:t>  0</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A988673-ED1E-3250-5AC9-851E7806E436}"/>
                  </a:ext>
                </a:extLst>
              </p:cNvPr>
              <p:cNvSpPr txBox="1">
                <a:spLocks noRot="1" noChangeAspect="1" noMove="1" noResize="1" noEditPoints="1" noAdjustHandles="1" noChangeArrowheads="1" noChangeShapeType="1" noTextEdit="1"/>
              </p:cNvSpPr>
              <p:nvPr/>
            </p:nvSpPr>
            <p:spPr>
              <a:xfrm>
                <a:off x="594893" y="1117512"/>
                <a:ext cx="1786357" cy="778290"/>
              </a:xfrm>
              <a:prstGeom prst="rect">
                <a:avLst/>
              </a:prstGeom>
              <a:blipFill>
                <a:blip r:embed="rId2"/>
                <a:stretch>
                  <a:fillRect/>
                </a:stretch>
              </a:blipFill>
            </p:spPr>
            <p:txBody>
              <a:bodyPr/>
              <a:lstStyle/>
              <a:p>
                <a:r>
                  <a:rPr lang="en-IN">
                    <a:noFill/>
                  </a:rPr>
                  <a:t> </a:t>
                </a:r>
              </a:p>
            </p:txBody>
          </p:sp>
        </mc:Fallback>
      </mc:AlternateContent>
      <p:cxnSp>
        <p:nvCxnSpPr>
          <p:cNvPr id="7" name="Straight Connector 6">
            <a:extLst>
              <a:ext uri="{FF2B5EF4-FFF2-40B4-BE49-F238E27FC236}">
                <a16:creationId xmlns:a16="http://schemas.microsoft.com/office/drawing/2014/main" id="{734E8E52-087F-9750-4C32-8B11AD9E6376}"/>
              </a:ext>
            </a:extLst>
          </p:cNvPr>
          <p:cNvCxnSpPr/>
          <p:nvPr/>
        </p:nvCxnSpPr>
        <p:spPr>
          <a:xfrm>
            <a:off x="1847850" y="1196975"/>
            <a:ext cx="0" cy="60960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27123159-2665-D43E-CEB9-CB412C3C789F}"/>
              </a:ext>
            </a:extLst>
          </p:cNvPr>
          <p:cNvSpPr>
            <a:spLocks noGrp="1"/>
          </p:cNvSpPr>
          <p:nvPr>
            <p:ph idx="1"/>
          </p:nvPr>
        </p:nvSpPr>
        <p:spPr/>
        <p:txBody>
          <a:bodyPr/>
          <a:lstStyle/>
          <a:p>
            <a:r>
              <a:rPr lang="en-IN" dirty="0"/>
              <a:t>The echelon form of the augmented matrix is</a:t>
            </a:r>
          </a:p>
          <a:p>
            <a:endParaRPr lang="en-IN" dirty="0"/>
          </a:p>
          <a:p>
            <a:endParaRPr lang="en-IN" dirty="0"/>
          </a:p>
          <a:p>
            <a:r>
              <a:rPr lang="en-IN" dirty="0"/>
              <a:t>                                </a:t>
            </a:r>
          </a:p>
          <a:p>
            <a:endParaRPr lang="en-IN" dirty="0"/>
          </a:p>
          <a:p>
            <a:endParaRPr lang="en-IN" dirty="0"/>
          </a:p>
        </p:txBody>
      </p:sp>
      <p:sp>
        <p:nvSpPr>
          <p:cNvPr id="11" name="TextBox 10">
            <a:extLst>
              <a:ext uri="{FF2B5EF4-FFF2-40B4-BE49-F238E27FC236}">
                <a16:creationId xmlns:a16="http://schemas.microsoft.com/office/drawing/2014/main" id="{C7FD5142-5648-8E1A-F9FC-8A86E6901EFB}"/>
              </a:ext>
            </a:extLst>
          </p:cNvPr>
          <p:cNvSpPr txBox="1"/>
          <p:nvPr/>
        </p:nvSpPr>
        <p:spPr>
          <a:xfrm>
            <a:off x="2152650" y="1425575"/>
            <a:ext cx="1295399" cy="369332"/>
          </a:xfrm>
          <a:prstGeom prst="rect">
            <a:avLst/>
          </a:prstGeom>
          <a:noFill/>
        </p:spPr>
        <p:txBody>
          <a:bodyPr wrap="square" rtlCol="0">
            <a:spAutoFit/>
          </a:bodyPr>
          <a:lstStyle/>
          <a:p>
            <a:r>
              <a:rPr lang="en-IN" dirty="0"/>
              <a:t>Verify.</a:t>
            </a:r>
          </a:p>
        </p:txBody>
      </p:sp>
      <p:sp>
        <p:nvSpPr>
          <p:cNvPr id="13" name="TextBox 12">
            <a:extLst>
              <a:ext uri="{FF2B5EF4-FFF2-40B4-BE49-F238E27FC236}">
                <a16:creationId xmlns:a16="http://schemas.microsoft.com/office/drawing/2014/main" id="{0DAEC595-33EA-1208-F80F-A2FABC560E61}"/>
              </a:ext>
            </a:extLst>
          </p:cNvPr>
          <p:cNvSpPr txBox="1"/>
          <p:nvPr/>
        </p:nvSpPr>
        <p:spPr>
          <a:xfrm>
            <a:off x="214974" y="1958975"/>
            <a:ext cx="4149090" cy="830997"/>
          </a:xfrm>
          <a:prstGeom prst="rect">
            <a:avLst/>
          </a:prstGeom>
          <a:noFill/>
        </p:spPr>
        <p:txBody>
          <a:bodyPr wrap="square" rtlCol="0">
            <a:spAutoFit/>
          </a:bodyPr>
          <a:lstStyle/>
          <a:p>
            <a:r>
              <a:rPr lang="en-IN" sz="1200" dirty="0"/>
              <a:t>Since every column (before the augmented bar) has pivot element the system of equations has only a trivial solution namely c</a:t>
            </a:r>
            <a:r>
              <a:rPr lang="en-IN" sz="1200" baseline="-25000" dirty="0"/>
              <a:t>1</a:t>
            </a:r>
            <a:r>
              <a:rPr lang="en-IN" sz="1200" dirty="0"/>
              <a:t> = 0, c</a:t>
            </a:r>
            <a:r>
              <a:rPr lang="en-IN" sz="1200" baseline="-25000" dirty="0"/>
              <a:t>2</a:t>
            </a:r>
            <a:r>
              <a:rPr lang="en-IN" sz="1200" dirty="0"/>
              <a:t> = 0, and c</a:t>
            </a:r>
            <a:r>
              <a:rPr lang="en-IN" sz="1200" baseline="-25000" dirty="0"/>
              <a:t>3</a:t>
            </a:r>
            <a:r>
              <a:rPr lang="en-IN" sz="1200" dirty="0"/>
              <a:t> = 0. Therefore the given vectors are linearly independent.</a:t>
            </a:r>
          </a:p>
        </p:txBody>
      </p:sp>
    </p:spTree>
    <p:extLst>
      <p:ext uri="{BB962C8B-B14F-4D97-AF65-F5344CB8AC3E}">
        <p14:creationId xmlns:p14="http://schemas.microsoft.com/office/powerpoint/2010/main" val="3442812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A7BFB5E-257E-C65E-C20D-2D6E8179E89E}"/>
                  </a:ext>
                </a:extLst>
              </p:cNvPr>
              <p:cNvSpPr>
                <a:spLocks noGrp="1"/>
              </p:cNvSpPr>
              <p:nvPr>
                <p:ph idx="1"/>
              </p:nvPr>
            </p:nvSpPr>
            <p:spPr/>
            <p:style>
              <a:lnRef idx="1">
                <a:schemeClr val="dk1"/>
              </a:lnRef>
              <a:fillRef idx="0">
                <a:schemeClr val="dk1"/>
              </a:fillRef>
              <a:effectRef idx="0">
                <a:schemeClr val="dk1"/>
              </a:effectRef>
              <a:fontRef idx="minor">
                <a:schemeClr val="tx1"/>
              </a:fontRef>
            </p:style>
            <p:txBody>
              <a:bodyPr>
                <a:normAutofit fontScale="92500"/>
              </a:bodyPr>
              <a:lstStyle/>
              <a:p>
                <a:r>
                  <a:rPr lang="en-IN" dirty="0"/>
                  <a:t>Verify whether the set </a:t>
                </a:r>
                <a14:m>
                  <m:oMath xmlns:m="http://schemas.openxmlformats.org/officeDocument/2006/math">
                    <m:d>
                      <m:dPr>
                        <m:begChr m:val="{"/>
                        <m:endChr m:val="}"/>
                        <m:ctrlPr>
                          <a:rPr lang="en-IN" b="0" i="1" smtClean="0">
                            <a:latin typeface="Cambria Math" panose="02040503050406030204" pitchFamily="18" charset="0"/>
                          </a:rPr>
                        </m:ctrlPr>
                      </m:dPr>
                      <m:e>
                        <m:d>
                          <m:dPr>
                            <m:begChr m:val="["/>
                            <m:endChr m:val="]"/>
                            <m:ctrlPr>
                              <a:rPr lang="en-IN" b="0" i="1" smtClean="0">
                                <a:latin typeface="Cambria Math" panose="02040503050406030204" pitchFamily="18" charset="0"/>
                              </a:rPr>
                            </m:ctrlPr>
                          </m:dPr>
                          <m:e>
                            <m:m>
                              <m:mPr>
                                <m:mcs>
                                  <m:mc>
                                    <m:mcPr>
                                      <m:count m:val="1"/>
                                      <m:mcJc m:val="center"/>
                                    </m:mcPr>
                                  </m:mc>
                                </m:mcs>
                                <m:ctrlPr>
                                  <a:rPr lang="en-IN" b="0" i="1" smtClean="0">
                                    <a:latin typeface="Cambria Math" panose="02040503050406030204" pitchFamily="18" charset="0"/>
                                  </a:rPr>
                                </m:ctrlPr>
                              </m:mP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1</m:t>
                                        </m:r>
                                      </m:e>
                                    </m:mr>
                                    <m:mr>
                                      <m:e>
                                        <m:r>
                                          <a:rPr lang="en-IN" b="0" i="1" smtClean="0">
                                            <a:latin typeface="Cambria Math" panose="02040503050406030204" pitchFamily="18" charset="0"/>
                                          </a:rPr>
                                          <m:t>0</m:t>
                                        </m:r>
                                      </m:e>
                                    </m:mr>
                                  </m:m>
                                </m:e>
                              </m:m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0</m:t>
                                        </m:r>
                                      </m:e>
                                    </m:mr>
                                    <m:mr>
                                      <m:e>
                                        <m:r>
                                          <a:rPr lang="en-IN" b="0" i="1" smtClean="0">
                                            <a:latin typeface="Cambria Math" panose="02040503050406030204" pitchFamily="18" charset="0"/>
                                          </a:rPr>
                                          <m:t>0</m:t>
                                        </m:r>
                                      </m:e>
                                    </m:mr>
                                  </m:m>
                                </m:e>
                              </m:mr>
                            </m:m>
                          </m:e>
                        </m:d>
                        <m:r>
                          <a:rPr lang="en-IN" b="0" i="1" smtClean="0">
                            <a:latin typeface="Cambria Math" panose="02040503050406030204" pitchFamily="18" charset="0"/>
                          </a:rPr>
                          <m:t>,</m:t>
                        </m:r>
                        <m:d>
                          <m:dPr>
                            <m:begChr m:val="["/>
                            <m:endChr m:val="]"/>
                            <m:ctrlPr>
                              <a:rPr lang="en-IN" i="1">
                                <a:latin typeface="Cambria Math" panose="02040503050406030204" pitchFamily="18" charset="0"/>
                              </a:rPr>
                            </m:ctrlPr>
                          </m:dPr>
                          <m:e>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m:t>
                                        </m:r>
                                        <m:r>
                                          <a:rPr lang="en-IN" b="0" i="1" smtClean="0">
                                            <a:latin typeface="Cambria Math" panose="02040503050406030204" pitchFamily="18" charset="0"/>
                                          </a:rPr>
                                          <m:t>1</m:t>
                                        </m:r>
                                      </m:e>
                                    </m:mr>
                                    <m:mr>
                                      <m:e>
                                        <m:r>
                                          <a:rPr lang="en-IN" b="0" i="1" smtClean="0">
                                            <a:latin typeface="Cambria Math" panose="02040503050406030204" pitchFamily="18" charset="0"/>
                                          </a:rPr>
                                          <m:t>1</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0</m:t>
                                        </m:r>
                                      </m:e>
                                    </m:mr>
                                    <m:mr>
                                      <m:e>
                                        <m:r>
                                          <a:rPr lang="en-IN" b="0" i="1" smtClean="0">
                                            <a:latin typeface="Cambria Math" panose="02040503050406030204" pitchFamily="18" charset="0"/>
                                          </a:rPr>
                                          <m:t>0</m:t>
                                        </m:r>
                                      </m:e>
                                    </m:mr>
                                  </m:m>
                                </m:e>
                              </m:mr>
                            </m:m>
                          </m:e>
                        </m:d>
                        <m:r>
                          <a:rPr lang="en-IN" b="0" i="1" smtClean="0">
                            <a:latin typeface="Cambria Math" panose="02040503050406030204" pitchFamily="18" charset="0"/>
                          </a:rPr>
                          <m:t>,</m:t>
                        </m:r>
                        <m:d>
                          <m:dPr>
                            <m:begChr m:val="["/>
                            <m:endChr m:val="]"/>
                            <m:ctrlPr>
                              <a:rPr lang="en-IN" i="1">
                                <a:latin typeface="Cambria Math" panose="02040503050406030204" pitchFamily="18" charset="0"/>
                              </a:rPr>
                            </m:ctrlPr>
                          </m:dPr>
                          <m:e>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0</m:t>
                                        </m:r>
                                      </m:e>
                                    </m:mr>
                                    <m:mr>
                                      <m:e>
                                        <m:r>
                                          <a:rPr lang="en-IN" b="0" i="1" smtClean="0">
                                            <a:latin typeface="Cambria Math" panose="02040503050406030204" pitchFamily="18" charset="0"/>
                                          </a:rPr>
                                          <m:t>−3</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1</m:t>
                                        </m:r>
                                      </m:e>
                                    </m:mr>
                                    <m:mr>
                                      <m:e>
                                        <m:r>
                                          <a:rPr lang="en-IN" b="0" i="1" smtClean="0">
                                            <a:latin typeface="Cambria Math" panose="02040503050406030204" pitchFamily="18" charset="0"/>
                                          </a:rPr>
                                          <m:t>0</m:t>
                                        </m:r>
                                      </m:e>
                                    </m:mr>
                                  </m:m>
                                </m:e>
                              </m:mr>
                            </m:m>
                          </m:e>
                        </m:d>
                        <m:r>
                          <a:rPr lang="en-IN" b="0" i="0" smtClean="0">
                            <a:latin typeface="Cambria Math" panose="02040503050406030204" pitchFamily="18" charset="0"/>
                          </a:rPr>
                          <m:t>,</m:t>
                        </m:r>
                        <m:d>
                          <m:dPr>
                            <m:begChr m:val="["/>
                            <m:endChr m:val="]"/>
                            <m:ctrlPr>
                              <a:rPr lang="en-IN" i="1" smtClean="0">
                                <a:latin typeface="Cambria Math" panose="02040503050406030204" pitchFamily="18" charset="0"/>
                              </a:rPr>
                            </m:ctrlPr>
                          </m:dPr>
                          <m:e>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1</m:t>
                                        </m:r>
                                      </m:e>
                                    </m:mr>
                                    <m:mr>
                                      <m:e>
                                        <m:r>
                                          <a:rPr lang="en-IN" b="0" i="1" smtClean="0">
                                            <a:latin typeface="Cambria Math" panose="02040503050406030204" pitchFamily="18" charset="0"/>
                                          </a:rPr>
                                          <m:t>1</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m:t>
                                        </m:r>
                                        <m:r>
                                          <a:rPr lang="en-IN" b="0" i="1" smtClean="0">
                                            <a:latin typeface="Cambria Math" panose="02040503050406030204" pitchFamily="18" charset="0"/>
                                          </a:rPr>
                                          <m:t>1</m:t>
                                        </m:r>
                                      </m:e>
                                    </m:mr>
                                    <m:mr>
                                      <m:e>
                                        <m:r>
                                          <a:rPr lang="en-IN" b="0" i="1" smtClean="0">
                                            <a:latin typeface="Cambria Math" panose="02040503050406030204" pitchFamily="18" charset="0"/>
                                          </a:rPr>
                                          <m:t>0</m:t>
                                        </m:r>
                                      </m:e>
                                    </m:mr>
                                  </m:m>
                                </m:e>
                              </m:mr>
                            </m:m>
                          </m:e>
                        </m:d>
                      </m:e>
                    </m:d>
                  </m:oMath>
                </a14:m>
                <a:r>
                  <a:rPr lang="en-IN" dirty="0"/>
                  <a:t> is linearly independent or dependent.</a:t>
                </a:r>
              </a:p>
              <a:p>
                <a:r>
                  <a:rPr lang="en-IN" dirty="0"/>
                  <a:t>The augmented matrix is</a:t>
                </a:r>
                <a14:m>
                  <m:oMath xmlns:m="http://schemas.openxmlformats.org/officeDocument/2006/math">
                    <m:r>
                      <a:rPr lang="en-IN" i="1">
                        <a:latin typeface="Cambria Math" panose="02040503050406030204" pitchFamily="18" charset="0"/>
                      </a:rPr>
                      <m:t> </m:t>
                    </m:r>
                    <m:r>
                      <a:rPr lang="en-IN" b="0" i="1" smtClean="0">
                        <a:latin typeface="Cambria Math" panose="02040503050406030204" pitchFamily="18" charset="0"/>
                      </a:rPr>
                      <m:t>    </m:t>
                    </m:r>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i="1">
                                    <a:latin typeface="Cambria Math" panose="02040503050406030204" pitchFamily="18" charset="0"/>
                                  </a:rPr>
                                  <m:t>1</m:t>
                                </m:r>
                              </m:e>
                            </m:mr>
                            <m:mr>
                              <m:e>
                                <m:r>
                                  <a:rPr lang="en-IN" i="1">
                                    <a:latin typeface="Cambria Math" panose="02040503050406030204" pitchFamily="18" charset="0"/>
                                  </a:rPr>
                                  <m:t>0</m:t>
                                </m:r>
                              </m:e>
                            </m:mr>
                          </m:m>
                        </m:e>
                      </m:mr>
                      <m:mr>
                        <m:e>
                          <m:m>
                            <m:mPr>
                              <m:mcs>
                                <m:mc>
                                  <m:mcPr>
                                    <m:count m:val="1"/>
                                    <m:mcJc m:val="center"/>
                                  </m:mcPr>
                                </m:mc>
                              </m:mcs>
                              <m:ctrlPr>
                                <a:rPr lang="en-IN" i="1">
                                  <a:latin typeface="Cambria Math" panose="02040503050406030204" pitchFamily="18" charset="0"/>
                                </a:rPr>
                              </m:ctrlPr>
                            </m:mPr>
                            <m:mr>
                              <m:e>
                                <m:r>
                                  <m:rPr>
                                    <m:brk m:alnAt="7"/>
                                  </m:rPr>
                                  <a:rPr lang="en-IN" i="1">
                                    <a:latin typeface="Cambria Math" panose="02040503050406030204" pitchFamily="18" charset="0"/>
                                  </a:rPr>
                                  <m:t>0</m:t>
                                </m:r>
                              </m:e>
                            </m:mr>
                            <m:mr>
                              <m:e>
                                <m:r>
                                  <a:rPr lang="en-IN" i="1">
                                    <a:latin typeface="Cambria Math" panose="02040503050406030204" pitchFamily="18" charset="0"/>
                                  </a:rPr>
                                  <m:t>0</m:t>
                                </m:r>
                              </m:e>
                            </m:mr>
                          </m:m>
                        </m:e>
                      </m:mr>
                    </m:m>
                  </m:oMath>
                </a14:m>
                <a:r>
                  <a:rPr lang="en-IN" dirty="0"/>
                  <a:t> </a:t>
                </a:r>
                <a14:m>
                  <m:oMath xmlns:m="http://schemas.openxmlformats.org/officeDocument/2006/math">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i="1">
                                    <a:latin typeface="Cambria Math" panose="02040503050406030204" pitchFamily="18" charset="0"/>
                                  </a:rPr>
                                  <m:t>−</m:t>
                                </m:r>
                                <m:r>
                                  <a:rPr lang="en-IN" i="1">
                                    <a:latin typeface="Cambria Math" panose="02040503050406030204" pitchFamily="18" charset="0"/>
                                  </a:rPr>
                                  <m:t>1</m:t>
                                </m:r>
                              </m:e>
                            </m:mr>
                            <m:mr>
                              <m:e>
                                <m:r>
                                  <a:rPr lang="en-IN" i="1">
                                    <a:latin typeface="Cambria Math" panose="02040503050406030204" pitchFamily="18" charset="0"/>
                                  </a:rPr>
                                  <m:t>1</m:t>
                                </m:r>
                              </m:e>
                            </m:mr>
                          </m:m>
                        </m:e>
                      </m:mr>
                      <m:mr>
                        <m:e>
                          <m:m>
                            <m:mPr>
                              <m:mcs>
                                <m:mc>
                                  <m:mcPr>
                                    <m:count m:val="1"/>
                                    <m:mcJc m:val="center"/>
                                  </m:mcPr>
                                </m:mc>
                              </m:mcs>
                              <m:ctrlPr>
                                <a:rPr lang="en-IN" i="1">
                                  <a:latin typeface="Cambria Math" panose="02040503050406030204" pitchFamily="18" charset="0"/>
                                </a:rPr>
                              </m:ctrlPr>
                            </m:mPr>
                            <m:mr>
                              <m:e>
                                <m:r>
                                  <m:rPr>
                                    <m:brk m:alnAt="7"/>
                                  </m:rPr>
                                  <a:rPr lang="en-IN" i="1">
                                    <a:latin typeface="Cambria Math" panose="02040503050406030204" pitchFamily="18" charset="0"/>
                                  </a:rPr>
                                  <m:t>0</m:t>
                                </m:r>
                              </m:e>
                            </m:mr>
                            <m:mr>
                              <m:e>
                                <m:r>
                                  <a:rPr lang="en-IN" i="1">
                                    <a:latin typeface="Cambria Math" panose="02040503050406030204" pitchFamily="18" charset="0"/>
                                  </a:rPr>
                                  <m:t>0</m:t>
                                </m:r>
                              </m:e>
                            </m:mr>
                          </m:m>
                        </m:e>
                      </m:mr>
                    </m:m>
                    <m:r>
                      <a:rPr lang="en-IN" b="0" i="1" smtClean="0">
                        <a:latin typeface="Cambria Math" panose="02040503050406030204" pitchFamily="18" charset="0"/>
                      </a:rPr>
                      <m:t> </m:t>
                    </m:r>
                    <m:m>
                      <m:mPr>
                        <m:mcs>
                          <m:mc>
                            <m:mcPr>
                              <m:count m:val="1"/>
                              <m:mcJc m:val="center"/>
                            </m:mcPr>
                          </m:mc>
                        </m:mcs>
                        <m:ctrlPr>
                          <a:rPr lang="en-IN" i="1">
                            <a:latin typeface="Cambria Math" panose="02040503050406030204" pitchFamily="18" charset="0"/>
                          </a:rPr>
                        </m:ctrlPr>
                      </m:mPr>
                      <m:mr>
                        <m:e>
                          <m:m>
                            <m:mPr>
                              <m:mcs>
                                <m:mc>
                                  <m:mcPr>
                                    <m:count m:val="1"/>
                                    <m:mcJc m:val="center"/>
                                  </m:mcPr>
                                </m:mc>
                              </m:mcs>
                              <m:ctrlPr>
                                <a:rPr lang="en-IN" i="1">
                                  <a:latin typeface="Cambria Math" panose="02040503050406030204" pitchFamily="18" charset="0"/>
                                </a:rPr>
                              </m:ctrlPr>
                            </m:mPr>
                            <m:mr>
                              <m:e>
                                <m:r>
                                  <m:rPr>
                                    <m:brk m:alnAt="7"/>
                                  </m:rPr>
                                  <a:rPr lang="en-IN" i="1">
                                    <a:latin typeface="Cambria Math" panose="02040503050406030204" pitchFamily="18" charset="0"/>
                                  </a:rPr>
                                  <m:t>0</m:t>
                                </m:r>
                              </m:e>
                            </m:mr>
                            <m:mr>
                              <m:e>
                                <m:r>
                                  <a:rPr lang="en-IN" i="1">
                                    <a:latin typeface="Cambria Math" panose="02040503050406030204" pitchFamily="18" charset="0"/>
                                  </a:rPr>
                                  <m:t>−3</m:t>
                                </m:r>
                              </m:e>
                            </m:mr>
                          </m:m>
                          <m:m>
                            <m:mPr>
                              <m:mcs>
                                <m:mc>
                                  <m:mcPr>
                                    <m:count m:val="1"/>
                                    <m:mcJc m:val="center"/>
                                  </m:mcPr>
                                </m:mc>
                              </m:mcs>
                              <m:ctrlPr>
                                <a:rPr lang="en-IN" i="1">
                                  <a:solidFill>
                                    <a:prstClr val="black"/>
                                  </a:solidFill>
                                  <a:latin typeface="Cambria Math" panose="02040503050406030204" pitchFamily="18" charset="0"/>
                                </a:rPr>
                              </m:ctrlPr>
                            </m:mPr>
                            <m:mr>
                              <m:e>
                                <m:r>
                                  <m:rPr>
                                    <m:brk m:alnAt="7"/>
                                  </m:rPr>
                                  <a:rPr lang="en-IN" i="1">
                                    <a:solidFill>
                                      <a:prstClr val="black"/>
                                    </a:solidFill>
                                    <a:latin typeface="Cambria Math" panose="02040503050406030204" pitchFamily="18" charset="0"/>
                                  </a:rPr>
                                  <m:t>1</m:t>
                                </m:r>
                              </m:e>
                            </m:mr>
                            <m:mr>
                              <m:e>
                                <m:r>
                                  <a:rPr lang="en-IN" b="0" i="1" smtClean="0">
                                    <a:solidFill>
                                      <a:prstClr val="black"/>
                                    </a:solidFill>
                                    <a:latin typeface="Cambria Math" panose="02040503050406030204" pitchFamily="18" charset="0"/>
                                  </a:rPr>
                                  <m:t>  </m:t>
                                </m:r>
                                <m:r>
                                  <a:rPr lang="en-IN" i="1">
                                    <a:solidFill>
                                      <a:prstClr val="black"/>
                                    </a:solidFill>
                                    <a:latin typeface="Cambria Math" panose="02040503050406030204" pitchFamily="18" charset="0"/>
                                  </a:rPr>
                                  <m:t>1</m:t>
                                </m:r>
                              </m:e>
                            </m:mr>
                          </m:m>
                        </m:e>
                      </m:mr>
                      <m:mr>
                        <m:e>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 </m:t>
                                </m:r>
                                <m:r>
                                  <a:rPr lang="en-IN" b="0" i="1" smtClean="0">
                                    <a:latin typeface="Cambria Math" panose="02040503050406030204" pitchFamily="18" charset="0"/>
                                  </a:rPr>
                                  <m:t>  </m:t>
                                </m:r>
                                <m:r>
                                  <a:rPr lang="en-IN" i="1">
                                    <a:latin typeface="Cambria Math" panose="02040503050406030204" pitchFamily="18" charset="0"/>
                                  </a:rPr>
                                  <m:t>1</m:t>
                                </m:r>
                              </m:e>
                            </m:mr>
                            <m:mr>
                              <m:e>
                                <m:r>
                                  <a:rPr lang="en-IN" b="0" i="1" smtClean="0">
                                    <a:latin typeface="Cambria Math" panose="02040503050406030204" pitchFamily="18" charset="0"/>
                                  </a:rPr>
                                  <m:t>  </m:t>
                                </m:r>
                                <m:r>
                                  <a:rPr lang="en-IN" i="1">
                                    <a:latin typeface="Cambria Math" panose="02040503050406030204" pitchFamily="18" charset="0"/>
                                  </a:rPr>
                                  <m:t>0</m:t>
                                </m:r>
                              </m:e>
                            </m:mr>
                          </m:m>
                          <m:m>
                            <m:mPr>
                              <m:mcs>
                                <m:mc>
                                  <m:mcPr>
                                    <m:count m:val="1"/>
                                    <m:mcJc m:val="center"/>
                                  </m:mcPr>
                                </m:mc>
                              </m:mcs>
                              <m:ctrlPr>
                                <a:rPr lang="en-IN" i="1">
                                  <a:latin typeface="Cambria Math" panose="02040503050406030204" pitchFamily="18" charset="0"/>
                                </a:rPr>
                              </m:ctrlPr>
                            </m:mPr>
                            <m:mr>
                              <m:e>
                                <m:r>
                                  <m:rPr>
                                    <m:brk m:alnAt="7"/>
                                  </m:rPr>
                                  <a:rPr lang="en-IN" b="0" i="1" smtClean="0">
                                    <a:latin typeface="Cambria Math" panose="02040503050406030204" pitchFamily="18" charset="0"/>
                                  </a:rPr>
                                  <m:t> </m:t>
                                </m:r>
                                <m:r>
                                  <a:rPr lang="en-IN" b="0" i="1" smtClean="0">
                                    <a:latin typeface="Cambria Math" panose="02040503050406030204" pitchFamily="18" charset="0"/>
                                  </a:rPr>
                                  <m:t>  </m:t>
                                </m:r>
                                <m:r>
                                  <a:rPr lang="en-IN" i="1">
                                    <a:latin typeface="Cambria Math" panose="02040503050406030204" pitchFamily="18" charset="0"/>
                                  </a:rPr>
                                  <m:t>−1</m:t>
                                </m:r>
                              </m:e>
                            </m:mr>
                            <m:mr>
                              <m:e>
                                <m:r>
                                  <a:rPr lang="en-IN" b="0" i="1" smtClean="0">
                                    <a:latin typeface="Cambria Math" panose="02040503050406030204" pitchFamily="18" charset="0"/>
                                  </a:rPr>
                                  <m:t>   </m:t>
                                </m:r>
                                <m:r>
                                  <a:rPr lang="en-IN" i="1">
                                    <a:latin typeface="Cambria Math" panose="02040503050406030204" pitchFamily="18" charset="0"/>
                                  </a:rPr>
                                  <m:t>0</m:t>
                                </m:r>
                              </m:e>
                            </m:mr>
                          </m:m>
                        </m:e>
                      </m:mr>
                    </m:m>
                    <m:r>
                      <a:rPr lang="en-IN" b="0" i="1" smtClean="0">
                        <a:latin typeface="Cambria Math" panose="02040503050406030204" pitchFamily="18" charset="0"/>
                      </a:rPr>
                      <m:t>   </m:t>
                    </m:r>
                    <m:m>
                      <m:mPr>
                        <m:mcs>
                          <m:mc>
                            <m:mcPr>
                              <m:count m:val="1"/>
                              <m:mcJc m:val="center"/>
                            </m:mcPr>
                          </m:mc>
                        </m:mcs>
                        <m:ctrlPr>
                          <a:rPr lang="en-IN" b="0" i="1" smtClean="0">
                            <a:latin typeface="Cambria Math" panose="02040503050406030204" pitchFamily="18" charset="0"/>
                          </a:rPr>
                        </m:ctrlPr>
                      </m:mP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0</m:t>
                                </m:r>
                              </m:e>
                            </m:mr>
                            <m:mr>
                              <m:e>
                                <m:r>
                                  <a:rPr lang="en-IN" b="0" i="1" smtClean="0">
                                    <a:latin typeface="Cambria Math" panose="02040503050406030204" pitchFamily="18" charset="0"/>
                                  </a:rPr>
                                  <m:t>0</m:t>
                                </m:r>
                              </m:e>
                            </m:mr>
                          </m:m>
                        </m:e>
                      </m:mr>
                      <m:mr>
                        <m:e>
                          <m:m>
                            <m:mPr>
                              <m:mcs>
                                <m:mc>
                                  <m:mcPr>
                                    <m:count m:val="1"/>
                                    <m:mcJc m:val="center"/>
                                  </m:mcPr>
                                </m:mc>
                              </m:mcs>
                              <m:ctrlPr>
                                <a:rPr lang="en-IN" b="0" i="1" smtClean="0">
                                  <a:latin typeface="Cambria Math" panose="02040503050406030204" pitchFamily="18" charset="0"/>
                                </a:rPr>
                              </m:ctrlPr>
                            </m:mPr>
                            <m:mr>
                              <m:e>
                                <m:r>
                                  <m:rPr>
                                    <m:brk m:alnAt="7"/>
                                  </m:rPr>
                                  <a:rPr lang="en-IN" b="0" i="1" smtClean="0">
                                    <a:latin typeface="Cambria Math" panose="02040503050406030204" pitchFamily="18" charset="0"/>
                                  </a:rPr>
                                  <m:t>0</m:t>
                                </m:r>
                              </m:e>
                            </m:mr>
                            <m:mr>
                              <m:e>
                                <m:r>
                                  <a:rPr lang="en-IN" b="0" i="1" smtClean="0">
                                    <a:latin typeface="Cambria Math" panose="02040503050406030204" pitchFamily="18" charset="0"/>
                                  </a:rPr>
                                  <m:t>0</m:t>
                                </m:r>
                              </m:e>
                            </m:mr>
                          </m:m>
                        </m:e>
                      </m:mr>
                    </m:m>
                  </m:oMath>
                </a14:m>
                <a:endParaRPr lang="en-IN" dirty="0"/>
              </a:p>
              <a:p>
                <a:endParaRPr lang="en-IN" dirty="0"/>
              </a:p>
              <a:p>
                <a:r>
                  <a:rPr lang="en-IN" sz="900" dirty="0"/>
                  <a:t>This augmented matrix is in echelon form in which the last column before augmented bar does not have any pivot element. Hence the given vectors are linearly dependent. </a:t>
                </a:r>
              </a:p>
              <a:p>
                <a:r>
                  <a:rPr lang="en-IN" sz="900" dirty="0"/>
                  <a:t>Further explanation is in next slide.</a:t>
                </a:r>
              </a:p>
              <a:p>
                <a:endParaRPr lang="en-IN" dirty="0"/>
              </a:p>
            </p:txBody>
          </p:sp>
        </mc:Choice>
        <mc:Fallback xmlns="">
          <p:sp>
            <p:nvSpPr>
              <p:cNvPr id="2" name="Content Placeholder 1">
                <a:extLst>
                  <a:ext uri="{FF2B5EF4-FFF2-40B4-BE49-F238E27FC236}">
                    <a16:creationId xmlns:a16="http://schemas.microsoft.com/office/drawing/2014/main" id="{2A7BFB5E-257E-C65E-C20D-2D6E8179E89E}"/>
                  </a:ext>
                </a:extLst>
              </p:cNvPr>
              <p:cNvSpPr>
                <a:spLocks noGrp="1" noRot="1" noChangeAspect="1" noMove="1" noResize="1" noEditPoints="1" noAdjustHandles="1" noChangeArrowheads="1" noChangeShapeType="1" noTextEdit="1"/>
              </p:cNvSpPr>
              <p:nvPr>
                <p:ph idx="1"/>
              </p:nvPr>
            </p:nvSpPr>
            <p:spPr>
              <a:blipFill>
                <a:blip r:embed="rId2"/>
                <a:stretch>
                  <a:fillRect l="-878"/>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9A0AD824-5140-8B10-6B54-C70205CC00E1}"/>
              </a:ext>
            </a:extLst>
          </p:cNvPr>
          <p:cNvSpPr>
            <a:spLocks noGrp="1"/>
          </p:cNvSpPr>
          <p:nvPr>
            <p:ph sz="quarter" idx="10"/>
          </p:nvPr>
        </p:nvSpPr>
        <p:spPr/>
        <p:txBody>
          <a:bodyPr/>
          <a:lstStyle/>
          <a:p>
            <a:r>
              <a:rPr lang="en-IN" dirty="0"/>
              <a:t>Example</a:t>
            </a:r>
          </a:p>
        </p:txBody>
      </p:sp>
      <p:sp>
        <p:nvSpPr>
          <p:cNvPr id="5" name="Left Bracket 4">
            <a:extLst>
              <a:ext uri="{FF2B5EF4-FFF2-40B4-BE49-F238E27FC236}">
                <a16:creationId xmlns:a16="http://schemas.microsoft.com/office/drawing/2014/main" id="{4EC9F81E-F0EB-8C0F-8B4C-09B4EC7C3F97}"/>
              </a:ext>
            </a:extLst>
          </p:cNvPr>
          <p:cNvSpPr/>
          <p:nvPr/>
        </p:nvSpPr>
        <p:spPr>
          <a:xfrm>
            <a:off x="1849007" y="1649020"/>
            <a:ext cx="76200" cy="838200"/>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8" name="TextBox 7">
            <a:extLst>
              <a:ext uri="{FF2B5EF4-FFF2-40B4-BE49-F238E27FC236}">
                <a16:creationId xmlns:a16="http://schemas.microsoft.com/office/drawing/2014/main" id="{29612ED1-71A6-F6CB-1F8D-0CC07C7C9A24}"/>
              </a:ext>
            </a:extLst>
          </p:cNvPr>
          <p:cNvSpPr txBox="1"/>
          <p:nvPr/>
        </p:nvSpPr>
        <p:spPr>
          <a:xfrm>
            <a:off x="1849007" y="1295821"/>
            <a:ext cx="65" cy="276999"/>
          </a:xfrm>
          <a:prstGeom prst="rect">
            <a:avLst/>
          </a:prstGeom>
          <a:noFill/>
        </p:spPr>
        <p:txBody>
          <a:bodyPr wrap="none" lIns="0" tIns="0" rIns="0" bIns="0" rtlCol="0">
            <a:spAutoFit/>
          </a:bodyPr>
          <a:lstStyle/>
          <a:p>
            <a:endParaRPr lang="en-IN" dirty="0"/>
          </a:p>
        </p:txBody>
      </p:sp>
      <p:cxnSp>
        <p:nvCxnSpPr>
          <p:cNvPr id="10" name="Straight Connector 9">
            <a:extLst>
              <a:ext uri="{FF2B5EF4-FFF2-40B4-BE49-F238E27FC236}">
                <a16:creationId xmlns:a16="http://schemas.microsoft.com/office/drawing/2014/main" id="{FF835F4F-820D-08EB-7987-BBAC24A23483}"/>
              </a:ext>
            </a:extLst>
          </p:cNvPr>
          <p:cNvCxnSpPr/>
          <p:nvPr/>
        </p:nvCxnSpPr>
        <p:spPr>
          <a:xfrm>
            <a:off x="2686050" y="1725220"/>
            <a:ext cx="0" cy="685800"/>
          </a:xfrm>
          <a:prstGeom prst="line">
            <a:avLst/>
          </a:prstGeom>
        </p:spPr>
        <p:style>
          <a:lnRef idx="1">
            <a:schemeClr val="accent1"/>
          </a:lnRef>
          <a:fillRef idx="0">
            <a:schemeClr val="accent1"/>
          </a:fillRef>
          <a:effectRef idx="0">
            <a:schemeClr val="accent1"/>
          </a:effectRef>
          <a:fontRef idx="minor">
            <a:schemeClr val="tx1"/>
          </a:fontRef>
        </p:style>
      </p:cxnSp>
      <p:sp>
        <p:nvSpPr>
          <p:cNvPr id="11" name="Right Bracket 10">
            <a:extLst>
              <a:ext uri="{FF2B5EF4-FFF2-40B4-BE49-F238E27FC236}">
                <a16:creationId xmlns:a16="http://schemas.microsoft.com/office/drawing/2014/main" id="{4FEF21C8-3116-A78E-46F3-728CF7702011}"/>
              </a:ext>
            </a:extLst>
          </p:cNvPr>
          <p:cNvSpPr/>
          <p:nvPr/>
        </p:nvSpPr>
        <p:spPr>
          <a:xfrm>
            <a:off x="2686050" y="1622688"/>
            <a:ext cx="226585" cy="838200"/>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597453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4940E8B-B24E-7410-CC1C-AEE0268D6D42}"/>
                  </a:ext>
                </a:extLst>
              </p:cNvPr>
              <p:cNvSpPr>
                <a:spLocks noGrp="1"/>
              </p:cNvSpPr>
              <p:nvPr>
                <p:ph idx="1"/>
              </p:nvPr>
            </p:nvSpPr>
            <p:spPr/>
            <p:txBody>
              <a:bodyPr/>
              <a:lstStyle/>
              <a:p>
                <a:r>
                  <a:rPr kumimoji="0" lang="en-IN" sz="1100" b="0" u="none" strike="noStrike" kern="1200" cap="none" spc="0" normalizeH="0" baseline="0" noProof="0" dirty="0">
                    <a:ln>
                      <a:noFill/>
                    </a:ln>
                    <a:solidFill>
                      <a:prstClr val="black"/>
                    </a:solidFill>
                    <a:effectLst/>
                    <a:uLnTx/>
                    <a:uFillTx/>
                    <a:ea typeface="+mn-ea"/>
                  </a:rPr>
                  <a:t>If </a:t>
                </a:r>
                <a14:m>
                  <m:oMath xmlns:m="http://schemas.openxmlformats.org/officeDocument/2006/math">
                    <m:sSub>
                      <m:sSubPr>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P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𝑐</m:t>
                        </m:r>
                      </m:e>
                      <m:sub>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sub>
                    </m:sSub>
                    <m:d>
                      <m:dPr>
                        <m:begChr m:val="["/>
                        <m:endChr m:val="]"/>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dPr>
                      <m:e>
                        <m:m>
                          <m:mPr>
                            <m:mcs>
                              <m:mc>
                                <m:mcPr>
                                  <m:count m:val="1"/>
                                  <m:mcJc m:val="center"/>
                                </m:mcPr>
                              </m:mc>
                            </m:mcs>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mPr>
                          <m:mr>
                            <m:e>
                              <m:m>
                                <m:mPr>
                                  <m:mcs>
                                    <m:mc>
                                      <m:mcPr>
                                        <m:count m:val="1"/>
                                        <m:mcJc m:val="center"/>
                                      </m:mcPr>
                                    </m:mc>
                                  </m:mcs>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mPr>
                                <m:mr>
                                  <m:e>
                                    <m:r>
                                      <m:rPr>
                                        <m:brk m:alnAt="7"/>
                                      </m:r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
                            </m:e>
                          </m:mr>
                          <m:mr>
                            <m:e>
                              <m:m>
                                <m:mPr>
                                  <m:mcs>
                                    <m:mc>
                                      <m:mcPr>
                                        <m:count m:val="1"/>
                                        <m:mcJc m:val="center"/>
                                      </m:mcPr>
                                    </m:mc>
                                  </m:mcs>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mPr>
                                <m:mr>
                                  <m:e>
                                    <m:r>
                                      <m:rPr>
                                        <m:brk m:alnAt="7"/>
                                      </m:r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
                            </m:e>
                          </m:mr>
                        </m:m>
                      </m:e>
                    </m:d>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m:t>
                    </m:r>
                    <m:sSub>
                      <m:sSubPr>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P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𝑐</m:t>
                        </m:r>
                      </m:e>
                      <m:sub>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2</m:t>
                        </m:r>
                      </m:sub>
                    </m:sSub>
                    <m:d>
                      <m:dPr>
                        <m:begChr m:val="["/>
                        <m:endChr m:val="]"/>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r>
                                      <m:rPr>
                                        <m:brk m:alnAt="7"/>
                                      </m:r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m:t>
                                    </m:r>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
                            </m:e>
                          </m:mr>
                          <m:m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r>
                                      <m:rPr>
                                        <m:brk m:alnAt="7"/>
                                      </m:r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
                            </m:e>
                          </m:mr>
                        </m:m>
                      </m:e>
                    </m:d>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m:t>
                    </m:r>
                    <m:sSub>
                      <m:sSubPr>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P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𝑐</m:t>
                        </m:r>
                      </m:e>
                      <m:sub>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3</m:t>
                        </m:r>
                      </m:sub>
                    </m:sSub>
                    <m:d>
                      <m:dPr>
                        <m:begChr m:val="["/>
                        <m:endChr m:val="]"/>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r>
                                      <m:rPr>
                                        <m:brk m:alnAt="7"/>
                                      </m:r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−3</m:t>
                                    </m:r>
                                  </m:e>
                                </m:mr>
                              </m:m>
                            </m:e>
                          </m:mr>
                          <m:m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r>
                                      <m:rPr>
                                        <m:brk m:alnAt="7"/>
                                      </m:r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
                            </m:e>
                          </m:mr>
                        </m:m>
                      </m:e>
                    </m:d>
                    <m:r>
                      <a:rPr kumimoji="0" lang="en-IN" sz="1100" b="0" i="0" u="none" strike="noStrike" kern="1200" cap="none" spc="0" normalizeH="0" baseline="0" noProof="0" smtClean="0">
                        <a:ln>
                          <a:noFill/>
                        </a:ln>
                        <a:solidFill>
                          <a:prstClr val="black"/>
                        </a:solidFill>
                        <a:effectLst/>
                        <a:uLnTx/>
                        <a:uFillTx/>
                        <a:latin typeface="Cambria Math" panose="02040503050406030204" pitchFamily="18" charset="0"/>
                        <a:ea typeface="+mn-ea"/>
                      </a:rPr>
                      <m:t>+</m:t>
                    </m:r>
                    <m:sSub>
                      <m:sSubPr>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sSubP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𝑐</m:t>
                        </m:r>
                      </m:e>
                      <m:sub>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4</m:t>
                        </m:r>
                      </m:sub>
                    </m:sSub>
                    <m:d>
                      <m:dPr>
                        <m:begChr m:val="["/>
                        <m:endChr m:val="]"/>
                        <m:ctrl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ctrlPr>
                      </m:dP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r>
                                      <m:rPr>
                                        <m:brk m:alnAt="7"/>
                                      </m:r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
                            </m:e>
                          </m:mr>
                          <m:mr>
                            <m:e>
                              <m:m>
                                <m:mPr>
                                  <m:mcs>
                                    <m:mc>
                                      <m:mcPr>
                                        <m:count m:val="1"/>
                                        <m:mcJc m:val="center"/>
                                      </m:mcPr>
                                    </m:mc>
                                  </m:mcs>
                                  <m:ctrlPr>
                                    <a:rPr kumimoji="0" lang="en-IN" sz="1100" b="0" i="1" u="none" strike="noStrike" kern="1200" cap="none" spc="0" normalizeH="0" baseline="0" noProof="0">
                                      <a:ln>
                                        <a:noFill/>
                                      </a:ln>
                                      <a:solidFill>
                                        <a:prstClr val="black"/>
                                      </a:solidFill>
                                      <a:effectLst/>
                                      <a:uLnTx/>
                                      <a:uFillTx/>
                                      <a:latin typeface="Cambria Math" panose="02040503050406030204" pitchFamily="18" charset="0"/>
                                      <a:ea typeface="+mn-ea"/>
                                    </a:rPr>
                                  </m:ctrlPr>
                                </m:mPr>
                                <m:mr>
                                  <m:e>
                                    <m:r>
                                      <m:rPr>
                                        <m:brk m:alnAt="7"/>
                                      </m:rP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m:t>
                                    </m:r>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1</m:t>
                                    </m:r>
                                  </m:e>
                                </m:mr>
                                <m:mr>
                                  <m:e>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0</m:t>
                                    </m:r>
                                  </m:e>
                                </m:mr>
                              </m:m>
                            </m:e>
                          </m:mr>
                        </m:m>
                      </m:e>
                    </m:d>
                    <m:r>
                      <a:rPr kumimoji="0" lang="en-IN" sz="1100" b="0" i="1" u="none" strike="noStrike" kern="1200" cap="none" spc="0" normalizeH="0" baseline="0" noProof="0" smtClean="0">
                        <a:ln>
                          <a:noFill/>
                        </a:ln>
                        <a:solidFill>
                          <a:prstClr val="black"/>
                        </a:solidFill>
                        <a:effectLst/>
                        <a:uLnTx/>
                        <a:uFillTx/>
                        <a:latin typeface="Cambria Math" panose="02040503050406030204" pitchFamily="18" charset="0"/>
                        <a:ea typeface="+mn-ea"/>
                      </a:rPr>
                      <m:t>=</m:t>
                    </m:r>
                  </m:oMath>
                </a14:m>
                <a:r>
                  <a:rPr lang="en-IN" sz="1400" dirty="0">
                    <a:solidFill>
                      <a:prstClr val="black"/>
                    </a:solidFill>
                  </a:rPr>
                  <a:t> </a:t>
                </a:r>
                <a14:m>
                  <m:oMath xmlns:m="http://schemas.openxmlformats.org/officeDocument/2006/math">
                    <m:d>
                      <m:dPr>
                        <m:begChr m:val="["/>
                        <m:endChr m:val="]"/>
                        <m:ctrlPr>
                          <a:rPr lang="en-IN" sz="1400" i="1">
                            <a:solidFill>
                              <a:prstClr val="black"/>
                            </a:solidFill>
                            <a:latin typeface="Cambria Math" panose="02040503050406030204" pitchFamily="18" charset="0"/>
                          </a:rPr>
                        </m:ctrlPr>
                      </m:dPr>
                      <m:e>
                        <m:m>
                          <m:mPr>
                            <m:mcs>
                              <m:mc>
                                <m:mcPr>
                                  <m:count m:val="1"/>
                                  <m:mcJc m:val="center"/>
                                </m:mcPr>
                              </m:mc>
                            </m:mcs>
                            <m:ctrlPr>
                              <a:rPr lang="en-IN" sz="1400" i="1">
                                <a:solidFill>
                                  <a:prstClr val="black"/>
                                </a:solidFill>
                                <a:latin typeface="Cambria Math" panose="02040503050406030204" pitchFamily="18" charset="0"/>
                              </a:rPr>
                            </m:ctrlPr>
                          </m:mPr>
                          <m:mr>
                            <m:e>
                              <m:m>
                                <m:mPr>
                                  <m:mcs>
                                    <m:mc>
                                      <m:mcPr>
                                        <m:count m:val="1"/>
                                        <m:mcJc m:val="center"/>
                                      </m:mcPr>
                                    </m:mc>
                                  </m:mcs>
                                  <m:ctrlPr>
                                    <a:rPr lang="en-IN" sz="1400" i="1">
                                      <a:solidFill>
                                        <a:prstClr val="black"/>
                                      </a:solidFill>
                                      <a:latin typeface="Cambria Math" panose="02040503050406030204" pitchFamily="18" charset="0"/>
                                    </a:rPr>
                                  </m:ctrlPr>
                                </m:mPr>
                                <m:mr>
                                  <m:e>
                                    <m:r>
                                      <m:rPr>
                                        <m:brk m:alnAt="7"/>
                                      </m:rPr>
                                      <a:rPr lang="en-IN" sz="1400" b="0" i="1" smtClean="0">
                                        <a:solidFill>
                                          <a:prstClr val="black"/>
                                        </a:solidFill>
                                        <a:latin typeface="Cambria Math" panose="02040503050406030204" pitchFamily="18" charset="0"/>
                                      </a:rPr>
                                      <m:t>0</m:t>
                                    </m:r>
                                  </m:e>
                                </m:mr>
                                <m:mr>
                                  <m:e>
                                    <m:r>
                                      <a:rPr lang="en-IN" sz="1400" i="1">
                                        <a:solidFill>
                                          <a:prstClr val="black"/>
                                        </a:solidFill>
                                        <a:latin typeface="Cambria Math" panose="02040503050406030204" pitchFamily="18" charset="0"/>
                                      </a:rPr>
                                      <m:t>0</m:t>
                                    </m:r>
                                  </m:e>
                                </m:mr>
                              </m:m>
                            </m:e>
                          </m:mr>
                          <m:mr>
                            <m:e>
                              <m:m>
                                <m:mPr>
                                  <m:mcs>
                                    <m:mc>
                                      <m:mcPr>
                                        <m:count m:val="1"/>
                                        <m:mcJc m:val="center"/>
                                      </m:mcPr>
                                    </m:mc>
                                  </m:mcs>
                                  <m:ctrlPr>
                                    <a:rPr lang="en-IN" sz="1400" i="1">
                                      <a:solidFill>
                                        <a:prstClr val="black"/>
                                      </a:solidFill>
                                      <a:latin typeface="Cambria Math" panose="02040503050406030204" pitchFamily="18" charset="0"/>
                                    </a:rPr>
                                  </m:ctrlPr>
                                </m:mPr>
                                <m:mr>
                                  <m:e>
                                    <m:r>
                                      <m:rPr>
                                        <m:brk m:alnAt="7"/>
                                      </m:rPr>
                                      <a:rPr lang="en-IN" sz="1400" i="1">
                                        <a:solidFill>
                                          <a:prstClr val="black"/>
                                        </a:solidFill>
                                        <a:latin typeface="Cambria Math" panose="02040503050406030204" pitchFamily="18" charset="0"/>
                                      </a:rPr>
                                      <m:t>0</m:t>
                                    </m:r>
                                  </m:e>
                                </m:mr>
                                <m:mr>
                                  <m:e>
                                    <m:r>
                                      <a:rPr lang="en-IN" sz="1400" i="1">
                                        <a:solidFill>
                                          <a:prstClr val="black"/>
                                        </a:solidFill>
                                        <a:latin typeface="Cambria Math" panose="02040503050406030204" pitchFamily="18" charset="0"/>
                                      </a:rPr>
                                      <m:t>0</m:t>
                                    </m:r>
                                  </m:e>
                                </m:mr>
                              </m:m>
                            </m:e>
                          </m:mr>
                        </m:m>
                      </m:e>
                    </m:d>
                  </m:oMath>
                </a14:m>
                <a:r>
                  <a:rPr lang="en-IN" dirty="0"/>
                  <a:t> then </a:t>
                </a:r>
              </a:p>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4</m:t>
                          </m:r>
                        </m:sub>
                      </m:sSub>
                      <m:r>
                        <a:rPr lang="en-IN" b="0" i="1" smtClean="0">
                          <a:latin typeface="Cambria Math" panose="02040503050406030204" pitchFamily="18" charset="0"/>
                        </a:rPr>
                        <m:t>=0</m:t>
                      </m:r>
                    </m:oMath>
                  </m:oMathPara>
                </a14:m>
                <a:endParaRPr lang="en-IN"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b="0" i="1" smtClean="0">
                              <a:latin typeface="Cambria Math" panose="02040503050406030204" pitchFamily="18" charset="0"/>
                            </a:rPr>
                            <m:t>      </m:t>
                          </m:r>
                          <m:r>
                            <a:rPr lang="en-IN" i="1">
                              <a:latin typeface="Cambria Math" panose="02040503050406030204" pitchFamily="18" charset="0"/>
                            </a:rPr>
                            <m:t>𝑐</m:t>
                          </m:r>
                        </m:e>
                        <m:sub>
                          <m:r>
                            <a:rPr lang="en-IN" b="0" i="1" smtClean="0">
                              <a:latin typeface="Cambria Math" panose="02040503050406030204" pitchFamily="18" charset="0"/>
                            </a:rPr>
                            <m:t>2</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b="0" i="1" smtClean="0">
                              <a:latin typeface="Cambria Math" panose="02040503050406030204" pitchFamily="18" charset="0"/>
                            </a:rPr>
                            <m:t>3</m:t>
                          </m:r>
                          <m:r>
                            <a:rPr lang="en-IN" i="1">
                              <a:latin typeface="Cambria Math" panose="02040503050406030204" pitchFamily="18" charset="0"/>
                            </a:rPr>
                            <m:t>𝑐</m:t>
                          </m:r>
                        </m:e>
                        <m:sub>
                          <m:r>
                            <a:rPr lang="en-IN" b="0" i="1" smtClean="0">
                              <a:latin typeface="Cambria Math" panose="02040503050406030204" pitchFamily="18" charset="0"/>
                            </a:rPr>
                            <m:t>3</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4</m:t>
                          </m:r>
                        </m:sub>
                      </m:sSub>
                      <m:r>
                        <a:rPr lang="en-IN" i="1">
                          <a:latin typeface="Cambria Math" panose="02040503050406030204" pitchFamily="18" charset="0"/>
                        </a:rPr>
                        <m:t>=0</m:t>
                      </m:r>
                    </m:oMath>
                  </m:oMathPara>
                </a14:m>
                <a:endParaRPr lang="en-IN" i="1" dirty="0">
                  <a:latin typeface="Cambria Math" panose="02040503050406030204" pitchFamily="18" charset="0"/>
                </a:endParaRPr>
              </a:p>
              <a:p>
                <a:r>
                  <a:rPr lang="en-IN" i="1" dirty="0">
                    <a:latin typeface="Cambria Math" panose="02040503050406030204" pitchFamily="18" charset="0"/>
                  </a:rPr>
                  <a:t>                                              </a:t>
                </a:r>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4</m:t>
                        </m:r>
                      </m:sub>
                    </m:sSub>
                    <m:r>
                      <a:rPr lang="en-IN" b="0" i="1" smtClean="0">
                        <a:latin typeface="Cambria Math" panose="02040503050406030204" pitchFamily="18" charset="0"/>
                      </a:rPr>
                      <m:t>=0</m:t>
                    </m:r>
                  </m:oMath>
                </a14:m>
                <a:endParaRPr lang="en-IN" b="0" i="1" dirty="0">
                  <a:latin typeface="Cambria Math" panose="02040503050406030204" pitchFamily="18" charset="0"/>
                </a:endParaRPr>
              </a:p>
              <a:p>
                <a:endParaRPr lang="en-IN" i="1" dirty="0">
                  <a:latin typeface="Cambria Math" panose="02040503050406030204" pitchFamily="18" charset="0"/>
                </a:endParaRPr>
              </a:p>
              <a:p>
                <a:r>
                  <a:rPr lang="en-IN" sz="1000" i="1" dirty="0">
                    <a:latin typeface="Cambria Math" panose="02040503050406030204" pitchFamily="18" charset="0"/>
                  </a:rPr>
                  <a:t>If </a:t>
                </a:r>
                <a14:m>
                  <m:oMath xmlns:m="http://schemas.openxmlformats.org/officeDocument/2006/math">
                    <m:sSub>
                      <m:sSubPr>
                        <m:ctrlPr>
                          <a:rPr lang="en-IN" sz="1000" b="0" i="1" smtClean="0">
                            <a:latin typeface="Cambria Math" panose="02040503050406030204" pitchFamily="18" charset="0"/>
                          </a:rPr>
                        </m:ctrlPr>
                      </m:sSubPr>
                      <m:e>
                        <m:r>
                          <a:rPr lang="en-IN" sz="1000" b="0" i="1" smtClean="0">
                            <a:latin typeface="Cambria Math" panose="02040503050406030204" pitchFamily="18" charset="0"/>
                          </a:rPr>
                          <m:t>𝑐</m:t>
                        </m:r>
                      </m:e>
                      <m:sub>
                        <m:r>
                          <a:rPr lang="en-IN" sz="1000" b="0" i="1" smtClean="0">
                            <a:latin typeface="Cambria Math" panose="02040503050406030204" pitchFamily="18" charset="0"/>
                          </a:rPr>
                          <m:t>4</m:t>
                        </m:r>
                      </m:sub>
                    </m:sSub>
                  </m:oMath>
                </a14:m>
                <a:r>
                  <a:rPr lang="en-IN" sz="1000" i="1" dirty="0">
                    <a:latin typeface="Cambria Math" panose="02040503050406030204" pitchFamily="18" charset="0"/>
                  </a:rPr>
                  <a:t> </a:t>
                </a:r>
                <a:r>
                  <a:rPr lang="en-IN" sz="1000" dirty="0">
                    <a:latin typeface="Cambria Math" panose="02040503050406030204" pitchFamily="18" charset="0"/>
                  </a:rPr>
                  <a:t>= 1, then </a:t>
                </a:r>
                <a14:m>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𝑐</m:t>
                        </m:r>
                      </m:e>
                      <m:sub>
                        <m:r>
                          <a:rPr lang="en-IN" sz="1000" i="1">
                            <a:latin typeface="Cambria Math" panose="02040503050406030204" pitchFamily="18" charset="0"/>
                          </a:rPr>
                          <m:t>3</m:t>
                        </m:r>
                      </m:sub>
                    </m:sSub>
                    <m:r>
                      <a:rPr lang="en-IN" sz="1000" b="0" i="0" smtClean="0">
                        <a:latin typeface="Cambria Math" panose="02040503050406030204" pitchFamily="18" charset="0"/>
                      </a:rPr>
                      <m:t>=1, </m:t>
                    </m:r>
                    <m:sSub>
                      <m:sSubPr>
                        <m:ctrlPr>
                          <a:rPr lang="en-IN" sz="1000" i="1">
                            <a:latin typeface="Cambria Math" panose="02040503050406030204" pitchFamily="18" charset="0"/>
                          </a:rPr>
                        </m:ctrlPr>
                      </m:sSubPr>
                      <m:e>
                        <m:r>
                          <a:rPr lang="en-IN" sz="1000" i="1">
                            <a:latin typeface="Cambria Math" panose="02040503050406030204" pitchFamily="18" charset="0"/>
                          </a:rPr>
                          <m:t>      </m:t>
                        </m:r>
                        <m:r>
                          <a:rPr lang="en-IN" sz="1000" i="1">
                            <a:latin typeface="Cambria Math" panose="02040503050406030204" pitchFamily="18" charset="0"/>
                          </a:rPr>
                          <m:t>𝑐</m:t>
                        </m:r>
                      </m:e>
                      <m:sub>
                        <m:r>
                          <a:rPr lang="en-IN" sz="1000" i="1">
                            <a:latin typeface="Cambria Math" panose="02040503050406030204" pitchFamily="18" charset="0"/>
                          </a:rPr>
                          <m:t>2</m:t>
                        </m:r>
                      </m:sub>
                    </m:sSub>
                  </m:oMath>
                </a14:m>
                <a:r>
                  <a:rPr lang="en-IN" sz="1000" i="1" dirty="0">
                    <a:latin typeface="Cambria Math" panose="02040503050406030204" pitchFamily="18" charset="0"/>
                  </a:rPr>
                  <a:t> = </a:t>
                </a:r>
                <a:r>
                  <a:rPr lang="en-IN" sz="1000" dirty="0">
                    <a:latin typeface="Cambria Math" panose="02040503050406030204" pitchFamily="18" charset="0"/>
                  </a:rPr>
                  <a:t>3-1 =2, </a:t>
                </a:r>
                <a14:m>
                  <m:oMath xmlns:m="http://schemas.openxmlformats.org/officeDocument/2006/math">
                    <m:sSub>
                      <m:sSubPr>
                        <m:ctrlPr>
                          <a:rPr lang="en-IN" sz="1000" i="1">
                            <a:latin typeface="Cambria Math" panose="02040503050406030204" pitchFamily="18" charset="0"/>
                          </a:rPr>
                        </m:ctrlPr>
                      </m:sSubPr>
                      <m:e>
                        <m:r>
                          <a:rPr lang="en-IN" sz="1000" i="1">
                            <a:latin typeface="Cambria Math" panose="02040503050406030204" pitchFamily="18" charset="0"/>
                          </a:rPr>
                          <m:t>𝑐</m:t>
                        </m:r>
                      </m:e>
                      <m:sub>
                        <m:r>
                          <a:rPr lang="en-IN" sz="1000" i="1">
                            <a:latin typeface="Cambria Math" panose="02040503050406030204" pitchFamily="18" charset="0"/>
                          </a:rPr>
                          <m:t>1</m:t>
                        </m:r>
                      </m:sub>
                    </m:sSub>
                    <m:r>
                      <a:rPr lang="en-IN" sz="1000" b="0" i="0" smtClean="0">
                        <a:latin typeface="Cambria Math" panose="02040503050406030204" pitchFamily="18" charset="0"/>
                      </a:rPr>
                      <m:t>=2−1=1.</m:t>
                    </m:r>
                  </m:oMath>
                </a14:m>
                <a:endParaRPr lang="en-IN" sz="1000" i="1" dirty="0">
                  <a:latin typeface="Cambria Math" panose="02040503050406030204" pitchFamily="18" charset="0"/>
                </a:endParaRPr>
              </a:p>
              <a:p>
                <a:r>
                  <a:rPr lang="en-IN" sz="1000" i="1" dirty="0">
                    <a:latin typeface="Cambria Math" panose="02040503050406030204" pitchFamily="18" charset="0"/>
                  </a:rPr>
                  <a:t>As we vary the value of the free variable </a:t>
                </a:r>
                <a14:m>
                  <m:oMath xmlns:m="http://schemas.openxmlformats.org/officeDocument/2006/math">
                    <m:sSub>
                      <m:sSubPr>
                        <m:ctrlPr>
                          <a:rPr lang="en-IN" sz="1000" b="0" i="1" smtClean="0">
                            <a:latin typeface="Cambria Math" panose="02040503050406030204" pitchFamily="18" charset="0"/>
                          </a:rPr>
                        </m:ctrlPr>
                      </m:sSubPr>
                      <m:e>
                        <m:r>
                          <a:rPr lang="en-IN" sz="1000" b="0" i="1" smtClean="0">
                            <a:latin typeface="Cambria Math" panose="02040503050406030204" pitchFamily="18" charset="0"/>
                          </a:rPr>
                          <m:t>𝑐</m:t>
                        </m:r>
                      </m:e>
                      <m:sub>
                        <m:r>
                          <a:rPr lang="en-IN" sz="1000" b="0" i="1" smtClean="0">
                            <a:latin typeface="Cambria Math" panose="02040503050406030204" pitchFamily="18" charset="0"/>
                          </a:rPr>
                          <m:t>4</m:t>
                        </m:r>
                      </m:sub>
                    </m:sSub>
                  </m:oMath>
                </a14:m>
                <a:r>
                  <a:rPr lang="en-IN" sz="1000" i="1" dirty="0">
                    <a:latin typeface="Cambria Math" panose="02040503050406030204" pitchFamily="18" charset="0"/>
                  </a:rPr>
                  <a:t> e will get different non trivial solutions.</a:t>
                </a:r>
              </a:p>
              <a:p>
                <a:endParaRPr lang="en-IN" dirty="0"/>
              </a:p>
            </p:txBody>
          </p:sp>
        </mc:Choice>
        <mc:Fallback xmlns="">
          <p:sp>
            <p:nvSpPr>
              <p:cNvPr id="2" name="Content Placeholder 1">
                <a:extLst>
                  <a:ext uri="{FF2B5EF4-FFF2-40B4-BE49-F238E27FC236}">
                    <a16:creationId xmlns:a16="http://schemas.microsoft.com/office/drawing/2014/main" id="{44940E8B-B24E-7410-CC1C-AEE0268D6D42}"/>
                  </a:ext>
                </a:extLst>
              </p:cNvPr>
              <p:cNvSpPr>
                <a:spLocks noGrp="1" noRot="1" noChangeAspect="1" noMove="1" noResize="1" noEditPoints="1" noAdjustHandles="1" noChangeArrowheads="1" noChangeShapeType="1" noTextEdit="1"/>
              </p:cNvSpPr>
              <p:nvPr>
                <p:ph idx="1"/>
              </p:nvPr>
            </p:nvSpPr>
            <p:spPr>
              <a:blipFill>
                <a:blip r:embed="rId2"/>
                <a:stretch>
                  <a:fillRect l="-1028"/>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C661F536-5A76-BC26-1F6C-75EE5C2CF05C}"/>
              </a:ext>
            </a:extLst>
          </p:cNvPr>
          <p:cNvSpPr>
            <a:spLocks noGrp="1"/>
          </p:cNvSpPr>
          <p:nvPr>
            <p:ph sz="quarter" idx="10"/>
          </p:nvPr>
        </p:nvSpPr>
        <p:spPr/>
        <p:txBody>
          <a:bodyPr/>
          <a:lstStyle/>
          <a:p>
            <a:r>
              <a:rPr lang="en-IN" dirty="0"/>
              <a:t>Example </a:t>
            </a:r>
            <a:r>
              <a:rPr lang="en-IN" dirty="0" err="1"/>
              <a:t>Ctd</a:t>
            </a:r>
            <a:endParaRPr lang="en-IN" dirty="0"/>
          </a:p>
        </p:txBody>
      </p:sp>
    </p:spTree>
    <p:extLst>
      <p:ext uri="{BB962C8B-B14F-4D97-AF65-F5344CB8AC3E}">
        <p14:creationId xmlns:p14="http://schemas.microsoft.com/office/powerpoint/2010/main" val="33763956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20E7B-E8F4-DBC6-788A-36519747BB3C}"/>
              </a:ext>
            </a:extLst>
          </p:cNvPr>
          <p:cNvSpPr>
            <a:spLocks noGrp="1"/>
          </p:cNvSpPr>
          <p:nvPr>
            <p:ph sz="quarter" idx="10"/>
          </p:nvPr>
        </p:nvSpPr>
        <p:spPr/>
        <p:txBody>
          <a:bodyPr>
            <a:normAutofit/>
          </a:bodyPr>
          <a:lstStyle/>
          <a:p>
            <a:r>
              <a:rPr lang="en-IN" dirty="0"/>
              <a:t>Quick way of identifying a linearly (in)dependent set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5D39F2-0591-F281-1369-55BF21712844}"/>
                  </a:ext>
                </a:extLst>
              </p:cNvPr>
              <p:cNvSpPr txBox="1"/>
              <p:nvPr/>
            </p:nvSpPr>
            <p:spPr>
              <a:xfrm>
                <a:off x="400050" y="968375"/>
                <a:ext cx="3886200" cy="2434705"/>
              </a:xfrm>
              <a:prstGeom prst="rect">
                <a:avLst/>
              </a:prstGeom>
              <a:noFill/>
            </p:spPr>
            <p:txBody>
              <a:bodyPr wrap="square" rtlCol="0">
                <a:spAutoFit/>
              </a:bodyPr>
              <a:lstStyle/>
              <a:p>
                <a:r>
                  <a:rPr lang="en-IN" sz="1200" dirty="0"/>
                  <a:t>1. Suppose we have n vectors in R</a:t>
                </a:r>
                <a:r>
                  <a:rPr lang="en-IN" sz="1200" baseline="30000" dirty="0"/>
                  <a:t>m</a:t>
                </a:r>
                <a:r>
                  <a:rPr lang="en-IN" sz="1200" dirty="0"/>
                  <a:t> where n&gt;m, then the set is linearly independent. Why?</a:t>
                </a:r>
              </a:p>
              <a:p>
                <a:r>
                  <a:rPr lang="en-IN" sz="1200" dirty="0"/>
                  <a:t>For example, the set {</a:t>
                </a:r>
                <a14:m>
                  <m:oMath xmlns:m="http://schemas.openxmlformats.org/officeDocument/2006/math">
                    <m:d>
                      <m:dPr>
                        <m:begChr m:val="["/>
                        <m:endChr m:val="]"/>
                        <m:ctrlPr>
                          <a:rPr lang="en-IN" sz="1050" b="0" i="1" smtClean="0">
                            <a:latin typeface="Cambria Math" panose="02040503050406030204" pitchFamily="18" charset="0"/>
                          </a:rPr>
                        </m:ctrlPr>
                      </m:dPr>
                      <m:e>
                        <m:m>
                          <m:mPr>
                            <m:mcs>
                              <m:mc>
                                <m:mcPr>
                                  <m:count m:val="1"/>
                                  <m:mcJc m:val="center"/>
                                </m:mcPr>
                              </m:mc>
                            </m:mcs>
                            <m:ctrlPr>
                              <a:rPr lang="en-IN" sz="1050" b="0" i="1" smtClean="0">
                                <a:latin typeface="Cambria Math" panose="02040503050406030204" pitchFamily="18" charset="0"/>
                              </a:rPr>
                            </m:ctrlPr>
                          </m:mPr>
                          <m:mr>
                            <m:e>
                              <m:m>
                                <m:mPr>
                                  <m:mcs>
                                    <m:mc>
                                      <m:mcPr>
                                        <m:count m:val="1"/>
                                        <m:mcJc m:val="center"/>
                                      </m:mcPr>
                                    </m:mc>
                                  </m:mcs>
                                  <m:ctrlPr>
                                    <a:rPr lang="en-IN" sz="1050" b="0" i="1" smtClean="0">
                                      <a:latin typeface="Cambria Math" panose="02040503050406030204" pitchFamily="18" charset="0"/>
                                    </a:rPr>
                                  </m:ctrlPr>
                                </m:mPr>
                                <m:mr>
                                  <m:e>
                                    <m:r>
                                      <m:rPr>
                                        <m:brk m:alnAt="7"/>
                                      </m:rPr>
                                      <a:rPr lang="en-IN" sz="1050" b="0" i="1" smtClean="0">
                                        <a:latin typeface="Cambria Math" panose="02040503050406030204" pitchFamily="18" charset="0"/>
                                      </a:rPr>
                                      <m:t>1</m:t>
                                    </m:r>
                                  </m:e>
                                </m:mr>
                                <m:mr>
                                  <m:e>
                                    <m:r>
                                      <a:rPr lang="en-IN" sz="1050" b="0" i="1" smtClean="0">
                                        <a:latin typeface="Cambria Math" panose="02040503050406030204" pitchFamily="18" charset="0"/>
                                      </a:rPr>
                                      <m:t>0</m:t>
                                    </m:r>
                                  </m:e>
                                </m:mr>
                              </m:m>
                            </m:e>
                          </m:mr>
                          <m:mr>
                            <m:e>
                              <m:m>
                                <m:mPr>
                                  <m:mcs>
                                    <m:mc>
                                      <m:mcPr>
                                        <m:count m:val="1"/>
                                        <m:mcJc m:val="center"/>
                                      </m:mcPr>
                                    </m:mc>
                                  </m:mcs>
                                  <m:ctrlPr>
                                    <a:rPr lang="en-IN" sz="1050" b="0" i="1" smtClean="0">
                                      <a:latin typeface="Cambria Math" panose="02040503050406030204" pitchFamily="18" charset="0"/>
                                    </a:rPr>
                                  </m:ctrlPr>
                                </m:mPr>
                                <m:mr>
                                  <m:e>
                                    <m:r>
                                      <m:rPr>
                                        <m:brk m:alnAt="7"/>
                                      </m:rPr>
                                      <a:rPr lang="en-IN" sz="1050" b="0" i="1" smtClean="0">
                                        <a:latin typeface="Cambria Math" panose="02040503050406030204" pitchFamily="18" charset="0"/>
                                      </a:rPr>
                                      <m:t>0</m:t>
                                    </m:r>
                                  </m:e>
                                </m:mr>
                                <m:mr>
                                  <m:e>
                                    <m:r>
                                      <a:rPr lang="en-IN" sz="1050" b="0" i="1" smtClean="0">
                                        <a:latin typeface="Cambria Math" panose="02040503050406030204" pitchFamily="18" charset="0"/>
                                      </a:rPr>
                                      <m:t>0</m:t>
                                    </m:r>
                                  </m:e>
                                </m:mr>
                              </m:m>
                            </m:e>
                          </m:mr>
                        </m:m>
                      </m:e>
                    </m:d>
                    <m:r>
                      <a:rPr lang="en-IN" sz="1050" b="0" i="1" smtClean="0">
                        <a:latin typeface="Cambria Math" panose="02040503050406030204" pitchFamily="18" charset="0"/>
                      </a:rPr>
                      <m:t>,</m:t>
                    </m:r>
                    <m:d>
                      <m:dPr>
                        <m:begChr m:val="["/>
                        <m:endChr m:val="]"/>
                        <m:ctrlPr>
                          <a:rPr lang="en-IN" sz="1050" i="1">
                            <a:latin typeface="Cambria Math" panose="02040503050406030204" pitchFamily="18" charset="0"/>
                          </a:rPr>
                        </m:ctrlPr>
                      </m:dPr>
                      <m:e>
                        <m:m>
                          <m:mPr>
                            <m:mcs>
                              <m:mc>
                                <m:mcPr>
                                  <m:count m:val="1"/>
                                  <m:mcJc m:val="center"/>
                                </m:mcPr>
                              </m:mc>
                            </m:mcs>
                            <m:ctrlPr>
                              <a:rPr lang="en-IN" sz="1050" i="1">
                                <a:latin typeface="Cambria Math" panose="02040503050406030204" pitchFamily="18" charset="0"/>
                              </a:rPr>
                            </m:ctrlPr>
                          </m:mPr>
                          <m:mr>
                            <m:e>
                              <m:m>
                                <m:mPr>
                                  <m:mcs>
                                    <m:mc>
                                      <m:mcPr>
                                        <m:count m:val="1"/>
                                        <m:mcJc m:val="center"/>
                                      </m:mcPr>
                                    </m:mc>
                                  </m:mcs>
                                  <m:ctrlPr>
                                    <a:rPr lang="en-IN" sz="1050" i="1">
                                      <a:latin typeface="Cambria Math" panose="02040503050406030204" pitchFamily="18" charset="0"/>
                                    </a:rPr>
                                  </m:ctrlPr>
                                </m:mPr>
                                <m:mr>
                                  <m:e>
                                    <m:r>
                                      <m:rPr>
                                        <m:brk m:alnAt="7"/>
                                      </m:rPr>
                                      <a:rPr lang="en-IN" sz="1050" b="0" i="1" smtClean="0">
                                        <a:latin typeface="Cambria Math" panose="02040503050406030204" pitchFamily="18" charset="0"/>
                                      </a:rPr>
                                      <m:t>−</m:t>
                                    </m:r>
                                    <m:r>
                                      <a:rPr lang="en-IN" sz="1050" b="0" i="1" smtClean="0">
                                        <a:latin typeface="Cambria Math" panose="02040503050406030204" pitchFamily="18" charset="0"/>
                                      </a:rPr>
                                      <m:t>1</m:t>
                                    </m:r>
                                  </m:e>
                                </m:mr>
                                <m:mr>
                                  <m:e>
                                    <m:r>
                                      <a:rPr lang="en-IN" sz="1050" b="0" i="1" smtClean="0">
                                        <a:latin typeface="Cambria Math" panose="02040503050406030204" pitchFamily="18" charset="0"/>
                                      </a:rPr>
                                      <m:t>1</m:t>
                                    </m:r>
                                  </m:e>
                                </m:mr>
                              </m:m>
                            </m:e>
                          </m:mr>
                          <m:mr>
                            <m:e>
                              <m:m>
                                <m:mPr>
                                  <m:mcs>
                                    <m:mc>
                                      <m:mcPr>
                                        <m:count m:val="1"/>
                                        <m:mcJc m:val="center"/>
                                      </m:mcPr>
                                    </m:mc>
                                  </m:mcs>
                                  <m:ctrlPr>
                                    <a:rPr lang="en-IN" sz="1050" i="1">
                                      <a:latin typeface="Cambria Math" panose="02040503050406030204" pitchFamily="18" charset="0"/>
                                    </a:rPr>
                                  </m:ctrlPr>
                                </m:mPr>
                                <m:mr>
                                  <m:e>
                                    <m:r>
                                      <m:rPr>
                                        <m:brk m:alnAt="7"/>
                                      </m:rPr>
                                      <a:rPr lang="en-IN" sz="1050" b="0" i="1" smtClean="0">
                                        <a:latin typeface="Cambria Math" panose="02040503050406030204" pitchFamily="18" charset="0"/>
                                      </a:rPr>
                                      <m:t>0</m:t>
                                    </m:r>
                                  </m:e>
                                </m:mr>
                                <m:mr>
                                  <m:e>
                                    <m:r>
                                      <a:rPr lang="en-IN" sz="1050" b="0" i="1" smtClean="0">
                                        <a:latin typeface="Cambria Math" panose="02040503050406030204" pitchFamily="18" charset="0"/>
                                      </a:rPr>
                                      <m:t>0</m:t>
                                    </m:r>
                                  </m:e>
                                </m:mr>
                              </m:m>
                            </m:e>
                          </m:mr>
                        </m:m>
                      </m:e>
                    </m:d>
                    <m:r>
                      <a:rPr lang="en-IN" sz="1050" b="0" i="1" smtClean="0">
                        <a:latin typeface="Cambria Math" panose="02040503050406030204" pitchFamily="18" charset="0"/>
                      </a:rPr>
                      <m:t>,</m:t>
                    </m:r>
                    <m:d>
                      <m:dPr>
                        <m:begChr m:val="["/>
                        <m:endChr m:val="]"/>
                        <m:ctrlPr>
                          <a:rPr lang="en-IN" sz="1050" i="1">
                            <a:latin typeface="Cambria Math" panose="02040503050406030204" pitchFamily="18" charset="0"/>
                          </a:rPr>
                        </m:ctrlPr>
                      </m:dPr>
                      <m:e>
                        <m:m>
                          <m:mPr>
                            <m:mcs>
                              <m:mc>
                                <m:mcPr>
                                  <m:count m:val="1"/>
                                  <m:mcJc m:val="center"/>
                                </m:mcPr>
                              </m:mc>
                            </m:mcs>
                            <m:ctrlPr>
                              <a:rPr lang="en-IN" sz="1050" i="1">
                                <a:latin typeface="Cambria Math" panose="02040503050406030204" pitchFamily="18" charset="0"/>
                              </a:rPr>
                            </m:ctrlPr>
                          </m:mPr>
                          <m:mr>
                            <m:e>
                              <m:m>
                                <m:mPr>
                                  <m:mcs>
                                    <m:mc>
                                      <m:mcPr>
                                        <m:count m:val="1"/>
                                        <m:mcJc m:val="center"/>
                                      </m:mcPr>
                                    </m:mc>
                                  </m:mcs>
                                  <m:ctrlPr>
                                    <a:rPr lang="en-IN" sz="1050" i="1">
                                      <a:latin typeface="Cambria Math" panose="02040503050406030204" pitchFamily="18" charset="0"/>
                                    </a:rPr>
                                  </m:ctrlPr>
                                </m:mPr>
                                <m:mr>
                                  <m:e>
                                    <m:r>
                                      <m:rPr>
                                        <m:brk m:alnAt="7"/>
                                      </m:rPr>
                                      <a:rPr lang="en-IN" sz="1050" b="0" i="1" smtClean="0">
                                        <a:latin typeface="Cambria Math" panose="02040503050406030204" pitchFamily="18" charset="0"/>
                                      </a:rPr>
                                      <m:t>0</m:t>
                                    </m:r>
                                  </m:e>
                                </m:mr>
                                <m:mr>
                                  <m:e>
                                    <m:r>
                                      <a:rPr lang="en-IN" sz="1050" b="0" i="1" smtClean="0">
                                        <a:latin typeface="Cambria Math" panose="02040503050406030204" pitchFamily="18" charset="0"/>
                                      </a:rPr>
                                      <m:t>−3</m:t>
                                    </m:r>
                                  </m:e>
                                </m:mr>
                              </m:m>
                            </m:e>
                          </m:mr>
                          <m:mr>
                            <m:e>
                              <m:m>
                                <m:mPr>
                                  <m:mcs>
                                    <m:mc>
                                      <m:mcPr>
                                        <m:count m:val="1"/>
                                        <m:mcJc m:val="center"/>
                                      </m:mcPr>
                                    </m:mc>
                                  </m:mcs>
                                  <m:ctrlPr>
                                    <a:rPr lang="en-IN" sz="1050" i="1">
                                      <a:latin typeface="Cambria Math" panose="02040503050406030204" pitchFamily="18" charset="0"/>
                                    </a:rPr>
                                  </m:ctrlPr>
                                </m:mPr>
                                <m:mr>
                                  <m:e>
                                    <m:r>
                                      <m:rPr>
                                        <m:brk m:alnAt="7"/>
                                      </m:rPr>
                                      <a:rPr lang="en-IN" sz="1050" b="0" i="1" smtClean="0">
                                        <a:latin typeface="Cambria Math" panose="02040503050406030204" pitchFamily="18" charset="0"/>
                                      </a:rPr>
                                      <m:t>1</m:t>
                                    </m:r>
                                  </m:e>
                                </m:mr>
                                <m:mr>
                                  <m:e>
                                    <m:r>
                                      <a:rPr lang="en-IN" sz="1050" b="0" i="1" smtClean="0">
                                        <a:latin typeface="Cambria Math" panose="02040503050406030204" pitchFamily="18" charset="0"/>
                                      </a:rPr>
                                      <m:t>0</m:t>
                                    </m:r>
                                  </m:e>
                                </m:mr>
                              </m:m>
                            </m:e>
                          </m:mr>
                        </m:m>
                      </m:e>
                    </m:d>
                    <m:r>
                      <a:rPr lang="en-IN" sz="1050" b="0" i="0" smtClean="0">
                        <a:latin typeface="Cambria Math" panose="02040503050406030204" pitchFamily="18" charset="0"/>
                      </a:rPr>
                      <m:t>,</m:t>
                    </m:r>
                    <m:d>
                      <m:dPr>
                        <m:begChr m:val="["/>
                        <m:endChr m:val="]"/>
                        <m:ctrlPr>
                          <a:rPr lang="en-IN" sz="1050" i="1" smtClean="0">
                            <a:latin typeface="Cambria Math" panose="02040503050406030204" pitchFamily="18" charset="0"/>
                          </a:rPr>
                        </m:ctrlPr>
                      </m:dPr>
                      <m:e>
                        <m:m>
                          <m:mPr>
                            <m:mcs>
                              <m:mc>
                                <m:mcPr>
                                  <m:count m:val="1"/>
                                  <m:mcJc m:val="center"/>
                                </m:mcPr>
                              </m:mc>
                            </m:mcs>
                            <m:ctrlPr>
                              <a:rPr lang="en-IN" sz="1050" i="1">
                                <a:latin typeface="Cambria Math" panose="02040503050406030204" pitchFamily="18" charset="0"/>
                              </a:rPr>
                            </m:ctrlPr>
                          </m:mPr>
                          <m:mr>
                            <m:e>
                              <m:m>
                                <m:mPr>
                                  <m:mcs>
                                    <m:mc>
                                      <m:mcPr>
                                        <m:count m:val="1"/>
                                        <m:mcJc m:val="center"/>
                                      </m:mcPr>
                                    </m:mc>
                                  </m:mcs>
                                  <m:ctrlPr>
                                    <a:rPr lang="en-IN" sz="1050" i="1">
                                      <a:latin typeface="Cambria Math" panose="02040503050406030204" pitchFamily="18" charset="0"/>
                                    </a:rPr>
                                  </m:ctrlPr>
                                </m:mPr>
                                <m:mr>
                                  <m:e>
                                    <m:r>
                                      <m:rPr>
                                        <m:brk m:alnAt="7"/>
                                      </m:rPr>
                                      <a:rPr lang="en-IN" sz="1050" b="0" i="1" smtClean="0">
                                        <a:latin typeface="Cambria Math" panose="02040503050406030204" pitchFamily="18" charset="0"/>
                                      </a:rPr>
                                      <m:t>1</m:t>
                                    </m:r>
                                  </m:e>
                                </m:mr>
                                <m:mr>
                                  <m:e>
                                    <m:r>
                                      <a:rPr lang="en-IN" sz="1050" b="0" i="1" smtClean="0">
                                        <a:latin typeface="Cambria Math" panose="02040503050406030204" pitchFamily="18" charset="0"/>
                                      </a:rPr>
                                      <m:t>1</m:t>
                                    </m:r>
                                  </m:e>
                                </m:mr>
                              </m:m>
                            </m:e>
                          </m:mr>
                          <m:mr>
                            <m:e>
                              <m:m>
                                <m:mPr>
                                  <m:mcs>
                                    <m:mc>
                                      <m:mcPr>
                                        <m:count m:val="1"/>
                                        <m:mcJc m:val="center"/>
                                      </m:mcPr>
                                    </m:mc>
                                  </m:mcs>
                                  <m:ctrlPr>
                                    <a:rPr lang="en-IN" sz="1050" i="1">
                                      <a:latin typeface="Cambria Math" panose="02040503050406030204" pitchFamily="18" charset="0"/>
                                    </a:rPr>
                                  </m:ctrlPr>
                                </m:mPr>
                                <m:mr>
                                  <m:e>
                                    <m:r>
                                      <m:rPr>
                                        <m:brk m:alnAt="7"/>
                                      </m:rPr>
                                      <a:rPr lang="en-IN" sz="1050" b="0" i="1" smtClean="0">
                                        <a:latin typeface="Cambria Math" panose="02040503050406030204" pitchFamily="18" charset="0"/>
                                      </a:rPr>
                                      <m:t>−</m:t>
                                    </m:r>
                                    <m:r>
                                      <a:rPr lang="en-IN" sz="1050" b="0" i="1" smtClean="0">
                                        <a:latin typeface="Cambria Math" panose="02040503050406030204" pitchFamily="18" charset="0"/>
                                      </a:rPr>
                                      <m:t>1</m:t>
                                    </m:r>
                                  </m:e>
                                </m:mr>
                                <m:mr>
                                  <m:e>
                                    <m:r>
                                      <a:rPr lang="en-IN" sz="1050" b="0" i="1" smtClean="0">
                                        <a:latin typeface="Cambria Math" panose="02040503050406030204" pitchFamily="18" charset="0"/>
                                      </a:rPr>
                                      <m:t>5</m:t>
                                    </m:r>
                                  </m:e>
                                </m:mr>
                              </m:m>
                            </m:e>
                          </m:mr>
                        </m:m>
                      </m:e>
                    </m:d>
                  </m:oMath>
                </a14:m>
                <a:r>
                  <a:rPr lang="en-IN" sz="1200" dirty="0"/>
                  <a:t>, </a:t>
                </a:r>
                <a14:m>
                  <m:oMath xmlns:m="http://schemas.openxmlformats.org/officeDocument/2006/math">
                    <m:d>
                      <m:dPr>
                        <m:begChr m:val="["/>
                        <m:endChr m:val="]"/>
                        <m:ctrlPr>
                          <a:rPr lang="en-IN" sz="1200" i="1" smtClean="0">
                            <a:latin typeface="Cambria Math" panose="02040503050406030204" pitchFamily="18" charset="0"/>
                          </a:rPr>
                        </m:ctrlPr>
                      </m:dPr>
                      <m:e>
                        <m:m>
                          <m:mPr>
                            <m:mcs>
                              <m:mc>
                                <m:mcPr>
                                  <m:count m:val="1"/>
                                  <m:mcJc m:val="center"/>
                                </m:mcPr>
                              </m:mc>
                            </m:mcs>
                            <m:ctrlPr>
                              <a:rPr lang="en-IN" sz="1200" i="1">
                                <a:latin typeface="Cambria Math" panose="02040503050406030204" pitchFamily="18" charset="0"/>
                              </a:rPr>
                            </m:ctrlPr>
                          </m:mPr>
                          <m:mr>
                            <m:e>
                              <m:m>
                                <m:mPr>
                                  <m:mcs>
                                    <m:mc>
                                      <m:mcPr>
                                        <m:count m:val="1"/>
                                        <m:mcJc m:val="center"/>
                                      </m:mcPr>
                                    </m:mc>
                                  </m:mcs>
                                  <m:ctrlPr>
                                    <a:rPr lang="en-IN" sz="1200" i="1">
                                      <a:latin typeface="Cambria Math" panose="02040503050406030204" pitchFamily="18" charset="0"/>
                                    </a:rPr>
                                  </m:ctrlPr>
                                </m:mPr>
                                <m:mr>
                                  <m:e>
                                    <m:r>
                                      <m:rPr>
                                        <m:brk m:alnAt="7"/>
                                      </m:rPr>
                                      <a:rPr lang="en-IN" sz="1200" b="0" i="1" smtClean="0">
                                        <a:latin typeface="Cambria Math" panose="02040503050406030204" pitchFamily="18" charset="0"/>
                                      </a:rPr>
                                      <m:t>1</m:t>
                                    </m:r>
                                  </m:e>
                                </m:mr>
                                <m:mr>
                                  <m:e>
                                    <m:r>
                                      <a:rPr lang="en-IN" sz="1200" b="0" i="1" smtClean="0">
                                        <a:latin typeface="Cambria Math" panose="02040503050406030204" pitchFamily="18" charset="0"/>
                                      </a:rPr>
                                      <m:t>−2</m:t>
                                    </m:r>
                                  </m:e>
                                </m:mr>
                              </m:m>
                            </m:e>
                          </m:mr>
                          <m:mr>
                            <m:e>
                              <m:m>
                                <m:mPr>
                                  <m:mcs>
                                    <m:mc>
                                      <m:mcPr>
                                        <m:count m:val="1"/>
                                        <m:mcJc m:val="center"/>
                                      </m:mcPr>
                                    </m:mc>
                                  </m:mcs>
                                  <m:ctrlPr>
                                    <a:rPr lang="en-IN" sz="1200" i="1">
                                      <a:latin typeface="Cambria Math" panose="02040503050406030204" pitchFamily="18" charset="0"/>
                                    </a:rPr>
                                  </m:ctrlPr>
                                </m:mPr>
                                <m:mr>
                                  <m:e>
                                    <m:r>
                                      <m:rPr>
                                        <m:brk m:alnAt="7"/>
                                      </m:rPr>
                                      <a:rPr lang="en-IN" sz="1200" b="0" i="1" smtClean="0">
                                        <a:latin typeface="Cambria Math" panose="02040503050406030204" pitchFamily="18" charset="0"/>
                                      </a:rPr>
                                      <m:t>3</m:t>
                                    </m:r>
                                  </m:e>
                                </m:mr>
                                <m:mr>
                                  <m:e>
                                    <m:r>
                                      <a:rPr lang="en-IN" sz="1200" b="0" i="1" smtClean="0">
                                        <a:latin typeface="Cambria Math" panose="02040503050406030204" pitchFamily="18" charset="0"/>
                                      </a:rPr>
                                      <m:t>5</m:t>
                                    </m:r>
                                  </m:e>
                                </m:mr>
                              </m:m>
                            </m:e>
                          </m:mr>
                        </m:m>
                      </m:e>
                    </m:d>
                  </m:oMath>
                </a14:m>
                <a:r>
                  <a:rPr lang="en-IN" sz="1200" dirty="0"/>
                  <a:t>} is linearly dependent subset of R</a:t>
                </a:r>
                <a:r>
                  <a:rPr lang="en-IN" sz="1200" baseline="30000" dirty="0"/>
                  <a:t>3</a:t>
                </a:r>
                <a:r>
                  <a:rPr lang="en-IN" sz="1200" dirty="0"/>
                  <a:t>.</a:t>
                </a:r>
              </a:p>
              <a:p>
                <a:r>
                  <a:rPr lang="en-IN" sz="1200" dirty="0"/>
                  <a:t>2. Any subset of linearly independent set is linearly independent.</a:t>
                </a:r>
              </a:p>
              <a:p>
                <a:r>
                  <a:rPr lang="en-IN" sz="1200" dirty="0"/>
                  <a:t>3. Any superset of linearly dependent set is linearly dependent.</a:t>
                </a:r>
              </a:p>
              <a:p>
                <a:endParaRPr lang="en-IN" sz="1200" dirty="0"/>
              </a:p>
              <a:p>
                <a:endParaRPr lang="en-IN" sz="1200" dirty="0"/>
              </a:p>
            </p:txBody>
          </p:sp>
        </mc:Choice>
        <mc:Fallback xmlns="">
          <p:sp>
            <p:nvSpPr>
              <p:cNvPr id="5" name="TextBox 4">
                <a:extLst>
                  <a:ext uri="{FF2B5EF4-FFF2-40B4-BE49-F238E27FC236}">
                    <a16:creationId xmlns:a16="http://schemas.microsoft.com/office/drawing/2014/main" id="{805D39F2-0591-F281-1369-55BF21712844}"/>
                  </a:ext>
                </a:extLst>
              </p:cNvPr>
              <p:cNvSpPr txBox="1">
                <a:spLocks noRot="1" noChangeAspect="1" noMove="1" noResize="1" noEditPoints="1" noAdjustHandles="1" noChangeArrowheads="1" noChangeShapeType="1" noTextEdit="1"/>
              </p:cNvSpPr>
              <p:nvPr/>
            </p:nvSpPr>
            <p:spPr>
              <a:xfrm>
                <a:off x="400050" y="968375"/>
                <a:ext cx="3886200" cy="2434705"/>
              </a:xfrm>
              <a:prstGeom prst="rect">
                <a:avLst/>
              </a:prstGeom>
              <a:blipFill>
                <a:blip r:embed="rId2"/>
                <a:stretch>
                  <a:fillRect l="-157" t="-501"/>
                </a:stretch>
              </a:blipFill>
            </p:spPr>
            <p:txBody>
              <a:bodyPr/>
              <a:lstStyle/>
              <a:p>
                <a:r>
                  <a:rPr lang="en-IN">
                    <a:noFill/>
                  </a:rPr>
                  <a:t> </a:t>
                </a:r>
              </a:p>
            </p:txBody>
          </p:sp>
        </mc:Fallback>
      </mc:AlternateContent>
    </p:spTree>
    <p:extLst>
      <p:ext uri="{BB962C8B-B14F-4D97-AF65-F5344CB8AC3E}">
        <p14:creationId xmlns:p14="http://schemas.microsoft.com/office/powerpoint/2010/main" val="21660277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Basis</a:t>
            </a:r>
            <a:r>
              <a:rPr spc="-65" dirty="0"/>
              <a:t> </a:t>
            </a:r>
            <a:r>
              <a:rPr dirty="0"/>
              <a:t>of</a:t>
            </a:r>
            <a:r>
              <a:rPr spc="-65" dirty="0"/>
              <a:t> </a:t>
            </a:r>
            <a:r>
              <a:rPr spc="-35" dirty="0"/>
              <a:t>vector</a:t>
            </a:r>
            <a:r>
              <a:rPr spc="-65" dirty="0"/>
              <a:t> </a:t>
            </a:r>
            <a:r>
              <a:rPr spc="-55" dirty="0"/>
              <a:t>space</a:t>
            </a:r>
          </a:p>
        </p:txBody>
      </p:sp>
      <p:sp>
        <p:nvSpPr>
          <p:cNvPr id="3" name="object 3"/>
          <p:cNvSpPr txBox="1"/>
          <p:nvPr/>
        </p:nvSpPr>
        <p:spPr>
          <a:xfrm>
            <a:off x="421957" y="1036864"/>
            <a:ext cx="3845560" cy="1338580"/>
          </a:xfrm>
          <a:prstGeom prst="rect">
            <a:avLst/>
          </a:prstGeom>
        </p:spPr>
        <p:txBody>
          <a:bodyPr vert="horz" wrap="square" lIns="0" tIns="6985" rIns="0" bIns="0" rtlCol="0">
            <a:spAutoFit/>
          </a:bodyPr>
          <a:lstStyle/>
          <a:p>
            <a:pPr marL="214629" marR="30480" indent="-177165">
              <a:lnSpc>
                <a:spcPct val="102600"/>
              </a:lnSpc>
              <a:spcBef>
                <a:spcPts val="55"/>
              </a:spcBef>
              <a:buClr>
                <a:srgbClr val="3333B2"/>
              </a:buClr>
              <a:buFont typeface="Lucida Sans Unicode"/>
              <a:buChar char="►"/>
              <a:tabLst>
                <a:tab pos="214629" algn="l"/>
              </a:tabLst>
            </a:pPr>
            <a:r>
              <a:rPr sz="1100" dirty="0">
                <a:latin typeface="Tahoma"/>
                <a:cs typeface="Tahoma"/>
              </a:rPr>
              <a:t>Do</a:t>
            </a:r>
            <a:r>
              <a:rPr lang="en-IN" sz="1100" dirty="0">
                <a:latin typeface="Tahoma"/>
                <a:cs typeface="Tahoma"/>
              </a:rPr>
              <a:t>es</a:t>
            </a:r>
            <a:r>
              <a:rPr sz="1100" spc="-35" dirty="0">
                <a:latin typeface="Tahoma"/>
                <a:cs typeface="Tahoma"/>
              </a:rPr>
              <a:t> </a:t>
            </a:r>
            <a:r>
              <a:rPr sz="1100" spc="-45" dirty="0">
                <a:latin typeface="Tahoma"/>
                <a:cs typeface="Tahoma"/>
              </a:rPr>
              <a:t>there</a:t>
            </a:r>
            <a:r>
              <a:rPr sz="1100" spc="-25" dirty="0">
                <a:latin typeface="Tahoma"/>
                <a:cs typeface="Tahoma"/>
              </a:rPr>
              <a:t> exist</a:t>
            </a:r>
            <a:r>
              <a:rPr sz="1100" spc="-35" dirty="0">
                <a:latin typeface="Tahoma"/>
                <a:cs typeface="Tahoma"/>
              </a:rPr>
              <a:t> </a:t>
            </a:r>
            <a:r>
              <a:rPr sz="1100" dirty="0">
                <a:latin typeface="Tahoma"/>
                <a:cs typeface="Tahoma"/>
              </a:rPr>
              <a:t>a</a:t>
            </a:r>
            <a:r>
              <a:rPr sz="1100" spc="-25" dirty="0">
                <a:latin typeface="Tahoma"/>
                <a:cs typeface="Tahoma"/>
              </a:rPr>
              <a:t> </a:t>
            </a:r>
            <a:r>
              <a:rPr sz="1100" spc="-20" dirty="0">
                <a:latin typeface="Tahoma"/>
                <a:cs typeface="Tahoma"/>
              </a:rPr>
              <a:t>set</a:t>
            </a:r>
            <a:r>
              <a:rPr sz="1100" spc="-30" dirty="0">
                <a:latin typeface="Tahoma"/>
                <a:cs typeface="Tahoma"/>
              </a:rPr>
              <a:t> </a:t>
            </a:r>
            <a:r>
              <a:rPr sz="1100" dirty="0">
                <a:latin typeface="Tahoma"/>
                <a:cs typeface="Tahoma"/>
              </a:rPr>
              <a:t>of</a:t>
            </a:r>
            <a:r>
              <a:rPr sz="1100" spc="-25" dirty="0">
                <a:latin typeface="Tahoma"/>
                <a:cs typeface="Tahoma"/>
              </a:rPr>
              <a:t> </a:t>
            </a:r>
            <a:r>
              <a:rPr sz="1100" spc="-50" dirty="0">
                <a:latin typeface="Tahoma"/>
                <a:cs typeface="Tahoma"/>
              </a:rPr>
              <a:t>vectors</a:t>
            </a:r>
            <a:r>
              <a:rPr sz="1100" spc="-30" dirty="0">
                <a:latin typeface="Tahoma"/>
                <a:cs typeface="Tahoma"/>
              </a:rPr>
              <a:t> </a:t>
            </a:r>
            <a:r>
              <a:rPr sz="1100" dirty="0">
                <a:latin typeface="Tahoma"/>
                <a:cs typeface="Tahoma"/>
              </a:rPr>
              <a:t>in</a:t>
            </a:r>
            <a:r>
              <a:rPr sz="1100" spc="-25" dirty="0">
                <a:latin typeface="Tahoma"/>
                <a:cs typeface="Tahoma"/>
              </a:rPr>
              <a:t> </a:t>
            </a:r>
            <a:r>
              <a:rPr sz="1100" dirty="0">
                <a:latin typeface="Tahoma"/>
                <a:cs typeface="Tahoma"/>
              </a:rPr>
              <a:t>a</a:t>
            </a:r>
            <a:r>
              <a:rPr sz="1100" spc="-30" dirty="0">
                <a:latin typeface="Tahoma"/>
                <a:cs typeface="Tahoma"/>
              </a:rPr>
              <a:t> </a:t>
            </a:r>
            <a:r>
              <a:rPr sz="1100" spc="-35" dirty="0">
                <a:latin typeface="Tahoma"/>
                <a:cs typeface="Tahoma"/>
              </a:rPr>
              <a:t>vector</a:t>
            </a:r>
            <a:r>
              <a:rPr sz="1100" spc="-25" dirty="0">
                <a:latin typeface="Tahoma"/>
                <a:cs typeface="Tahoma"/>
              </a:rPr>
              <a:t> </a:t>
            </a:r>
            <a:r>
              <a:rPr sz="1100" spc="-55" dirty="0">
                <a:latin typeface="Tahoma"/>
                <a:cs typeface="Tahoma"/>
              </a:rPr>
              <a:t>space</a:t>
            </a:r>
            <a:r>
              <a:rPr sz="1100" spc="-30" dirty="0">
                <a:latin typeface="Tahoma"/>
                <a:cs typeface="Tahoma"/>
              </a:rPr>
              <a:t> </a:t>
            </a:r>
            <a:r>
              <a:rPr sz="1100" spc="-25" dirty="0">
                <a:latin typeface="Tahoma"/>
                <a:cs typeface="Tahoma"/>
              </a:rPr>
              <a:t>which </a:t>
            </a:r>
            <a:r>
              <a:rPr sz="1100" spc="-10" dirty="0">
                <a:latin typeface="Tahoma"/>
                <a:cs typeface="Tahoma"/>
              </a:rPr>
              <a:t>”span” the</a:t>
            </a:r>
            <a:r>
              <a:rPr sz="1100" spc="-65" dirty="0">
                <a:latin typeface="Tahoma"/>
                <a:cs typeface="Tahoma"/>
              </a:rPr>
              <a:t> </a:t>
            </a:r>
            <a:r>
              <a:rPr sz="1100" spc="-25" dirty="0">
                <a:latin typeface="Tahoma"/>
                <a:cs typeface="Tahoma"/>
              </a:rPr>
              <a:t>entire</a:t>
            </a:r>
            <a:r>
              <a:rPr sz="1100" spc="-65" dirty="0">
                <a:latin typeface="Tahoma"/>
                <a:cs typeface="Tahoma"/>
              </a:rPr>
              <a:t> </a:t>
            </a:r>
            <a:r>
              <a:rPr sz="1100" spc="-10" dirty="0">
                <a:latin typeface="Tahoma"/>
                <a:cs typeface="Tahoma"/>
              </a:rPr>
              <a:t>space?</a:t>
            </a:r>
            <a:endParaRPr sz="1100" dirty="0">
              <a:latin typeface="Tahoma"/>
              <a:cs typeface="Tahoma"/>
            </a:endParaRPr>
          </a:p>
          <a:p>
            <a:pPr marL="214629" marR="118110" indent="-177165">
              <a:lnSpc>
                <a:spcPct val="102600"/>
              </a:lnSpc>
              <a:spcBef>
                <a:spcPts val="300"/>
              </a:spcBef>
              <a:buClr>
                <a:srgbClr val="3333B2"/>
              </a:buClr>
              <a:buFont typeface="Lucida Sans Unicode"/>
              <a:buChar char="►"/>
              <a:tabLst>
                <a:tab pos="214629" algn="l"/>
              </a:tabLst>
            </a:pPr>
            <a:r>
              <a:rPr sz="1100" dirty="0">
                <a:latin typeface="Tahoma"/>
                <a:cs typeface="Tahoma"/>
              </a:rPr>
              <a:t>What</a:t>
            </a:r>
            <a:r>
              <a:rPr sz="1100" spc="-90" dirty="0">
                <a:latin typeface="Tahoma"/>
                <a:cs typeface="Tahoma"/>
              </a:rPr>
              <a:t> we</a:t>
            </a:r>
            <a:r>
              <a:rPr sz="1100" spc="5" dirty="0">
                <a:latin typeface="Tahoma"/>
                <a:cs typeface="Tahoma"/>
              </a:rPr>
              <a:t> </a:t>
            </a:r>
            <a:r>
              <a:rPr sz="1100" spc="-60" dirty="0">
                <a:latin typeface="Tahoma"/>
                <a:cs typeface="Tahoma"/>
              </a:rPr>
              <a:t>mean</a:t>
            </a:r>
            <a:r>
              <a:rPr sz="1100" spc="-25" dirty="0">
                <a:latin typeface="Tahoma"/>
                <a:cs typeface="Tahoma"/>
              </a:rPr>
              <a:t> </a:t>
            </a:r>
            <a:r>
              <a:rPr sz="1100" spc="-55" dirty="0">
                <a:latin typeface="Tahoma"/>
                <a:cs typeface="Tahoma"/>
              </a:rPr>
              <a:t>here</a:t>
            </a:r>
            <a:r>
              <a:rPr sz="1100" spc="-25" dirty="0">
                <a:latin typeface="Tahoma"/>
                <a:cs typeface="Tahoma"/>
              </a:rPr>
              <a:t> </a:t>
            </a:r>
            <a:r>
              <a:rPr sz="1100" dirty="0">
                <a:latin typeface="Tahoma"/>
                <a:cs typeface="Tahoma"/>
              </a:rPr>
              <a:t>is</a:t>
            </a:r>
            <a:r>
              <a:rPr sz="1100" spc="-30" dirty="0">
                <a:latin typeface="Tahoma"/>
                <a:cs typeface="Tahoma"/>
              </a:rPr>
              <a:t> </a:t>
            </a:r>
            <a:r>
              <a:rPr sz="1100" dirty="0">
                <a:latin typeface="Tahoma"/>
                <a:cs typeface="Tahoma"/>
              </a:rPr>
              <a:t>that</a:t>
            </a:r>
            <a:r>
              <a:rPr sz="1100" spc="-25" dirty="0">
                <a:latin typeface="Tahoma"/>
                <a:cs typeface="Tahoma"/>
              </a:rPr>
              <a:t> any </a:t>
            </a:r>
            <a:r>
              <a:rPr sz="1100" spc="-35" dirty="0">
                <a:latin typeface="Tahoma"/>
                <a:cs typeface="Tahoma"/>
              </a:rPr>
              <a:t>vector</a:t>
            </a:r>
            <a:r>
              <a:rPr sz="1100" spc="-20" dirty="0">
                <a:latin typeface="Tahoma"/>
                <a:cs typeface="Tahoma"/>
              </a:rPr>
              <a:t> </a:t>
            </a:r>
            <a:r>
              <a:rPr sz="1100" i="1" dirty="0">
                <a:latin typeface="Arial"/>
                <a:cs typeface="Arial"/>
              </a:rPr>
              <a:t>v</a:t>
            </a:r>
            <a:r>
              <a:rPr sz="1100" i="1" spc="70" dirty="0">
                <a:latin typeface="Arial"/>
                <a:cs typeface="Arial"/>
              </a:rPr>
              <a:t> </a:t>
            </a:r>
            <a:r>
              <a:rPr sz="1100" spc="-155" dirty="0">
                <a:latin typeface="Lucida Sans Unicode"/>
                <a:cs typeface="Lucida Sans Unicode"/>
              </a:rPr>
              <a:t>∈</a:t>
            </a:r>
            <a:r>
              <a:rPr sz="1100" spc="-45" dirty="0">
                <a:latin typeface="Lucida Sans Unicode"/>
                <a:cs typeface="Lucida Sans Unicode"/>
              </a:rPr>
              <a:t> </a:t>
            </a:r>
            <a:r>
              <a:rPr sz="1100" i="1" dirty="0">
                <a:latin typeface="Arial"/>
                <a:cs typeface="Arial"/>
              </a:rPr>
              <a:t>V</a:t>
            </a:r>
            <a:r>
              <a:rPr sz="1100" i="1" spc="160" dirty="0">
                <a:latin typeface="Arial"/>
                <a:cs typeface="Arial"/>
              </a:rPr>
              <a:t> </a:t>
            </a:r>
            <a:r>
              <a:rPr sz="1100" spc="-20" dirty="0">
                <a:latin typeface="Tahoma"/>
                <a:cs typeface="Tahoma"/>
              </a:rPr>
              <a:t>can </a:t>
            </a:r>
            <a:r>
              <a:rPr sz="1100" spc="-25" dirty="0">
                <a:latin typeface="Tahoma"/>
                <a:cs typeface="Tahoma"/>
              </a:rPr>
              <a:t>be </a:t>
            </a:r>
            <a:r>
              <a:rPr sz="1100" spc="-50" dirty="0">
                <a:latin typeface="Tahoma"/>
                <a:cs typeface="Tahoma"/>
              </a:rPr>
              <a:t>generated</a:t>
            </a:r>
            <a:r>
              <a:rPr sz="1100" spc="-35" dirty="0">
                <a:latin typeface="Tahoma"/>
                <a:cs typeface="Tahoma"/>
              </a:rPr>
              <a:t> </a:t>
            </a:r>
            <a:r>
              <a:rPr sz="1100" spc="-20" dirty="0">
                <a:latin typeface="Tahoma"/>
                <a:cs typeface="Tahoma"/>
              </a:rPr>
              <a:t>as</a:t>
            </a:r>
            <a:r>
              <a:rPr sz="1100" spc="-30" dirty="0">
                <a:latin typeface="Tahoma"/>
                <a:cs typeface="Tahoma"/>
              </a:rPr>
              <a:t> </a:t>
            </a:r>
            <a:r>
              <a:rPr sz="1100" dirty="0">
                <a:latin typeface="Tahoma"/>
                <a:cs typeface="Tahoma"/>
              </a:rPr>
              <a:t>a</a:t>
            </a:r>
            <a:r>
              <a:rPr sz="1100" spc="-35" dirty="0">
                <a:latin typeface="Tahoma"/>
                <a:cs typeface="Tahoma"/>
              </a:rPr>
              <a:t> </a:t>
            </a:r>
            <a:r>
              <a:rPr sz="1100" spc="-30" dirty="0">
                <a:latin typeface="Tahoma"/>
                <a:cs typeface="Tahoma"/>
              </a:rPr>
              <a:t>linear combination</a:t>
            </a:r>
            <a:r>
              <a:rPr sz="1100" spc="-35" dirty="0">
                <a:latin typeface="Tahoma"/>
                <a:cs typeface="Tahoma"/>
              </a:rPr>
              <a:t> </a:t>
            </a:r>
            <a:r>
              <a:rPr sz="1100" dirty="0">
                <a:latin typeface="Tahoma"/>
                <a:cs typeface="Tahoma"/>
              </a:rPr>
              <a:t>of</a:t>
            </a:r>
            <a:r>
              <a:rPr sz="1100" spc="-30" dirty="0">
                <a:latin typeface="Tahoma"/>
                <a:cs typeface="Tahoma"/>
              </a:rPr>
              <a:t> </a:t>
            </a:r>
            <a:r>
              <a:rPr sz="1100" spc="-10" dirty="0">
                <a:latin typeface="Tahoma"/>
                <a:cs typeface="Tahoma"/>
              </a:rPr>
              <a:t>the</a:t>
            </a:r>
            <a:r>
              <a:rPr sz="1100" spc="-35" dirty="0">
                <a:latin typeface="Tahoma"/>
                <a:cs typeface="Tahoma"/>
              </a:rPr>
              <a:t> </a:t>
            </a:r>
            <a:r>
              <a:rPr sz="1100" spc="-50" dirty="0">
                <a:latin typeface="Tahoma"/>
                <a:cs typeface="Tahoma"/>
              </a:rPr>
              <a:t>vectors</a:t>
            </a:r>
            <a:r>
              <a:rPr sz="1100" spc="-35" dirty="0">
                <a:latin typeface="Tahoma"/>
                <a:cs typeface="Tahoma"/>
              </a:rPr>
              <a:t> </a:t>
            </a:r>
            <a:r>
              <a:rPr sz="1100" dirty="0">
                <a:latin typeface="Tahoma"/>
                <a:cs typeface="Tahoma"/>
              </a:rPr>
              <a:t>in</a:t>
            </a:r>
            <a:r>
              <a:rPr sz="1100" spc="-35" dirty="0">
                <a:latin typeface="Tahoma"/>
                <a:cs typeface="Tahoma"/>
              </a:rPr>
              <a:t> </a:t>
            </a:r>
            <a:r>
              <a:rPr sz="1100" spc="-45" dirty="0">
                <a:latin typeface="Tahoma"/>
                <a:cs typeface="Tahoma"/>
              </a:rPr>
              <a:t>question.</a:t>
            </a:r>
            <a:endParaRPr sz="1100" dirty="0">
              <a:latin typeface="Tahoma"/>
              <a:cs typeface="Tahoma"/>
            </a:endParaRPr>
          </a:p>
          <a:p>
            <a:pPr marL="215265" indent="-177165">
              <a:lnSpc>
                <a:spcPct val="100000"/>
              </a:lnSpc>
              <a:spcBef>
                <a:spcPts val="334"/>
              </a:spcBef>
              <a:buClr>
                <a:srgbClr val="3333B2"/>
              </a:buClr>
              <a:buFont typeface="Lucida Sans Unicode"/>
              <a:buChar char="►"/>
              <a:tabLst>
                <a:tab pos="215265" algn="l"/>
              </a:tabLst>
            </a:pPr>
            <a:r>
              <a:rPr sz="1100" spc="-85" dirty="0">
                <a:latin typeface="Tahoma"/>
                <a:cs typeface="Tahoma"/>
              </a:rPr>
              <a:t>Is</a:t>
            </a:r>
            <a:r>
              <a:rPr sz="1100" spc="-5" dirty="0">
                <a:latin typeface="Tahoma"/>
                <a:cs typeface="Tahoma"/>
              </a:rPr>
              <a:t> </a:t>
            </a:r>
            <a:r>
              <a:rPr sz="1100" spc="-40" dirty="0">
                <a:latin typeface="Tahoma"/>
                <a:cs typeface="Tahoma"/>
              </a:rPr>
              <a:t>such</a:t>
            </a:r>
            <a:r>
              <a:rPr sz="1100" spc="-45" dirty="0">
                <a:latin typeface="Tahoma"/>
                <a:cs typeface="Tahoma"/>
              </a:rPr>
              <a:t> </a:t>
            </a:r>
            <a:r>
              <a:rPr sz="1100" dirty="0">
                <a:latin typeface="Tahoma"/>
                <a:cs typeface="Tahoma"/>
              </a:rPr>
              <a:t>a</a:t>
            </a:r>
            <a:r>
              <a:rPr sz="1100" spc="-55" dirty="0">
                <a:latin typeface="Tahoma"/>
                <a:cs typeface="Tahoma"/>
              </a:rPr>
              <a:t> </a:t>
            </a:r>
            <a:r>
              <a:rPr sz="1100" spc="-20" dirty="0">
                <a:latin typeface="Tahoma"/>
                <a:cs typeface="Tahoma"/>
              </a:rPr>
              <a:t>set</a:t>
            </a:r>
            <a:r>
              <a:rPr sz="1100" spc="-40" dirty="0">
                <a:latin typeface="Tahoma"/>
                <a:cs typeface="Tahoma"/>
              </a:rPr>
              <a:t> </a:t>
            </a:r>
            <a:r>
              <a:rPr sz="1100" dirty="0">
                <a:latin typeface="Tahoma"/>
                <a:cs typeface="Tahoma"/>
              </a:rPr>
              <a:t>of</a:t>
            </a:r>
            <a:r>
              <a:rPr sz="1100" spc="-30" dirty="0">
                <a:latin typeface="Tahoma"/>
                <a:cs typeface="Tahoma"/>
              </a:rPr>
              <a:t> </a:t>
            </a:r>
            <a:r>
              <a:rPr sz="1100" spc="-45" dirty="0">
                <a:latin typeface="Tahoma"/>
                <a:cs typeface="Tahoma"/>
              </a:rPr>
              <a:t>vectors</a:t>
            </a:r>
            <a:r>
              <a:rPr sz="1100" spc="-40" dirty="0">
                <a:latin typeface="Tahoma"/>
                <a:cs typeface="Tahoma"/>
              </a:rPr>
              <a:t> unique</a:t>
            </a:r>
            <a:r>
              <a:rPr sz="1100" spc="-30" dirty="0">
                <a:latin typeface="Tahoma"/>
                <a:cs typeface="Tahoma"/>
              </a:rPr>
              <a:t> </a:t>
            </a:r>
            <a:r>
              <a:rPr sz="1100" dirty="0">
                <a:latin typeface="Tahoma"/>
                <a:cs typeface="Tahoma"/>
              </a:rPr>
              <a:t>to</a:t>
            </a:r>
            <a:r>
              <a:rPr sz="1100" spc="-40" dirty="0">
                <a:latin typeface="Tahoma"/>
                <a:cs typeface="Tahoma"/>
              </a:rPr>
              <a:t> </a:t>
            </a:r>
            <a:r>
              <a:rPr sz="1100" spc="-10" dirty="0">
                <a:latin typeface="Tahoma"/>
                <a:cs typeface="Tahoma"/>
              </a:rPr>
              <a:t>the</a:t>
            </a:r>
            <a:r>
              <a:rPr sz="1100" spc="-35" dirty="0">
                <a:latin typeface="Tahoma"/>
                <a:cs typeface="Tahoma"/>
              </a:rPr>
              <a:t> vector</a:t>
            </a:r>
            <a:r>
              <a:rPr sz="1100" spc="-30" dirty="0">
                <a:latin typeface="Tahoma"/>
                <a:cs typeface="Tahoma"/>
              </a:rPr>
              <a:t> </a:t>
            </a:r>
            <a:r>
              <a:rPr sz="1100" spc="-10" dirty="0">
                <a:latin typeface="Tahoma"/>
                <a:cs typeface="Tahoma"/>
              </a:rPr>
              <a:t>space?</a:t>
            </a:r>
            <a:endParaRPr sz="1100" dirty="0">
              <a:latin typeface="Tahoma"/>
              <a:cs typeface="Tahoma"/>
            </a:endParaRPr>
          </a:p>
          <a:p>
            <a:pPr marL="214629" marR="45720" indent="-177165">
              <a:lnSpc>
                <a:spcPct val="102600"/>
              </a:lnSpc>
              <a:spcBef>
                <a:spcPts val="300"/>
              </a:spcBef>
              <a:buClr>
                <a:srgbClr val="3333B2"/>
              </a:buClr>
              <a:buFont typeface="Lucida Sans Unicode"/>
              <a:buChar char="►"/>
              <a:tabLst>
                <a:tab pos="214629" algn="l"/>
              </a:tabLst>
            </a:pPr>
            <a:r>
              <a:rPr sz="1100" dirty="0">
                <a:latin typeface="Tahoma"/>
                <a:cs typeface="Tahoma"/>
              </a:rPr>
              <a:t>Are</a:t>
            </a:r>
            <a:r>
              <a:rPr sz="1100" spc="-25" dirty="0">
                <a:latin typeface="Tahoma"/>
                <a:cs typeface="Tahoma"/>
              </a:rPr>
              <a:t> </a:t>
            </a:r>
            <a:r>
              <a:rPr sz="1100" dirty="0">
                <a:latin typeface="Tahoma"/>
                <a:cs typeface="Tahoma"/>
              </a:rPr>
              <a:t>all</a:t>
            </a:r>
            <a:r>
              <a:rPr sz="1100" spc="-20" dirty="0">
                <a:latin typeface="Tahoma"/>
                <a:cs typeface="Tahoma"/>
              </a:rPr>
              <a:t> </a:t>
            </a:r>
            <a:r>
              <a:rPr sz="1100" spc="-45" dirty="0">
                <a:latin typeface="Tahoma"/>
                <a:cs typeface="Tahoma"/>
              </a:rPr>
              <a:t>sets</a:t>
            </a:r>
            <a:r>
              <a:rPr sz="1100" spc="-25" dirty="0">
                <a:latin typeface="Tahoma"/>
                <a:cs typeface="Tahoma"/>
              </a:rPr>
              <a:t> </a:t>
            </a:r>
            <a:r>
              <a:rPr sz="1100" spc="-40" dirty="0">
                <a:latin typeface="Tahoma"/>
                <a:cs typeface="Tahoma"/>
              </a:rPr>
              <a:t>capable</a:t>
            </a:r>
            <a:r>
              <a:rPr sz="1100" spc="-25" dirty="0">
                <a:latin typeface="Tahoma"/>
                <a:cs typeface="Tahoma"/>
              </a:rPr>
              <a:t> </a:t>
            </a:r>
            <a:r>
              <a:rPr sz="1100" dirty="0">
                <a:latin typeface="Tahoma"/>
                <a:cs typeface="Tahoma"/>
              </a:rPr>
              <a:t>of</a:t>
            </a:r>
            <a:r>
              <a:rPr sz="1100" spc="-20" dirty="0">
                <a:latin typeface="Tahoma"/>
                <a:cs typeface="Tahoma"/>
              </a:rPr>
              <a:t> </a:t>
            </a:r>
            <a:r>
              <a:rPr sz="1100" spc="-45" dirty="0">
                <a:latin typeface="Tahoma"/>
                <a:cs typeface="Tahoma"/>
              </a:rPr>
              <a:t>generating</a:t>
            </a:r>
            <a:r>
              <a:rPr sz="1100" spc="-25" dirty="0">
                <a:latin typeface="Tahoma"/>
                <a:cs typeface="Tahoma"/>
              </a:rPr>
              <a:t> </a:t>
            </a:r>
            <a:r>
              <a:rPr sz="1100" dirty="0">
                <a:latin typeface="Tahoma"/>
                <a:cs typeface="Tahoma"/>
              </a:rPr>
              <a:t>all</a:t>
            </a:r>
            <a:r>
              <a:rPr sz="1100" spc="-25" dirty="0">
                <a:latin typeface="Tahoma"/>
                <a:cs typeface="Tahoma"/>
              </a:rPr>
              <a:t> </a:t>
            </a:r>
            <a:r>
              <a:rPr sz="1100" spc="-50" dirty="0">
                <a:latin typeface="Tahoma"/>
                <a:cs typeface="Tahoma"/>
              </a:rPr>
              <a:t>vectors</a:t>
            </a:r>
            <a:r>
              <a:rPr sz="1100" spc="-20" dirty="0">
                <a:latin typeface="Tahoma"/>
                <a:cs typeface="Tahoma"/>
              </a:rPr>
              <a:t> </a:t>
            </a:r>
            <a:r>
              <a:rPr sz="1100" dirty="0">
                <a:latin typeface="Tahoma"/>
                <a:cs typeface="Tahoma"/>
              </a:rPr>
              <a:t>in</a:t>
            </a:r>
            <a:r>
              <a:rPr sz="1100" spc="-20" dirty="0">
                <a:latin typeface="Tahoma"/>
                <a:cs typeface="Tahoma"/>
              </a:rPr>
              <a:t> </a:t>
            </a:r>
            <a:r>
              <a:rPr sz="1100" dirty="0">
                <a:latin typeface="Tahoma"/>
                <a:cs typeface="Tahoma"/>
              </a:rPr>
              <a:t>a</a:t>
            </a:r>
            <a:r>
              <a:rPr sz="1100" spc="-25" dirty="0">
                <a:latin typeface="Tahoma"/>
                <a:cs typeface="Tahoma"/>
              </a:rPr>
              <a:t> </a:t>
            </a:r>
            <a:r>
              <a:rPr sz="1100" spc="-35" dirty="0">
                <a:latin typeface="Tahoma"/>
                <a:cs typeface="Tahoma"/>
              </a:rPr>
              <a:t>vector</a:t>
            </a:r>
            <a:r>
              <a:rPr sz="1100" spc="-20" dirty="0">
                <a:latin typeface="Tahoma"/>
                <a:cs typeface="Tahoma"/>
              </a:rPr>
              <a:t> </a:t>
            </a:r>
            <a:r>
              <a:rPr sz="1100" spc="-55" dirty="0">
                <a:latin typeface="Tahoma"/>
                <a:cs typeface="Tahoma"/>
              </a:rPr>
              <a:t>space </a:t>
            </a:r>
            <a:r>
              <a:rPr sz="1100" dirty="0">
                <a:latin typeface="Tahoma"/>
                <a:cs typeface="Tahoma"/>
              </a:rPr>
              <a:t>of</a:t>
            </a:r>
            <a:r>
              <a:rPr sz="1100" spc="-75" dirty="0">
                <a:latin typeface="Tahoma"/>
                <a:cs typeface="Tahoma"/>
              </a:rPr>
              <a:t> </a:t>
            </a:r>
            <a:r>
              <a:rPr sz="1100" spc="-10" dirty="0">
                <a:latin typeface="Tahoma"/>
                <a:cs typeface="Tahoma"/>
              </a:rPr>
              <a:t>the</a:t>
            </a:r>
            <a:r>
              <a:rPr sz="1100" spc="-50" dirty="0">
                <a:latin typeface="Tahoma"/>
                <a:cs typeface="Tahoma"/>
              </a:rPr>
              <a:t> </a:t>
            </a:r>
            <a:r>
              <a:rPr sz="1100" spc="-60" dirty="0">
                <a:latin typeface="Tahoma"/>
                <a:cs typeface="Tahoma"/>
              </a:rPr>
              <a:t>same</a:t>
            </a:r>
            <a:r>
              <a:rPr sz="1100" spc="-30" dirty="0">
                <a:latin typeface="Tahoma"/>
                <a:cs typeface="Tahoma"/>
              </a:rPr>
              <a:t> </a:t>
            </a:r>
            <a:r>
              <a:rPr sz="1100" spc="-10" dirty="0">
                <a:latin typeface="Tahoma"/>
                <a:cs typeface="Tahoma"/>
              </a:rPr>
              <a:t>size?</a:t>
            </a:r>
            <a:endParaRPr sz="1100" dirty="0">
              <a:latin typeface="Tahoma"/>
              <a:cs typeface="Tahoma"/>
            </a:endParaRPr>
          </a:p>
        </p:txBody>
      </p:sp>
    </p:spTree>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72527"/>
            <a:ext cx="1842770" cy="244475"/>
          </a:xfrm>
          <a:prstGeom prst="rect">
            <a:avLst/>
          </a:prstGeom>
        </p:spPr>
        <p:txBody>
          <a:bodyPr vert="horz" wrap="square" lIns="0" tIns="17145" rIns="0" bIns="0" rtlCol="0">
            <a:spAutoFit/>
          </a:bodyPr>
          <a:lstStyle/>
          <a:p>
            <a:pPr marL="12700">
              <a:lnSpc>
                <a:spcPct val="100000"/>
              </a:lnSpc>
              <a:spcBef>
                <a:spcPts val="135"/>
              </a:spcBef>
            </a:pPr>
            <a:r>
              <a:rPr spc="-40" dirty="0"/>
              <a:t>Generating</a:t>
            </a:r>
            <a:r>
              <a:rPr spc="-65" dirty="0"/>
              <a:t> </a:t>
            </a:r>
            <a:r>
              <a:rPr spc="-20" dirty="0"/>
              <a:t>set</a:t>
            </a:r>
            <a:r>
              <a:rPr spc="-60" dirty="0"/>
              <a:t> </a:t>
            </a:r>
            <a:r>
              <a:rPr spc="-30" dirty="0"/>
              <a:t>and</a:t>
            </a:r>
            <a:r>
              <a:rPr spc="-60" dirty="0"/>
              <a:t> </a:t>
            </a:r>
            <a:r>
              <a:rPr spc="-45" dirty="0"/>
              <a:t>basis</a:t>
            </a:r>
          </a:p>
        </p:txBody>
      </p:sp>
      <p:sp>
        <p:nvSpPr>
          <p:cNvPr id="3" name="object 3"/>
          <p:cNvSpPr txBox="1">
            <a:spLocks noGrp="1"/>
          </p:cNvSpPr>
          <p:nvPr>
            <p:ph type="body" idx="1"/>
          </p:nvPr>
        </p:nvSpPr>
        <p:spPr>
          <a:prstGeom prst="rect">
            <a:avLst/>
          </a:prstGeom>
        </p:spPr>
        <p:txBody>
          <a:bodyPr vert="horz" wrap="square" lIns="0" tIns="11430" rIns="0" bIns="0" rtlCol="0">
            <a:spAutoFit/>
          </a:bodyPr>
          <a:lstStyle/>
          <a:p>
            <a:pPr marL="215265" indent="-177165" algn="just">
              <a:lnSpc>
                <a:spcPct val="100000"/>
              </a:lnSpc>
              <a:spcBef>
                <a:spcPts val="90"/>
              </a:spcBef>
              <a:buClr>
                <a:srgbClr val="3333B2"/>
              </a:buClr>
              <a:buFont typeface="Lucida Sans Unicode"/>
              <a:buChar char="►"/>
              <a:tabLst>
                <a:tab pos="215265" algn="l"/>
              </a:tabLst>
            </a:pPr>
            <a:r>
              <a:rPr sz="1100" spc="-35" dirty="0"/>
              <a:t>Consider</a:t>
            </a:r>
            <a:r>
              <a:rPr sz="1100" spc="-30" dirty="0"/>
              <a:t> </a:t>
            </a:r>
            <a:r>
              <a:rPr sz="1100" dirty="0"/>
              <a:t>a </a:t>
            </a:r>
            <a:r>
              <a:rPr sz="1100" spc="-35" dirty="0"/>
              <a:t>vector</a:t>
            </a:r>
            <a:r>
              <a:rPr sz="1100" spc="-5" dirty="0"/>
              <a:t> </a:t>
            </a:r>
            <a:r>
              <a:rPr sz="1100" spc="-60" dirty="0"/>
              <a:t>space</a:t>
            </a:r>
            <a:r>
              <a:rPr sz="1100" spc="-5" dirty="0"/>
              <a:t> </a:t>
            </a:r>
            <a:r>
              <a:rPr sz="1100" i="1" dirty="0">
                <a:latin typeface="Arial"/>
                <a:cs typeface="Arial"/>
              </a:rPr>
              <a:t>V</a:t>
            </a:r>
            <a:r>
              <a:rPr sz="1100" i="1" spc="135" dirty="0">
                <a:latin typeface="Arial"/>
                <a:cs typeface="Arial"/>
              </a:rPr>
              <a:t> </a:t>
            </a:r>
            <a:r>
              <a:rPr sz="1100" dirty="0"/>
              <a:t>=</a:t>
            </a:r>
            <a:r>
              <a:rPr sz="1100" spc="-60" dirty="0"/>
              <a:t> </a:t>
            </a:r>
            <a:r>
              <a:rPr sz="1100" dirty="0"/>
              <a:t>(</a:t>
            </a:r>
            <a:r>
              <a:rPr sz="1100" dirty="0">
                <a:latin typeface="Lucida Sans Unicode"/>
                <a:cs typeface="Lucida Sans Unicode"/>
              </a:rPr>
              <a:t>V</a:t>
            </a:r>
            <a:r>
              <a:rPr sz="1100" i="1" dirty="0">
                <a:latin typeface="Calibri"/>
                <a:cs typeface="Calibri"/>
              </a:rPr>
              <a:t>,</a:t>
            </a:r>
            <a:r>
              <a:rPr sz="1100" i="1" spc="-70" dirty="0">
                <a:latin typeface="Calibri"/>
                <a:cs typeface="Calibri"/>
              </a:rPr>
              <a:t> </a:t>
            </a:r>
            <a:r>
              <a:rPr sz="1100" dirty="0"/>
              <a:t>+</a:t>
            </a:r>
            <a:r>
              <a:rPr sz="1100" i="1" dirty="0">
                <a:latin typeface="Calibri"/>
                <a:cs typeface="Calibri"/>
              </a:rPr>
              <a:t>,</a:t>
            </a:r>
            <a:r>
              <a:rPr sz="1100" i="1" spc="-70" dirty="0">
                <a:latin typeface="Calibri"/>
                <a:cs typeface="Calibri"/>
              </a:rPr>
              <a:t> </a:t>
            </a:r>
            <a:r>
              <a:rPr sz="1100" i="1" dirty="0">
                <a:latin typeface="Calibri"/>
                <a:cs typeface="Calibri"/>
              </a:rPr>
              <a:t>.</a:t>
            </a:r>
            <a:r>
              <a:rPr sz="1100" dirty="0"/>
              <a:t>)</a:t>
            </a:r>
            <a:r>
              <a:rPr sz="1100" spc="-5" dirty="0"/>
              <a:t> </a:t>
            </a:r>
            <a:r>
              <a:rPr sz="1100" spc="-35" dirty="0"/>
              <a:t>and</a:t>
            </a:r>
            <a:r>
              <a:rPr sz="1100" dirty="0"/>
              <a:t> a</a:t>
            </a:r>
            <a:r>
              <a:rPr sz="1100" spc="-5" dirty="0"/>
              <a:t> </a:t>
            </a:r>
            <a:r>
              <a:rPr sz="1100" spc="-20" dirty="0"/>
              <a:t>set</a:t>
            </a:r>
            <a:r>
              <a:rPr sz="1100" spc="-5" dirty="0"/>
              <a:t> </a:t>
            </a:r>
            <a:r>
              <a:rPr sz="1100" dirty="0"/>
              <a:t>of</a:t>
            </a:r>
            <a:r>
              <a:rPr sz="1100" spc="-5" dirty="0"/>
              <a:t> </a:t>
            </a:r>
            <a:r>
              <a:rPr sz="1100" spc="-10" dirty="0"/>
              <a:t>vectors</a:t>
            </a:r>
            <a:endParaRPr sz="1100">
              <a:latin typeface="Calibri"/>
              <a:cs typeface="Calibri"/>
            </a:endParaRPr>
          </a:p>
          <a:p>
            <a:pPr marL="214629">
              <a:lnSpc>
                <a:spcPct val="100000"/>
              </a:lnSpc>
              <a:spcBef>
                <a:spcPts val="35"/>
              </a:spcBef>
            </a:pPr>
            <a:r>
              <a:rPr spc="105" dirty="0">
                <a:latin typeface="Lucida Sans Unicode"/>
                <a:cs typeface="Lucida Sans Unicode"/>
              </a:rPr>
              <a:t>A</a:t>
            </a:r>
            <a:r>
              <a:rPr spc="-20" dirty="0">
                <a:latin typeface="Lucida Sans Unicode"/>
                <a:cs typeface="Lucida Sans Unicode"/>
              </a:rPr>
              <a:t> </a:t>
            </a:r>
            <a:r>
              <a:rPr dirty="0"/>
              <a:t>=</a:t>
            </a:r>
            <a:r>
              <a:rPr spc="-15" dirty="0"/>
              <a:t> </a:t>
            </a:r>
            <a:r>
              <a:rPr spc="60" dirty="0">
                <a:latin typeface="Lucida Sans Unicode"/>
                <a:cs typeface="Lucida Sans Unicode"/>
              </a:rPr>
              <a:t>{</a:t>
            </a:r>
            <a:r>
              <a:rPr sz="1050" spc="60" dirty="0">
                <a:latin typeface="Times New Roman"/>
                <a:cs typeface="Times New Roman"/>
              </a:rPr>
              <a:t>x</a:t>
            </a:r>
            <a:r>
              <a:rPr sz="1200" spc="89" baseline="-10416" dirty="0"/>
              <a:t>1</a:t>
            </a:r>
            <a:r>
              <a:rPr sz="1100" i="1" spc="60" dirty="0">
                <a:latin typeface="Calibri"/>
                <a:cs typeface="Calibri"/>
              </a:rPr>
              <a:t>,</a:t>
            </a:r>
            <a:r>
              <a:rPr sz="1100" i="1" spc="-55" dirty="0">
                <a:latin typeface="Calibri"/>
                <a:cs typeface="Calibri"/>
              </a:rPr>
              <a:t> </a:t>
            </a:r>
            <a:r>
              <a:rPr sz="1050" dirty="0">
                <a:latin typeface="Times New Roman"/>
                <a:cs typeface="Times New Roman"/>
              </a:rPr>
              <a:t>x</a:t>
            </a:r>
            <a:r>
              <a:rPr sz="1200" baseline="-10416" dirty="0"/>
              <a:t>2</a:t>
            </a:r>
            <a:r>
              <a:rPr sz="1100" i="1" dirty="0">
                <a:latin typeface="Calibri"/>
                <a:cs typeface="Calibri"/>
              </a:rPr>
              <a:t>,</a:t>
            </a:r>
            <a:r>
              <a:rPr sz="1100" i="1" spc="-60" dirty="0">
                <a:latin typeface="Calibri"/>
                <a:cs typeface="Calibri"/>
              </a:rPr>
              <a:t> </a:t>
            </a:r>
            <a:r>
              <a:rPr sz="1100" i="1" dirty="0">
                <a:latin typeface="Calibri"/>
                <a:cs typeface="Calibri"/>
              </a:rPr>
              <a:t>.</a:t>
            </a:r>
            <a:r>
              <a:rPr sz="1100" i="1" spc="-55" dirty="0">
                <a:latin typeface="Calibri"/>
                <a:cs typeface="Calibri"/>
              </a:rPr>
              <a:t> </a:t>
            </a:r>
            <a:r>
              <a:rPr sz="1100" i="1" dirty="0">
                <a:latin typeface="Calibri"/>
                <a:cs typeface="Calibri"/>
              </a:rPr>
              <a:t>.</a:t>
            </a:r>
            <a:r>
              <a:rPr sz="1100" i="1" spc="-55" dirty="0">
                <a:latin typeface="Calibri"/>
                <a:cs typeface="Calibri"/>
              </a:rPr>
              <a:t> </a:t>
            </a:r>
            <a:r>
              <a:rPr sz="1100" i="1" dirty="0">
                <a:latin typeface="Calibri"/>
                <a:cs typeface="Calibri"/>
              </a:rPr>
              <a:t>.</a:t>
            </a:r>
            <a:r>
              <a:rPr sz="1100" i="1" spc="-55" dirty="0">
                <a:latin typeface="Calibri"/>
                <a:cs typeface="Calibri"/>
              </a:rPr>
              <a:t> </a:t>
            </a:r>
            <a:r>
              <a:rPr sz="1050" dirty="0">
                <a:latin typeface="Times New Roman"/>
                <a:cs typeface="Times New Roman"/>
              </a:rPr>
              <a:t>x</a:t>
            </a:r>
            <a:r>
              <a:rPr sz="1200" i="1" baseline="-13888" dirty="0">
                <a:latin typeface="Arial"/>
                <a:cs typeface="Arial"/>
              </a:rPr>
              <a:t>k</a:t>
            </a:r>
            <a:r>
              <a:rPr sz="1200" i="1" spc="-150" baseline="-13888" dirty="0">
                <a:latin typeface="Arial"/>
                <a:cs typeface="Arial"/>
              </a:rPr>
              <a:t> </a:t>
            </a:r>
            <a:r>
              <a:rPr sz="1100" spc="180" dirty="0">
                <a:latin typeface="Lucida Sans Unicode"/>
                <a:cs typeface="Lucida Sans Unicode"/>
              </a:rPr>
              <a:t>}</a:t>
            </a:r>
            <a:r>
              <a:rPr sz="1100" spc="-20" dirty="0">
                <a:latin typeface="Lucida Sans Unicode"/>
                <a:cs typeface="Lucida Sans Unicode"/>
              </a:rPr>
              <a:t> </a:t>
            </a:r>
            <a:r>
              <a:rPr sz="1100" dirty="0">
                <a:latin typeface="Lucida Sans Unicode"/>
                <a:cs typeface="Lucida Sans Unicode"/>
              </a:rPr>
              <a:t>⊆</a:t>
            </a:r>
            <a:r>
              <a:rPr sz="1100" spc="-20" dirty="0">
                <a:latin typeface="Lucida Sans Unicode"/>
                <a:cs typeface="Lucida Sans Unicode"/>
              </a:rPr>
              <a:t> </a:t>
            </a:r>
            <a:r>
              <a:rPr sz="1100" i="1" spc="-20" dirty="0">
                <a:latin typeface="Arial"/>
                <a:cs typeface="Arial"/>
              </a:rPr>
              <a:t>V</a:t>
            </a:r>
            <a:r>
              <a:rPr sz="1100" i="1" spc="-114" dirty="0">
                <a:latin typeface="Arial"/>
                <a:cs typeface="Arial"/>
              </a:rPr>
              <a:t> </a:t>
            </a:r>
            <a:r>
              <a:rPr sz="1100" spc="-50" dirty="0"/>
              <a:t>.</a:t>
            </a:r>
            <a:endParaRPr sz="1100">
              <a:latin typeface="Arial"/>
              <a:cs typeface="Arial"/>
            </a:endParaRPr>
          </a:p>
          <a:p>
            <a:pPr marL="214629" marR="30480" indent="-177165" algn="just">
              <a:lnSpc>
                <a:spcPct val="102600"/>
              </a:lnSpc>
              <a:spcBef>
                <a:spcPts val="300"/>
              </a:spcBef>
              <a:buClr>
                <a:srgbClr val="3333B2"/>
              </a:buClr>
              <a:buFont typeface="Lucida Sans Unicode"/>
              <a:buChar char="►"/>
              <a:tabLst>
                <a:tab pos="214629" algn="l"/>
              </a:tabLst>
            </a:pPr>
            <a:r>
              <a:rPr sz="1100" spc="-65" dirty="0"/>
              <a:t>If</a:t>
            </a:r>
            <a:r>
              <a:rPr sz="1100" dirty="0"/>
              <a:t> </a:t>
            </a:r>
            <a:r>
              <a:rPr sz="1100" spc="-65" dirty="0"/>
              <a:t>every</a:t>
            </a:r>
            <a:r>
              <a:rPr sz="1100" dirty="0"/>
              <a:t> </a:t>
            </a:r>
            <a:r>
              <a:rPr sz="1100" spc="-45" dirty="0"/>
              <a:t>vector</a:t>
            </a:r>
            <a:r>
              <a:rPr sz="1100" dirty="0"/>
              <a:t> </a:t>
            </a:r>
            <a:r>
              <a:rPr sz="1100" i="1" spc="-50" dirty="0">
                <a:latin typeface="Arial"/>
                <a:cs typeface="Arial"/>
              </a:rPr>
              <a:t>v</a:t>
            </a:r>
            <a:r>
              <a:rPr sz="1100" i="1" spc="114" dirty="0">
                <a:latin typeface="Arial"/>
                <a:cs typeface="Arial"/>
              </a:rPr>
              <a:t> </a:t>
            </a:r>
            <a:r>
              <a:rPr sz="1100" spc="-150" dirty="0">
                <a:latin typeface="Lucida Sans Unicode"/>
                <a:cs typeface="Lucida Sans Unicode"/>
              </a:rPr>
              <a:t>∈</a:t>
            </a:r>
            <a:r>
              <a:rPr sz="1100" spc="-45" dirty="0">
                <a:latin typeface="Lucida Sans Unicode"/>
                <a:cs typeface="Lucida Sans Unicode"/>
              </a:rPr>
              <a:t> </a:t>
            </a:r>
            <a:r>
              <a:rPr sz="1100" i="1" spc="-15" dirty="0">
                <a:latin typeface="Arial"/>
                <a:cs typeface="Arial"/>
              </a:rPr>
              <a:t>V</a:t>
            </a:r>
            <a:r>
              <a:rPr sz="1100" i="1" spc="210" dirty="0">
                <a:latin typeface="Arial"/>
                <a:cs typeface="Arial"/>
              </a:rPr>
              <a:t> </a:t>
            </a:r>
            <a:r>
              <a:rPr sz="1100" spc="-50" dirty="0"/>
              <a:t>can</a:t>
            </a:r>
            <a:r>
              <a:rPr sz="1100" dirty="0"/>
              <a:t> </a:t>
            </a:r>
            <a:r>
              <a:rPr sz="1100" spc="-60" dirty="0"/>
              <a:t>be</a:t>
            </a:r>
            <a:r>
              <a:rPr sz="1100" dirty="0"/>
              <a:t> </a:t>
            </a:r>
            <a:r>
              <a:rPr sz="1100" spc="-70" dirty="0"/>
              <a:t>expressed</a:t>
            </a:r>
            <a:r>
              <a:rPr sz="1100" dirty="0"/>
              <a:t> </a:t>
            </a:r>
            <a:r>
              <a:rPr sz="1100" spc="-65" dirty="0"/>
              <a:t>as</a:t>
            </a:r>
            <a:r>
              <a:rPr sz="1100" dirty="0"/>
              <a:t> </a:t>
            </a:r>
            <a:r>
              <a:rPr sz="1100" spc="-55" dirty="0"/>
              <a:t>a</a:t>
            </a:r>
            <a:r>
              <a:rPr sz="1100" dirty="0"/>
              <a:t> </a:t>
            </a:r>
            <a:r>
              <a:rPr sz="1100" spc="-40" dirty="0"/>
              <a:t>linear</a:t>
            </a:r>
            <a:r>
              <a:rPr sz="1100" dirty="0"/>
              <a:t> </a:t>
            </a:r>
            <a:r>
              <a:rPr sz="1100" spc="-35" dirty="0"/>
              <a:t>combination</a:t>
            </a:r>
            <a:r>
              <a:rPr sz="1100" spc="-25" dirty="0"/>
              <a:t> </a:t>
            </a:r>
            <a:r>
              <a:rPr sz="1100" spc="-40" dirty="0"/>
              <a:t>of</a:t>
            </a:r>
            <a:r>
              <a:rPr sz="1100" spc="20" dirty="0"/>
              <a:t> </a:t>
            </a:r>
            <a:r>
              <a:rPr sz="1100" spc="-45" dirty="0"/>
              <a:t>the</a:t>
            </a:r>
            <a:r>
              <a:rPr sz="1100" spc="20" dirty="0"/>
              <a:t> </a:t>
            </a:r>
            <a:r>
              <a:rPr sz="1100" spc="-50" dirty="0"/>
              <a:t>vectors</a:t>
            </a:r>
            <a:r>
              <a:rPr sz="1100" spc="20" dirty="0"/>
              <a:t> </a:t>
            </a:r>
            <a:r>
              <a:rPr sz="1050" spc="20" dirty="0">
                <a:latin typeface="Times New Roman"/>
                <a:cs typeface="Times New Roman"/>
              </a:rPr>
              <a:t>x</a:t>
            </a:r>
            <a:r>
              <a:rPr sz="1200" spc="30" baseline="-10416" dirty="0"/>
              <a:t>1</a:t>
            </a:r>
            <a:r>
              <a:rPr sz="1100" i="1" spc="20" dirty="0">
                <a:latin typeface="Calibri"/>
                <a:cs typeface="Calibri"/>
              </a:rPr>
              <a:t>,</a:t>
            </a:r>
            <a:r>
              <a:rPr sz="1100" i="1" spc="-70" dirty="0">
                <a:latin typeface="Calibri"/>
                <a:cs typeface="Calibri"/>
              </a:rPr>
              <a:t> </a:t>
            </a:r>
            <a:r>
              <a:rPr sz="1050" spc="20" dirty="0">
                <a:latin typeface="Times New Roman"/>
                <a:cs typeface="Times New Roman"/>
              </a:rPr>
              <a:t>x</a:t>
            </a:r>
            <a:r>
              <a:rPr sz="1200" spc="30" baseline="-10416" dirty="0"/>
              <a:t>2</a:t>
            </a:r>
            <a:r>
              <a:rPr sz="1100" i="1" spc="20" dirty="0">
                <a:latin typeface="Calibri"/>
                <a:cs typeface="Calibri"/>
              </a:rPr>
              <a:t>,</a:t>
            </a:r>
            <a:r>
              <a:rPr sz="1100" i="1" spc="-70" dirty="0">
                <a:latin typeface="Calibri"/>
                <a:cs typeface="Calibri"/>
              </a:rPr>
              <a:t> </a:t>
            </a:r>
            <a:r>
              <a:rPr sz="1100" i="1" spc="20" dirty="0">
                <a:latin typeface="Calibri"/>
                <a:cs typeface="Calibri"/>
              </a:rPr>
              <a:t>.</a:t>
            </a:r>
            <a:r>
              <a:rPr sz="1100" i="1" spc="-70" dirty="0">
                <a:latin typeface="Calibri"/>
                <a:cs typeface="Calibri"/>
              </a:rPr>
              <a:t> </a:t>
            </a:r>
            <a:r>
              <a:rPr sz="1100" i="1" spc="20" dirty="0">
                <a:latin typeface="Calibri"/>
                <a:cs typeface="Calibri"/>
              </a:rPr>
              <a:t>.</a:t>
            </a:r>
            <a:r>
              <a:rPr sz="1100" i="1" spc="-70" dirty="0">
                <a:latin typeface="Calibri"/>
                <a:cs typeface="Calibri"/>
              </a:rPr>
              <a:t> </a:t>
            </a:r>
            <a:r>
              <a:rPr sz="1100" i="1" spc="20" dirty="0">
                <a:latin typeface="Calibri"/>
                <a:cs typeface="Calibri"/>
              </a:rPr>
              <a:t>.</a:t>
            </a:r>
            <a:r>
              <a:rPr sz="1100" i="1" spc="-70" dirty="0">
                <a:latin typeface="Calibri"/>
                <a:cs typeface="Calibri"/>
              </a:rPr>
              <a:t> </a:t>
            </a:r>
            <a:r>
              <a:rPr sz="1050" spc="10" dirty="0">
                <a:latin typeface="Times New Roman"/>
                <a:cs typeface="Times New Roman"/>
              </a:rPr>
              <a:t>x</a:t>
            </a:r>
            <a:r>
              <a:rPr sz="1200" i="1" spc="15" baseline="-13888" dirty="0">
                <a:latin typeface="Arial"/>
                <a:cs typeface="Arial"/>
              </a:rPr>
              <a:t>k</a:t>
            </a:r>
            <a:r>
              <a:rPr sz="1200" i="1" spc="-165" baseline="-13888" dirty="0">
                <a:latin typeface="Arial"/>
                <a:cs typeface="Arial"/>
              </a:rPr>
              <a:t> </a:t>
            </a:r>
            <a:r>
              <a:rPr sz="1100" spc="-40" dirty="0"/>
              <a:t>,</a:t>
            </a:r>
            <a:r>
              <a:rPr sz="1100" spc="20" dirty="0"/>
              <a:t> </a:t>
            </a:r>
            <a:r>
              <a:rPr sz="1100" spc="-45" dirty="0"/>
              <a:t>then</a:t>
            </a:r>
            <a:r>
              <a:rPr sz="1100" spc="20" dirty="0"/>
              <a:t> </a:t>
            </a:r>
            <a:r>
              <a:rPr sz="1100" spc="105" dirty="0">
                <a:latin typeface="Lucida Sans Unicode"/>
                <a:cs typeface="Lucida Sans Unicode"/>
              </a:rPr>
              <a:t>A</a:t>
            </a:r>
            <a:r>
              <a:rPr sz="1100" spc="15" dirty="0">
                <a:latin typeface="Lucida Sans Unicode"/>
                <a:cs typeface="Lucida Sans Unicode"/>
              </a:rPr>
              <a:t> </a:t>
            </a:r>
            <a:r>
              <a:rPr sz="1100" spc="-35" dirty="0"/>
              <a:t>is</a:t>
            </a:r>
            <a:r>
              <a:rPr sz="1100" spc="15" dirty="0"/>
              <a:t> </a:t>
            </a:r>
            <a:r>
              <a:rPr sz="1100" spc="-40" dirty="0"/>
              <a:t>called</a:t>
            </a:r>
            <a:r>
              <a:rPr sz="1100" spc="20" dirty="0"/>
              <a:t> </a:t>
            </a:r>
            <a:r>
              <a:rPr sz="1100" spc="-55" dirty="0"/>
              <a:t>a</a:t>
            </a:r>
            <a:r>
              <a:rPr sz="1100" spc="20" dirty="0"/>
              <a:t> </a:t>
            </a:r>
            <a:r>
              <a:rPr sz="1100" b="1" spc="-30" dirty="0">
                <a:latin typeface="Trebuchet MS"/>
                <a:cs typeface="Trebuchet MS"/>
              </a:rPr>
              <a:t>generating</a:t>
            </a:r>
            <a:r>
              <a:rPr sz="1100" b="1" spc="65" dirty="0">
                <a:latin typeface="Trebuchet MS"/>
                <a:cs typeface="Trebuchet MS"/>
              </a:rPr>
              <a:t> </a:t>
            </a:r>
            <a:r>
              <a:rPr sz="1100" b="1" spc="-35" dirty="0">
                <a:latin typeface="Trebuchet MS"/>
                <a:cs typeface="Trebuchet MS"/>
              </a:rPr>
              <a:t>set</a:t>
            </a:r>
            <a:r>
              <a:rPr sz="1100" b="1" spc="-25" dirty="0">
                <a:latin typeface="Trebuchet MS"/>
                <a:cs typeface="Trebuchet MS"/>
              </a:rPr>
              <a:t> </a:t>
            </a:r>
            <a:r>
              <a:rPr sz="1100" spc="-40" dirty="0"/>
              <a:t>of</a:t>
            </a:r>
            <a:r>
              <a:rPr sz="1100" spc="15" dirty="0"/>
              <a:t> </a:t>
            </a:r>
            <a:r>
              <a:rPr sz="1100" spc="-5" dirty="0">
                <a:latin typeface="Lucida Sans Unicode"/>
                <a:cs typeface="Lucida Sans Unicode"/>
              </a:rPr>
              <a:t>V</a:t>
            </a:r>
            <a:r>
              <a:rPr sz="1100" spc="-5" dirty="0"/>
              <a:t>.</a:t>
            </a:r>
            <a:endParaRPr sz="1100">
              <a:latin typeface="Lucida Sans Unicode"/>
              <a:cs typeface="Lucida Sans Unicode"/>
            </a:endParaRPr>
          </a:p>
          <a:p>
            <a:pPr marL="214629" marR="31115" indent="-177165" algn="just">
              <a:lnSpc>
                <a:spcPct val="102600"/>
              </a:lnSpc>
              <a:spcBef>
                <a:spcPts val="300"/>
              </a:spcBef>
              <a:buClr>
                <a:srgbClr val="3333B2"/>
              </a:buClr>
              <a:buFont typeface="Lucida Sans Unicode"/>
              <a:buChar char="►"/>
              <a:tabLst>
                <a:tab pos="214629" algn="l"/>
              </a:tabLst>
            </a:pPr>
            <a:r>
              <a:rPr sz="1100" dirty="0"/>
              <a:t>The</a:t>
            </a:r>
            <a:r>
              <a:rPr sz="1100" spc="-45" dirty="0"/>
              <a:t> </a:t>
            </a:r>
            <a:r>
              <a:rPr sz="1100" spc="-25" dirty="0"/>
              <a:t>set</a:t>
            </a:r>
            <a:r>
              <a:rPr sz="1100" spc="-45" dirty="0"/>
              <a:t> </a:t>
            </a:r>
            <a:r>
              <a:rPr sz="1100" dirty="0"/>
              <a:t>of</a:t>
            </a:r>
            <a:r>
              <a:rPr sz="1100" spc="-45" dirty="0"/>
              <a:t> </a:t>
            </a:r>
            <a:r>
              <a:rPr sz="1100" dirty="0"/>
              <a:t>all</a:t>
            </a:r>
            <a:r>
              <a:rPr sz="1100" spc="-40" dirty="0"/>
              <a:t> </a:t>
            </a:r>
            <a:r>
              <a:rPr sz="1100" spc="-30" dirty="0"/>
              <a:t>linear</a:t>
            </a:r>
            <a:r>
              <a:rPr sz="1100" spc="-45" dirty="0"/>
              <a:t> </a:t>
            </a:r>
            <a:r>
              <a:rPr sz="1100" spc="-35" dirty="0"/>
              <a:t>combinations</a:t>
            </a:r>
            <a:r>
              <a:rPr sz="1100" spc="-45" dirty="0"/>
              <a:t> </a:t>
            </a:r>
            <a:r>
              <a:rPr sz="1100" dirty="0"/>
              <a:t>of</a:t>
            </a:r>
            <a:r>
              <a:rPr sz="1100" spc="-45" dirty="0"/>
              <a:t> </a:t>
            </a:r>
            <a:r>
              <a:rPr sz="1100" spc="-20" dirty="0"/>
              <a:t>the</a:t>
            </a:r>
            <a:r>
              <a:rPr sz="1100" spc="-40" dirty="0"/>
              <a:t> </a:t>
            </a:r>
            <a:r>
              <a:rPr sz="1100" spc="-45" dirty="0"/>
              <a:t>vectors </a:t>
            </a:r>
            <a:r>
              <a:rPr sz="1100" dirty="0"/>
              <a:t>in</a:t>
            </a:r>
            <a:r>
              <a:rPr sz="1100" spc="-40" dirty="0"/>
              <a:t> </a:t>
            </a:r>
            <a:r>
              <a:rPr sz="1100" spc="105" dirty="0">
                <a:latin typeface="Lucida Sans Unicode"/>
                <a:cs typeface="Lucida Sans Unicode"/>
              </a:rPr>
              <a:t>A</a:t>
            </a:r>
            <a:r>
              <a:rPr sz="1100" spc="-45" dirty="0">
                <a:latin typeface="Lucida Sans Unicode"/>
                <a:cs typeface="Lucida Sans Unicode"/>
              </a:rPr>
              <a:t> </a:t>
            </a:r>
            <a:r>
              <a:rPr sz="1100" dirty="0"/>
              <a:t>is</a:t>
            </a:r>
            <a:r>
              <a:rPr sz="1100" spc="-45" dirty="0"/>
              <a:t> </a:t>
            </a:r>
            <a:r>
              <a:rPr sz="1100" spc="-50" dirty="0"/>
              <a:t>known </a:t>
            </a:r>
            <a:r>
              <a:rPr sz="1100" spc="-30" dirty="0"/>
              <a:t>as</a:t>
            </a:r>
            <a:r>
              <a:rPr sz="1100" spc="-60" dirty="0"/>
              <a:t> </a:t>
            </a:r>
            <a:r>
              <a:rPr sz="1100" spc="-10" dirty="0"/>
              <a:t>the</a:t>
            </a:r>
            <a:r>
              <a:rPr sz="1100" spc="-75" dirty="0"/>
              <a:t> </a:t>
            </a:r>
            <a:r>
              <a:rPr sz="1100" b="1" dirty="0">
                <a:latin typeface="Trebuchet MS"/>
                <a:cs typeface="Trebuchet MS"/>
              </a:rPr>
              <a:t>span</a:t>
            </a:r>
            <a:r>
              <a:rPr sz="1100" b="1" spc="-50" dirty="0">
                <a:latin typeface="Trebuchet MS"/>
                <a:cs typeface="Trebuchet MS"/>
              </a:rPr>
              <a:t> </a:t>
            </a:r>
            <a:r>
              <a:rPr sz="1100" dirty="0"/>
              <a:t>of</a:t>
            </a:r>
            <a:r>
              <a:rPr sz="1100" spc="-70" dirty="0"/>
              <a:t> </a:t>
            </a:r>
            <a:r>
              <a:rPr sz="1100" spc="-25" dirty="0">
                <a:latin typeface="Lucida Sans Unicode"/>
                <a:cs typeface="Lucida Sans Unicode"/>
              </a:rPr>
              <a:t>A</a:t>
            </a:r>
            <a:r>
              <a:rPr sz="1100" spc="-25" dirty="0"/>
              <a:t>.</a:t>
            </a:r>
            <a:endParaRPr sz="1100">
              <a:latin typeface="Lucida Sans Unicode"/>
              <a:cs typeface="Lucida Sans Unicode"/>
            </a:endParaRPr>
          </a:p>
          <a:p>
            <a:pPr marL="215265" indent="-177165" algn="just">
              <a:lnSpc>
                <a:spcPct val="100000"/>
              </a:lnSpc>
              <a:spcBef>
                <a:spcPts val="330"/>
              </a:spcBef>
              <a:buClr>
                <a:srgbClr val="3333B2"/>
              </a:buClr>
              <a:buFont typeface="Lucida Sans Unicode"/>
              <a:buChar char="►"/>
              <a:tabLst>
                <a:tab pos="215265" algn="l"/>
              </a:tabLst>
            </a:pPr>
            <a:r>
              <a:rPr sz="1100" spc="-30" dirty="0"/>
              <a:t>If</a:t>
            </a:r>
            <a:r>
              <a:rPr sz="1100" spc="-25" dirty="0"/>
              <a:t> </a:t>
            </a:r>
            <a:r>
              <a:rPr sz="1100" spc="105" dirty="0">
                <a:latin typeface="Lucida Sans Unicode"/>
                <a:cs typeface="Lucida Sans Unicode"/>
              </a:rPr>
              <a:t>A</a:t>
            </a:r>
            <a:r>
              <a:rPr sz="1100" spc="-15" dirty="0">
                <a:latin typeface="Lucida Sans Unicode"/>
                <a:cs typeface="Lucida Sans Unicode"/>
              </a:rPr>
              <a:t> </a:t>
            </a:r>
            <a:r>
              <a:rPr sz="1100" spc="-60" dirty="0"/>
              <a:t>spans</a:t>
            </a:r>
            <a:r>
              <a:rPr sz="1100" spc="-10" dirty="0"/>
              <a:t> the </a:t>
            </a:r>
            <a:r>
              <a:rPr sz="1100" spc="-35" dirty="0"/>
              <a:t>vector</a:t>
            </a:r>
            <a:r>
              <a:rPr sz="1100" spc="-10" dirty="0"/>
              <a:t> </a:t>
            </a:r>
            <a:r>
              <a:rPr sz="1100" spc="-55" dirty="0"/>
              <a:t>space</a:t>
            </a:r>
            <a:r>
              <a:rPr sz="1100" spc="-5" dirty="0"/>
              <a:t> </a:t>
            </a:r>
            <a:r>
              <a:rPr sz="1100" i="1" dirty="0">
                <a:latin typeface="Arial"/>
                <a:cs typeface="Arial"/>
              </a:rPr>
              <a:t>V</a:t>
            </a:r>
            <a:r>
              <a:rPr sz="1100" i="1" spc="185" dirty="0">
                <a:latin typeface="Arial"/>
                <a:cs typeface="Arial"/>
              </a:rPr>
              <a:t> </a:t>
            </a:r>
            <a:r>
              <a:rPr sz="1100" spc="-95" dirty="0"/>
              <a:t>we</a:t>
            </a:r>
            <a:r>
              <a:rPr sz="1100" spc="5" dirty="0"/>
              <a:t> </a:t>
            </a:r>
            <a:r>
              <a:rPr sz="1100" spc="-20" dirty="0"/>
              <a:t>write</a:t>
            </a:r>
            <a:r>
              <a:rPr sz="1100" spc="-10" dirty="0"/>
              <a:t> </a:t>
            </a:r>
            <a:r>
              <a:rPr sz="1100" i="1" dirty="0">
                <a:latin typeface="Arial"/>
                <a:cs typeface="Arial"/>
              </a:rPr>
              <a:t>V</a:t>
            </a:r>
            <a:r>
              <a:rPr sz="1100" i="1" spc="130" dirty="0">
                <a:latin typeface="Arial"/>
                <a:cs typeface="Arial"/>
              </a:rPr>
              <a:t> </a:t>
            </a:r>
            <a:r>
              <a:rPr sz="1100" dirty="0"/>
              <a:t>=</a:t>
            </a:r>
            <a:r>
              <a:rPr sz="1100" spc="-60" dirty="0"/>
              <a:t> </a:t>
            </a:r>
            <a:r>
              <a:rPr sz="1100" i="1" spc="-10" dirty="0">
                <a:latin typeface="Arial"/>
                <a:cs typeface="Arial"/>
              </a:rPr>
              <a:t>span</a:t>
            </a:r>
            <a:r>
              <a:rPr sz="1100" spc="-10" dirty="0"/>
              <a:t>[</a:t>
            </a:r>
            <a:r>
              <a:rPr sz="1100" spc="-10" dirty="0">
                <a:latin typeface="Lucida Sans Unicode"/>
                <a:cs typeface="Lucida Sans Unicode"/>
              </a:rPr>
              <a:t>A</a:t>
            </a:r>
            <a:r>
              <a:rPr sz="1100" spc="-10" dirty="0"/>
              <a:t>].</a:t>
            </a:r>
            <a:endParaRPr sz="1100">
              <a:latin typeface="Lucida Sans Unicode"/>
              <a:cs typeface="Lucida Sans Unicode"/>
            </a:endParaRPr>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Basis</a:t>
            </a:r>
            <a:r>
              <a:rPr spc="-65" dirty="0"/>
              <a:t> </a:t>
            </a:r>
            <a:r>
              <a:rPr spc="-30" dirty="0"/>
              <a:t>as</a:t>
            </a:r>
            <a:r>
              <a:rPr spc="-60" dirty="0"/>
              <a:t> </a:t>
            </a:r>
            <a:r>
              <a:rPr spc="-40" dirty="0"/>
              <a:t>smallest</a:t>
            </a:r>
            <a:r>
              <a:rPr spc="-65" dirty="0"/>
              <a:t> </a:t>
            </a:r>
            <a:r>
              <a:rPr spc="-45" dirty="0"/>
              <a:t>generating</a:t>
            </a:r>
            <a:r>
              <a:rPr spc="-60" dirty="0"/>
              <a:t> </a:t>
            </a:r>
            <a:r>
              <a:rPr spc="-25" dirty="0"/>
              <a:t>set</a:t>
            </a:r>
          </a:p>
        </p:txBody>
      </p:sp>
      <p:sp>
        <p:nvSpPr>
          <p:cNvPr id="3" name="object 3"/>
          <p:cNvSpPr txBox="1"/>
          <p:nvPr/>
        </p:nvSpPr>
        <p:spPr>
          <a:xfrm>
            <a:off x="421957" y="1145931"/>
            <a:ext cx="3843020" cy="1000125"/>
          </a:xfrm>
          <a:prstGeom prst="rect">
            <a:avLst/>
          </a:prstGeom>
        </p:spPr>
        <p:txBody>
          <a:bodyPr vert="horz" wrap="square" lIns="0" tIns="55244" rIns="0" bIns="0" rtlCol="0">
            <a:spAutoFit/>
          </a:bodyPr>
          <a:lstStyle/>
          <a:p>
            <a:pPr marL="215265" indent="-177165">
              <a:lnSpc>
                <a:spcPct val="100000"/>
              </a:lnSpc>
              <a:spcBef>
                <a:spcPts val="434"/>
              </a:spcBef>
              <a:buClr>
                <a:srgbClr val="3333B2"/>
              </a:buClr>
              <a:buFont typeface="Lucida Sans Unicode"/>
              <a:buChar char="►"/>
              <a:tabLst>
                <a:tab pos="215265" algn="l"/>
              </a:tabLst>
            </a:pPr>
            <a:r>
              <a:rPr sz="1100" spc="-35" dirty="0">
                <a:latin typeface="Tahoma"/>
                <a:cs typeface="Tahoma"/>
              </a:rPr>
              <a:t>Consider</a:t>
            </a:r>
            <a:r>
              <a:rPr sz="1100" dirty="0">
                <a:latin typeface="Tahoma"/>
                <a:cs typeface="Tahoma"/>
              </a:rPr>
              <a:t> a</a:t>
            </a:r>
            <a:r>
              <a:rPr sz="1100" spc="10" dirty="0">
                <a:latin typeface="Tahoma"/>
                <a:cs typeface="Tahoma"/>
              </a:rPr>
              <a:t> </a:t>
            </a:r>
            <a:r>
              <a:rPr sz="1100" spc="-35" dirty="0">
                <a:latin typeface="Tahoma"/>
                <a:cs typeface="Tahoma"/>
              </a:rPr>
              <a:t>vector</a:t>
            </a:r>
            <a:r>
              <a:rPr sz="1100" spc="10" dirty="0">
                <a:latin typeface="Tahoma"/>
                <a:cs typeface="Tahoma"/>
              </a:rPr>
              <a:t> </a:t>
            </a:r>
            <a:r>
              <a:rPr sz="1100" spc="-60" dirty="0">
                <a:latin typeface="Tahoma"/>
                <a:cs typeface="Tahoma"/>
              </a:rPr>
              <a:t>space</a:t>
            </a:r>
            <a:r>
              <a:rPr sz="1100" spc="5" dirty="0">
                <a:latin typeface="Tahoma"/>
                <a:cs typeface="Tahoma"/>
              </a:rPr>
              <a:t> </a:t>
            </a:r>
            <a:r>
              <a:rPr sz="1100" i="1" dirty="0">
                <a:latin typeface="Arial"/>
                <a:cs typeface="Arial"/>
              </a:rPr>
              <a:t>V</a:t>
            </a:r>
            <a:r>
              <a:rPr sz="1100" i="1" spc="155" dirty="0">
                <a:latin typeface="Arial"/>
                <a:cs typeface="Arial"/>
              </a:rPr>
              <a:t> </a:t>
            </a:r>
            <a:r>
              <a:rPr sz="1100" dirty="0">
                <a:latin typeface="Tahoma"/>
                <a:cs typeface="Tahoma"/>
              </a:rPr>
              <a:t>=</a:t>
            </a:r>
            <a:r>
              <a:rPr sz="1100" spc="-50" dirty="0">
                <a:latin typeface="Tahoma"/>
                <a:cs typeface="Tahoma"/>
              </a:rPr>
              <a:t> </a:t>
            </a:r>
            <a:r>
              <a:rPr sz="1100" dirty="0">
                <a:latin typeface="Tahoma"/>
                <a:cs typeface="Tahoma"/>
              </a:rPr>
              <a:t>(</a:t>
            </a:r>
            <a:r>
              <a:rPr sz="1100" dirty="0">
                <a:latin typeface="Lucida Sans Unicode"/>
                <a:cs typeface="Lucida Sans Unicode"/>
              </a:rPr>
              <a:t>V</a:t>
            </a:r>
            <a:r>
              <a:rPr sz="1100" i="1" dirty="0">
                <a:latin typeface="Calibri"/>
                <a:cs typeface="Calibri"/>
              </a:rPr>
              <a:t>,</a:t>
            </a:r>
            <a:r>
              <a:rPr sz="1100" i="1" spc="-70" dirty="0">
                <a:latin typeface="Calibri"/>
                <a:cs typeface="Calibri"/>
              </a:rPr>
              <a:t> </a:t>
            </a:r>
            <a:r>
              <a:rPr sz="1100" dirty="0">
                <a:latin typeface="Tahoma"/>
                <a:cs typeface="Tahoma"/>
              </a:rPr>
              <a:t>+</a:t>
            </a:r>
            <a:r>
              <a:rPr sz="1100" i="1" dirty="0">
                <a:latin typeface="Calibri"/>
                <a:cs typeface="Calibri"/>
              </a:rPr>
              <a:t>,</a:t>
            </a:r>
            <a:r>
              <a:rPr sz="1100" i="1" spc="-70" dirty="0">
                <a:latin typeface="Calibri"/>
                <a:cs typeface="Calibri"/>
              </a:rPr>
              <a:t> </a:t>
            </a:r>
            <a:r>
              <a:rPr sz="1100" i="1" dirty="0">
                <a:latin typeface="Calibri"/>
                <a:cs typeface="Calibri"/>
              </a:rPr>
              <a:t>.</a:t>
            </a:r>
            <a:r>
              <a:rPr sz="1100" dirty="0">
                <a:latin typeface="Tahoma"/>
                <a:cs typeface="Tahoma"/>
              </a:rPr>
              <a:t>)</a:t>
            </a:r>
            <a:r>
              <a:rPr sz="1100" spc="10" dirty="0">
                <a:latin typeface="Tahoma"/>
                <a:cs typeface="Tahoma"/>
              </a:rPr>
              <a:t> </a:t>
            </a:r>
            <a:r>
              <a:rPr sz="1100" spc="-35" dirty="0">
                <a:latin typeface="Tahoma"/>
                <a:cs typeface="Tahoma"/>
              </a:rPr>
              <a:t>and</a:t>
            </a:r>
            <a:r>
              <a:rPr sz="1100" spc="15" dirty="0">
                <a:latin typeface="Tahoma"/>
                <a:cs typeface="Tahoma"/>
              </a:rPr>
              <a:t> </a:t>
            </a:r>
            <a:r>
              <a:rPr sz="1100" spc="105" dirty="0">
                <a:latin typeface="Lucida Sans Unicode"/>
                <a:cs typeface="Lucida Sans Unicode"/>
              </a:rPr>
              <a:t>A</a:t>
            </a:r>
            <a:r>
              <a:rPr sz="1100" spc="-55" dirty="0">
                <a:latin typeface="Lucida Sans Unicode"/>
                <a:cs typeface="Lucida Sans Unicode"/>
              </a:rPr>
              <a:t> </a:t>
            </a:r>
            <a:r>
              <a:rPr sz="1100" dirty="0">
                <a:latin typeface="Lucida Sans Unicode"/>
                <a:cs typeface="Lucida Sans Unicode"/>
              </a:rPr>
              <a:t>⊆</a:t>
            </a:r>
            <a:r>
              <a:rPr sz="1100" spc="-50" dirty="0">
                <a:latin typeface="Lucida Sans Unicode"/>
                <a:cs typeface="Lucida Sans Unicode"/>
              </a:rPr>
              <a:t> </a:t>
            </a:r>
            <a:r>
              <a:rPr sz="1100" spc="-25" dirty="0">
                <a:latin typeface="Lucida Sans Unicode"/>
                <a:cs typeface="Lucida Sans Unicode"/>
              </a:rPr>
              <a:t>V</a:t>
            </a:r>
            <a:r>
              <a:rPr sz="1100" spc="-25" dirty="0">
                <a:latin typeface="Tahoma"/>
                <a:cs typeface="Tahoma"/>
              </a:rPr>
              <a:t>.</a:t>
            </a:r>
            <a:endParaRPr sz="1100">
              <a:latin typeface="Tahoma"/>
              <a:cs typeface="Tahoma"/>
            </a:endParaRPr>
          </a:p>
          <a:p>
            <a:pPr marL="214629" marR="403860" indent="-177165">
              <a:lnSpc>
                <a:spcPct val="102600"/>
              </a:lnSpc>
              <a:spcBef>
                <a:spcPts val="300"/>
              </a:spcBef>
              <a:buClr>
                <a:srgbClr val="3333B2"/>
              </a:buClr>
              <a:buFont typeface="Lucida Sans Unicode"/>
              <a:buChar char="►"/>
              <a:tabLst>
                <a:tab pos="214629" algn="l"/>
              </a:tabLst>
            </a:pPr>
            <a:r>
              <a:rPr sz="1100" spc="55" dirty="0">
                <a:latin typeface="Tahoma"/>
                <a:cs typeface="Tahoma"/>
              </a:rPr>
              <a:t>A</a:t>
            </a:r>
            <a:r>
              <a:rPr sz="1100" spc="-20" dirty="0">
                <a:latin typeface="Tahoma"/>
                <a:cs typeface="Tahoma"/>
              </a:rPr>
              <a:t> </a:t>
            </a:r>
            <a:r>
              <a:rPr sz="1100" spc="-45" dirty="0">
                <a:latin typeface="Tahoma"/>
                <a:cs typeface="Tahoma"/>
              </a:rPr>
              <a:t>generating</a:t>
            </a:r>
            <a:r>
              <a:rPr sz="1100" spc="-20" dirty="0">
                <a:latin typeface="Tahoma"/>
                <a:cs typeface="Tahoma"/>
              </a:rPr>
              <a:t> set</a:t>
            </a:r>
            <a:r>
              <a:rPr sz="1100" spc="-15" dirty="0">
                <a:latin typeface="Tahoma"/>
                <a:cs typeface="Tahoma"/>
              </a:rPr>
              <a:t> </a:t>
            </a:r>
            <a:r>
              <a:rPr sz="1100" spc="105" dirty="0">
                <a:latin typeface="Lucida Sans Unicode"/>
                <a:cs typeface="Lucida Sans Unicode"/>
              </a:rPr>
              <a:t>A</a:t>
            </a:r>
            <a:r>
              <a:rPr sz="1100" spc="-25" dirty="0">
                <a:latin typeface="Lucida Sans Unicode"/>
                <a:cs typeface="Lucida Sans Unicode"/>
              </a:rPr>
              <a:t> </a:t>
            </a:r>
            <a:r>
              <a:rPr sz="1100" dirty="0">
                <a:latin typeface="Tahoma"/>
                <a:cs typeface="Tahoma"/>
              </a:rPr>
              <a:t>of</a:t>
            </a:r>
            <a:r>
              <a:rPr sz="1100" spc="-20" dirty="0">
                <a:latin typeface="Tahoma"/>
                <a:cs typeface="Tahoma"/>
              </a:rPr>
              <a:t> </a:t>
            </a:r>
            <a:r>
              <a:rPr sz="1100" i="1" dirty="0">
                <a:latin typeface="Arial"/>
                <a:cs typeface="Arial"/>
              </a:rPr>
              <a:t>V</a:t>
            </a:r>
            <a:r>
              <a:rPr sz="1100" i="1" spc="170" dirty="0">
                <a:latin typeface="Arial"/>
                <a:cs typeface="Arial"/>
              </a:rPr>
              <a:t> </a:t>
            </a:r>
            <a:r>
              <a:rPr sz="1100" dirty="0">
                <a:latin typeface="Tahoma"/>
                <a:cs typeface="Tahoma"/>
              </a:rPr>
              <a:t>is</a:t>
            </a:r>
            <a:r>
              <a:rPr sz="1100" spc="-25" dirty="0">
                <a:latin typeface="Tahoma"/>
                <a:cs typeface="Tahoma"/>
              </a:rPr>
              <a:t> called</a:t>
            </a:r>
            <a:r>
              <a:rPr sz="1100" spc="-20" dirty="0">
                <a:latin typeface="Tahoma"/>
                <a:cs typeface="Tahoma"/>
              </a:rPr>
              <a:t> </a:t>
            </a:r>
            <a:r>
              <a:rPr sz="1100" spc="-25" dirty="0">
                <a:latin typeface="Tahoma"/>
                <a:cs typeface="Tahoma"/>
              </a:rPr>
              <a:t>minimal</a:t>
            </a:r>
            <a:r>
              <a:rPr sz="1100" spc="-15" dirty="0">
                <a:latin typeface="Tahoma"/>
                <a:cs typeface="Tahoma"/>
              </a:rPr>
              <a:t> </a:t>
            </a:r>
            <a:r>
              <a:rPr sz="1100" dirty="0">
                <a:latin typeface="Tahoma"/>
                <a:cs typeface="Tahoma"/>
              </a:rPr>
              <a:t>if</a:t>
            </a:r>
            <a:r>
              <a:rPr sz="1100" spc="-20" dirty="0">
                <a:latin typeface="Tahoma"/>
                <a:cs typeface="Tahoma"/>
              </a:rPr>
              <a:t> </a:t>
            </a:r>
            <a:r>
              <a:rPr sz="1100" spc="-45" dirty="0">
                <a:latin typeface="Tahoma"/>
                <a:cs typeface="Tahoma"/>
              </a:rPr>
              <a:t>there</a:t>
            </a:r>
            <a:r>
              <a:rPr sz="1100" spc="-20" dirty="0">
                <a:latin typeface="Tahoma"/>
                <a:cs typeface="Tahoma"/>
              </a:rPr>
              <a:t> </a:t>
            </a:r>
            <a:r>
              <a:rPr sz="1100" dirty="0">
                <a:latin typeface="Tahoma"/>
                <a:cs typeface="Tahoma"/>
              </a:rPr>
              <a:t>is</a:t>
            </a:r>
            <a:r>
              <a:rPr sz="1100" spc="-25" dirty="0">
                <a:latin typeface="Tahoma"/>
                <a:cs typeface="Tahoma"/>
              </a:rPr>
              <a:t> </a:t>
            </a:r>
            <a:r>
              <a:rPr sz="1100" spc="-35" dirty="0">
                <a:latin typeface="Tahoma"/>
                <a:cs typeface="Tahoma"/>
              </a:rPr>
              <a:t>no smaller</a:t>
            </a:r>
            <a:r>
              <a:rPr sz="1100" spc="-55" dirty="0">
                <a:latin typeface="Tahoma"/>
                <a:cs typeface="Tahoma"/>
              </a:rPr>
              <a:t> </a:t>
            </a:r>
            <a:r>
              <a:rPr sz="1100" spc="-20" dirty="0">
                <a:latin typeface="Tahoma"/>
                <a:cs typeface="Tahoma"/>
              </a:rPr>
              <a:t>set</a:t>
            </a:r>
            <a:r>
              <a:rPr sz="1100" spc="-55" dirty="0">
                <a:latin typeface="Tahoma"/>
                <a:cs typeface="Tahoma"/>
              </a:rPr>
              <a:t> </a:t>
            </a:r>
            <a:r>
              <a:rPr sz="1100" spc="-235" dirty="0">
                <a:latin typeface="Lucida Sans Unicode"/>
                <a:cs typeface="Lucida Sans Unicode"/>
              </a:rPr>
              <a:t>A</a:t>
            </a:r>
            <a:r>
              <a:rPr sz="1650" spc="-352" baseline="12626" dirty="0">
                <a:latin typeface="Tahoma"/>
                <a:cs typeface="Tahoma"/>
              </a:rPr>
              <a:t>˜</a:t>
            </a:r>
            <a:r>
              <a:rPr sz="1650" spc="-44" baseline="12626" dirty="0">
                <a:latin typeface="Tahoma"/>
                <a:cs typeface="Tahoma"/>
              </a:rPr>
              <a:t> </a:t>
            </a:r>
            <a:r>
              <a:rPr sz="1100" spc="-40" dirty="0">
                <a:latin typeface="Tahoma"/>
                <a:cs typeface="Tahoma"/>
              </a:rPr>
              <a:t>such</a:t>
            </a:r>
            <a:r>
              <a:rPr sz="1100" spc="-15" dirty="0">
                <a:latin typeface="Tahoma"/>
                <a:cs typeface="Tahoma"/>
              </a:rPr>
              <a:t> </a:t>
            </a:r>
            <a:r>
              <a:rPr sz="1100" dirty="0">
                <a:latin typeface="Tahoma"/>
                <a:cs typeface="Tahoma"/>
              </a:rPr>
              <a:t>that</a:t>
            </a:r>
            <a:r>
              <a:rPr sz="1100" spc="-15" dirty="0">
                <a:latin typeface="Tahoma"/>
                <a:cs typeface="Tahoma"/>
              </a:rPr>
              <a:t> </a:t>
            </a:r>
            <a:r>
              <a:rPr sz="1100" spc="-235" dirty="0">
                <a:latin typeface="Lucida Sans Unicode"/>
                <a:cs typeface="Lucida Sans Unicode"/>
              </a:rPr>
              <a:t>A</a:t>
            </a:r>
            <a:r>
              <a:rPr sz="1650" spc="-352" baseline="12626" dirty="0">
                <a:latin typeface="Tahoma"/>
                <a:cs typeface="Tahoma"/>
              </a:rPr>
              <a:t>˜</a:t>
            </a:r>
            <a:r>
              <a:rPr sz="1650" spc="-135" baseline="12626" dirty="0">
                <a:latin typeface="Tahoma"/>
                <a:cs typeface="Tahoma"/>
              </a:rPr>
              <a:t> </a:t>
            </a:r>
            <a:r>
              <a:rPr sz="1100" dirty="0">
                <a:latin typeface="Lucida Sans Unicode"/>
                <a:cs typeface="Lucida Sans Unicode"/>
              </a:rPr>
              <a:t>⊂</a:t>
            </a:r>
            <a:r>
              <a:rPr sz="1100" spc="-75" dirty="0">
                <a:latin typeface="Lucida Sans Unicode"/>
                <a:cs typeface="Lucida Sans Unicode"/>
              </a:rPr>
              <a:t> </a:t>
            </a:r>
            <a:r>
              <a:rPr sz="1100" spc="105" dirty="0">
                <a:latin typeface="Lucida Sans Unicode"/>
                <a:cs typeface="Lucida Sans Unicode"/>
              </a:rPr>
              <a:t>A</a:t>
            </a:r>
            <a:r>
              <a:rPr sz="1100" spc="-80" dirty="0">
                <a:latin typeface="Lucida Sans Unicode"/>
                <a:cs typeface="Lucida Sans Unicode"/>
              </a:rPr>
              <a:t> </a:t>
            </a:r>
            <a:r>
              <a:rPr sz="1100" dirty="0">
                <a:latin typeface="Lucida Sans Unicode"/>
                <a:cs typeface="Lucida Sans Unicode"/>
              </a:rPr>
              <a:t>⊆</a:t>
            </a:r>
            <a:r>
              <a:rPr sz="1100" spc="-75" dirty="0">
                <a:latin typeface="Lucida Sans Unicode"/>
                <a:cs typeface="Lucida Sans Unicode"/>
              </a:rPr>
              <a:t> </a:t>
            </a:r>
            <a:r>
              <a:rPr sz="1100" dirty="0">
                <a:latin typeface="Lucida Sans Unicode"/>
                <a:cs typeface="Lucida Sans Unicode"/>
              </a:rPr>
              <a:t>V</a:t>
            </a:r>
            <a:r>
              <a:rPr sz="1100" spc="60" dirty="0">
                <a:latin typeface="Lucida Sans Unicode"/>
                <a:cs typeface="Lucida Sans Unicode"/>
              </a:rPr>
              <a:t> </a:t>
            </a:r>
            <a:r>
              <a:rPr sz="1100" dirty="0">
                <a:latin typeface="Tahoma"/>
                <a:cs typeface="Tahoma"/>
              </a:rPr>
              <a:t>that</a:t>
            </a:r>
            <a:r>
              <a:rPr sz="1100" spc="-20" dirty="0">
                <a:latin typeface="Tahoma"/>
                <a:cs typeface="Tahoma"/>
              </a:rPr>
              <a:t> </a:t>
            </a:r>
            <a:r>
              <a:rPr sz="1100" spc="-55" dirty="0">
                <a:latin typeface="Tahoma"/>
                <a:cs typeface="Tahoma"/>
              </a:rPr>
              <a:t>spans</a:t>
            </a:r>
            <a:r>
              <a:rPr sz="1100" spc="-15" dirty="0">
                <a:latin typeface="Tahoma"/>
                <a:cs typeface="Tahoma"/>
              </a:rPr>
              <a:t> </a:t>
            </a:r>
            <a:r>
              <a:rPr sz="1100" i="1" spc="-20" dirty="0">
                <a:latin typeface="Arial"/>
                <a:cs typeface="Arial"/>
              </a:rPr>
              <a:t>V</a:t>
            </a:r>
            <a:r>
              <a:rPr sz="1100" i="1" spc="-130" dirty="0">
                <a:latin typeface="Arial"/>
                <a:cs typeface="Arial"/>
              </a:rPr>
              <a:t> </a:t>
            </a:r>
            <a:r>
              <a:rPr sz="1100" spc="-50" dirty="0">
                <a:latin typeface="Tahoma"/>
                <a:cs typeface="Tahoma"/>
              </a:rPr>
              <a:t>.</a:t>
            </a:r>
            <a:endParaRPr sz="1100">
              <a:latin typeface="Tahoma"/>
              <a:cs typeface="Tahoma"/>
            </a:endParaRPr>
          </a:p>
          <a:p>
            <a:pPr marL="214629" marR="30480" indent="-177165">
              <a:lnSpc>
                <a:spcPct val="102600"/>
              </a:lnSpc>
              <a:spcBef>
                <a:spcPts val="300"/>
              </a:spcBef>
              <a:buClr>
                <a:srgbClr val="3333B2"/>
              </a:buClr>
              <a:buFont typeface="Lucida Sans Unicode"/>
              <a:buChar char="►"/>
              <a:tabLst>
                <a:tab pos="214629" algn="l"/>
              </a:tabLst>
            </a:pPr>
            <a:r>
              <a:rPr sz="1100" spc="-25" dirty="0">
                <a:latin typeface="Tahoma"/>
                <a:cs typeface="Tahoma"/>
              </a:rPr>
              <a:t>Every</a:t>
            </a:r>
            <a:r>
              <a:rPr sz="1100" spc="-35" dirty="0">
                <a:latin typeface="Tahoma"/>
                <a:cs typeface="Tahoma"/>
              </a:rPr>
              <a:t> </a:t>
            </a:r>
            <a:r>
              <a:rPr sz="1100" spc="-30" dirty="0">
                <a:latin typeface="Tahoma"/>
                <a:cs typeface="Tahoma"/>
              </a:rPr>
              <a:t>linearly</a:t>
            </a:r>
            <a:r>
              <a:rPr sz="1100" spc="-25" dirty="0">
                <a:latin typeface="Tahoma"/>
                <a:cs typeface="Tahoma"/>
              </a:rPr>
              <a:t> </a:t>
            </a:r>
            <a:r>
              <a:rPr sz="1100" spc="-45" dirty="0">
                <a:latin typeface="Tahoma"/>
                <a:cs typeface="Tahoma"/>
              </a:rPr>
              <a:t>independent</a:t>
            </a:r>
            <a:r>
              <a:rPr sz="1100" spc="-30" dirty="0">
                <a:latin typeface="Tahoma"/>
                <a:cs typeface="Tahoma"/>
              </a:rPr>
              <a:t> </a:t>
            </a:r>
            <a:r>
              <a:rPr sz="1100" spc="-45" dirty="0">
                <a:latin typeface="Tahoma"/>
                <a:cs typeface="Tahoma"/>
              </a:rPr>
              <a:t>generating</a:t>
            </a:r>
            <a:r>
              <a:rPr sz="1100" spc="-30" dirty="0">
                <a:latin typeface="Tahoma"/>
                <a:cs typeface="Tahoma"/>
              </a:rPr>
              <a:t> </a:t>
            </a:r>
            <a:r>
              <a:rPr sz="1100" spc="-20" dirty="0">
                <a:latin typeface="Tahoma"/>
                <a:cs typeface="Tahoma"/>
              </a:rPr>
              <a:t>set</a:t>
            </a:r>
            <a:r>
              <a:rPr sz="1100" spc="-25" dirty="0">
                <a:latin typeface="Tahoma"/>
                <a:cs typeface="Tahoma"/>
              </a:rPr>
              <a:t> </a:t>
            </a:r>
            <a:r>
              <a:rPr sz="1100" dirty="0">
                <a:latin typeface="Tahoma"/>
                <a:cs typeface="Tahoma"/>
              </a:rPr>
              <a:t>of</a:t>
            </a:r>
            <a:r>
              <a:rPr sz="1100" spc="-25" dirty="0">
                <a:latin typeface="Tahoma"/>
                <a:cs typeface="Tahoma"/>
              </a:rPr>
              <a:t> </a:t>
            </a:r>
            <a:r>
              <a:rPr sz="1100" i="1" dirty="0">
                <a:latin typeface="Arial"/>
                <a:cs typeface="Arial"/>
              </a:rPr>
              <a:t>V</a:t>
            </a:r>
            <a:r>
              <a:rPr sz="1100" i="1" spc="160" dirty="0">
                <a:latin typeface="Arial"/>
                <a:cs typeface="Arial"/>
              </a:rPr>
              <a:t> </a:t>
            </a:r>
            <a:r>
              <a:rPr sz="1100" dirty="0">
                <a:latin typeface="Tahoma"/>
                <a:cs typeface="Tahoma"/>
              </a:rPr>
              <a:t>is</a:t>
            </a:r>
            <a:r>
              <a:rPr sz="1100" spc="-30" dirty="0">
                <a:latin typeface="Tahoma"/>
                <a:cs typeface="Tahoma"/>
              </a:rPr>
              <a:t> </a:t>
            </a:r>
            <a:r>
              <a:rPr sz="1100" spc="-25" dirty="0">
                <a:latin typeface="Tahoma"/>
                <a:cs typeface="Tahoma"/>
              </a:rPr>
              <a:t>minimal and </a:t>
            </a:r>
            <a:r>
              <a:rPr sz="1100" dirty="0">
                <a:latin typeface="Tahoma"/>
                <a:cs typeface="Tahoma"/>
              </a:rPr>
              <a:t>is</a:t>
            </a:r>
            <a:r>
              <a:rPr sz="1100" spc="-75" dirty="0">
                <a:latin typeface="Tahoma"/>
                <a:cs typeface="Tahoma"/>
              </a:rPr>
              <a:t> </a:t>
            </a:r>
            <a:r>
              <a:rPr sz="1100" spc="-25" dirty="0">
                <a:latin typeface="Tahoma"/>
                <a:cs typeface="Tahoma"/>
              </a:rPr>
              <a:t>called</a:t>
            </a:r>
            <a:r>
              <a:rPr sz="1100" spc="-40" dirty="0">
                <a:latin typeface="Tahoma"/>
                <a:cs typeface="Tahoma"/>
              </a:rPr>
              <a:t> </a:t>
            </a:r>
            <a:r>
              <a:rPr sz="1100" dirty="0">
                <a:latin typeface="Tahoma"/>
                <a:cs typeface="Tahoma"/>
              </a:rPr>
              <a:t>a</a:t>
            </a:r>
            <a:r>
              <a:rPr sz="1100" spc="-40" dirty="0">
                <a:latin typeface="Tahoma"/>
                <a:cs typeface="Tahoma"/>
              </a:rPr>
              <a:t> </a:t>
            </a:r>
            <a:r>
              <a:rPr sz="1100" spc="-35" dirty="0">
                <a:latin typeface="Tahoma"/>
                <a:cs typeface="Tahoma"/>
              </a:rPr>
              <a:t>basis</a:t>
            </a:r>
            <a:r>
              <a:rPr sz="1100" spc="-45" dirty="0">
                <a:latin typeface="Tahoma"/>
                <a:cs typeface="Tahoma"/>
              </a:rPr>
              <a:t> </a:t>
            </a:r>
            <a:r>
              <a:rPr sz="1100" dirty="0">
                <a:latin typeface="Tahoma"/>
                <a:cs typeface="Tahoma"/>
              </a:rPr>
              <a:t>of</a:t>
            </a:r>
            <a:r>
              <a:rPr sz="1100" spc="-40" dirty="0">
                <a:latin typeface="Tahoma"/>
                <a:cs typeface="Tahoma"/>
              </a:rPr>
              <a:t> </a:t>
            </a:r>
            <a:r>
              <a:rPr sz="1100" i="1" spc="-20" dirty="0">
                <a:latin typeface="Arial"/>
                <a:cs typeface="Arial"/>
              </a:rPr>
              <a:t>V</a:t>
            </a:r>
            <a:r>
              <a:rPr sz="1100" i="1" spc="-130" dirty="0">
                <a:latin typeface="Arial"/>
                <a:cs typeface="Arial"/>
              </a:rPr>
              <a:t> </a:t>
            </a:r>
            <a:r>
              <a:rPr sz="1100" spc="-50" dirty="0">
                <a:latin typeface="Tahoma"/>
                <a:cs typeface="Tahoma"/>
              </a:rPr>
              <a:t>.</a:t>
            </a:r>
            <a:endParaRPr sz="1100">
              <a:latin typeface="Tahoma"/>
              <a:cs typeface="Tahoma"/>
            </a:endParaRP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6835" y="808355"/>
            <a:ext cx="4110582" cy="499428"/>
          </a:xfrm>
          <a:prstGeom prst="rect">
            <a:avLst/>
          </a:prstGeom>
        </p:spPr>
      </p:pic>
      <p:sp>
        <p:nvSpPr>
          <p:cNvPr id="3" name="Content Placeholder 2"/>
          <p:cNvSpPr>
            <a:spLocks noGrp="1"/>
          </p:cNvSpPr>
          <p:nvPr>
            <p:ph sz="quarter" idx="10"/>
          </p:nvPr>
        </p:nvSpPr>
        <p:spPr/>
        <p:txBody>
          <a:bodyPr/>
          <a:lstStyle/>
          <a:p>
            <a:r>
              <a:rPr lang="en-US" dirty="0"/>
              <a:t>Basis and Dimension of a Vector Space</a:t>
            </a:r>
          </a:p>
        </p:txBody>
      </p:sp>
      <p:sp>
        <p:nvSpPr>
          <p:cNvPr id="5" name="TextBox 4"/>
          <p:cNvSpPr txBox="1"/>
          <p:nvPr/>
        </p:nvSpPr>
        <p:spPr>
          <a:xfrm>
            <a:off x="115344" y="1333793"/>
            <a:ext cx="4110581" cy="371768"/>
          </a:xfrm>
          <a:prstGeom prst="rect">
            <a:avLst/>
          </a:prstGeom>
          <a:noFill/>
        </p:spPr>
        <p:txBody>
          <a:bodyPr wrap="square" rtlCol="0">
            <a:spAutoFit/>
          </a:bodyPr>
          <a:lstStyle/>
          <a:p>
            <a:pPr algn="l" defTabSz="461040" rtl="0"/>
            <a:r>
              <a:rPr lang="en-US" sz="908" kern="1200" dirty="0">
                <a:solidFill>
                  <a:prstClr val="black"/>
                </a:solidFill>
                <a:latin typeface="Tw Cen MT" panose="020B0602020104020603"/>
                <a:ea typeface="+mn-ea"/>
                <a:cs typeface="+mn-cs"/>
              </a:rPr>
              <a:t>Definition of a Basis : A finite set of {v</a:t>
            </a:r>
            <a:r>
              <a:rPr lang="en-US" sz="908" kern="1200" baseline="-25000" dirty="0">
                <a:solidFill>
                  <a:prstClr val="black"/>
                </a:solidFill>
                <a:latin typeface="Tw Cen MT" panose="020B0602020104020603"/>
                <a:ea typeface="+mn-ea"/>
                <a:cs typeface="+mn-cs"/>
              </a:rPr>
              <a:t>1</a:t>
            </a:r>
            <a:r>
              <a:rPr lang="en-US" sz="908" kern="1200" dirty="0">
                <a:solidFill>
                  <a:prstClr val="black"/>
                </a:solidFill>
                <a:latin typeface="Tw Cen MT" panose="020B0602020104020603"/>
                <a:ea typeface="+mn-ea"/>
                <a:cs typeface="+mn-cs"/>
              </a:rPr>
              <a:t>, v</a:t>
            </a:r>
            <a:r>
              <a:rPr lang="en-US" sz="908" kern="1200" baseline="-25000" dirty="0">
                <a:solidFill>
                  <a:prstClr val="black"/>
                </a:solidFill>
                <a:latin typeface="Tw Cen MT" panose="020B0602020104020603"/>
                <a:ea typeface="+mn-ea"/>
                <a:cs typeface="+mn-cs"/>
              </a:rPr>
              <a:t>2</a:t>
            </a:r>
            <a:r>
              <a:rPr lang="en-US" sz="908" kern="1200" dirty="0">
                <a:solidFill>
                  <a:prstClr val="black"/>
                </a:solidFill>
                <a:latin typeface="Tw Cen MT" panose="020B0602020104020603"/>
                <a:ea typeface="+mn-ea"/>
                <a:cs typeface="+mn-cs"/>
              </a:rPr>
              <a:t>, … </a:t>
            </a:r>
            <a:r>
              <a:rPr lang="en-US" sz="908" kern="1200" dirty="0" err="1">
                <a:solidFill>
                  <a:prstClr val="black"/>
                </a:solidFill>
                <a:latin typeface="Tw Cen MT" panose="020B0602020104020603"/>
                <a:ea typeface="+mn-ea"/>
                <a:cs typeface="+mn-cs"/>
              </a:rPr>
              <a:t>v</a:t>
            </a:r>
            <a:r>
              <a:rPr lang="en-US" sz="908" kern="1200" baseline="-25000" dirty="0" err="1">
                <a:solidFill>
                  <a:prstClr val="black"/>
                </a:solidFill>
                <a:latin typeface="Tw Cen MT" panose="020B0602020104020603"/>
                <a:ea typeface="+mn-ea"/>
                <a:cs typeface="+mn-cs"/>
              </a:rPr>
              <a:t>n</a:t>
            </a:r>
            <a:r>
              <a:rPr lang="en-US" sz="908" kern="1200" dirty="0">
                <a:solidFill>
                  <a:prstClr val="black"/>
                </a:solidFill>
                <a:latin typeface="Tw Cen MT" panose="020B0602020104020603"/>
                <a:ea typeface="+mn-ea"/>
                <a:cs typeface="+mn-cs"/>
              </a:rPr>
              <a:t>}  is called basis of a vector space V if {v</a:t>
            </a:r>
            <a:r>
              <a:rPr lang="en-US" sz="908" kern="1200" baseline="-25000" dirty="0">
                <a:solidFill>
                  <a:prstClr val="black"/>
                </a:solidFill>
                <a:latin typeface="Tw Cen MT" panose="020B0602020104020603"/>
                <a:ea typeface="+mn-ea"/>
                <a:cs typeface="+mn-cs"/>
              </a:rPr>
              <a:t>1</a:t>
            </a:r>
            <a:r>
              <a:rPr lang="en-US" sz="908" kern="1200" dirty="0">
                <a:solidFill>
                  <a:prstClr val="black"/>
                </a:solidFill>
                <a:latin typeface="Tw Cen MT" panose="020B0602020104020603"/>
                <a:ea typeface="+mn-ea"/>
                <a:cs typeface="+mn-cs"/>
              </a:rPr>
              <a:t>, v</a:t>
            </a:r>
            <a:r>
              <a:rPr lang="en-US" sz="908" kern="1200" baseline="-25000" dirty="0">
                <a:solidFill>
                  <a:prstClr val="black"/>
                </a:solidFill>
                <a:latin typeface="Tw Cen MT" panose="020B0602020104020603"/>
                <a:ea typeface="+mn-ea"/>
                <a:cs typeface="+mn-cs"/>
              </a:rPr>
              <a:t>2</a:t>
            </a:r>
            <a:r>
              <a:rPr lang="en-US" sz="908" kern="1200" dirty="0">
                <a:solidFill>
                  <a:prstClr val="black"/>
                </a:solidFill>
                <a:latin typeface="Tw Cen MT" panose="020B0602020104020603"/>
                <a:ea typeface="+mn-ea"/>
                <a:cs typeface="+mn-cs"/>
              </a:rPr>
              <a:t>, … </a:t>
            </a:r>
            <a:r>
              <a:rPr lang="en-US" sz="908" kern="1200" dirty="0" err="1">
                <a:solidFill>
                  <a:prstClr val="black"/>
                </a:solidFill>
                <a:latin typeface="Tw Cen MT" panose="020B0602020104020603"/>
                <a:ea typeface="+mn-ea"/>
                <a:cs typeface="+mn-cs"/>
              </a:rPr>
              <a:t>v</a:t>
            </a:r>
            <a:r>
              <a:rPr lang="en-US" sz="908" kern="1200" baseline="-25000" dirty="0" err="1">
                <a:solidFill>
                  <a:prstClr val="black"/>
                </a:solidFill>
                <a:latin typeface="Tw Cen MT" panose="020B0602020104020603"/>
                <a:ea typeface="+mn-ea"/>
                <a:cs typeface="+mn-cs"/>
              </a:rPr>
              <a:t>n</a:t>
            </a:r>
            <a:r>
              <a:rPr lang="en-US" sz="908" kern="1200" dirty="0">
                <a:solidFill>
                  <a:prstClr val="black"/>
                </a:solidFill>
                <a:latin typeface="Tw Cen MT" panose="020B0602020104020603"/>
                <a:ea typeface="+mn-ea"/>
                <a:cs typeface="+mn-cs"/>
              </a:rPr>
              <a:t>}  is a linearly independent subset of V and {v</a:t>
            </a:r>
            <a:r>
              <a:rPr lang="en-US" sz="908" kern="1200" baseline="-25000" dirty="0">
                <a:solidFill>
                  <a:prstClr val="black"/>
                </a:solidFill>
                <a:latin typeface="Tw Cen MT" panose="020B0602020104020603"/>
                <a:ea typeface="+mn-ea"/>
                <a:cs typeface="+mn-cs"/>
              </a:rPr>
              <a:t>1</a:t>
            </a:r>
            <a:r>
              <a:rPr lang="en-US" sz="908" kern="1200" dirty="0">
                <a:solidFill>
                  <a:prstClr val="black"/>
                </a:solidFill>
                <a:latin typeface="Tw Cen MT" panose="020B0602020104020603"/>
                <a:ea typeface="+mn-ea"/>
                <a:cs typeface="+mn-cs"/>
              </a:rPr>
              <a:t>, v</a:t>
            </a:r>
            <a:r>
              <a:rPr lang="en-US" sz="908" kern="1200" baseline="-25000" dirty="0">
                <a:solidFill>
                  <a:prstClr val="black"/>
                </a:solidFill>
                <a:latin typeface="Tw Cen MT" panose="020B0602020104020603"/>
                <a:ea typeface="+mn-ea"/>
                <a:cs typeface="+mn-cs"/>
              </a:rPr>
              <a:t>2</a:t>
            </a:r>
            <a:r>
              <a:rPr lang="en-US" sz="908" kern="1200" dirty="0">
                <a:solidFill>
                  <a:prstClr val="black"/>
                </a:solidFill>
                <a:latin typeface="Tw Cen MT" panose="020B0602020104020603"/>
                <a:ea typeface="+mn-ea"/>
                <a:cs typeface="+mn-cs"/>
              </a:rPr>
              <a:t>, … </a:t>
            </a:r>
            <a:r>
              <a:rPr lang="en-US" sz="908" kern="1200" dirty="0" err="1">
                <a:solidFill>
                  <a:prstClr val="black"/>
                </a:solidFill>
                <a:latin typeface="Tw Cen MT" panose="020B0602020104020603"/>
                <a:ea typeface="+mn-ea"/>
                <a:cs typeface="+mn-cs"/>
              </a:rPr>
              <a:t>v</a:t>
            </a:r>
            <a:r>
              <a:rPr lang="en-US" sz="908" kern="1200" baseline="-25000" dirty="0" err="1">
                <a:solidFill>
                  <a:prstClr val="black"/>
                </a:solidFill>
                <a:latin typeface="Tw Cen MT" panose="020B0602020104020603"/>
                <a:ea typeface="+mn-ea"/>
                <a:cs typeface="+mn-cs"/>
              </a:rPr>
              <a:t>n</a:t>
            </a:r>
            <a:r>
              <a:rPr lang="en-US" sz="908" kern="1200" dirty="0">
                <a:solidFill>
                  <a:prstClr val="black"/>
                </a:solidFill>
                <a:latin typeface="Tw Cen MT" panose="020B0602020104020603"/>
                <a:ea typeface="+mn-ea"/>
                <a:cs typeface="+mn-cs"/>
              </a:rPr>
              <a:t>}  spans V.</a:t>
            </a:r>
          </a:p>
        </p:txBody>
      </p:sp>
      <p:sp>
        <p:nvSpPr>
          <p:cNvPr id="8" name="Rectangle 7"/>
          <p:cNvSpPr/>
          <p:nvPr/>
        </p:nvSpPr>
        <p:spPr>
          <a:xfrm>
            <a:off x="115344" y="1705561"/>
            <a:ext cx="3956912" cy="986552"/>
          </a:xfrm>
          <a:prstGeom prst="rect">
            <a:avLst/>
          </a:prstGeom>
        </p:spPr>
        <p:txBody>
          <a:bodyPr wrap="square">
            <a:spAutoFit/>
          </a:bodyPr>
          <a:lstStyle/>
          <a:p>
            <a:pPr marL="172890" indent="-172890" algn="l" defTabSz="461040" rtl="0">
              <a:spcBef>
                <a:spcPct val="20000"/>
              </a:spcBef>
              <a:buClr>
                <a:srgbClr val="101141"/>
              </a:buClr>
            </a:pPr>
            <a:r>
              <a:rPr lang="en-US" sz="908" kern="1200" dirty="0">
                <a:solidFill>
                  <a:prstClr val="black"/>
                </a:solidFill>
                <a:latin typeface="Arial" pitchFamily="34" charset="0"/>
                <a:ea typeface="+mn-ea"/>
                <a:cs typeface="Arial" pitchFamily="34" charset="0"/>
              </a:rPr>
              <a:t>{ (0, 0, 0, 1), (0,1,1,0), (1,1,0,0) }is a linearly independent subset of R</a:t>
            </a:r>
            <a:r>
              <a:rPr lang="en-US" sz="908" kern="1200" baseline="30000" dirty="0">
                <a:solidFill>
                  <a:prstClr val="black"/>
                </a:solidFill>
                <a:latin typeface="Arial" pitchFamily="34" charset="0"/>
                <a:ea typeface="+mn-ea"/>
                <a:cs typeface="Arial" pitchFamily="34" charset="0"/>
              </a:rPr>
              <a:t>4</a:t>
            </a:r>
            <a:r>
              <a:rPr lang="en-US" sz="908" kern="1200" dirty="0">
                <a:solidFill>
                  <a:prstClr val="black"/>
                </a:solidFill>
                <a:latin typeface="Arial" pitchFamily="34" charset="0"/>
                <a:ea typeface="+mn-ea"/>
                <a:cs typeface="Arial" pitchFamily="34" charset="0"/>
              </a:rPr>
              <a:t> but not s basis of R</a:t>
            </a:r>
            <a:r>
              <a:rPr lang="en-US" sz="908" kern="1200" baseline="30000" dirty="0">
                <a:solidFill>
                  <a:prstClr val="black"/>
                </a:solidFill>
                <a:latin typeface="Arial" pitchFamily="34" charset="0"/>
                <a:ea typeface="+mn-ea"/>
                <a:cs typeface="Arial" pitchFamily="34" charset="0"/>
              </a:rPr>
              <a:t>4</a:t>
            </a:r>
            <a:r>
              <a:rPr lang="en-US" sz="908" kern="1200" dirty="0">
                <a:solidFill>
                  <a:prstClr val="black"/>
                </a:solidFill>
                <a:latin typeface="Arial" pitchFamily="34" charset="0"/>
                <a:ea typeface="+mn-ea"/>
                <a:cs typeface="Arial" pitchFamily="34" charset="0"/>
              </a:rPr>
              <a:t> since it does not span R</a:t>
            </a:r>
            <a:r>
              <a:rPr lang="en-US" sz="908" kern="1200" baseline="30000" dirty="0">
                <a:solidFill>
                  <a:prstClr val="black"/>
                </a:solidFill>
                <a:latin typeface="Arial" pitchFamily="34" charset="0"/>
                <a:ea typeface="+mn-ea"/>
                <a:cs typeface="Arial" pitchFamily="34" charset="0"/>
              </a:rPr>
              <a:t>4</a:t>
            </a:r>
            <a:r>
              <a:rPr lang="en-US" sz="908" kern="1200" dirty="0">
                <a:solidFill>
                  <a:prstClr val="black"/>
                </a:solidFill>
                <a:latin typeface="Arial" pitchFamily="34" charset="0"/>
                <a:ea typeface="+mn-ea"/>
                <a:cs typeface="Arial" pitchFamily="34" charset="0"/>
              </a:rPr>
              <a:t>.</a:t>
            </a:r>
          </a:p>
          <a:p>
            <a:pPr marL="172890" indent="-172890" algn="l" defTabSz="461040" rtl="0">
              <a:spcBef>
                <a:spcPct val="20000"/>
              </a:spcBef>
              <a:buClr>
                <a:srgbClr val="101141"/>
              </a:buClr>
            </a:pPr>
            <a:r>
              <a:rPr lang="en-US" sz="908" kern="1200" dirty="0">
                <a:solidFill>
                  <a:prstClr val="black"/>
                </a:solidFill>
                <a:latin typeface="Arial" pitchFamily="34" charset="0"/>
                <a:ea typeface="+mn-ea"/>
                <a:cs typeface="Arial" pitchFamily="34" charset="0"/>
              </a:rPr>
              <a:t>{ (1, 0, 0, 0), (0,1,0,0), (0,0,1,0), (0,0,0,1) }is a linearly independent subset of R</a:t>
            </a:r>
            <a:r>
              <a:rPr lang="en-US" sz="908" kern="1200" baseline="30000" dirty="0">
                <a:solidFill>
                  <a:prstClr val="black"/>
                </a:solidFill>
                <a:latin typeface="Arial" pitchFamily="34" charset="0"/>
                <a:ea typeface="+mn-ea"/>
                <a:cs typeface="Arial" pitchFamily="34" charset="0"/>
              </a:rPr>
              <a:t>4</a:t>
            </a:r>
            <a:r>
              <a:rPr lang="en-US" sz="908" kern="1200" dirty="0">
                <a:solidFill>
                  <a:prstClr val="black"/>
                </a:solidFill>
                <a:latin typeface="Arial" pitchFamily="34" charset="0"/>
                <a:ea typeface="+mn-ea"/>
                <a:cs typeface="Arial" pitchFamily="34" charset="0"/>
              </a:rPr>
              <a:t> and spans R</a:t>
            </a:r>
            <a:r>
              <a:rPr lang="en-US" sz="908" kern="1200" baseline="30000" dirty="0">
                <a:solidFill>
                  <a:prstClr val="black"/>
                </a:solidFill>
                <a:latin typeface="Arial" pitchFamily="34" charset="0"/>
                <a:ea typeface="+mn-ea"/>
                <a:cs typeface="Arial" pitchFamily="34" charset="0"/>
              </a:rPr>
              <a:t>4</a:t>
            </a:r>
            <a:r>
              <a:rPr lang="en-US" sz="908" kern="1200" dirty="0">
                <a:solidFill>
                  <a:prstClr val="black"/>
                </a:solidFill>
                <a:latin typeface="Arial" pitchFamily="34" charset="0"/>
                <a:ea typeface="+mn-ea"/>
                <a:cs typeface="Arial" pitchFamily="34" charset="0"/>
              </a:rPr>
              <a:t> and hence it is a basis of R</a:t>
            </a:r>
            <a:r>
              <a:rPr lang="en-US" sz="908" kern="1200" baseline="30000" dirty="0">
                <a:solidFill>
                  <a:prstClr val="black"/>
                </a:solidFill>
                <a:latin typeface="Arial" pitchFamily="34" charset="0"/>
                <a:ea typeface="+mn-ea"/>
                <a:cs typeface="Arial" pitchFamily="34" charset="0"/>
              </a:rPr>
              <a:t>4</a:t>
            </a:r>
            <a:r>
              <a:rPr lang="en-US" sz="908" kern="1200" dirty="0">
                <a:solidFill>
                  <a:prstClr val="black"/>
                </a:solidFill>
                <a:latin typeface="Arial" pitchFamily="34" charset="0"/>
                <a:ea typeface="+mn-ea"/>
                <a:cs typeface="Arial" pitchFamily="34" charset="0"/>
              </a:rPr>
              <a:t>. This basis is called standard basis of R</a:t>
            </a:r>
            <a:r>
              <a:rPr lang="en-US" sz="908" kern="1200" baseline="30000" dirty="0">
                <a:solidFill>
                  <a:prstClr val="black"/>
                </a:solidFill>
                <a:latin typeface="Arial" pitchFamily="34" charset="0"/>
                <a:ea typeface="+mn-ea"/>
                <a:cs typeface="Arial" pitchFamily="34" charset="0"/>
              </a:rPr>
              <a:t>4</a:t>
            </a:r>
            <a:r>
              <a:rPr lang="en-US" sz="908" kern="1200" dirty="0">
                <a:solidFill>
                  <a:prstClr val="black"/>
                </a:solidFill>
                <a:latin typeface="Arial" pitchFamily="34" charset="0"/>
                <a:ea typeface="+mn-ea"/>
                <a:cs typeface="Arial" pitchFamily="34" charset="0"/>
              </a:rPr>
              <a:t>.</a:t>
            </a:r>
          </a:p>
          <a:p>
            <a:pPr marL="172890" indent="-172890" algn="l" defTabSz="461040" rtl="0">
              <a:spcBef>
                <a:spcPct val="20000"/>
              </a:spcBef>
              <a:buClr>
                <a:srgbClr val="101141"/>
              </a:buClr>
            </a:pPr>
            <a:r>
              <a:rPr lang="en-US" sz="908" kern="1200" dirty="0">
                <a:solidFill>
                  <a:prstClr val="black"/>
                </a:solidFill>
                <a:latin typeface="Arial" pitchFamily="34" charset="0"/>
                <a:ea typeface="+mn-ea"/>
                <a:cs typeface="Arial" pitchFamily="34" charset="0"/>
              </a:rPr>
              <a:t>Write standard basis of R</a:t>
            </a:r>
            <a:r>
              <a:rPr lang="en-US" sz="908" kern="1200" baseline="30000" dirty="0">
                <a:solidFill>
                  <a:prstClr val="black"/>
                </a:solidFill>
                <a:latin typeface="Arial" pitchFamily="34" charset="0"/>
                <a:ea typeface="+mn-ea"/>
                <a:cs typeface="Arial" pitchFamily="34" charset="0"/>
              </a:rPr>
              <a:t>n</a:t>
            </a:r>
            <a:r>
              <a:rPr lang="en-US" sz="908" kern="1200" dirty="0">
                <a:solidFill>
                  <a:prstClr val="black"/>
                </a:solidFill>
                <a:latin typeface="Arial" pitchFamily="34" charset="0"/>
                <a:ea typeface="+mn-ea"/>
                <a:cs typeface="Arial" pitchFamily="34" charset="0"/>
              </a:rPr>
              <a:t>,  </a:t>
            </a:r>
            <a:r>
              <a:rPr lang="en-US" sz="908" kern="1200" dirty="0" err="1">
                <a:solidFill>
                  <a:prstClr val="black"/>
                </a:solidFill>
                <a:latin typeface="Arial" pitchFamily="34" charset="0"/>
                <a:ea typeface="+mn-ea"/>
                <a:cs typeface="Arial" pitchFamily="34" charset="0"/>
              </a:rPr>
              <a:t>M</a:t>
            </a:r>
            <a:r>
              <a:rPr lang="en-US" sz="908" kern="1200" baseline="-25000" dirty="0" err="1">
                <a:solidFill>
                  <a:prstClr val="black"/>
                </a:solidFill>
                <a:latin typeface="Arial" pitchFamily="34" charset="0"/>
                <a:ea typeface="+mn-ea"/>
                <a:cs typeface="Arial" pitchFamily="34" charset="0"/>
              </a:rPr>
              <a:t>mn</a:t>
            </a:r>
            <a:r>
              <a:rPr lang="en-US" sz="908" kern="1200" baseline="-25000" dirty="0">
                <a:solidFill>
                  <a:prstClr val="black"/>
                </a:solidFill>
                <a:latin typeface="Arial" pitchFamily="34" charset="0"/>
                <a:ea typeface="+mn-ea"/>
                <a:cs typeface="Arial" pitchFamily="34" charset="0"/>
              </a:rPr>
              <a:t>.</a:t>
            </a:r>
            <a:endParaRPr lang="en-US" sz="908" kern="1200" dirty="0">
              <a:solidFill>
                <a:prstClr val="black"/>
              </a:solidFill>
              <a:latin typeface="Arial" pitchFamily="34" charset="0"/>
              <a:ea typeface="+mn-ea"/>
              <a:cs typeface="Arial" pitchFamily="34" charset="0"/>
            </a:endParaRPr>
          </a:p>
        </p:txBody>
      </p:sp>
      <p:sp>
        <p:nvSpPr>
          <p:cNvPr id="6" name="TextBox 5">
            <a:extLst>
              <a:ext uri="{FF2B5EF4-FFF2-40B4-BE49-F238E27FC236}">
                <a16:creationId xmlns:a16="http://schemas.microsoft.com/office/drawing/2014/main" id="{BADB6FC3-6192-9097-C9D3-C9F287D19860}"/>
              </a:ext>
            </a:extLst>
          </p:cNvPr>
          <p:cNvSpPr txBox="1"/>
          <p:nvPr/>
        </p:nvSpPr>
        <p:spPr>
          <a:xfrm>
            <a:off x="247650" y="2705165"/>
            <a:ext cx="382460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w Cen MT" panose="020B0602020104020603"/>
                <a:ea typeface="+mn-ea"/>
                <a:cs typeface="+mn-cs"/>
              </a:rPr>
              <a:t>Definition : The number of elements of a Basis of vector space is called dimension of the vector space. </a:t>
            </a:r>
          </a:p>
        </p:txBody>
      </p:sp>
    </p:spTree>
    <p:extLst>
      <p:ext uri="{BB962C8B-B14F-4D97-AF65-F5344CB8AC3E}">
        <p14:creationId xmlns:p14="http://schemas.microsoft.com/office/powerpoint/2010/main" val="25989222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r>
                  <a:rPr lang="en-US" dirty="0"/>
                  <a:t>Example 1 : Dimension of R</a:t>
                </a:r>
                <a:r>
                  <a:rPr lang="en-US" baseline="30000" dirty="0"/>
                  <a:t>4</a:t>
                </a:r>
                <a:r>
                  <a:rPr lang="en-US" dirty="0"/>
                  <a:t> is 4. Since {(1,0,0,0), (0,1,0,0), (0,0,1,0), (0,0,0,1)} is a basis of R</a:t>
                </a:r>
                <a:r>
                  <a:rPr lang="en-US" baseline="30000" dirty="0"/>
                  <a:t>4</a:t>
                </a:r>
                <a:r>
                  <a:rPr lang="en-US" dirty="0"/>
                  <a:t>. (Standard Basis).</a:t>
                </a:r>
              </a:p>
              <a:p>
                <a:r>
                  <a:rPr lang="en-US" dirty="0"/>
                  <a:t>Example 2 : Dimension of R</a:t>
                </a:r>
                <a:r>
                  <a:rPr lang="en-US" baseline="30000" dirty="0"/>
                  <a:t>n</a:t>
                </a:r>
                <a:r>
                  <a:rPr lang="en-US" dirty="0"/>
                  <a:t> is n, since the standard basis contains n elements.</a:t>
                </a:r>
              </a:p>
              <a:p>
                <a:r>
                  <a:rPr lang="en-US" dirty="0"/>
                  <a:t>Example 3 : Dimension of M</a:t>
                </a:r>
                <a:r>
                  <a:rPr lang="en-US" baseline="-25000" dirty="0"/>
                  <a:t>22</a:t>
                </a:r>
                <a:r>
                  <a:rPr lang="en-US" dirty="0"/>
                  <a:t> is 4, since the standard basis of M</a:t>
                </a:r>
                <a:r>
                  <a:rPr lang="en-US" baseline="-25000" dirty="0"/>
                  <a:t>22</a:t>
                </a:r>
                <a:r>
                  <a:rPr lang="en-US" dirty="0"/>
                  <a:t> = </a:t>
                </a:r>
                <a14:m>
                  <m:oMath xmlns:m="http://schemas.openxmlformats.org/officeDocument/2006/math">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mr>
                            </m:m>
                          </m:e>
                        </m:d>
                      </m:e>
                    </m:d>
                  </m:oMath>
                </a14:m>
                <a:r>
                  <a:rPr lang="en-US" dirty="0"/>
                  <a:t> contains 4 elements.</a:t>
                </a:r>
              </a:p>
              <a:p>
                <a:r>
                  <a:rPr lang="en-US" dirty="0"/>
                  <a:t>Example 4 : Dimension of M</a:t>
                </a:r>
                <a:r>
                  <a:rPr lang="en-US" baseline="-25000" dirty="0"/>
                  <a:t>32</a:t>
                </a:r>
                <a:r>
                  <a:rPr lang="en-US" dirty="0"/>
                  <a:t> is 6, since the standard basis</a:t>
                </a:r>
              </a:p>
              <a:p>
                <a:r>
                  <a:rPr lang="en-US" dirty="0"/>
                  <a:t> of M</a:t>
                </a:r>
                <a:r>
                  <a:rPr lang="en-US" baseline="-25000" dirty="0"/>
                  <a:t>32</a:t>
                </a:r>
                <a:r>
                  <a:rPr lang="en-US" dirty="0"/>
                  <a:t> = </a:t>
                </a:r>
                <a14:m>
                  <m:oMath xmlns:m="http://schemas.openxmlformats.org/officeDocument/2006/math">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mr>
                        </m:m>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mr>
                        </m:m>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e>
                              <m:r>
                                <a:rPr lang="en-US" i="1">
                                  <a:latin typeface="Cambria Math" panose="02040503050406030204" pitchFamily="18" charset="0"/>
                                </a:rPr>
                                <m:t>0</m:t>
                              </m:r>
                            </m:e>
                          </m:mr>
                          <m:mr>
                            <m:e>
                              <m:r>
                                <a:rPr lang="en-US" b="0" i="1" smtClean="0">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mr>
                        </m:m>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0</m:t>
                              </m:r>
                            </m:e>
                            <m:e>
                              <m:r>
                                <a:rPr lang="en-US" b="0" i="1" smtClean="0">
                                  <a:latin typeface="Cambria Math" panose="02040503050406030204" pitchFamily="18" charset="0"/>
                                </a:rPr>
                                <m:t>1</m:t>
                              </m:r>
                            </m:e>
                          </m:mr>
                          <m:mr>
                            <m:e>
                              <m:r>
                                <a:rPr lang="en-US" i="1">
                                  <a:latin typeface="Cambria Math" panose="02040503050406030204" pitchFamily="18" charset="0"/>
                                </a:rPr>
                                <m:t>0</m:t>
                              </m:r>
                            </m:e>
                            <m:e>
                              <m:r>
                                <a:rPr lang="en-US" i="1">
                                  <a:latin typeface="Cambria Math" panose="02040503050406030204" pitchFamily="18" charset="0"/>
                                </a:rPr>
                                <m:t>0</m:t>
                              </m:r>
                            </m:e>
                          </m:mr>
                        </m:m>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mr>
                          <m:mr>
                            <m:e>
                              <m:r>
                                <a:rPr lang="en-US" b="0" i="1" smtClean="0">
                                  <a:latin typeface="Cambria Math" panose="02040503050406030204" pitchFamily="18" charset="0"/>
                                </a:rPr>
                                <m:t>1</m:t>
                              </m:r>
                            </m:e>
                            <m:e>
                              <m:r>
                                <a:rPr lang="en-US" i="1">
                                  <a:latin typeface="Cambria Math" panose="02040503050406030204" pitchFamily="18" charset="0"/>
                                </a:rPr>
                                <m:t>0</m:t>
                              </m:r>
                            </m:e>
                          </m:mr>
                        </m:m>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m:t>
                    </m:r>
                  </m:oMath>
                </a14:m>
                <a:r>
                  <a:rPr lang="en-US" b="0" i="1" dirty="0">
                    <a:latin typeface="Cambria Math" panose="02040503050406030204" pitchFamily="18" charset="0"/>
                  </a:rPr>
                  <a:t>   </a:t>
                </a:r>
                <a:r>
                  <a:rPr lang="en-US" b="0" dirty="0"/>
                  <a:t>contains 6 elements.</a:t>
                </a:r>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1481" t="-1615"/>
                </a:stretch>
              </a:blipFill>
            </p:spPr>
            <p:txBody>
              <a:bodyPr/>
              <a:lstStyle/>
              <a:p>
                <a:r>
                  <a:rPr lang="en-US">
                    <a:noFill/>
                  </a:rPr>
                  <a:t> </a:t>
                </a:r>
              </a:p>
            </p:txBody>
          </p:sp>
        </mc:Fallback>
      </mc:AlternateContent>
      <p:sp>
        <p:nvSpPr>
          <p:cNvPr id="3" name="Content Placeholder 2"/>
          <p:cNvSpPr>
            <a:spLocks noGrp="1"/>
          </p:cNvSpPr>
          <p:nvPr>
            <p:ph sz="quarter" idx="10"/>
          </p:nvPr>
        </p:nvSpPr>
        <p:spPr/>
        <p:txBody>
          <a:bodyPr/>
          <a:lstStyle/>
          <a:p>
            <a:r>
              <a:rPr lang="en-US" dirty="0"/>
              <a:t>Dimension of a Vector Space</a:t>
            </a:r>
          </a:p>
        </p:txBody>
      </p:sp>
    </p:spTree>
    <p:extLst>
      <p:ext uri="{BB962C8B-B14F-4D97-AF65-F5344CB8AC3E}">
        <p14:creationId xmlns:p14="http://schemas.microsoft.com/office/powerpoint/2010/main" val="1233918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endParaRPr lang="en-US" sz="908" dirty="0"/>
          </a:p>
        </p:txBody>
      </p:sp>
      <p:sp>
        <p:nvSpPr>
          <p:cNvPr id="3" name="Content Placeholder 2"/>
          <p:cNvSpPr>
            <a:spLocks noGrp="1"/>
          </p:cNvSpPr>
          <p:nvPr>
            <p:ph sz="quarter" idx="10"/>
          </p:nvPr>
        </p:nvSpPr>
        <p:spPr/>
        <p:txBody>
          <a:bodyPr/>
          <a:lstStyle/>
          <a:p>
            <a:r>
              <a:rPr lang="en-US" dirty="0"/>
              <a:t>Dimension of a Vector Space</a:t>
            </a:r>
          </a:p>
        </p:txBody>
      </p:sp>
      <p:pic>
        <p:nvPicPr>
          <p:cNvPr id="4" name="Picture 3"/>
          <p:cNvPicPr>
            <a:picLocks noChangeAspect="1"/>
          </p:cNvPicPr>
          <p:nvPr/>
        </p:nvPicPr>
        <p:blipFill>
          <a:blip r:embed="rId2">
            <a:lum bright="-20000" contrast="40000"/>
          </a:blip>
          <a:stretch>
            <a:fillRect/>
          </a:stretch>
        </p:blipFill>
        <p:spPr>
          <a:xfrm>
            <a:off x="153670" y="815975"/>
            <a:ext cx="3827780" cy="2122395"/>
          </a:xfrm>
          <a:prstGeom prst="rect">
            <a:avLst/>
          </a:prstGeom>
        </p:spPr>
      </p:pic>
    </p:spTree>
    <p:extLst>
      <p:ext uri="{BB962C8B-B14F-4D97-AF65-F5344CB8AC3E}">
        <p14:creationId xmlns:p14="http://schemas.microsoft.com/office/powerpoint/2010/main" val="6314359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68923" y="769938"/>
            <a:ext cx="3073400" cy="1134460"/>
          </a:xfrm>
          <a:prstGeom prst="rect">
            <a:avLst/>
          </a:prstGeom>
        </p:spPr>
      </p:pic>
      <p:sp>
        <p:nvSpPr>
          <p:cNvPr id="3" name="Content Placeholder 2"/>
          <p:cNvSpPr>
            <a:spLocks noGrp="1"/>
          </p:cNvSpPr>
          <p:nvPr>
            <p:ph sz="quarter" idx="10"/>
          </p:nvPr>
        </p:nvSpPr>
        <p:spPr/>
        <p:txBody>
          <a:bodyPr/>
          <a:lstStyle/>
          <a:p>
            <a:r>
              <a:rPr lang="en-US" dirty="0"/>
              <a:t>Examples</a:t>
            </a:r>
          </a:p>
        </p:txBody>
      </p:sp>
      <p:pic>
        <p:nvPicPr>
          <p:cNvPr id="5" name="Picture 4"/>
          <p:cNvPicPr>
            <a:picLocks noChangeAspect="1"/>
          </p:cNvPicPr>
          <p:nvPr/>
        </p:nvPicPr>
        <p:blipFill>
          <a:blip r:embed="rId3"/>
          <a:stretch>
            <a:fillRect/>
          </a:stretch>
        </p:blipFill>
        <p:spPr>
          <a:xfrm>
            <a:off x="256600" y="1845628"/>
            <a:ext cx="2961223" cy="786415"/>
          </a:xfrm>
          <a:prstGeom prst="rect">
            <a:avLst/>
          </a:prstGeom>
        </p:spPr>
      </p:pic>
    </p:spTree>
    <p:extLst>
      <p:ext uri="{BB962C8B-B14F-4D97-AF65-F5344CB8AC3E}">
        <p14:creationId xmlns:p14="http://schemas.microsoft.com/office/powerpoint/2010/main" val="16438344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72527"/>
            <a:ext cx="2118995" cy="244475"/>
          </a:xfrm>
          <a:prstGeom prst="rect">
            <a:avLst/>
          </a:prstGeom>
        </p:spPr>
        <p:txBody>
          <a:bodyPr vert="horz" wrap="square" lIns="0" tIns="17145" rIns="0" bIns="0" rtlCol="0">
            <a:spAutoFit/>
          </a:bodyPr>
          <a:lstStyle/>
          <a:p>
            <a:pPr marL="12700">
              <a:lnSpc>
                <a:spcPct val="100000"/>
              </a:lnSpc>
              <a:spcBef>
                <a:spcPts val="135"/>
              </a:spcBef>
            </a:pPr>
            <a:r>
              <a:rPr spc="-35" dirty="0"/>
              <a:t>Dimension</a:t>
            </a:r>
            <a:r>
              <a:rPr spc="-50" dirty="0"/>
              <a:t> </a:t>
            </a:r>
            <a:r>
              <a:rPr dirty="0"/>
              <a:t>of</a:t>
            </a:r>
            <a:r>
              <a:rPr spc="-50" dirty="0"/>
              <a:t> </a:t>
            </a:r>
            <a:r>
              <a:rPr dirty="0"/>
              <a:t>a</a:t>
            </a:r>
            <a:r>
              <a:rPr spc="-45" dirty="0"/>
              <a:t> </a:t>
            </a:r>
            <a:r>
              <a:rPr spc="-35" dirty="0"/>
              <a:t>vector</a:t>
            </a:r>
            <a:r>
              <a:rPr spc="-50" dirty="0"/>
              <a:t> </a:t>
            </a:r>
            <a:r>
              <a:rPr spc="-55" dirty="0"/>
              <a:t>space</a:t>
            </a:r>
          </a:p>
        </p:txBody>
      </p:sp>
      <p:sp>
        <p:nvSpPr>
          <p:cNvPr id="3" name="object 3"/>
          <p:cNvSpPr txBox="1"/>
          <p:nvPr/>
        </p:nvSpPr>
        <p:spPr>
          <a:xfrm>
            <a:off x="434657" y="980680"/>
            <a:ext cx="3698875" cy="363855"/>
          </a:xfrm>
          <a:prstGeom prst="rect">
            <a:avLst/>
          </a:prstGeom>
        </p:spPr>
        <p:txBody>
          <a:bodyPr vert="horz" wrap="square" lIns="0" tIns="6985" rIns="0" bIns="0" rtlCol="0">
            <a:spAutoFit/>
          </a:bodyPr>
          <a:lstStyle/>
          <a:p>
            <a:pPr marL="201930" marR="17780" indent="-177165">
              <a:lnSpc>
                <a:spcPct val="102600"/>
              </a:lnSpc>
              <a:spcBef>
                <a:spcPts val="55"/>
              </a:spcBef>
              <a:buClr>
                <a:srgbClr val="3333B2"/>
              </a:buClr>
              <a:buFont typeface="Lucida Sans Unicode"/>
              <a:buChar char="►"/>
              <a:tabLst>
                <a:tab pos="201930" algn="l"/>
              </a:tabLst>
            </a:pPr>
            <a:r>
              <a:rPr sz="1100" spc="-85" dirty="0">
                <a:latin typeface="Tahoma"/>
                <a:cs typeface="Tahoma"/>
              </a:rPr>
              <a:t>Is</a:t>
            </a:r>
            <a:r>
              <a:rPr sz="1100" spc="-15" dirty="0">
                <a:latin typeface="Tahoma"/>
                <a:cs typeface="Tahoma"/>
              </a:rPr>
              <a:t> </a:t>
            </a:r>
            <a:r>
              <a:rPr sz="1100" spc="-10" dirty="0">
                <a:latin typeface="Tahoma"/>
                <a:cs typeface="Tahoma"/>
              </a:rPr>
              <a:t>the</a:t>
            </a:r>
            <a:r>
              <a:rPr sz="1100" spc="-75" dirty="0">
                <a:latin typeface="Tahoma"/>
                <a:cs typeface="Tahoma"/>
              </a:rPr>
              <a:t> </a:t>
            </a:r>
            <a:r>
              <a:rPr sz="1100" spc="-25" dirty="0">
                <a:latin typeface="Tahoma"/>
                <a:cs typeface="Tahoma"/>
              </a:rPr>
              <a:t>size</a:t>
            </a:r>
            <a:r>
              <a:rPr sz="1100" spc="-65" dirty="0">
                <a:latin typeface="Tahoma"/>
                <a:cs typeface="Tahoma"/>
              </a:rPr>
              <a:t> </a:t>
            </a:r>
            <a:r>
              <a:rPr sz="1100" dirty="0">
                <a:latin typeface="Tahoma"/>
                <a:cs typeface="Tahoma"/>
              </a:rPr>
              <a:t>of</a:t>
            </a:r>
            <a:r>
              <a:rPr sz="1100" spc="-65" dirty="0">
                <a:latin typeface="Tahoma"/>
                <a:cs typeface="Tahoma"/>
              </a:rPr>
              <a:t> </a:t>
            </a:r>
            <a:r>
              <a:rPr sz="1100" spc="-10" dirty="0">
                <a:latin typeface="Tahoma"/>
                <a:cs typeface="Tahoma"/>
              </a:rPr>
              <a:t>the</a:t>
            </a:r>
            <a:r>
              <a:rPr sz="1100" spc="-45" dirty="0">
                <a:latin typeface="Tahoma"/>
                <a:cs typeface="Tahoma"/>
              </a:rPr>
              <a:t> </a:t>
            </a:r>
            <a:r>
              <a:rPr sz="1100" spc="-35" dirty="0">
                <a:latin typeface="Tahoma"/>
                <a:cs typeface="Tahoma"/>
              </a:rPr>
              <a:t>basis</a:t>
            </a:r>
            <a:r>
              <a:rPr sz="1100" spc="-50" dirty="0">
                <a:latin typeface="Tahoma"/>
                <a:cs typeface="Tahoma"/>
              </a:rPr>
              <a:t> </a:t>
            </a:r>
            <a:r>
              <a:rPr sz="1100" spc="-45" dirty="0">
                <a:latin typeface="Tahoma"/>
                <a:cs typeface="Tahoma"/>
              </a:rPr>
              <a:t>merely</a:t>
            </a:r>
            <a:r>
              <a:rPr sz="1100" spc="-40" dirty="0">
                <a:latin typeface="Tahoma"/>
                <a:cs typeface="Tahoma"/>
              </a:rPr>
              <a:t> </a:t>
            </a:r>
            <a:r>
              <a:rPr sz="1100" spc="-10" dirty="0">
                <a:latin typeface="Tahoma"/>
                <a:cs typeface="Tahoma"/>
              </a:rPr>
              <a:t>the</a:t>
            </a:r>
            <a:r>
              <a:rPr sz="1100" spc="-45" dirty="0">
                <a:latin typeface="Tahoma"/>
                <a:cs typeface="Tahoma"/>
              </a:rPr>
              <a:t> number </a:t>
            </a:r>
            <a:r>
              <a:rPr sz="1100" dirty="0">
                <a:latin typeface="Tahoma"/>
                <a:cs typeface="Tahoma"/>
              </a:rPr>
              <a:t>of</a:t>
            </a:r>
            <a:r>
              <a:rPr sz="1100" spc="-45" dirty="0">
                <a:latin typeface="Tahoma"/>
                <a:cs typeface="Tahoma"/>
              </a:rPr>
              <a:t> components</a:t>
            </a:r>
            <a:r>
              <a:rPr sz="1100" spc="-40" dirty="0">
                <a:latin typeface="Tahoma"/>
                <a:cs typeface="Tahoma"/>
              </a:rPr>
              <a:t> </a:t>
            </a:r>
            <a:r>
              <a:rPr sz="1100" spc="-25" dirty="0">
                <a:latin typeface="Tahoma"/>
                <a:cs typeface="Tahoma"/>
              </a:rPr>
              <a:t>in </a:t>
            </a:r>
            <a:r>
              <a:rPr sz="1100" spc="-10" dirty="0">
                <a:latin typeface="Tahoma"/>
                <a:cs typeface="Tahoma"/>
              </a:rPr>
              <a:t>the</a:t>
            </a:r>
            <a:r>
              <a:rPr sz="1100" spc="-75" dirty="0">
                <a:latin typeface="Tahoma"/>
                <a:cs typeface="Tahoma"/>
              </a:rPr>
              <a:t> </a:t>
            </a:r>
            <a:r>
              <a:rPr sz="1100" spc="-10" dirty="0">
                <a:latin typeface="Tahoma"/>
                <a:cs typeface="Tahoma"/>
              </a:rPr>
              <a:t>vector?</a:t>
            </a:r>
            <a:endParaRPr sz="1100">
              <a:latin typeface="Tahoma"/>
              <a:cs typeface="Tahoma"/>
            </a:endParaRPr>
          </a:p>
        </p:txBody>
      </p:sp>
      <p:sp>
        <p:nvSpPr>
          <p:cNvPr id="4" name="object 4"/>
          <p:cNvSpPr txBox="1"/>
          <p:nvPr/>
        </p:nvSpPr>
        <p:spPr>
          <a:xfrm>
            <a:off x="434657" y="1362785"/>
            <a:ext cx="2006600" cy="191770"/>
          </a:xfrm>
          <a:prstGeom prst="rect">
            <a:avLst/>
          </a:prstGeom>
        </p:spPr>
        <p:txBody>
          <a:bodyPr vert="horz" wrap="square" lIns="0" tIns="11430" rIns="0" bIns="0" rtlCol="0">
            <a:spAutoFit/>
          </a:bodyPr>
          <a:lstStyle/>
          <a:p>
            <a:pPr marL="202565" indent="-177165">
              <a:lnSpc>
                <a:spcPct val="100000"/>
              </a:lnSpc>
              <a:spcBef>
                <a:spcPts val="90"/>
              </a:spcBef>
              <a:buClr>
                <a:srgbClr val="3333B2"/>
              </a:buClr>
              <a:buFont typeface="Lucida Sans Unicode"/>
              <a:buChar char="►"/>
              <a:tabLst>
                <a:tab pos="202565" algn="l"/>
              </a:tabLst>
            </a:pPr>
            <a:r>
              <a:rPr sz="1100" dirty="0">
                <a:latin typeface="Tahoma"/>
                <a:cs typeface="Tahoma"/>
              </a:rPr>
              <a:t>So</a:t>
            </a:r>
            <a:r>
              <a:rPr sz="1100" spc="-70" dirty="0">
                <a:latin typeface="Tahoma"/>
                <a:cs typeface="Tahoma"/>
              </a:rPr>
              <a:t> </a:t>
            </a:r>
            <a:r>
              <a:rPr sz="1100" spc="-25" dirty="0">
                <a:latin typeface="Tahoma"/>
                <a:cs typeface="Tahoma"/>
              </a:rPr>
              <a:t>far,</a:t>
            </a:r>
            <a:r>
              <a:rPr sz="1100" spc="-45" dirty="0">
                <a:latin typeface="Tahoma"/>
                <a:cs typeface="Tahoma"/>
              </a:rPr>
              <a:t> </a:t>
            </a:r>
            <a:r>
              <a:rPr sz="1100" dirty="0">
                <a:latin typeface="Tahoma"/>
                <a:cs typeface="Tahoma"/>
              </a:rPr>
              <a:t>that</a:t>
            </a:r>
            <a:r>
              <a:rPr sz="1100" spc="-45" dirty="0">
                <a:latin typeface="Tahoma"/>
                <a:cs typeface="Tahoma"/>
              </a:rPr>
              <a:t> has </a:t>
            </a:r>
            <a:r>
              <a:rPr sz="1100" spc="-60" dirty="0">
                <a:latin typeface="Tahoma"/>
                <a:cs typeface="Tahoma"/>
              </a:rPr>
              <a:t>been</a:t>
            </a:r>
            <a:r>
              <a:rPr sz="1100" spc="-25" dirty="0">
                <a:latin typeface="Tahoma"/>
                <a:cs typeface="Tahoma"/>
              </a:rPr>
              <a:t> </a:t>
            </a:r>
            <a:r>
              <a:rPr sz="1100" spc="-10" dirty="0">
                <a:latin typeface="Tahoma"/>
                <a:cs typeface="Tahoma"/>
              </a:rPr>
              <a:t>the</a:t>
            </a:r>
            <a:r>
              <a:rPr sz="1100" spc="-45" dirty="0">
                <a:latin typeface="Tahoma"/>
                <a:cs typeface="Tahoma"/>
              </a:rPr>
              <a:t> </a:t>
            </a:r>
            <a:r>
              <a:rPr sz="1100" spc="-10" dirty="0">
                <a:latin typeface="Tahoma"/>
                <a:cs typeface="Tahoma"/>
              </a:rPr>
              <a:t>case.</a:t>
            </a:r>
            <a:endParaRPr sz="1100">
              <a:latin typeface="Tahoma"/>
              <a:cs typeface="Tahoma"/>
            </a:endParaRPr>
          </a:p>
        </p:txBody>
      </p:sp>
      <p:sp>
        <p:nvSpPr>
          <p:cNvPr id="5" name="object 5"/>
          <p:cNvSpPr txBox="1"/>
          <p:nvPr/>
        </p:nvSpPr>
        <p:spPr>
          <a:xfrm>
            <a:off x="2778163" y="1723236"/>
            <a:ext cx="95250" cy="191770"/>
          </a:xfrm>
          <a:prstGeom prst="rect">
            <a:avLst/>
          </a:prstGeom>
        </p:spPr>
        <p:txBody>
          <a:bodyPr vert="horz" wrap="square" lIns="0" tIns="11430" rIns="0" bIns="0" rtlCol="0">
            <a:spAutoFit/>
          </a:bodyPr>
          <a:lstStyle/>
          <a:p>
            <a:pPr marL="12700">
              <a:lnSpc>
                <a:spcPct val="100000"/>
              </a:lnSpc>
              <a:spcBef>
                <a:spcPts val="90"/>
              </a:spcBef>
            </a:pPr>
            <a:r>
              <a:rPr sz="1100" spc="-50" dirty="0">
                <a:latin typeface="Tahoma"/>
                <a:cs typeface="Tahoma"/>
              </a:rPr>
              <a:t>1</a:t>
            </a:r>
            <a:endParaRPr sz="1100">
              <a:latin typeface="Tahoma"/>
              <a:cs typeface="Tahoma"/>
            </a:endParaRPr>
          </a:p>
        </p:txBody>
      </p:sp>
      <p:sp>
        <p:nvSpPr>
          <p:cNvPr id="6" name="object 6"/>
          <p:cNvSpPr txBox="1"/>
          <p:nvPr/>
        </p:nvSpPr>
        <p:spPr>
          <a:xfrm>
            <a:off x="2705036" y="1442071"/>
            <a:ext cx="241300" cy="191770"/>
          </a:xfrm>
          <a:prstGeom prst="rect">
            <a:avLst/>
          </a:prstGeom>
        </p:spPr>
        <p:txBody>
          <a:bodyPr vert="horz" wrap="square" lIns="0" tIns="151130" rIns="0" bIns="0" rtlCol="0">
            <a:spAutoFit/>
          </a:bodyPr>
          <a:lstStyle/>
          <a:p>
            <a:pPr marL="12700">
              <a:lnSpc>
                <a:spcPct val="100000"/>
              </a:lnSpc>
              <a:spcBef>
                <a:spcPts val="1190"/>
              </a:spcBef>
            </a:pPr>
            <a:r>
              <a:rPr sz="1100" dirty="0">
                <a:latin typeface="Lucida Sans Unicode"/>
                <a:cs typeface="Lucida Sans Unicode"/>
              </a:rPr>
              <a:t> </a:t>
            </a:r>
            <a:endParaRPr sz="1100">
              <a:latin typeface="Lucida Sans Unicode"/>
              <a:cs typeface="Lucida Sans Unicode"/>
            </a:endParaRPr>
          </a:p>
        </p:txBody>
      </p:sp>
      <p:sp>
        <p:nvSpPr>
          <p:cNvPr id="7" name="object 7"/>
          <p:cNvSpPr txBox="1"/>
          <p:nvPr/>
        </p:nvSpPr>
        <p:spPr>
          <a:xfrm>
            <a:off x="421957" y="1637422"/>
            <a:ext cx="3810635" cy="191770"/>
          </a:xfrm>
          <a:prstGeom prst="rect">
            <a:avLst/>
          </a:prstGeom>
        </p:spPr>
        <p:txBody>
          <a:bodyPr vert="horz" wrap="square" lIns="0" tIns="11430" rIns="0" bIns="0" rtlCol="0">
            <a:spAutoFit/>
          </a:bodyPr>
          <a:lstStyle/>
          <a:p>
            <a:pPr marL="215265" indent="-177165">
              <a:lnSpc>
                <a:spcPct val="100000"/>
              </a:lnSpc>
              <a:spcBef>
                <a:spcPts val="90"/>
              </a:spcBef>
              <a:buClr>
                <a:srgbClr val="3333B2"/>
              </a:buClr>
              <a:buFont typeface="Lucida Sans Unicode"/>
              <a:buChar char="►"/>
              <a:tabLst>
                <a:tab pos="215265" algn="l"/>
              </a:tabLst>
            </a:pPr>
            <a:r>
              <a:rPr sz="1100" dirty="0">
                <a:latin typeface="Tahoma"/>
                <a:cs typeface="Tahoma"/>
              </a:rPr>
              <a:t>But</a:t>
            </a:r>
            <a:r>
              <a:rPr sz="1100" spc="-35" dirty="0">
                <a:latin typeface="Tahoma"/>
                <a:cs typeface="Tahoma"/>
              </a:rPr>
              <a:t> </a:t>
            </a:r>
            <a:r>
              <a:rPr sz="1100" spc="-40" dirty="0">
                <a:latin typeface="Tahoma"/>
                <a:cs typeface="Tahoma"/>
              </a:rPr>
              <a:t>consider</a:t>
            </a:r>
            <a:r>
              <a:rPr sz="1100" spc="-35" dirty="0">
                <a:latin typeface="Tahoma"/>
                <a:cs typeface="Tahoma"/>
              </a:rPr>
              <a:t> </a:t>
            </a:r>
            <a:r>
              <a:rPr sz="1100" spc="-10" dirty="0">
                <a:latin typeface="Tahoma"/>
                <a:cs typeface="Tahoma"/>
              </a:rPr>
              <a:t>the</a:t>
            </a:r>
            <a:r>
              <a:rPr sz="1100" spc="-30" dirty="0">
                <a:latin typeface="Tahoma"/>
                <a:cs typeface="Tahoma"/>
              </a:rPr>
              <a:t> </a:t>
            </a:r>
            <a:r>
              <a:rPr sz="1100" spc="-35" dirty="0">
                <a:latin typeface="Tahoma"/>
                <a:cs typeface="Tahoma"/>
              </a:rPr>
              <a:t>vector</a:t>
            </a:r>
            <a:r>
              <a:rPr sz="1100" spc="-30" dirty="0">
                <a:latin typeface="Tahoma"/>
                <a:cs typeface="Tahoma"/>
              </a:rPr>
              <a:t> </a:t>
            </a:r>
            <a:r>
              <a:rPr sz="1100" spc="-55" dirty="0">
                <a:latin typeface="Tahoma"/>
                <a:cs typeface="Tahoma"/>
              </a:rPr>
              <a:t>space</a:t>
            </a:r>
            <a:r>
              <a:rPr sz="1100" spc="-30" dirty="0">
                <a:latin typeface="Tahoma"/>
                <a:cs typeface="Tahoma"/>
              </a:rPr>
              <a:t> </a:t>
            </a:r>
            <a:r>
              <a:rPr sz="1100" i="1" spc="-30" dirty="0">
                <a:latin typeface="Arial"/>
                <a:cs typeface="Arial"/>
              </a:rPr>
              <a:t>span</a:t>
            </a:r>
            <a:r>
              <a:rPr sz="1100" spc="-30" dirty="0">
                <a:latin typeface="Tahoma"/>
                <a:cs typeface="Tahoma"/>
              </a:rPr>
              <a:t>(</a:t>
            </a:r>
            <a:r>
              <a:rPr sz="1100" spc="155" dirty="0">
                <a:latin typeface="Tahoma"/>
                <a:cs typeface="Tahoma"/>
              </a:rPr>
              <a:t> </a:t>
            </a:r>
            <a:r>
              <a:rPr sz="1650" baseline="35353" dirty="0">
                <a:latin typeface="Tahoma"/>
                <a:cs typeface="Tahoma"/>
              </a:rPr>
              <a:t>0</a:t>
            </a:r>
            <a:r>
              <a:rPr sz="1650" spc="232" baseline="35353" dirty="0">
                <a:latin typeface="Tahoma"/>
                <a:cs typeface="Tahoma"/>
              </a:rPr>
              <a:t> </a:t>
            </a:r>
            <a:r>
              <a:rPr sz="1100" dirty="0">
                <a:latin typeface="Tahoma"/>
                <a:cs typeface="Tahoma"/>
              </a:rPr>
              <a:t>)</a:t>
            </a:r>
            <a:r>
              <a:rPr sz="1100" spc="-30" dirty="0">
                <a:latin typeface="Tahoma"/>
                <a:cs typeface="Tahoma"/>
              </a:rPr>
              <a:t> </a:t>
            </a:r>
            <a:r>
              <a:rPr sz="1100" dirty="0">
                <a:latin typeface="Tahoma"/>
                <a:cs typeface="Tahoma"/>
              </a:rPr>
              <a:t>-</a:t>
            </a:r>
            <a:r>
              <a:rPr sz="1100" spc="-30" dirty="0">
                <a:latin typeface="Tahoma"/>
                <a:cs typeface="Tahoma"/>
              </a:rPr>
              <a:t> </a:t>
            </a:r>
            <a:r>
              <a:rPr sz="1100" spc="-10" dirty="0">
                <a:latin typeface="Tahoma"/>
                <a:cs typeface="Tahoma"/>
              </a:rPr>
              <a:t>the</a:t>
            </a:r>
            <a:r>
              <a:rPr sz="1100" spc="-30" dirty="0">
                <a:latin typeface="Tahoma"/>
                <a:cs typeface="Tahoma"/>
              </a:rPr>
              <a:t> </a:t>
            </a:r>
            <a:r>
              <a:rPr sz="1100" spc="-35" dirty="0">
                <a:latin typeface="Tahoma"/>
                <a:cs typeface="Tahoma"/>
              </a:rPr>
              <a:t>vector</a:t>
            </a:r>
            <a:r>
              <a:rPr sz="1100" spc="-30" dirty="0">
                <a:latin typeface="Tahoma"/>
                <a:cs typeface="Tahoma"/>
              </a:rPr>
              <a:t> </a:t>
            </a:r>
            <a:r>
              <a:rPr sz="1100" spc="-45" dirty="0">
                <a:latin typeface="Tahoma"/>
                <a:cs typeface="Tahoma"/>
              </a:rPr>
              <a:t>has</a:t>
            </a:r>
            <a:r>
              <a:rPr sz="1100" spc="-35" dirty="0">
                <a:latin typeface="Tahoma"/>
                <a:cs typeface="Tahoma"/>
              </a:rPr>
              <a:t> </a:t>
            </a:r>
            <a:r>
              <a:rPr sz="1100" spc="-25" dirty="0">
                <a:latin typeface="Tahoma"/>
                <a:cs typeface="Tahoma"/>
              </a:rPr>
              <a:t>two</a:t>
            </a:r>
            <a:endParaRPr sz="1100">
              <a:latin typeface="Tahoma"/>
              <a:cs typeface="Tahoma"/>
            </a:endParaRPr>
          </a:p>
        </p:txBody>
      </p:sp>
      <p:sp>
        <p:nvSpPr>
          <p:cNvPr id="8" name="object 8"/>
          <p:cNvSpPr txBox="1"/>
          <p:nvPr/>
        </p:nvSpPr>
        <p:spPr>
          <a:xfrm>
            <a:off x="624395" y="1883726"/>
            <a:ext cx="3442970" cy="191770"/>
          </a:xfrm>
          <a:prstGeom prst="rect">
            <a:avLst/>
          </a:prstGeom>
        </p:spPr>
        <p:txBody>
          <a:bodyPr vert="horz" wrap="square" lIns="0" tIns="11430" rIns="0" bIns="0" rtlCol="0">
            <a:spAutoFit/>
          </a:bodyPr>
          <a:lstStyle/>
          <a:p>
            <a:pPr marL="12700">
              <a:lnSpc>
                <a:spcPct val="100000"/>
              </a:lnSpc>
              <a:spcBef>
                <a:spcPts val="90"/>
              </a:spcBef>
            </a:pPr>
            <a:r>
              <a:rPr sz="1100" spc="-45" dirty="0">
                <a:latin typeface="Tahoma"/>
                <a:cs typeface="Tahoma"/>
              </a:rPr>
              <a:t>components,</a:t>
            </a:r>
            <a:r>
              <a:rPr sz="1100" spc="-30" dirty="0">
                <a:latin typeface="Tahoma"/>
                <a:cs typeface="Tahoma"/>
              </a:rPr>
              <a:t> </a:t>
            </a:r>
            <a:r>
              <a:rPr sz="1100" dirty="0">
                <a:latin typeface="Tahoma"/>
                <a:cs typeface="Tahoma"/>
              </a:rPr>
              <a:t>but</a:t>
            </a:r>
            <a:r>
              <a:rPr sz="1100" spc="-35" dirty="0">
                <a:latin typeface="Tahoma"/>
                <a:cs typeface="Tahoma"/>
              </a:rPr>
              <a:t> </a:t>
            </a:r>
            <a:r>
              <a:rPr sz="1100" spc="-10" dirty="0">
                <a:latin typeface="Tahoma"/>
                <a:cs typeface="Tahoma"/>
              </a:rPr>
              <a:t>the</a:t>
            </a:r>
            <a:r>
              <a:rPr sz="1100" spc="-30" dirty="0">
                <a:latin typeface="Tahoma"/>
                <a:cs typeface="Tahoma"/>
              </a:rPr>
              <a:t> </a:t>
            </a:r>
            <a:r>
              <a:rPr sz="1100" spc="-35" dirty="0">
                <a:latin typeface="Tahoma"/>
                <a:cs typeface="Tahoma"/>
              </a:rPr>
              <a:t>basis </a:t>
            </a:r>
            <a:r>
              <a:rPr sz="1100" dirty="0">
                <a:latin typeface="Tahoma"/>
                <a:cs typeface="Tahoma"/>
              </a:rPr>
              <a:t>is</a:t>
            </a:r>
            <a:r>
              <a:rPr sz="1100" spc="-35" dirty="0">
                <a:latin typeface="Tahoma"/>
                <a:cs typeface="Tahoma"/>
              </a:rPr>
              <a:t> </a:t>
            </a:r>
            <a:r>
              <a:rPr sz="1100" spc="-10" dirty="0">
                <a:latin typeface="Tahoma"/>
                <a:cs typeface="Tahoma"/>
              </a:rPr>
              <a:t>just</a:t>
            </a:r>
            <a:r>
              <a:rPr sz="1100" spc="-30" dirty="0">
                <a:latin typeface="Tahoma"/>
                <a:cs typeface="Tahoma"/>
              </a:rPr>
              <a:t> </a:t>
            </a:r>
            <a:r>
              <a:rPr sz="1100" spc="-45" dirty="0">
                <a:latin typeface="Tahoma"/>
                <a:cs typeface="Tahoma"/>
              </a:rPr>
              <a:t>one</a:t>
            </a:r>
            <a:r>
              <a:rPr sz="1100" spc="-30" dirty="0">
                <a:latin typeface="Tahoma"/>
                <a:cs typeface="Tahoma"/>
              </a:rPr>
              <a:t> </a:t>
            </a:r>
            <a:r>
              <a:rPr sz="1100" spc="-25" dirty="0">
                <a:latin typeface="Tahoma"/>
                <a:cs typeface="Tahoma"/>
              </a:rPr>
              <a:t>vector.</a:t>
            </a:r>
            <a:r>
              <a:rPr sz="1100" spc="75" dirty="0">
                <a:latin typeface="Tahoma"/>
                <a:cs typeface="Tahoma"/>
              </a:rPr>
              <a:t> </a:t>
            </a:r>
            <a:r>
              <a:rPr sz="1100" dirty="0">
                <a:latin typeface="Tahoma"/>
                <a:cs typeface="Tahoma"/>
              </a:rPr>
              <a:t>All</a:t>
            </a:r>
            <a:r>
              <a:rPr sz="1100" spc="-30" dirty="0">
                <a:latin typeface="Tahoma"/>
                <a:cs typeface="Tahoma"/>
              </a:rPr>
              <a:t> </a:t>
            </a:r>
            <a:r>
              <a:rPr sz="1100" spc="-50" dirty="0">
                <a:latin typeface="Tahoma"/>
                <a:cs typeface="Tahoma"/>
              </a:rPr>
              <a:t>vectors</a:t>
            </a:r>
            <a:r>
              <a:rPr sz="1100" spc="-30" dirty="0">
                <a:latin typeface="Tahoma"/>
                <a:cs typeface="Tahoma"/>
              </a:rPr>
              <a:t> </a:t>
            </a:r>
            <a:r>
              <a:rPr sz="1100" spc="-25" dirty="0">
                <a:latin typeface="Tahoma"/>
                <a:cs typeface="Tahoma"/>
              </a:rPr>
              <a:t>in</a:t>
            </a:r>
            <a:endParaRPr sz="1100">
              <a:latin typeface="Tahoma"/>
              <a:cs typeface="Tahoma"/>
            </a:endParaRPr>
          </a:p>
        </p:txBody>
      </p:sp>
      <p:sp>
        <p:nvSpPr>
          <p:cNvPr id="9" name="object 9"/>
          <p:cNvSpPr txBox="1"/>
          <p:nvPr/>
        </p:nvSpPr>
        <p:spPr>
          <a:xfrm>
            <a:off x="624395" y="2130030"/>
            <a:ext cx="2553970" cy="191770"/>
          </a:xfrm>
          <a:prstGeom prst="rect">
            <a:avLst/>
          </a:prstGeom>
        </p:spPr>
        <p:txBody>
          <a:bodyPr vert="horz" wrap="square" lIns="0" tIns="11430" rIns="0" bIns="0" rtlCol="0">
            <a:spAutoFit/>
          </a:bodyPr>
          <a:lstStyle/>
          <a:p>
            <a:pPr marL="12700">
              <a:lnSpc>
                <a:spcPct val="100000"/>
              </a:lnSpc>
              <a:spcBef>
                <a:spcPts val="90"/>
              </a:spcBef>
            </a:pPr>
            <a:r>
              <a:rPr sz="1100" dirty="0">
                <a:latin typeface="Tahoma"/>
                <a:cs typeface="Tahoma"/>
              </a:rPr>
              <a:t>this</a:t>
            </a:r>
            <a:r>
              <a:rPr sz="1100" spc="-55" dirty="0">
                <a:latin typeface="Tahoma"/>
                <a:cs typeface="Tahoma"/>
              </a:rPr>
              <a:t> </a:t>
            </a:r>
            <a:r>
              <a:rPr sz="1100" spc="-35" dirty="0">
                <a:latin typeface="Tahoma"/>
                <a:cs typeface="Tahoma"/>
              </a:rPr>
              <a:t>vector</a:t>
            </a:r>
            <a:r>
              <a:rPr sz="1100" spc="-40" dirty="0">
                <a:latin typeface="Tahoma"/>
                <a:cs typeface="Tahoma"/>
              </a:rPr>
              <a:t> </a:t>
            </a:r>
            <a:r>
              <a:rPr sz="1100" spc="-55" dirty="0">
                <a:latin typeface="Tahoma"/>
                <a:cs typeface="Tahoma"/>
              </a:rPr>
              <a:t>space</a:t>
            </a:r>
            <a:r>
              <a:rPr sz="1100" spc="-30" dirty="0">
                <a:latin typeface="Tahoma"/>
                <a:cs typeface="Tahoma"/>
              </a:rPr>
              <a:t> </a:t>
            </a:r>
            <a:r>
              <a:rPr sz="1100" spc="-60" dirty="0">
                <a:latin typeface="Tahoma"/>
                <a:cs typeface="Tahoma"/>
              </a:rPr>
              <a:t>are</a:t>
            </a:r>
            <a:r>
              <a:rPr sz="1100" spc="-30" dirty="0">
                <a:latin typeface="Tahoma"/>
                <a:cs typeface="Tahoma"/>
              </a:rPr>
              <a:t> </a:t>
            </a:r>
            <a:r>
              <a:rPr sz="1100" spc="-25" dirty="0">
                <a:latin typeface="Tahoma"/>
                <a:cs typeface="Tahoma"/>
              </a:rPr>
              <a:t>multiples</a:t>
            </a:r>
            <a:r>
              <a:rPr sz="1100" spc="-40" dirty="0">
                <a:latin typeface="Tahoma"/>
                <a:cs typeface="Tahoma"/>
              </a:rPr>
              <a:t> </a:t>
            </a:r>
            <a:r>
              <a:rPr sz="1100" dirty="0">
                <a:latin typeface="Tahoma"/>
                <a:cs typeface="Tahoma"/>
              </a:rPr>
              <a:t>of</a:t>
            </a:r>
            <a:r>
              <a:rPr sz="1100" spc="-35" dirty="0">
                <a:latin typeface="Tahoma"/>
                <a:cs typeface="Tahoma"/>
              </a:rPr>
              <a:t> </a:t>
            </a:r>
            <a:r>
              <a:rPr sz="1100" spc="-10" dirty="0">
                <a:latin typeface="Tahoma"/>
                <a:cs typeface="Tahoma"/>
              </a:rPr>
              <a:t>the</a:t>
            </a:r>
            <a:r>
              <a:rPr sz="1100" spc="-40" dirty="0">
                <a:latin typeface="Tahoma"/>
                <a:cs typeface="Tahoma"/>
              </a:rPr>
              <a:t> </a:t>
            </a:r>
            <a:r>
              <a:rPr sz="1100" spc="-35" dirty="0">
                <a:latin typeface="Tahoma"/>
                <a:cs typeface="Tahoma"/>
              </a:rPr>
              <a:t>vector</a:t>
            </a:r>
            <a:endParaRPr sz="1100">
              <a:latin typeface="Tahoma"/>
              <a:cs typeface="Tahoma"/>
            </a:endParaRPr>
          </a:p>
        </p:txBody>
      </p:sp>
      <p:sp>
        <p:nvSpPr>
          <p:cNvPr id="10" name="object 10"/>
          <p:cNvSpPr txBox="1"/>
          <p:nvPr/>
        </p:nvSpPr>
        <p:spPr>
          <a:xfrm>
            <a:off x="3272535" y="2215844"/>
            <a:ext cx="95250" cy="191770"/>
          </a:xfrm>
          <a:prstGeom prst="rect">
            <a:avLst/>
          </a:prstGeom>
        </p:spPr>
        <p:txBody>
          <a:bodyPr vert="horz" wrap="square" lIns="0" tIns="11430" rIns="0" bIns="0" rtlCol="0">
            <a:spAutoFit/>
          </a:bodyPr>
          <a:lstStyle/>
          <a:p>
            <a:pPr marL="12700">
              <a:lnSpc>
                <a:spcPct val="100000"/>
              </a:lnSpc>
              <a:spcBef>
                <a:spcPts val="90"/>
              </a:spcBef>
            </a:pPr>
            <a:r>
              <a:rPr sz="1100" spc="-50" dirty="0">
                <a:latin typeface="Tahoma"/>
                <a:cs typeface="Tahoma"/>
              </a:rPr>
              <a:t>1</a:t>
            </a:r>
            <a:endParaRPr sz="1100">
              <a:latin typeface="Tahoma"/>
              <a:cs typeface="Tahoma"/>
            </a:endParaRPr>
          </a:p>
        </p:txBody>
      </p:sp>
      <p:sp>
        <p:nvSpPr>
          <p:cNvPr id="11" name="object 11"/>
          <p:cNvSpPr txBox="1"/>
          <p:nvPr/>
        </p:nvSpPr>
        <p:spPr>
          <a:xfrm>
            <a:off x="3199409" y="1934678"/>
            <a:ext cx="241300" cy="191770"/>
          </a:xfrm>
          <a:prstGeom prst="rect">
            <a:avLst/>
          </a:prstGeom>
        </p:spPr>
        <p:txBody>
          <a:bodyPr vert="horz" wrap="square" lIns="0" tIns="151130" rIns="0" bIns="0" rtlCol="0">
            <a:spAutoFit/>
          </a:bodyPr>
          <a:lstStyle/>
          <a:p>
            <a:pPr marL="12700">
              <a:lnSpc>
                <a:spcPct val="100000"/>
              </a:lnSpc>
              <a:spcBef>
                <a:spcPts val="1190"/>
              </a:spcBef>
            </a:pPr>
            <a:r>
              <a:rPr sz="1100" dirty="0">
                <a:latin typeface="Lucida Sans Unicode"/>
                <a:cs typeface="Lucida Sans Unicode"/>
              </a:rPr>
              <a:t> </a:t>
            </a:r>
            <a:endParaRPr sz="1100">
              <a:latin typeface="Lucida Sans Unicode"/>
              <a:cs typeface="Lucida Sans Unicode"/>
            </a:endParaRPr>
          </a:p>
        </p:txBody>
      </p:sp>
      <p:sp>
        <p:nvSpPr>
          <p:cNvPr id="12" name="object 12"/>
          <p:cNvSpPr txBox="1"/>
          <p:nvPr/>
        </p:nvSpPr>
        <p:spPr>
          <a:xfrm>
            <a:off x="3247135" y="2043771"/>
            <a:ext cx="257175" cy="191770"/>
          </a:xfrm>
          <a:prstGeom prst="rect">
            <a:avLst/>
          </a:prstGeom>
        </p:spPr>
        <p:txBody>
          <a:bodyPr vert="horz" wrap="square" lIns="0" tIns="11430" rIns="0" bIns="0" rtlCol="0">
            <a:spAutoFit/>
          </a:bodyPr>
          <a:lstStyle/>
          <a:p>
            <a:pPr marL="38100">
              <a:lnSpc>
                <a:spcPct val="100000"/>
              </a:lnSpc>
              <a:spcBef>
                <a:spcPts val="90"/>
              </a:spcBef>
            </a:pPr>
            <a:r>
              <a:rPr sz="1100" dirty="0">
                <a:latin typeface="Tahoma"/>
                <a:cs typeface="Tahoma"/>
              </a:rPr>
              <a:t>0</a:t>
            </a:r>
            <a:r>
              <a:rPr sz="1100" spc="175" dirty="0">
                <a:latin typeface="Tahoma"/>
                <a:cs typeface="Tahoma"/>
              </a:rPr>
              <a:t> </a:t>
            </a:r>
            <a:r>
              <a:rPr sz="1650" spc="-75" baseline="-35353" dirty="0">
                <a:latin typeface="Tahoma"/>
                <a:cs typeface="Tahoma"/>
              </a:rPr>
              <a:t>.</a:t>
            </a:r>
            <a:endParaRPr sz="1650" baseline="-35353">
              <a:latin typeface="Tahoma"/>
              <a:cs typeface="Tahoma"/>
            </a:endParaRP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Finding</a:t>
            </a:r>
            <a:r>
              <a:rPr spc="-60" dirty="0"/>
              <a:t> </a:t>
            </a:r>
            <a:r>
              <a:rPr dirty="0"/>
              <a:t>a</a:t>
            </a:r>
            <a:r>
              <a:rPr spc="-60" dirty="0"/>
              <a:t> </a:t>
            </a:r>
            <a:r>
              <a:rPr spc="-50" dirty="0"/>
              <a:t>basis</a:t>
            </a:r>
          </a:p>
        </p:txBody>
      </p:sp>
      <p:sp>
        <p:nvSpPr>
          <p:cNvPr id="3" name="object 3"/>
          <p:cNvSpPr txBox="1"/>
          <p:nvPr/>
        </p:nvSpPr>
        <p:spPr>
          <a:xfrm>
            <a:off x="321894" y="1014081"/>
            <a:ext cx="3930015" cy="1338580"/>
          </a:xfrm>
          <a:prstGeom prst="rect">
            <a:avLst/>
          </a:prstGeom>
        </p:spPr>
        <p:txBody>
          <a:bodyPr vert="horz" wrap="square" lIns="0" tIns="6985" rIns="0" bIns="0" rtlCol="0">
            <a:spAutoFit/>
          </a:bodyPr>
          <a:lstStyle/>
          <a:p>
            <a:pPr marL="38100" marR="30480">
              <a:lnSpc>
                <a:spcPct val="102600"/>
              </a:lnSpc>
              <a:spcBef>
                <a:spcPts val="55"/>
              </a:spcBef>
            </a:pPr>
            <a:r>
              <a:rPr sz="1100" spc="-20" dirty="0">
                <a:latin typeface="Tahoma"/>
                <a:cs typeface="Tahoma"/>
              </a:rPr>
              <a:t>There</a:t>
            </a:r>
            <a:r>
              <a:rPr sz="1100" spc="-30" dirty="0">
                <a:latin typeface="Tahoma"/>
                <a:cs typeface="Tahoma"/>
              </a:rPr>
              <a:t> </a:t>
            </a:r>
            <a:r>
              <a:rPr sz="1100" spc="-60" dirty="0">
                <a:latin typeface="Tahoma"/>
                <a:cs typeface="Tahoma"/>
              </a:rPr>
              <a:t>are</a:t>
            </a:r>
            <a:r>
              <a:rPr sz="1100" spc="-30" dirty="0">
                <a:latin typeface="Tahoma"/>
                <a:cs typeface="Tahoma"/>
              </a:rPr>
              <a:t> </a:t>
            </a:r>
            <a:r>
              <a:rPr sz="1100" spc="-45" dirty="0">
                <a:latin typeface="Tahoma"/>
                <a:cs typeface="Tahoma"/>
              </a:rPr>
              <a:t>three</a:t>
            </a:r>
            <a:r>
              <a:rPr sz="1100" spc="-25" dirty="0">
                <a:latin typeface="Tahoma"/>
                <a:cs typeface="Tahoma"/>
              </a:rPr>
              <a:t> </a:t>
            </a:r>
            <a:r>
              <a:rPr sz="1100" spc="-45" dirty="0">
                <a:latin typeface="Tahoma"/>
                <a:cs typeface="Tahoma"/>
              </a:rPr>
              <a:t>steps</a:t>
            </a:r>
            <a:r>
              <a:rPr sz="1100" spc="-30" dirty="0">
                <a:latin typeface="Tahoma"/>
                <a:cs typeface="Tahoma"/>
              </a:rPr>
              <a:t> </a:t>
            </a:r>
            <a:r>
              <a:rPr sz="1100" dirty="0">
                <a:latin typeface="Tahoma"/>
                <a:cs typeface="Tahoma"/>
              </a:rPr>
              <a:t>to</a:t>
            </a:r>
            <a:r>
              <a:rPr sz="1100" spc="-30" dirty="0">
                <a:latin typeface="Tahoma"/>
                <a:cs typeface="Tahoma"/>
              </a:rPr>
              <a:t> </a:t>
            </a:r>
            <a:r>
              <a:rPr sz="1100" spc="-25" dirty="0">
                <a:latin typeface="Tahoma"/>
                <a:cs typeface="Tahoma"/>
              </a:rPr>
              <a:t>finding</a:t>
            </a:r>
            <a:r>
              <a:rPr sz="1100" spc="-35" dirty="0">
                <a:latin typeface="Tahoma"/>
                <a:cs typeface="Tahoma"/>
              </a:rPr>
              <a:t> </a:t>
            </a:r>
            <a:r>
              <a:rPr sz="1100" dirty="0">
                <a:latin typeface="Tahoma"/>
                <a:cs typeface="Tahoma"/>
              </a:rPr>
              <a:t>a</a:t>
            </a:r>
            <a:r>
              <a:rPr sz="1100" spc="-25" dirty="0">
                <a:latin typeface="Tahoma"/>
                <a:cs typeface="Tahoma"/>
              </a:rPr>
              <a:t> </a:t>
            </a:r>
            <a:r>
              <a:rPr sz="1100" spc="-45" dirty="0">
                <a:latin typeface="Tahoma"/>
                <a:cs typeface="Tahoma"/>
              </a:rPr>
              <a:t>basis</a:t>
            </a:r>
            <a:r>
              <a:rPr sz="1100" spc="-30" dirty="0">
                <a:latin typeface="Tahoma"/>
                <a:cs typeface="Tahoma"/>
              </a:rPr>
              <a:t> </a:t>
            </a:r>
            <a:r>
              <a:rPr sz="1100" spc="-20" dirty="0">
                <a:latin typeface="Tahoma"/>
                <a:cs typeface="Tahoma"/>
              </a:rPr>
              <a:t>for</a:t>
            </a:r>
            <a:r>
              <a:rPr sz="1100" spc="-25" dirty="0">
                <a:latin typeface="Tahoma"/>
                <a:cs typeface="Tahoma"/>
              </a:rPr>
              <a:t> </a:t>
            </a:r>
            <a:r>
              <a:rPr sz="1100" dirty="0">
                <a:latin typeface="Tahoma"/>
                <a:cs typeface="Tahoma"/>
              </a:rPr>
              <a:t>a</a:t>
            </a:r>
            <a:r>
              <a:rPr sz="1100" spc="-30" dirty="0">
                <a:latin typeface="Tahoma"/>
                <a:cs typeface="Tahoma"/>
              </a:rPr>
              <a:t> </a:t>
            </a:r>
            <a:r>
              <a:rPr sz="1100" spc="-35" dirty="0">
                <a:latin typeface="Tahoma"/>
                <a:cs typeface="Tahoma"/>
              </a:rPr>
              <a:t>vector</a:t>
            </a:r>
            <a:r>
              <a:rPr sz="1100" spc="-30" dirty="0">
                <a:latin typeface="Tahoma"/>
                <a:cs typeface="Tahoma"/>
              </a:rPr>
              <a:t> </a:t>
            </a:r>
            <a:r>
              <a:rPr sz="1100" spc="-35" dirty="0">
                <a:latin typeface="Tahoma"/>
                <a:cs typeface="Tahoma"/>
              </a:rPr>
              <a:t>space.</a:t>
            </a:r>
            <a:r>
              <a:rPr sz="1100" spc="80" dirty="0">
                <a:latin typeface="Tahoma"/>
                <a:cs typeface="Tahoma"/>
              </a:rPr>
              <a:t> </a:t>
            </a:r>
            <a:r>
              <a:rPr sz="1100" spc="55" dirty="0">
                <a:latin typeface="Tahoma"/>
                <a:cs typeface="Tahoma"/>
              </a:rPr>
              <a:t>A</a:t>
            </a:r>
            <a:r>
              <a:rPr sz="1100" spc="-30" dirty="0">
                <a:latin typeface="Tahoma"/>
                <a:cs typeface="Tahoma"/>
              </a:rPr>
              <a:t> </a:t>
            </a:r>
            <a:r>
              <a:rPr sz="1100" spc="-40" dirty="0">
                <a:latin typeface="Tahoma"/>
                <a:cs typeface="Tahoma"/>
              </a:rPr>
              <a:t>basis </a:t>
            </a:r>
            <a:r>
              <a:rPr sz="1100" dirty="0">
                <a:latin typeface="Tahoma"/>
                <a:cs typeface="Tahoma"/>
              </a:rPr>
              <a:t>of</a:t>
            </a:r>
            <a:r>
              <a:rPr sz="1100" spc="-60" dirty="0">
                <a:latin typeface="Tahoma"/>
                <a:cs typeface="Tahoma"/>
              </a:rPr>
              <a:t> </a:t>
            </a:r>
            <a:r>
              <a:rPr sz="1100" dirty="0">
                <a:latin typeface="Tahoma"/>
                <a:cs typeface="Tahoma"/>
              </a:rPr>
              <a:t>a </a:t>
            </a:r>
            <a:r>
              <a:rPr sz="1100" spc="-55" dirty="0">
                <a:latin typeface="Tahoma"/>
                <a:cs typeface="Tahoma"/>
              </a:rPr>
              <a:t>subspace</a:t>
            </a:r>
            <a:r>
              <a:rPr sz="1100" dirty="0">
                <a:latin typeface="Tahoma"/>
                <a:cs typeface="Tahoma"/>
              </a:rPr>
              <a:t> </a:t>
            </a:r>
            <a:r>
              <a:rPr sz="1100" i="1" dirty="0">
                <a:latin typeface="Arial"/>
                <a:cs typeface="Arial"/>
              </a:rPr>
              <a:t>U</a:t>
            </a:r>
            <a:r>
              <a:rPr sz="1100" i="1" spc="65" dirty="0">
                <a:latin typeface="Arial"/>
                <a:cs typeface="Arial"/>
              </a:rPr>
              <a:t> </a:t>
            </a:r>
            <a:r>
              <a:rPr sz="1100" dirty="0">
                <a:latin typeface="Tahoma"/>
                <a:cs typeface="Tahoma"/>
              </a:rPr>
              <a:t>=</a:t>
            </a:r>
            <a:r>
              <a:rPr sz="1100" spc="-55" dirty="0">
                <a:latin typeface="Tahoma"/>
                <a:cs typeface="Tahoma"/>
              </a:rPr>
              <a:t> </a:t>
            </a:r>
            <a:r>
              <a:rPr sz="1100" i="1" spc="-40" dirty="0">
                <a:latin typeface="Arial"/>
                <a:cs typeface="Arial"/>
              </a:rPr>
              <a:t>span</a:t>
            </a:r>
            <a:r>
              <a:rPr sz="1100" spc="-40" dirty="0">
                <a:latin typeface="Tahoma"/>
                <a:cs typeface="Tahoma"/>
              </a:rPr>
              <a:t>(</a:t>
            </a:r>
            <a:r>
              <a:rPr sz="1050" spc="-40" dirty="0">
                <a:latin typeface="Times New Roman"/>
                <a:cs typeface="Times New Roman"/>
              </a:rPr>
              <a:t>x</a:t>
            </a:r>
            <a:r>
              <a:rPr sz="1200" spc="-60" baseline="-10416" dirty="0">
                <a:latin typeface="Tahoma"/>
                <a:cs typeface="Tahoma"/>
              </a:rPr>
              <a:t>1</a:t>
            </a:r>
            <a:r>
              <a:rPr sz="1100" i="1" spc="-40"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050" dirty="0">
                <a:latin typeface="Times New Roman"/>
                <a:cs typeface="Times New Roman"/>
              </a:rPr>
              <a:t>x</a:t>
            </a:r>
            <a:r>
              <a:rPr sz="1200" i="1" baseline="-10416" dirty="0">
                <a:latin typeface="Arial"/>
                <a:cs typeface="Arial"/>
              </a:rPr>
              <a:t>m</a:t>
            </a:r>
            <a:r>
              <a:rPr sz="1100" dirty="0">
                <a:latin typeface="Tahoma"/>
                <a:cs typeface="Tahoma"/>
              </a:rPr>
              <a:t>)</a:t>
            </a:r>
            <a:r>
              <a:rPr sz="1100" spc="-60" dirty="0">
                <a:latin typeface="Tahoma"/>
                <a:cs typeface="Tahoma"/>
              </a:rPr>
              <a:t> </a:t>
            </a:r>
            <a:r>
              <a:rPr sz="1100" dirty="0">
                <a:latin typeface="Lucida Sans Unicode"/>
                <a:cs typeface="Lucida Sans Unicode"/>
              </a:rPr>
              <a:t>⊆</a:t>
            </a:r>
            <a:r>
              <a:rPr sz="1100" spc="-60" dirty="0">
                <a:latin typeface="Lucida Sans Unicode"/>
                <a:cs typeface="Lucida Sans Unicode"/>
              </a:rPr>
              <a:t> </a:t>
            </a:r>
            <a:r>
              <a:rPr sz="1100" dirty="0">
                <a:latin typeface="Arial MT"/>
                <a:cs typeface="Arial MT"/>
              </a:rPr>
              <a:t>R</a:t>
            </a:r>
            <a:r>
              <a:rPr sz="1200" i="1" baseline="27777" dirty="0">
                <a:latin typeface="Arial"/>
                <a:cs typeface="Arial"/>
              </a:rPr>
              <a:t>n</a:t>
            </a:r>
            <a:r>
              <a:rPr sz="1200" i="1" spc="270" baseline="27777" dirty="0">
                <a:latin typeface="Arial"/>
                <a:cs typeface="Arial"/>
              </a:rPr>
              <a:t> </a:t>
            </a:r>
            <a:r>
              <a:rPr sz="1100" spc="-20" dirty="0">
                <a:latin typeface="Tahoma"/>
                <a:cs typeface="Tahoma"/>
              </a:rPr>
              <a:t>can</a:t>
            </a:r>
            <a:r>
              <a:rPr sz="1100" dirty="0">
                <a:latin typeface="Tahoma"/>
                <a:cs typeface="Tahoma"/>
              </a:rPr>
              <a:t> </a:t>
            </a:r>
            <a:r>
              <a:rPr sz="1100" spc="-10" dirty="0">
                <a:latin typeface="Tahoma"/>
                <a:cs typeface="Tahoma"/>
              </a:rPr>
              <a:t>be</a:t>
            </a:r>
            <a:r>
              <a:rPr sz="1100" dirty="0">
                <a:latin typeface="Tahoma"/>
                <a:cs typeface="Tahoma"/>
              </a:rPr>
              <a:t> </a:t>
            </a:r>
            <a:r>
              <a:rPr sz="1100" spc="-30" dirty="0">
                <a:latin typeface="Tahoma"/>
                <a:cs typeface="Tahoma"/>
              </a:rPr>
              <a:t>found</a:t>
            </a:r>
            <a:r>
              <a:rPr sz="1100" spc="5" dirty="0">
                <a:latin typeface="Tahoma"/>
                <a:cs typeface="Tahoma"/>
              </a:rPr>
              <a:t> </a:t>
            </a:r>
            <a:r>
              <a:rPr sz="1100" spc="-25" dirty="0">
                <a:latin typeface="Tahoma"/>
                <a:cs typeface="Tahoma"/>
              </a:rPr>
              <a:t>by </a:t>
            </a:r>
            <a:r>
              <a:rPr sz="1100" spc="-45" dirty="0">
                <a:latin typeface="Tahoma"/>
                <a:cs typeface="Tahoma"/>
              </a:rPr>
              <a:t>executing</a:t>
            </a:r>
            <a:r>
              <a:rPr sz="1100" spc="-30" dirty="0">
                <a:latin typeface="Tahoma"/>
                <a:cs typeface="Tahoma"/>
              </a:rPr>
              <a:t> </a:t>
            </a:r>
            <a:r>
              <a:rPr sz="1100" spc="-10" dirty="0">
                <a:latin typeface="Tahoma"/>
                <a:cs typeface="Tahoma"/>
              </a:rPr>
              <a:t>the</a:t>
            </a:r>
            <a:r>
              <a:rPr sz="1100" spc="-25" dirty="0">
                <a:latin typeface="Tahoma"/>
                <a:cs typeface="Tahoma"/>
              </a:rPr>
              <a:t> </a:t>
            </a:r>
            <a:r>
              <a:rPr sz="1100" spc="-35" dirty="0">
                <a:latin typeface="Tahoma"/>
                <a:cs typeface="Tahoma"/>
              </a:rPr>
              <a:t>following</a:t>
            </a:r>
            <a:r>
              <a:rPr sz="1100" spc="-30" dirty="0">
                <a:latin typeface="Tahoma"/>
                <a:cs typeface="Tahoma"/>
              </a:rPr>
              <a:t> </a:t>
            </a:r>
            <a:r>
              <a:rPr sz="1100" spc="-10" dirty="0">
                <a:latin typeface="Tahoma"/>
                <a:cs typeface="Tahoma"/>
              </a:rPr>
              <a:t>steps:</a:t>
            </a:r>
            <a:endParaRPr sz="1100">
              <a:latin typeface="Tahoma"/>
              <a:cs typeface="Tahoma"/>
            </a:endParaRPr>
          </a:p>
          <a:p>
            <a:pPr marL="314960" indent="-177165">
              <a:lnSpc>
                <a:spcPct val="100000"/>
              </a:lnSpc>
              <a:spcBef>
                <a:spcPts val="335"/>
              </a:spcBef>
              <a:buClr>
                <a:srgbClr val="3333B2"/>
              </a:buClr>
              <a:buFont typeface="Lucida Sans Unicode"/>
              <a:buChar char="►"/>
              <a:tabLst>
                <a:tab pos="314960" algn="l"/>
              </a:tabLst>
            </a:pPr>
            <a:r>
              <a:rPr sz="1100" dirty="0">
                <a:latin typeface="Tahoma"/>
                <a:cs typeface="Tahoma"/>
              </a:rPr>
              <a:t>Write</a:t>
            </a:r>
            <a:r>
              <a:rPr sz="1100" spc="-45" dirty="0">
                <a:latin typeface="Tahoma"/>
                <a:cs typeface="Tahoma"/>
              </a:rPr>
              <a:t> </a:t>
            </a:r>
            <a:r>
              <a:rPr sz="1100" spc="-10" dirty="0">
                <a:latin typeface="Tahoma"/>
                <a:cs typeface="Tahoma"/>
              </a:rPr>
              <a:t>the</a:t>
            </a:r>
            <a:r>
              <a:rPr sz="1100" spc="-40" dirty="0">
                <a:latin typeface="Tahoma"/>
                <a:cs typeface="Tahoma"/>
              </a:rPr>
              <a:t> </a:t>
            </a:r>
            <a:r>
              <a:rPr sz="1100" spc="-45" dirty="0">
                <a:latin typeface="Tahoma"/>
                <a:cs typeface="Tahoma"/>
              </a:rPr>
              <a:t>spanning</a:t>
            </a:r>
            <a:r>
              <a:rPr sz="1100" spc="-40" dirty="0">
                <a:latin typeface="Tahoma"/>
                <a:cs typeface="Tahoma"/>
              </a:rPr>
              <a:t> </a:t>
            </a:r>
            <a:r>
              <a:rPr sz="1100" spc="-50" dirty="0">
                <a:latin typeface="Tahoma"/>
                <a:cs typeface="Tahoma"/>
              </a:rPr>
              <a:t>vectors</a:t>
            </a:r>
            <a:r>
              <a:rPr sz="1100" spc="-40" dirty="0">
                <a:latin typeface="Tahoma"/>
                <a:cs typeface="Tahoma"/>
              </a:rPr>
              <a:t> </a:t>
            </a:r>
            <a:r>
              <a:rPr sz="1100" spc="-30" dirty="0">
                <a:latin typeface="Tahoma"/>
                <a:cs typeface="Tahoma"/>
              </a:rPr>
              <a:t>as</a:t>
            </a:r>
            <a:r>
              <a:rPr sz="1100" spc="-40" dirty="0">
                <a:latin typeface="Tahoma"/>
                <a:cs typeface="Tahoma"/>
              </a:rPr>
              <a:t> columns</a:t>
            </a:r>
            <a:r>
              <a:rPr sz="1100" spc="-45" dirty="0">
                <a:latin typeface="Tahoma"/>
                <a:cs typeface="Tahoma"/>
              </a:rPr>
              <a:t> </a:t>
            </a:r>
            <a:r>
              <a:rPr sz="1100" dirty="0">
                <a:latin typeface="Tahoma"/>
                <a:cs typeface="Tahoma"/>
              </a:rPr>
              <a:t>of</a:t>
            </a:r>
            <a:r>
              <a:rPr sz="1100" spc="-40" dirty="0">
                <a:latin typeface="Tahoma"/>
                <a:cs typeface="Tahoma"/>
              </a:rPr>
              <a:t> </a:t>
            </a:r>
            <a:r>
              <a:rPr sz="1100" dirty="0">
                <a:latin typeface="Tahoma"/>
                <a:cs typeface="Tahoma"/>
              </a:rPr>
              <a:t>a</a:t>
            </a:r>
            <a:r>
              <a:rPr sz="1100" spc="-35" dirty="0">
                <a:latin typeface="Tahoma"/>
                <a:cs typeface="Tahoma"/>
              </a:rPr>
              <a:t> </a:t>
            </a:r>
            <a:r>
              <a:rPr sz="1100" spc="-10" dirty="0">
                <a:latin typeface="Tahoma"/>
                <a:cs typeface="Tahoma"/>
              </a:rPr>
              <a:t>matrix</a:t>
            </a:r>
            <a:r>
              <a:rPr sz="1100" spc="-35" dirty="0">
                <a:latin typeface="Tahoma"/>
                <a:cs typeface="Tahoma"/>
              </a:rPr>
              <a:t> </a:t>
            </a:r>
            <a:r>
              <a:rPr sz="1050" spc="-25" dirty="0">
                <a:latin typeface="Times New Roman"/>
                <a:cs typeface="Times New Roman"/>
              </a:rPr>
              <a:t>A</a:t>
            </a:r>
            <a:r>
              <a:rPr sz="1100" spc="-25" dirty="0">
                <a:latin typeface="Tahoma"/>
                <a:cs typeface="Tahoma"/>
              </a:rPr>
              <a:t>.</a:t>
            </a:r>
            <a:endParaRPr sz="1100">
              <a:latin typeface="Tahoma"/>
              <a:cs typeface="Tahoma"/>
            </a:endParaRPr>
          </a:p>
          <a:p>
            <a:pPr marL="314960" indent="-177165">
              <a:lnSpc>
                <a:spcPct val="100000"/>
              </a:lnSpc>
              <a:spcBef>
                <a:spcPts val="334"/>
              </a:spcBef>
              <a:buClr>
                <a:srgbClr val="3333B2"/>
              </a:buClr>
              <a:buFont typeface="Lucida Sans Unicode"/>
              <a:buChar char="►"/>
              <a:tabLst>
                <a:tab pos="314960" algn="l"/>
              </a:tabLst>
            </a:pPr>
            <a:r>
              <a:rPr sz="1100" spc="-35" dirty="0">
                <a:latin typeface="Tahoma"/>
                <a:cs typeface="Tahoma"/>
              </a:rPr>
              <a:t>Determine </a:t>
            </a:r>
            <a:r>
              <a:rPr sz="1100" spc="-10" dirty="0">
                <a:latin typeface="Tahoma"/>
                <a:cs typeface="Tahoma"/>
              </a:rPr>
              <a:t>the</a:t>
            </a:r>
            <a:r>
              <a:rPr sz="1100" spc="-35" dirty="0">
                <a:latin typeface="Tahoma"/>
                <a:cs typeface="Tahoma"/>
              </a:rPr>
              <a:t> </a:t>
            </a:r>
            <a:r>
              <a:rPr sz="1100" spc="-70" dirty="0">
                <a:latin typeface="Tahoma"/>
                <a:cs typeface="Tahoma"/>
              </a:rPr>
              <a:t>row-</a:t>
            </a:r>
            <a:r>
              <a:rPr sz="1100" spc="-45" dirty="0">
                <a:latin typeface="Tahoma"/>
                <a:cs typeface="Tahoma"/>
              </a:rPr>
              <a:t>echelon</a:t>
            </a:r>
            <a:r>
              <a:rPr sz="1100" spc="-35" dirty="0">
                <a:latin typeface="Tahoma"/>
                <a:cs typeface="Tahoma"/>
              </a:rPr>
              <a:t> </a:t>
            </a:r>
            <a:r>
              <a:rPr sz="1100" spc="-40" dirty="0">
                <a:latin typeface="Tahoma"/>
                <a:cs typeface="Tahoma"/>
              </a:rPr>
              <a:t>form</a:t>
            </a:r>
            <a:r>
              <a:rPr sz="1100" spc="-35" dirty="0">
                <a:latin typeface="Tahoma"/>
                <a:cs typeface="Tahoma"/>
              </a:rPr>
              <a:t> </a:t>
            </a:r>
            <a:r>
              <a:rPr sz="1100" dirty="0">
                <a:latin typeface="Tahoma"/>
                <a:cs typeface="Tahoma"/>
              </a:rPr>
              <a:t>of</a:t>
            </a:r>
            <a:r>
              <a:rPr sz="1100" spc="-40" dirty="0">
                <a:latin typeface="Tahoma"/>
                <a:cs typeface="Tahoma"/>
              </a:rPr>
              <a:t> </a:t>
            </a:r>
            <a:r>
              <a:rPr sz="1050" spc="-25" dirty="0">
                <a:latin typeface="Times New Roman"/>
                <a:cs typeface="Times New Roman"/>
              </a:rPr>
              <a:t>A</a:t>
            </a:r>
            <a:r>
              <a:rPr sz="1100" spc="-25" dirty="0">
                <a:latin typeface="Tahoma"/>
                <a:cs typeface="Tahoma"/>
              </a:rPr>
              <a:t>.</a:t>
            </a:r>
            <a:endParaRPr sz="1100">
              <a:latin typeface="Tahoma"/>
              <a:cs typeface="Tahoma"/>
            </a:endParaRPr>
          </a:p>
          <a:p>
            <a:pPr marL="314960" marR="33655" indent="-177165">
              <a:lnSpc>
                <a:spcPct val="102600"/>
              </a:lnSpc>
              <a:spcBef>
                <a:spcPts val="295"/>
              </a:spcBef>
              <a:buClr>
                <a:srgbClr val="3333B2"/>
              </a:buClr>
              <a:buFont typeface="Lucida Sans Unicode"/>
              <a:buChar char="►"/>
              <a:tabLst>
                <a:tab pos="314960" algn="l"/>
              </a:tabLst>
            </a:pPr>
            <a:r>
              <a:rPr sz="1100" dirty="0">
                <a:latin typeface="Tahoma"/>
                <a:cs typeface="Tahoma"/>
              </a:rPr>
              <a:t>The</a:t>
            </a:r>
            <a:r>
              <a:rPr sz="1100" spc="-30" dirty="0">
                <a:latin typeface="Tahoma"/>
                <a:cs typeface="Tahoma"/>
              </a:rPr>
              <a:t> </a:t>
            </a:r>
            <a:r>
              <a:rPr sz="1100" spc="-45" dirty="0">
                <a:latin typeface="Tahoma"/>
                <a:cs typeface="Tahoma"/>
              </a:rPr>
              <a:t>spanning</a:t>
            </a:r>
            <a:r>
              <a:rPr sz="1100" spc="-30" dirty="0">
                <a:latin typeface="Tahoma"/>
                <a:cs typeface="Tahoma"/>
              </a:rPr>
              <a:t> </a:t>
            </a:r>
            <a:r>
              <a:rPr sz="1100" spc="-50" dirty="0">
                <a:latin typeface="Tahoma"/>
                <a:cs typeface="Tahoma"/>
              </a:rPr>
              <a:t>vectors</a:t>
            </a:r>
            <a:r>
              <a:rPr sz="1100" spc="-30" dirty="0">
                <a:latin typeface="Tahoma"/>
                <a:cs typeface="Tahoma"/>
              </a:rPr>
              <a:t> </a:t>
            </a:r>
            <a:r>
              <a:rPr sz="1100" spc="-40" dirty="0">
                <a:latin typeface="Tahoma"/>
                <a:cs typeface="Tahoma"/>
              </a:rPr>
              <a:t>associated</a:t>
            </a:r>
            <a:r>
              <a:rPr sz="1100" spc="-25" dirty="0">
                <a:latin typeface="Tahoma"/>
                <a:cs typeface="Tahoma"/>
              </a:rPr>
              <a:t> </a:t>
            </a:r>
            <a:r>
              <a:rPr sz="1100" dirty="0">
                <a:latin typeface="Tahoma"/>
                <a:cs typeface="Tahoma"/>
              </a:rPr>
              <a:t>with</a:t>
            </a:r>
            <a:r>
              <a:rPr sz="1100" spc="-25" dirty="0">
                <a:latin typeface="Tahoma"/>
                <a:cs typeface="Tahoma"/>
              </a:rPr>
              <a:t> </a:t>
            </a:r>
            <a:r>
              <a:rPr sz="1100" spc="-10" dirty="0">
                <a:latin typeface="Tahoma"/>
                <a:cs typeface="Tahoma"/>
              </a:rPr>
              <a:t>the</a:t>
            </a:r>
            <a:r>
              <a:rPr sz="1100" spc="-25" dirty="0">
                <a:latin typeface="Tahoma"/>
                <a:cs typeface="Tahoma"/>
              </a:rPr>
              <a:t> </a:t>
            </a:r>
            <a:r>
              <a:rPr sz="1100" spc="-10" dirty="0">
                <a:latin typeface="Tahoma"/>
                <a:cs typeface="Tahoma"/>
              </a:rPr>
              <a:t>pivot</a:t>
            </a:r>
            <a:r>
              <a:rPr sz="1100" spc="-30" dirty="0">
                <a:latin typeface="Tahoma"/>
                <a:cs typeface="Tahoma"/>
              </a:rPr>
              <a:t> </a:t>
            </a:r>
            <a:r>
              <a:rPr sz="1100" spc="-40" dirty="0">
                <a:latin typeface="Tahoma"/>
                <a:cs typeface="Tahoma"/>
              </a:rPr>
              <a:t>columns</a:t>
            </a:r>
            <a:r>
              <a:rPr sz="1100" spc="-25" dirty="0">
                <a:latin typeface="Tahoma"/>
                <a:cs typeface="Tahoma"/>
              </a:rPr>
              <a:t> </a:t>
            </a:r>
            <a:r>
              <a:rPr sz="1100" spc="-60" dirty="0">
                <a:latin typeface="Tahoma"/>
                <a:cs typeface="Tahoma"/>
              </a:rPr>
              <a:t>are</a:t>
            </a:r>
            <a:r>
              <a:rPr sz="1100" spc="-25" dirty="0">
                <a:latin typeface="Tahoma"/>
                <a:cs typeface="Tahoma"/>
              </a:rPr>
              <a:t> </a:t>
            </a:r>
            <a:r>
              <a:rPr sz="1100" spc="-50" dirty="0">
                <a:latin typeface="Tahoma"/>
                <a:cs typeface="Tahoma"/>
              </a:rPr>
              <a:t>a </a:t>
            </a:r>
            <a:r>
              <a:rPr sz="1100" spc="-35" dirty="0">
                <a:latin typeface="Tahoma"/>
                <a:cs typeface="Tahoma"/>
              </a:rPr>
              <a:t>basis</a:t>
            </a:r>
            <a:r>
              <a:rPr sz="1100" spc="-55" dirty="0">
                <a:latin typeface="Tahoma"/>
                <a:cs typeface="Tahoma"/>
              </a:rPr>
              <a:t> </a:t>
            </a:r>
            <a:r>
              <a:rPr sz="1100" dirty="0">
                <a:latin typeface="Tahoma"/>
                <a:cs typeface="Tahoma"/>
              </a:rPr>
              <a:t>of</a:t>
            </a:r>
            <a:r>
              <a:rPr sz="1100" spc="-55" dirty="0">
                <a:latin typeface="Tahoma"/>
                <a:cs typeface="Tahoma"/>
              </a:rPr>
              <a:t> </a:t>
            </a:r>
            <a:r>
              <a:rPr sz="1100" i="1" spc="-25" dirty="0">
                <a:latin typeface="Arial"/>
                <a:cs typeface="Arial"/>
              </a:rPr>
              <a:t>U</a:t>
            </a:r>
            <a:r>
              <a:rPr sz="1100" spc="-25" dirty="0">
                <a:latin typeface="Tahoma"/>
                <a:cs typeface="Tahoma"/>
              </a:rPr>
              <a:t>.</a:t>
            </a:r>
            <a:endParaRPr sz="1100">
              <a:latin typeface="Tahoma"/>
              <a:cs typeface="Tahoma"/>
            </a:endParaRPr>
          </a:p>
        </p:txBody>
      </p:sp>
    </p:spTree>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C06B3-30AD-4960-E588-EDBBFF14E5EF}"/>
              </a:ext>
            </a:extLst>
          </p:cNvPr>
          <p:cNvSpPr>
            <a:spLocks noGrp="1"/>
          </p:cNvSpPr>
          <p:nvPr>
            <p:ph type="title"/>
          </p:nvPr>
        </p:nvSpPr>
        <p:spPr>
          <a:xfrm>
            <a:off x="95300" y="72527"/>
            <a:ext cx="3277870" cy="215444"/>
          </a:xfrm>
        </p:spPr>
        <p:txBody>
          <a:bodyPr/>
          <a:lstStyle/>
          <a:p>
            <a:r>
              <a:rPr lang="en-IN" dirty="0"/>
              <a:t>Basis and Dimension Example</a:t>
            </a:r>
          </a:p>
        </p:txBody>
      </p:sp>
      <p:sp>
        <p:nvSpPr>
          <p:cNvPr id="4" name="TextBox 3">
            <a:extLst>
              <a:ext uri="{FF2B5EF4-FFF2-40B4-BE49-F238E27FC236}">
                <a16:creationId xmlns:a16="http://schemas.microsoft.com/office/drawing/2014/main" id="{DBD5004A-9802-15C5-C6D8-763CA56F3472}"/>
              </a:ext>
            </a:extLst>
          </p:cNvPr>
          <p:cNvSpPr txBox="1"/>
          <p:nvPr/>
        </p:nvSpPr>
        <p:spPr>
          <a:xfrm>
            <a:off x="247650" y="913059"/>
            <a:ext cx="4267200" cy="1323439"/>
          </a:xfrm>
          <a:prstGeom prst="rect">
            <a:avLst/>
          </a:prstGeom>
          <a:noFill/>
        </p:spPr>
        <p:txBody>
          <a:bodyPr wrap="square" rtlCol="0">
            <a:spAutoFit/>
          </a:bodyPr>
          <a:lstStyle/>
          <a:p>
            <a:r>
              <a:rPr lang="en-IN" sz="1000" dirty="0"/>
              <a:t>One important point about Basis and Dimension: </a:t>
            </a:r>
          </a:p>
          <a:p>
            <a:r>
              <a:rPr lang="en-IN" sz="1000" dirty="0"/>
              <a:t>If we already know the dimension of a vector space V as n and if a linearly independent subset </a:t>
            </a:r>
            <a:r>
              <a:rPr lang="en-IN" sz="1000" dirty="0" err="1"/>
              <a:t>ov</a:t>
            </a:r>
            <a:r>
              <a:rPr lang="en-IN" sz="1000" dirty="0"/>
              <a:t> V contains n elements then it must be a basis. Because basis is the minimal linearly independent set.</a:t>
            </a:r>
          </a:p>
          <a:p>
            <a:r>
              <a:rPr lang="en-IN" sz="1000" dirty="0"/>
              <a:t>This fact is used when we solve the following problem:</a:t>
            </a:r>
          </a:p>
          <a:p>
            <a:endParaRPr lang="en-IN" sz="1000" dirty="0"/>
          </a:p>
          <a:p>
            <a:endParaRPr lang="en-IN" sz="1000" dirty="0"/>
          </a:p>
          <a:p>
            <a:endParaRPr lang="en-IN" sz="1000" dirty="0"/>
          </a:p>
        </p:txBody>
      </p:sp>
      <p:pic>
        <p:nvPicPr>
          <p:cNvPr id="6" name="Picture 5">
            <a:extLst>
              <a:ext uri="{FF2B5EF4-FFF2-40B4-BE49-F238E27FC236}">
                <a16:creationId xmlns:a16="http://schemas.microsoft.com/office/drawing/2014/main" id="{822B1A65-49AD-15E8-983E-DF14E286A8BE}"/>
              </a:ext>
            </a:extLst>
          </p:cNvPr>
          <p:cNvPicPr>
            <a:picLocks noChangeAspect="1"/>
          </p:cNvPicPr>
          <p:nvPr/>
        </p:nvPicPr>
        <p:blipFill>
          <a:blip r:embed="rId2"/>
          <a:stretch>
            <a:fillRect/>
          </a:stretch>
        </p:blipFill>
        <p:spPr>
          <a:xfrm>
            <a:off x="285119" y="1859051"/>
            <a:ext cx="3981450" cy="356064"/>
          </a:xfrm>
          <a:prstGeom prst="rect">
            <a:avLst/>
          </a:prstGeom>
        </p:spPr>
      </p:pic>
      <p:pic>
        <p:nvPicPr>
          <p:cNvPr id="8" name="Picture 7">
            <a:extLst>
              <a:ext uri="{FF2B5EF4-FFF2-40B4-BE49-F238E27FC236}">
                <a16:creationId xmlns:a16="http://schemas.microsoft.com/office/drawing/2014/main" id="{E894440E-2C93-41DF-3172-ADDBE127C2BF}"/>
              </a:ext>
            </a:extLst>
          </p:cNvPr>
          <p:cNvPicPr>
            <a:picLocks noChangeAspect="1"/>
          </p:cNvPicPr>
          <p:nvPr/>
        </p:nvPicPr>
        <p:blipFill>
          <a:blip r:embed="rId3"/>
          <a:srcRect t="6133" r="756"/>
          <a:stretch/>
        </p:blipFill>
        <p:spPr>
          <a:xfrm>
            <a:off x="126930" y="2263775"/>
            <a:ext cx="4159320" cy="768065"/>
          </a:xfrm>
          <a:prstGeom prst="rect">
            <a:avLst/>
          </a:prstGeom>
        </p:spPr>
      </p:pic>
    </p:spTree>
    <p:extLst>
      <p:ext uri="{BB962C8B-B14F-4D97-AF65-F5344CB8AC3E}">
        <p14:creationId xmlns:p14="http://schemas.microsoft.com/office/powerpoint/2010/main" val="40163394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79328-DDE0-C242-9ABA-96DE8BA2EC9E}"/>
              </a:ext>
            </a:extLst>
          </p:cNvPr>
          <p:cNvSpPr>
            <a:spLocks noGrp="1"/>
          </p:cNvSpPr>
          <p:nvPr>
            <p:ph type="title"/>
          </p:nvPr>
        </p:nvSpPr>
        <p:spPr>
          <a:xfrm>
            <a:off x="95300" y="72527"/>
            <a:ext cx="3277870" cy="215444"/>
          </a:xfrm>
        </p:spPr>
        <p:txBody>
          <a:bodyPr/>
          <a:lstStyle/>
          <a:p>
            <a:r>
              <a:rPr lang="en-IN" dirty="0"/>
              <a:t>Example </a:t>
            </a:r>
            <a:r>
              <a:rPr lang="en-IN" dirty="0" err="1"/>
              <a:t>ctd</a:t>
            </a:r>
            <a:endParaRPr lang="en-IN" dirty="0"/>
          </a:p>
        </p:txBody>
      </p:sp>
      <p:sp>
        <p:nvSpPr>
          <p:cNvPr id="3" name="Text Placeholder 2">
            <a:extLst>
              <a:ext uri="{FF2B5EF4-FFF2-40B4-BE49-F238E27FC236}">
                <a16:creationId xmlns:a16="http://schemas.microsoft.com/office/drawing/2014/main" id="{CCF7A873-1653-DFEF-B793-3F50E823DB9E}"/>
              </a:ext>
            </a:extLst>
          </p:cNvPr>
          <p:cNvSpPr>
            <a:spLocks noGrp="1"/>
          </p:cNvSpPr>
          <p:nvPr>
            <p:ph type="body" idx="1"/>
          </p:nvPr>
        </p:nvSpPr>
        <p:spPr>
          <a:xfrm>
            <a:off x="171450" y="815975"/>
            <a:ext cx="4115117" cy="1648864"/>
          </a:xfrm>
        </p:spPr>
        <p:txBody>
          <a:bodyPr/>
          <a:lstStyle/>
          <a:p>
            <a:endParaRPr lang="en-IN" dirty="0"/>
          </a:p>
        </p:txBody>
      </p:sp>
      <p:pic>
        <p:nvPicPr>
          <p:cNvPr id="5" name="Picture 4">
            <a:extLst>
              <a:ext uri="{FF2B5EF4-FFF2-40B4-BE49-F238E27FC236}">
                <a16:creationId xmlns:a16="http://schemas.microsoft.com/office/drawing/2014/main" id="{D6A51498-E8D0-72F3-BA47-4A6353E6F07E}"/>
              </a:ext>
            </a:extLst>
          </p:cNvPr>
          <p:cNvPicPr>
            <a:picLocks noChangeAspect="1"/>
          </p:cNvPicPr>
          <p:nvPr/>
        </p:nvPicPr>
        <p:blipFill>
          <a:blip r:embed="rId2"/>
          <a:stretch>
            <a:fillRect/>
          </a:stretch>
        </p:blipFill>
        <p:spPr>
          <a:xfrm>
            <a:off x="188093" y="739775"/>
            <a:ext cx="4233914" cy="2371677"/>
          </a:xfrm>
          <a:prstGeom prst="rect">
            <a:avLst/>
          </a:prstGeom>
        </p:spPr>
      </p:pic>
    </p:spTree>
    <p:extLst>
      <p:ext uri="{BB962C8B-B14F-4D97-AF65-F5344CB8AC3E}">
        <p14:creationId xmlns:p14="http://schemas.microsoft.com/office/powerpoint/2010/main" val="20428821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E5D8-70C0-4620-CC56-40B4881FC9D0}"/>
              </a:ext>
            </a:extLst>
          </p:cNvPr>
          <p:cNvSpPr>
            <a:spLocks noGrp="1"/>
          </p:cNvSpPr>
          <p:nvPr>
            <p:ph type="title"/>
          </p:nvPr>
        </p:nvSpPr>
        <p:spPr>
          <a:xfrm>
            <a:off x="95300" y="72527"/>
            <a:ext cx="3277870" cy="215444"/>
          </a:xfrm>
        </p:spPr>
        <p:txBody>
          <a:bodyPr/>
          <a:lstStyle/>
          <a:p>
            <a:r>
              <a:rPr lang="en-IN" dirty="0"/>
              <a:t>Example </a:t>
            </a:r>
            <a:r>
              <a:rPr lang="en-IN"/>
              <a:t>ctd</a:t>
            </a:r>
          </a:p>
        </p:txBody>
      </p:sp>
      <p:sp>
        <p:nvSpPr>
          <p:cNvPr id="3" name="Text Placeholder 2">
            <a:extLst>
              <a:ext uri="{FF2B5EF4-FFF2-40B4-BE49-F238E27FC236}">
                <a16:creationId xmlns:a16="http://schemas.microsoft.com/office/drawing/2014/main" id="{65A057FD-590F-62D5-FF04-8EFA0D4588B0}"/>
              </a:ext>
            </a:extLst>
          </p:cNvPr>
          <p:cNvSpPr>
            <a:spLocks noGrp="1"/>
          </p:cNvSpPr>
          <p:nvPr>
            <p:ph type="body" idx="1"/>
          </p:nvPr>
        </p:nvSpPr>
        <p:spPr>
          <a:xfrm>
            <a:off x="247650" y="892175"/>
            <a:ext cx="4038917" cy="1572664"/>
          </a:xfrm>
        </p:spPr>
        <p:txBody>
          <a:bodyPr/>
          <a:lstStyle/>
          <a:p>
            <a:endParaRPr lang="en-IN" dirty="0"/>
          </a:p>
        </p:txBody>
      </p:sp>
      <p:pic>
        <p:nvPicPr>
          <p:cNvPr id="5" name="Picture 4">
            <a:extLst>
              <a:ext uri="{FF2B5EF4-FFF2-40B4-BE49-F238E27FC236}">
                <a16:creationId xmlns:a16="http://schemas.microsoft.com/office/drawing/2014/main" id="{C0945441-2EA8-499B-E3FC-F5C783F61400}"/>
              </a:ext>
            </a:extLst>
          </p:cNvPr>
          <p:cNvPicPr>
            <a:picLocks noChangeAspect="1"/>
          </p:cNvPicPr>
          <p:nvPr/>
        </p:nvPicPr>
        <p:blipFill>
          <a:blip r:embed="rId2"/>
          <a:stretch>
            <a:fillRect/>
          </a:stretch>
        </p:blipFill>
        <p:spPr>
          <a:xfrm>
            <a:off x="84670" y="815974"/>
            <a:ext cx="4440760" cy="1828801"/>
          </a:xfrm>
          <a:prstGeom prst="rect">
            <a:avLst/>
          </a:prstGeom>
        </p:spPr>
      </p:pic>
    </p:spTree>
    <p:extLst>
      <p:ext uri="{BB962C8B-B14F-4D97-AF65-F5344CB8AC3E}">
        <p14:creationId xmlns:p14="http://schemas.microsoft.com/office/powerpoint/2010/main" val="151997389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32" ma:contentTypeDescription="Create a new document." ma:contentTypeScope="" ma:versionID="218d1035426a6eeb5031cf52f077d731">
  <xsd:schema xmlns:xsd="http://www.w3.org/2001/XMLSchema" xmlns:xs="http://www.w3.org/2001/XMLSchema" xmlns:p="http://schemas.microsoft.com/office/2006/metadata/properties" xmlns:ns2="0a2451e9-b2b7-43a3-aada-52e3e0c35c47" xmlns:ns3="7007aa70-762f-4b31-aded-bfa7aca65826" targetNamespace="http://schemas.microsoft.com/office/2006/metadata/properties" ma:root="true" ma:fieldsID="e39170c08fd3dafb441be9855a6c885a" ns2:_="" ns3:_="">
    <xsd:import namespace="0a2451e9-b2b7-43a3-aada-52e3e0c35c47"/>
    <xsd:import namespace="7007aa70-762f-4b31-aded-bfa7aca65826"/>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lcf76f155ced4ddcb4097134ff3c332f" ma:index="34"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6" nillable="true" ma:displayName="Extracted Text" ma:internalName="MediaServiceOCR" ma:readOnly="true">
      <xsd:simpleType>
        <xsd:restriction base="dms:Note">
          <xsd:maxLength value="255"/>
        </xsd:restriction>
      </xsd:simpleType>
    </xsd:element>
    <xsd:element name="MediaServiceGenerationTime" ma:index="37" nillable="true" ma:displayName="MediaServiceGenerationTime" ma:hidden="true" ma:internalName="MediaServiceGenerationTime" ma:readOnly="true">
      <xsd:simpleType>
        <xsd:restriction base="dms:Text"/>
      </xsd:simpleType>
    </xsd:element>
    <xsd:element name="MediaServiceEventHashCode" ma:index="38" nillable="true" ma:displayName="MediaServiceEventHashCode" ma:hidden="true" ma:internalName="MediaServiceEventHashCode" ma:readOnly="true">
      <xsd:simpleType>
        <xsd:restriction base="dms:Text"/>
      </xsd:simpleType>
    </xsd:element>
    <xsd:element name="MediaLengthInSeconds" ma:index="3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007aa70-762f-4b31-aded-bfa7aca65826" elementFormDefault="qualified">
    <xsd:import namespace="http://schemas.microsoft.com/office/2006/documentManagement/types"/>
    <xsd:import namespace="http://schemas.microsoft.com/office/infopath/2007/PartnerControls"/>
    <xsd:element name="TaxCatchAll" ma:index="35" nillable="true" ma:displayName="Taxonomy Catch All Column" ma:hidden="true" ma:list="{61294dec-a7db-4640-b18d-273187c9ed97}" ma:internalName="TaxCatchAll" ma:showField="CatchAllData" ma:web="7007aa70-762f-4b31-aded-bfa7aca658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lcf76f155ced4ddcb4097134ff3c332f xmlns="0a2451e9-b2b7-43a3-aada-52e3e0c35c47">
      <Terms xmlns="http://schemas.microsoft.com/office/infopath/2007/PartnerControls"/>
    </lcf76f155ced4ddcb4097134ff3c332f>
    <TaxCatchAll xmlns="7007aa70-762f-4b31-aded-bfa7aca65826"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1E68962F-1BE1-48C9-A2A5-28C2E02CC486}"/>
</file>

<file path=customXml/itemProps2.xml><?xml version="1.0" encoding="utf-8"?>
<ds:datastoreItem xmlns:ds="http://schemas.openxmlformats.org/officeDocument/2006/customXml" ds:itemID="{02844EE6-7546-4C53-B14D-30B64F55CF89}"/>
</file>

<file path=customXml/itemProps3.xml><?xml version="1.0" encoding="utf-8"?>
<ds:datastoreItem xmlns:ds="http://schemas.openxmlformats.org/officeDocument/2006/customXml" ds:itemID="{339C6B2A-9990-46BC-92ED-810650748E83}"/>
</file>

<file path=docProps/app.xml><?xml version="1.0" encoding="utf-8"?>
<Properties xmlns="http://schemas.openxmlformats.org/officeDocument/2006/extended-properties" xmlns:vt="http://schemas.openxmlformats.org/officeDocument/2006/docPropsVTypes">
  <Template/>
  <TotalTime>1436</TotalTime>
  <Words>4341</Words>
  <Application>Microsoft Office PowerPoint</Application>
  <PresentationFormat>Custom</PresentationFormat>
  <Paragraphs>327</Paragraphs>
  <Slides>52</Slides>
  <Notes>1</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52</vt:i4>
      </vt:variant>
    </vt:vector>
  </HeadingPairs>
  <TitlesOfParts>
    <vt:vector size="67" baseType="lpstr">
      <vt:lpstr>Arial</vt:lpstr>
      <vt:lpstr>Arial MT</vt:lpstr>
      <vt:lpstr>Calibri</vt:lpstr>
      <vt:lpstr>Cambria</vt:lpstr>
      <vt:lpstr>Cambria Math</vt:lpstr>
      <vt:lpstr>Lucida Sans Unicode</vt:lpstr>
      <vt:lpstr>Tahoma</vt:lpstr>
      <vt:lpstr>Times New Roman</vt:lpstr>
      <vt:lpstr>Trebuchet MS</vt:lpstr>
      <vt:lpstr>Tw Cen MT</vt:lpstr>
      <vt:lpstr>Tw Cen MT Condensed</vt:lpstr>
      <vt:lpstr>Wingdings</vt:lpstr>
      <vt:lpstr>Wingdings 3</vt:lpstr>
      <vt:lpstr>Office Theme</vt:lpstr>
      <vt:lpstr>Integral</vt:lpstr>
      <vt:lpstr>PowerPoint Presentation</vt:lpstr>
      <vt:lpstr>Vector Spaces</vt:lpstr>
      <vt:lpstr>Groups</vt:lpstr>
      <vt:lpstr>Some examples</vt:lpstr>
      <vt:lpstr>Vector Spaces</vt:lpstr>
      <vt:lpstr>Vector Spaces</vt:lpstr>
      <vt:lpstr>Examples of vector spaces</vt:lpstr>
      <vt:lpstr>PowerPoint Presentation</vt:lpstr>
      <vt:lpstr>Why do we study Vector Spaces? (In the context of ML)</vt:lpstr>
      <vt:lpstr>PowerPoint Presentation</vt:lpstr>
      <vt:lpstr> Vectors in some optimization algorithms </vt:lpstr>
      <vt:lpstr>PowerPoint Presentation</vt:lpstr>
      <vt:lpstr>PowerPoint Presentation</vt:lpstr>
      <vt:lpstr>Vector subspaces</vt:lpstr>
      <vt:lpstr>Establishing vector subspaces</vt:lpstr>
      <vt:lpstr>Examples</vt:lpstr>
      <vt:lpstr>More examples</vt:lpstr>
      <vt:lpstr>Linear combination and linear independence</vt:lpstr>
      <vt:lpstr>Linear combination</vt:lpstr>
      <vt:lpstr>Examples of Linear Combinations </vt:lpstr>
      <vt:lpstr>Gauss Elimination Method to fine the scalars in Linear combination</vt:lpstr>
      <vt:lpstr>Example (Ctd)</vt:lpstr>
      <vt:lpstr>Example (Ctd)</vt:lpstr>
      <vt:lpstr>Example ctd</vt:lpstr>
      <vt:lpstr>PowerPoint Presentation</vt:lpstr>
      <vt:lpstr>Why elementary operations are reversible</vt:lpstr>
      <vt:lpstr>PowerPoint Presentation</vt:lpstr>
      <vt:lpstr>PowerPoint Presentation</vt:lpstr>
      <vt:lpstr>Linear dependence and independence</vt:lpstr>
      <vt:lpstr>PowerPoint Presentation</vt:lpstr>
      <vt:lpstr>PowerPoint Presentation</vt:lpstr>
      <vt:lpstr>PowerPoint Presentation</vt:lpstr>
      <vt:lpstr>What do the Linear dependence and independence mean in ML?</vt:lpstr>
      <vt:lpstr>Using Gaussian elimination to check for linear independence</vt:lpstr>
      <vt:lpstr>PowerPoint Presentation</vt:lpstr>
      <vt:lpstr>PowerPoint Presentation</vt:lpstr>
      <vt:lpstr>PowerPoint Presentation</vt:lpstr>
      <vt:lpstr>PowerPoint Presentation</vt:lpstr>
      <vt:lpstr>PowerPoint Presentation</vt:lpstr>
      <vt:lpstr>PowerPoint Presentation</vt:lpstr>
      <vt:lpstr>Basis of vector space</vt:lpstr>
      <vt:lpstr>Generating set and basis</vt:lpstr>
      <vt:lpstr>Basis as smallest generating set</vt:lpstr>
      <vt:lpstr>PowerPoint Presentation</vt:lpstr>
      <vt:lpstr>PowerPoint Presentation</vt:lpstr>
      <vt:lpstr>PowerPoint Presentation</vt:lpstr>
      <vt:lpstr>PowerPoint Presentation</vt:lpstr>
      <vt:lpstr>Dimension of a vector space</vt:lpstr>
      <vt:lpstr>Finding a basis</vt:lpstr>
      <vt:lpstr>Basis and Dimension Example</vt:lpstr>
      <vt:lpstr>Example ctd</vt:lpstr>
      <vt:lpstr>Example ctd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whiteLecture 2</dc:title>
  <dc:creator>white Math Foundations Team</dc:creator>
  <cp:lastModifiedBy>Michael Alphonse</cp:lastModifiedBy>
  <cp:revision>11</cp:revision>
  <dcterms:created xsi:type="dcterms:W3CDTF">2025-05-05T04:46:36Z</dcterms:created>
  <dcterms:modified xsi:type="dcterms:W3CDTF">2025-09-04T13:08:47Z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2024-05-29T00:00:00Z</vt:filetime>
  </property>
  <property fmtid="{D5CDD505-2E9C-101B-9397-08002B2CF9AE}" pid="3" name="Creator">
    <vt:lpwstr>LaTeX with Beamer class</vt:lpwstr>
  </property>
  <property fmtid="{D5CDD505-2E9C-101B-9397-08002B2CF9AE}" pid="4" name="LastSaved">
    <vt:filetime>2025-05-05T00:00:00Z</vt:filetime>
  </property>
  <property fmtid="{D5CDD505-2E9C-101B-9397-08002B2CF9AE}" pid="5" name="PTEX.Fullbanner">
    <vt:lpwstr>This is MiKTeX-pdfTeX 4.13.0 (1.40.24)</vt:lpwstr>
  </property>
  <property fmtid="{D5CDD505-2E9C-101B-9397-08002B2CF9AE}" pid="6" name="Producer">
    <vt:lpwstr>MiKTeX pdfTeX-1.40.24</vt:lpwstr>
  </property>
  <property fmtid="{D5CDD505-2E9C-101B-9397-08002B2CF9AE}" pid="7" name="ContentTypeId">
    <vt:lpwstr>0x0101000A75E3588147654284604D4E812B6D70</vt:lpwstr>
  </property>
</Properties>
</file>