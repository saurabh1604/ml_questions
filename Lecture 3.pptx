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2.xml" ContentType="application/vnd.openxmlformats-officedocument.presentationml.slideMaster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3.xml" ContentType="application/vnd.openxmlformats-officedocument.presentationml.slideMaster+xml"/>
  <Override PartName="/ppt/slideLayouts/slideLayout35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  <p:sldMasterId id="2147483689" r:id="rId3"/>
  </p:sldMasterIdLst>
  <p:notesMasterIdLst>
    <p:notesMasterId r:id="rId52"/>
  </p:notesMasterIdLst>
  <p:sldIdLst>
    <p:sldId id="256" r:id="rId4"/>
    <p:sldId id="389" r:id="rId5"/>
    <p:sldId id="257" r:id="rId6"/>
    <p:sldId id="401" r:id="rId7"/>
    <p:sldId id="402" r:id="rId8"/>
    <p:sldId id="403" r:id="rId9"/>
    <p:sldId id="404" r:id="rId10"/>
    <p:sldId id="405" r:id="rId11"/>
    <p:sldId id="406" r:id="rId12"/>
    <p:sldId id="407" r:id="rId13"/>
    <p:sldId id="408" r:id="rId14"/>
    <p:sldId id="259" r:id="rId15"/>
    <p:sldId id="260" r:id="rId16"/>
    <p:sldId id="287" r:id="rId17"/>
    <p:sldId id="289" r:id="rId18"/>
    <p:sldId id="409" r:id="rId19"/>
    <p:sldId id="410" r:id="rId20"/>
    <p:sldId id="411" r:id="rId21"/>
    <p:sldId id="412" r:id="rId22"/>
    <p:sldId id="261" r:id="rId23"/>
    <p:sldId id="288" r:id="rId24"/>
    <p:sldId id="263" r:id="rId25"/>
    <p:sldId id="264" r:id="rId26"/>
    <p:sldId id="290" r:id="rId27"/>
    <p:sldId id="385" r:id="rId28"/>
    <p:sldId id="386" r:id="rId29"/>
    <p:sldId id="387" r:id="rId30"/>
    <p:sldId id="265" r:id="rId31"/>
    <p:sldId id="258" r:id="rId32"/>
    <p:sldId id="388" r:id="rId33"/>
    <p:sldId id="267" r:id="rId34"/>
    <p:sldId id="268" r:id="rId35"/>
    <p:sldId id="269" r:id="rId36"/>
    <p:sldId id="270" r:id="rId37"/>
    <p:sldId id="271" r:id="rId38"/>
    <p:sldId id="272" r:id="rId39"/>
    <p:sldId id="273" r:id="rId40"/>
    <p:sldId id="274" r:id="rId41"/>
    <p:sldId id="276" r:id="rId42"/>
    <p:sldId id="277" r:id="rId43"/>
    <p:sldId id="278" r:id="rId44"/>
    <p:sldId id="279" r:id="rId45"/>
    <p:sldId id="280" r:id="rId46"/>
    <p:sldId id="399" r:id="rId47"/>
    <p:sldId id="400" r:id="rId48"/>
    <p:sldId id="413" r:id="rId49"/>
    <p:sldId id="414" r:id="rId50"/>
    <p:sldId id="415" r:id="rId51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30" d="100"/>
          <a:sy n="130" d="100"/>
        </p:scale>
        <p:origin x="1518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presProps" Target="presProps.xml"/><Relationship Id="rId58" Type="http://schemas.openxmlformats.org/officeDocument/2006/relationships/customXml" Target="../customXml/item2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customXml" Target="../customXml/item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customXml" Target="../customXml/item1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B7D8E1-322F-43B7-879D-4851E16BBE18}" type="datetimeFigureOut">
              <a:rPr lang="en-IN" smtClean="0"/>
              <a:t>16-05-2025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5AFC03-066D-4C2C-B9B6-9B255AB8B2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698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image" Target="../media/image4.jpeg" /><Relationship Id="rId1" Type="http://schemas.openxmlformats.org/officeDocument/2006/relationships/slideMaster" Target="../slideMasters/slideMaster2.xml" 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2.xml" 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image" Target="../media/image7.jpeg" /><Relationship Id="rId1" Type="http://schemas.openxmlformats.org/officeDocument/2006/relationships/slideMaster" Target="../slideMasters/slideMaster2.xml" 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8.jpeg" /><Relationship Id="rId1" Type="http://schemas.openxmlformats.org/officeDocument/2006/relationships/slideMaster" Target="../slideMasters/slideMaster2.xml" 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2.xml" 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2.xml" 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2.xml" 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2.xml" 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2.xml" 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2.xml" 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2.xml" 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image" Target="../media/image7.jpeg" /><Relationship Id="rId1" Type="http://schemas.openxmlformats.org/officeDocument/2006/relationships/slideMaster" Target="../slideMasters/slideMaster3.xml" 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image" Target="../media/image4.jpeg" /><Relationship Id="rId1" Type="http://schemas.openxmlformats.org/officeDocument/2006/relationships/slideMaster" Target="../slideMasters/slideMaster3.xml" 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8.jpeg" /><Relationship Id="rId1" Type="http://schemas.openxmlformats.org/officeDocument/2006/relationships/slideMaster" Target="../slideMasters/slideMaster3.xml" 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3.xml" 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3.xml" 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3.xml" 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3.xml" 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3.xml" 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3.xml" 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3.xml" 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3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018" y="14"/>
            <a:ext cx="4319985" cy="345598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4610100" cy="23071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2401" y="0"/>
            <a:ext cx="4607700" cy="2307167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879" y="2503032"/>
            <a:ext cx="2938939" cy="738293"/>
          </a:xfrm>
        </p:spPr>
        <p:txBody>
          <a:bodyPr anchor="ctr">
            <a:normAutofit/>
          </a:bodyPr>
          <a:lstStyle>
            <a:lvl1pPr algn="r">
              <a:defRPr sz="2218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55883" y="2503032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30520" indent="0" algn="ctr">
              <a:buNone/>
              <a:defRPr sz="807"/>
            </a:lvl2pPr>
            <a:lvl3pPr marL="461040" indent="0" algn="ctr">
              <a:buNone/>
              <a:defRPr sz="807"/>
            </a:lvl3pPr>
            <a:lvl4pPr marL="691561" indent="0" algn="ctr">
              <a:buNone/>
              <a:defRPr sz="807"/>
            </a:lvl4pPr>
            <a:lvl5pPr marL="922081" indent="0" algn="ctr">
              <a:buNone/>
              <a:defRPr sz="807"/>
            </a:lvl5pPr>
            <a:lvl6pPr marL="1152601" indent="0" algn="ctr">
              <a:buNone/>
              <a:defRPr sz="807"/>
            </a:lvl6pPr>
            <a:lvl7pPr marL="1383121" indent="0" algn="ctr">
              <a:buNone/>
              <a:defRPr sz="807"/>
            </a:lvl7pPr>
            <a:lvl8pPr marL="1613642" indent="0" algn="ctr">
              <a:buNone/>
              <a:defRPr sz="807"/>
            </a:lvl8pPr>
            <a:lvl9pPr marL="1844162" indent="0" algn="ctr">
              <a:buNone/>
              <a:defRPr sz="80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171275" y="2656424"/>
            <a:ext cx="0" cy="461433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3998530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707280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4610100" cy="230716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2401" y="0"/>
            <a:ext cx="4607700" cy="2307167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9" y="2503032"/>
            <a:ext cx="2938939" cy="738293"/>
          </a:xfrm>
        </p:spPr>
        <p:txBody>
          <a:bodyPr anchor="ctr">
            <a:normAutofit/>
          </a:bodyPr>
          <a:lstStyle>
            <a:lvl1pPr algn="r">
              <a:defRPr sz="2218" b="0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55883" y="2503032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3052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2pPr>
            <a:lvl3pPr marL="46104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3pPr>
            <a:lvl4pPr marL="69156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4pPr>
            <a:lvl5pPr marL="92208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5pPr>
            <a:lvl6pPr marL="115260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6pPr>
            <a:lvl7pPr marL="138312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7pPr>
            <a:lvl8pPr marL="161364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8pPr>
            <a:lvl9pPr marL="184416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171275" y="2656424"/>
            <a:ext cx="0" cy="461433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914849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7248" y="1153583"/>
            <a:ext cx="1797939" cy="2030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4712" y="1153583"/>
            <a:ext cx="1797939" cy="2030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462043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7248" y="1099909"/>
            <a:ext cx="1797939" cy="41529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09" b="0" cap="none" baseline="0">
                <a:solidFill>
                  <a:schemeClr val="accent1"/>
                </a:solidFill>
                <a:latin typeface="+mn-lt"/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7248" y="1497634"/>
            <a:ext cx="1797939" cy="1686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64712" y="1099909"/>
            <a:ext cx="1797939" cy="41529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109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marL="0" lvl="0" indent="0" algn="l" defTabSz="461040" rtl="0" eaLnBrk="1" latinLnBrk="0" hangingPunct="1">
              <a:lnSpc>
                <a:spcPct val="90000"/>
              </a:lnSpc>
              <a:spcBef>
                <a:spcPts val="908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64712" y="1497634"/>
            <a:ext cx="1797939" cy="1686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036341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106656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828260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87248" y="237938"/>
            <a:ext cx="1659636" cy="87672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18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0984" y="415290"/>
            <a:ext cx="2147154" cy="2616327"/>
          </a:xfrm>
        </p:spPr>
        <p:txBody>
          <a:bodyPr>
            <a:normAutofit/>
          </a:bodyPr>
          <a:lstStyle>
            <a:lvl1pPr>
              <a:defRPr sz="1008"/>
            </a:lvl1pPr>
            <a:lvl2pPr>
              <a:defRPr sz="807"/>
            </a:lvl2pPr>
            <a:lvl3pPr>
              <a:defRPr sz="605"/>
            </a:lvl3pPr>
            <a:lvl4pPr>
              <a:defRPr sz="605"/>
            </a:lvl4pPr>
            <a:lvl5pPr>
              <a:defRPr sz="605"/>
            </a:lvl5pPr>
            <a:lvl6pPr>
              <a:defRPr sz="605"/>
            </a:lvl6pPr>
            <a:lvl7pPr>
              <a:defRPr sz="605"/>
            </a:lvl7pPr>
            <a:lvl8pPr>
              <a:defRPr sz="605"/>
            </a:lvl8pPr>
            <a:lvl9pPr>
              <a:defRPr sz="6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7248" y="1139204"/>
            <a:ext cx="1659636" cy="1898565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303"/>
              </a:spcBef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184491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9" y="2503033"/>
            <a:ext cx="2938939" cy="738293"/>
          </a:xfrm>
        </p:spPr>
        <p:txBody>
          <a:bodyPr anchor="ctr">
            <a:normAutofit/>
          </a:bodyPr>
          <a:lstStyle>
            <a:lvl1pPr algn="r">
              <a:defRPr sz="2218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4608947" cy="2307167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1210"/>
            </a:lvl1pPr>
            <a:lvl2pPr marL="172890" indent="0">
              <a:buNone/>
              <a:defRPr sz="1059"/>
            </a:lvl2pPr>
            <a:lvl3pPr marL="345780" indent="0">
              <a:buNone/>
              <a:defRPr sz="908"/>
            </a:lvl3pPr>
            <a:lvl4pPr marL="518671" indent="0">
              <a:buNone/>
              <a:defRPr sz="756"/>
            </a:lvl4pPr>
            <a:lvl5pPr marL="691561" indent="0">
              <a:buNone/>
              <a:defRPr sz="756"/>
            </a:lvl5pPr>
            <a:lvl6pPr marL="864451" indent="0">
              <a:buNone/>
              <a:defRPr sz="756"/>
            </a:lvl6pPr>
            <a:lvl7pPr marL="1037341" indent="0">
              <a:buNone/>
              <a:defRPr sz="756"/>
            </a:lvl7pPr>
            <a:lvl8pPr marL="1210231" indent="0">
              <a:buNone/>
              <a:defRPr sz="756"/>
            </a:lvl8pPr>
            <a:lvl9pPr marL="1383121" indent="0">
              <a:buNone/>
              <a:defRPr sz="756"/>
            </a:lvl9pPr>
          </a:lstStyle>
          <a:p>
            <a:r>
              <a:rPr lang="en-US" dirty="0"/>
              <a:t>Click icon </a:t>
            </a:r>
            <a:r>
              <a:rPr lang="en-US"/>
              <a:t>to add </a:t>
            </a:r>
            <a:r>
              <a:rPr lang="en-US" dirty="0"/>
              <a:t>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55883" y="2503033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172890" indent="0">
              <a:buNone/>
              <a:defRPr sz="529"/>
            </a:lvl2pPr>
            <a:lvl3pPr marL="345780" indent="0">
              <a:buNone/>
              <a:defRPr sz="454"/>
            </a:lvl3pPr>
            <a:lvl4pPr marL="518671" indent="0">
              <a:buNone/>
              <a:defRPr sz="378"/>
            </a:lvl4pPr>
            <a:lvl5pPr marL="691561" indent="0">
              <a:buNone/>
              <a:defRPr sz="378"/>
            </a:lvl5pPr>
            <a:lvl6pPr marL="864451" indent="0">
              <a:buNone/>
              <a:defRPr sz="378"/>
            </a:lvl6pPr>
            <a:lvl7pPr marL="1037341" indent="0">
              <a:buNone/>
              <a:defRPr sz="378"/>
            </a:lvl7pPr>
            <a:lvl8pPr marL="1210231" indent="0">
              <a:buNone/>
              <a:defRPr sz="378"/>
            </a:lvl8pPr>
            <a:lvl9pPr marL="1383121" indent="0">
              <a:buNone/>
              <a:defRPr sz="3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171275" y="2656424"/>
            <a:ext cx="0" cy="46143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630583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51567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99103" y="384528"/>
            <a:ext cx="994053" cy="2730147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4571" y="384528"/>
            <a:ext cx="2866906" cy="27301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3803333" y="87744"/>
            <a:ext cx="0" cy="34575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551648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1267777" y="2730147"/>
            <a:ext cx="3034983" cy="269169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908"/>
              </a:lnSpc>
              <a:spcBef>
                <a:spcPts val="0"/>
              </a:spcBef>
              <a:buNone/>
              <a:defRPr sz="908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Presenter details comes here</a:t>
            </a:r>
          </a:p>
          <a:p>
            <a:pPr lvl="0"/>
            <a:r>
              <a:rPr lang="en-GB" dirty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67777" y="1922639"/>
            <a:ext cx="3034983" cy="769056"/>
          </a:xfrm>
        </p:spPr>
        <p:txBody>
          <a:bodyPr anchor="ctr"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  <p:pic>
        <p:nvPicPr>
          <p:cNvPr id="13" name="Picture 12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38417" y="1691922"/>
            <a:ext cx="1037273" cy="999167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2" b="1" spc="-76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1462" spc="-76">
                <a:solidFill>
                  <a:schemeClr val="bg1"/>
                </a:solidFill>
                <a:latin typeface="Arial"/>
                <a:cs typeface="Arial"/>
              </a:rPr>
              <a:t> Pilani</a:t>
            </a:r>
            <a:endParaRPr lang="en-US" sz="1462" spc="-76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6" name="TextBox 15"/>
          <p:cNvSpPr txBox="1"/>
          <p:nvPr userDrawn="1"/>
        </p:nvSpPr>
        <p:spPr>
          <a:xfrm>
            <a:off x="76835" y="2859535"/>
            <a:ext cx="960438" cy="185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5" spc="0">
                <a:solidFill>
                  <a:srgbClr val="FFFFFF"/>
                </a:solidFill>
                <a:latin typeface="Arial"/>
                <a:cs typeface="Arial"/>
              </a:rPr>
              <a:t>Hyderabad </a:t>
            </a:r>
            <a:r>
              <a:rPr lang="en-US" sz="605" spc="0" baseline="0">
                <a:solidFill>
                  <a:srgbClr val="FFFFFF"/>
                </a:solidFill>
                <a:latin typeface="Arial"/>
                <a:cs typeface="Arial"/>
              </a:rPr>
              <a:t>Campus</a:t>
            </a:r>
            <a:endParaRPr lang="en-US" sz="605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156789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53670" y="753835"/>
            <a:ext cx="4149090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210">
                <a:latin typeface="Arial" pitchFamily="34" charset="0"/>
                <a:cs typeface="Arial" pitchFamily="34" charset="0"/>
              </a:defRPr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</a:lstStyle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21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  <a:endParaRPr lang="en-US" sz="555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1050627" y="3305663"/>
            <a:ext cx="3559473" cy="24558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</p:spTree>
    <p:extLst>
      <p:ext uri="{BB962C8B-B14F-4D97-AF65-F5344CB8AC3E}">
        <p14:creationId xmlns:p14="http://schemas.microsoft.com/office/powerpoint/2010/main" val="2914984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l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38417" y="1691922"/>
            <a:ext cx="1037273" cy="999167"/>
          </a:xfrm>
          <a:prstGeom prst="rect">
            <a:avLst/>
          </a:prstGeom>
        </p:spPr>
      </p:pic>
      <p:sp>
        <p:nvSpPr>
          <p:cNvPr id="30" name="TextBox 29"/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2" b="1" spc="-76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1462" spc="-76">
                <a:solidFill>
                  <a:schemeClr val="bg1"/>
                </a:solidFill>
                <a:latin typeface="Arial"/>
                <a:cs typeface="Arial"/>
              </a:rPr>
              <a:t> Pilani</a:t>
            </a:r>
            <a:endParaRPr lang="en-US" sz="1462" spc="-76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31" name="TextBox 30"/>
          <p:cNvSpPr txBox="1"/>
          <p:nvPr userDrawn="1"/>
        </p:nvSpPr>
        <p:spPr>
          <a:xfrm>
            <a:off x="76835" y="2859535"/>
            <a:ext cx="960438" cy="185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5" spc="0">
                <a:solidFill>
                  <a:srgbClr val="FFFFFF"/>
                </a:solidFill>
                <a:latin typeface="Arial"/>
                <a:cs typeface="Arial"/>
              </a:rPr>
              <a:t>Hyderabad </a:t>
            </a:r>
            <a:r>
              <a:rPr lang="en-US" sz="605" spc="0" baseline="0">
                <a:solidFill>
                  <a:srgbClr val="FFFFFF"/>
                </a:solidFill>
                <a:latin typeface="Arial"/>
                <a:cs typeface="Arial"/>
              </a:rPr>
              <a:t>Campus</a:t>
            </a:r>
            <a:endParaRPr lang="en-US" sz="605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1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1267777" y="1922639"/>
            <a:ext cx="3034983" cy="769056"/>
          </a:xfrm>
        </p:spPr>
        <p:txBody>
          <a:bodyPr anchor="ctr"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017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4610100" cy="346075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2160916"/>
            <a:ext cx="4610100" cy="129983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153670" y="2345620"/>
            <a:ext cx="4264343" cy="807508"/>
          </a:xfrm>
        </p:spPr>
        <p:txBody>
          <a:bodyPr>
            <a:noAutofit/>
          </a:bodyPr>
          <a:lstStyle>
            <a:lvl1pPr marL="0" indent="0">
              <a:lnSpc>
                <a:spcPts val="2118"/>
              </a:lnSpc>
              <a:spcBef>
                <a:spcPts val="0"/>
              </a:spcBef>
              <a:buNone/>
              <a:defRPr sz="2017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headings here </a:t>
            </a:r>
          </a:p>
          <a:p>
            <a:pPr lvl="0"/>
            <a:r>
              <a:rPr lang="en-US" dirty="0"/>
              <a:t>(separator - can run in two lines)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1453462" y="3419093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-6403" y="3419093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2913327" y="3419093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 userDrawn="1"/>
        </p:nvSpPr>
        <p:spPr>
          <a:xfrm>
            <a:off x="3457575" y="384528"/>
            <a:ext cx="1114108" cy="317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2" b="1" spc="-76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1462" spc="-76">
                <a:solidFill>
                  <a:schemeClr val="bg1"/>
                </a:solidFill>
                <a:latin typeface="Arial"/>
                <a:cs typeface="Arial"/>
              </a:rPr>
              <a:t> Pilani</a:t>
            </a:r>
            <a:endParaRPr lang="en-US" sz="1462" spc="-76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3572827" y="590821"/>
            <a:ext cx="960438" cy="185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5" spc="0">
                <a:solidFill>
                  <a:srgbClr val="FFFFFF"/>
                </a:solidFill>
                <a:latin typeface="Arial"/>
                <a:cs typeface="Arial"/>
              </a:rPr>
              <a:t>Hyderabad </a:t>
            </a:r>
            <a:r>
              <a:rPr lang="en-US" sz="605" spc="0" baseline="0">
                <a:solidFill>
                  <a:srgbClr val="FFFFFF"/>
                </a:solidFill>
                <a:latin typeface="Arial"/>
                <a:cs typeface="Arial"/>
              </a:rPr>
              <a:t>Campus</a:t>
            </a:r>
            <a:endParaRPr lang="en-US" sz="605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627545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230505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/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21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2497137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21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TextBox 35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  <a:endParaRPr lang="en-US" sz="555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462664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505" y="774663"/>
            <a:ext cx="20369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0505" y="1192036"/>
            <a:ext cx="20369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41867" y="774663"/>
            <a:ext cx="20377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41867" y="1192036"/>
            <a:ext cx="20377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23" name="TextBox 22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  <a:endParaRPr lang="en-US" sz="555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16685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  <a:endParaRPr lang="en-US" sz="555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68922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2421" y="807509"/>
            <a:ext cx="2577174" cy="2283935"/>
          </a:xfrm>
        </p:spPr>
        <p:txBody>
          <a:bodyPr/>
          <a:lstStyle>
            <a:lvl1pPr>
              <a:defRPr sz="1613"/>
            </a:lvl1pPr>
            <a:lvl2pPr>
              <a:defRPr sz="1412"/>
            </a:lvl2pPr>
            <a:lvl3pPr>
              <a:defRPr sz="1210"/>
            </a:lvl3pPr>
            <a:lvl4pPr>
              <a:defRPr sz="1008"/>
            </a:lvl4pPr>
            <a:lvl5pPr>
              <a:defRPr sz="1008"/>
            </a:lvl5pPr>
            <a:lvl6pPr>
              <a:defRPr sz="1008"/>
            </a:lvl6pPr>
            <a:lvl7pPr>
              <a:defRPr sz="1008"/>
            </a:lvl7pPr>
            <a:lvl8pPr>
              <a:defRPr sz="1008"/>
            </a:lvl8pPr>
            <a:lvl9pPr>
              <a:defRPr sz="100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0505" y="807509"/>
            <a:ext cx="1516691" cy="2283935"/>
          </a:xfrm>
        </p:spPr>
        <p:txBody>
          <a:bodyPr/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22" name="TextBox 21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  <a:endParaRPr lang="en-US" sz="555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9388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612" y="2728545"/>
            <a:ext cx="2766060" cy="153811"/>
          </a:xfrm>
        </p:spPr>
        <p:txBody>
          <a:bodyPr anchor="b">
            <a:normAutofit/>
          </a:bodyPr>
          <a:lstStyle>
            <a:lvl1pPr algn="l">
              <a:defRPr sz="908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03612" y="922867"/>
            <a:ext cx="2766060" cy="1730375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 marL="0" indent="0">
              <a:buNone/>
              <a:defRPr sz="1613"/>
            </a:lvl1pPr>
            <a:lvl2pPr marL="230520" indent="0">
              <a:buNone/>
              <a:defRPr sz="1412"/>
            </a:lvl2pPr>
            <a:lvl3pPr marL="461040" indent="0">
              <a:buNone/>
              <a:defRPr sz="1210"/>
            </a:lvl3pPr>
            <a:lvl4pPr marL="691561" indent="0">
              <a:buNone/>
              <a:defRPr sz="1008"/>
            </a:lvl4pPr>
            <a:lvl5pPr marL="922081" indent="0">
              <a:buNone/>
              <a:defRPr sz="1008"/>
            </a:lvl5pPr>
            <a:lvl6pPr marL="1152601" indent="0">
              <a:buNone/>
              <a:defRPr sz="1008"/>
            </a:lvl6pPr>
            <a:lvl7pPr marL="1383121" indent="0">
              <a:buNone/>
              <a:defRPr sz="1008"/>
            </a:lvl7pPr>
            <a:lvl8pPr marL="1613642" indent="0">
              <a:buNone/>
              <a:defRPr sz="1008"/>
            </a:lvl8pPr>
            <a:lvl9pPr marL="1844162" indent="0">
              <a:buNone/>
              <a:defRPr sz="1008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3612" y="2882356"/>
            <a:ext cx="2766060" cy="153811"/>
          </a:xfrm>
        </p:spPr>
        <p:txBody>
          <a:bodyPr>
            <a:normAutofit/>
          </a:bodyPr>
          <a:lstStyle>
            <a:lvl1pPr marL="0" indent="0"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  <a:endParaRPr lang="en-US" sz="555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98776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33" name="TextBox 32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  <a:endParaRPr lang="en-US" sz="555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93622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4680" y="192264"/>
            <a:ext cx="3034983" cy="29528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2726284" y="1384564"/>
            <a:ext cx="2960864" cy="576263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8" name="Group 7"/>
          <p:cNvGrpSpPr/>
          <p:nvPr userDrawn="1"/>
        </p:nvGrpSpPr>
        <p:grpSpPr>
          <a:xfrm rot="5400000">
            <a:off x="2522830" y="1295869"/>
            <a:ext cx="2614789" cy="23050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383026" y="571022"/>
            <a:ext cx="1106750" cy="349235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 rot="5400000">
            <a:off x="-1410216" y="1899206"/>
            <a:ext cx="2960864" cy="162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54" b="1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454">
                <a:solidFill>
                  <a:srgbClr val="101141"/>
                </a:solidFill>
                <a:latin typeface="Arial"/>
                <a:cs typeface="Arial"/>
              </a:rPr>
              <a:t>Pilani, Hyderabad</a:t>
            </a:r>
            <a:r>
              <a:rPr lang="en-US" sz="454" baseline="0">
                <a:solidFill>
                  <a:srgbClr val="101141"/>
                </a:solidFill>
                <a:latin typeface="Arial"/>
                <a:cs typeface="Arial"/>
              </a:rPr>
              <a:t> </a:t>
            </a:r>
            <a:r>
              <a:rPr lang="en-US" sz="454">
                <a:solidFill>
                  <a:srgbClr val="101141"/>
                </a:solidFill>
                <a:latin typeface="Arial"/>
                <a:cs typeface="Arial"/>
              </a:rPr>
              <a:t>Campus</a:t>
            </a:r>
            <a:endParaRPr lang="en-US" sz="454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79852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l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38417" y="1691922"/>
            <a:ext cx="1037273" cy="999167"/>
          </a:xfrm>
          <a:prstGeom prst="rect">
            <a:avLst/>
          </a:prstGeom>
        </p:spPr>
      </p:pic>
      <p:sp>
        <p:nvSpPr>
          <p:cNvPr id="30" name="TextBox 29"/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2" b="1" spc="-76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31" name="TextBox 30"/>
          <p:cNvSpPr txBox="1"/>
          <p:nvPr userDrawn="1"/>
        </p:nvSpPr>
        <p:spPr>
          <a:xfrm>
            <a:off x="76835" y="2859535"/>
            <a:ext cx="960438" cy="185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5" spc="0" dirty="0">
                <a:solidFill>
                  <a:srgbClr val="FFFFFF"/>
                </a:solidFill>
                <a:latin typeface="Arial"/>
                <a:cs typeface="Arial"/>
              </a:rPr>
              <a:t>Hyderabad </a:t>
            </a:r>
            <a:r>
              <a:rPr lang="en-US" sz="605" spc="0" baseline="0" dirty="0">
                <a:solidFill>
                  <a:srgbClr val="FFFFFF"/>
                </a:solidFill>
                <a:latin typeface="Arial"/>
                <a:cs typeface="Arial"/>
              </a:rPr>
              <a:t>Campus</a:t>
            </a:r>
            <a:endParaRPr lang="en-US" sz="605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1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1267777" y="1922639"/>
            <a:ext cx="3034983" cy="769056"/>
          </a:xfrm>
        </p:spPr>
        <p:txBody>
          <a:bodyPr anchor="ctr"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7562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1267777" y="2730147"/>
            <a:ext cx="3034983" cy="269169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908"/>
              </a:lnSpc>
              <a:spcBef>
                <a:spcPts val="0"/>
              </a:spcBef>
              <a:buNone/>
              <a:defRPr sz="908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Presenter details comes here</a:t>
            </a:r>
          </a:p>
          <a:p>
            <a:pPr lvl="0"/>
            <a:r>
              <a:rPr lang="en-GB" dirty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67777" y="1922639"/>
            <a:ext cx="3034983" cy="769056"/>
          </a:xfrm>
        </p:spPr>
        <p:txBody>
          <a:bodyPr anchor="ctr"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  <p:pic>
        <p:nvPicPr>
          <p:cNvPr id="13" name="Picture 12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38417" y="1691922"/>
            <a:ext cx="1037273" cy="999167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2" b="1" spc="-76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76835" y="2859535"/>
            <a:ext cx="960438" cy="185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5" spc="0" dirty="0">
                <a:solidFill>
                  <a:srgbClr val="FFFFFF"/>
                </a:solidFill>
                <a:latin typeface="Arial"/>
                <a:cs typeface="Arial"/>
              </a:rPr>
              <a:t>Hyderabad </a:t>
            </a:r>
            <a:r>
              <a:rPr lang="en-US" sz="605" spc="0" baseline="0" dirty="0">
                <a:solidFill>
                  <a:srgbClr val="FFFFFF"/>
                </a:solidFill>
                <a:latin typeface="Arial"/>
                <a:cs typeface="Arial"/>
              </a:rPr>
              <a:t>Campus</a:t>
            </a:r>
            <a:endParaRPr lang="en-US" sz="605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5463812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4610100" cy="346075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2160916"/>
            <a:ext cx="4610100" cy="129983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153670" y="2345620"/>
            <a:ext cx="4264343" cy="807508"/>
          </a:xfrm>
        </p:spPr>
        <p:txBody>
          <a:bodyPr>
            <a:noAutofit/>
          </a:bodyPr>
          <a:lstStyle>
            <a:lvl1pPr marL="0" indent="0">
              <a:lnSpc>
                <a:spcPts val="2118"/>
              </a:lnSpc>
              <a:spcBef>
                <a:spcPts val="0"/>
              </a:spcBef>
              <a:buNone/>
              <a:defRPr sz="2017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headings here </a:t>
            </a:r>
          </a:p>
          <a:p>
            <a:pPr lvl="0"/>
            <a:r>
              <a:rPr lang="en-US" dirty="0"/>
              <a:t>(separator - can run in two lines)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1453462" y="3419093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-6403" y="3419093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2913327" y="3419093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 userDrawn="1"/>
        </p:nvSpPr>
        <p:spPr>
          <a:xfrm>
            <a:off x="3457575" y="384528"/>
            <a:ext cx="1114108" cy="317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2" b="1" spc="-76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3572827" y="590821"/>
            <a:ext cx="960438" cy="185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5" spc="0" dirty="0">
                <a:solidFill>
                  <a:srgbClr val="FFFFFF"/>
                </a:solidFill>
                <a:latin typeface="Arial"/>
                <a:cs typeface="Arial"/>
              </a:rPr>
              <a:t>Hyderabad </a:t>
            </a:r>
            <a:r>
              <a:rPr lang="en-US" sz="605" spc="0" baseline="0" dirty="0">
                <a:solidFill>
                  <a:srgbClr val="FFFFFF"/>
                </a:solidFill>
                <a:latin typeface="Arial"/>
                <a:cs typeface="Arial"/>
              </a:rPr>
              <a:t>Campus</a:t>
            </a:r>
            <a:endParaRPr lang="en-US" sz="605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29970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53670" y="753835"/>
            <a:ext cx="4149090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210">
                <a:latin typeface="Arial" pitchFamily="34" charset="0"/>
                <a:cs typeface="Arial" pitchFamily="34" charset="0"/>
              </a:defRPr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</a:lstStyle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21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1050627" y="3305663"/>
            <a:ext cx="3559473" cy="24558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</p:spTree>
    <p:extLst>
      <p:ext uri="{BB962C8B-B14F-4D97-AF65-F5344CB8AC3E}">
        <p14:creationId xmlns:p14="http://schemas.microsoft.com/office/powerpoint/2010/main" val="25273380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230505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/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21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2497137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21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TextBox 35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</p:spTree>
    <p:extLst>
      <p:ext uri="{BB962C8B-B14F-4D97-AF65-F5344CB8AC3E}">
        <p14:creationId xmlns:p14="http://schemas.microsoft.com/office/powerpoint/2010/main" val="22108449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505" y="774663"/>
            <a:ext cx="20369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0505" y="1192036"/>
            <a:ext cx="20369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41867" y="774663"/>
            <a:ext cx="20377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41867" y="1192036"/>
            <a:ext cx="20377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23" name="TextBox 22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</p:spTree>
    <p:extLst>
      <p:ext uri="{BB962C8B-B14F-4D97-AF65-F5344CB8AC3E}">
        <p14:creationId xmlns:p14="http://schemas.microsoft.com/office/powerpoint/2010/main" val="30179691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</p:spTree>
    <p:extLst>
      <p:ext uri="{BB962C8B-B14F-4D97-AF65-F5344CB8AC3E}">
        <p14:creationId xmlns:p14="http://schemas.microsoft.com/office/powerpoint/2010/main" val="118288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2421" y="807509"/>
            <a:ext cx="2577174" cy="2283935"/>
          </a:xfrm>
        </p:spPr>
        <p:txBody>
          <a:bodyPr/>
          <a:lstStyle>
            <a:lvl1pPr>
              <a:defRPr sz="1613"/>
            </a:lvl1pPr>
            <a:lvl2pPr>
              <a:defRPr sz="1412"/>
            </a:lvl2pPr>
            <a:lvl3pPr>
              <a:defRPr sz="1210"/>
            </a:lvl3pPr>
            <a:lvl4pPr>
              <a:defRPr sz="1008"/>
            </a:lvl4pPr>
            <a:lvl5pPr>
              <a:defRPr sz="1008"/>
            </a:lvl5pPr>
            <a:lvl6pPr>
              <a:defRPr sz="1008"/>
            </a:lvl6pPr>
            <a:lvl7pPr>
              <a:defRPr sz="1008"/>
            </a:lvl7pPr>
            <a:lvl8pPr>
              <a:defRPr sz="1008"/>
            </a:lvl8pPr>
            <a:lvl9pPr>
              <a:defRPr sz="100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0505" y="807509"/>
            <a:ext cx="1516691" cy="2283935"/>
          </a:xfrm>
        </p:spPr>
        <p:txBody>
          <a:bodyPr/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22" name="TextBox 21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</p:spTree>
    <p:extLst>
      <p:ext uri="{BB962C8B-B14F-4D97-AF65-F5344CB8AC3E}">
        <p14:creationId xmlns:p14="http://schemas.microsoft.com/office/powerpoint/2010/main" val="25887432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612" y="2728545"/>
            <a:ext cx="2766060" cy="153811"/>
          </a:xfrm>
        </p:spPr>
        <p:txBody>
          <a:bodyPr anchor="b">
            <a:normAutofit/>
          </a:bodyPr>
          <a:lstStyle>
            <a:lvl1pPr algn="l">
              <a:defRPr sz="908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03612" y="922867"/>
            <a:ext cx="2766060" cy="1730375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 marL="0" indent="0">
              <a:buNone/>
              <a:defRPr sz="1613"/>
            </a:lvl1pPr>
            <a:lvl2pPr marL="230520" indent="0">
              <a:buNone/>
              <a:defRPr sz="1412"/>
            </a:lvl2pPr>
            <a:lvl3pPr marL="461040" indent="0">
              <a:buNone/>
              <a:defRPr sz="1210"/>
            </a:lvl3pPr>
            <a:lvl4pPr marL="691561" indent="0">
              <a:buNone/>
              <a:defRPr sz="1008"/>
            </a:lvl4pPr>
            <a:lvl5pPr marL="922081" indent="0">
              <a:buNone/>
              <a:defRPr sz="1008"/>
            </a:lvl5pPr>
            <a:lvl6pPr marL="1152601" indent="0">
              <a:buNone/>
              <a:defRPr sz="1008"/>
            </a:lvl6pPr>
            <a:lvl7pPr marL="1383121" indent="0">
              <a:buNone/>
              <a:defRPr sz="1008"/>
            </a:lvl7pPr>
            <a:lvl8pPr marL="1613642" indent="0">
              <a:buNone/>
              <a:defRPr sz="1008"/>
            </a:lvl8pPr>
            <a:lvl9pPr marL="1844162" indent="0">
              <a:buNone/>
              <a:defRPr sz="1008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3612" y="2882356"/>
            <a:ext cx="2766060" cy="153811"/>
          </a:xfrm>
        </p:spPr>
        <p:txBody>
          <a:bodyPr>
            <a:normAutofit/>
          </a:bodyPr>
          <a:lstStyle>
            <a:lvl1pPr marL="0" indent="0"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</p:spTree>
    <p:extLst>
      <p:ext uri="{BB962C8B-B14F-4D97-AF65-F5344CB8AC3E}">
        <p14:creationId xmlns:p14="http://schemas.microsoft.com/office/powerpoint/2010/main" val="385844739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33" name="TextBox 32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</p:spTree>
    <p:extLst>
      <p:ext uri="{BB962C8B-B14F-4D97-AF65-F5344CB8AC3E}">
        <p14:creationId xmlns:p14="http://schemas.microsoft.com/office/powerpoint/2010/main" val="371060168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4680" y="192264"/>
            <a:ext cx="3034983" cy="29528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2726284" y="1384564"/>
            <a:ext cx="2960864" cy="576263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8" name="Group 7"/>
          <p:cNvGrpSpPr/>
          <p:nvPr userDrawn="1"/>
        </p:nvGrpSpPr>
        <p:grpSpPr>
          <a:xfrm rot="5400000">
            <a:off x="2522830" y="1295869"/>
            <a:ext cx="2614789" cy="23050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383026" y="571022"/>
            <a:ext cx="1106750" cy="349235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 rot="5400000">
            <a:off x="-1410216" y="1899206"/>
            <a:ext cx="2960864" cy="162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54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454" dirty="0">
                <a:solidFill>
                  <a:srgbClr val="101141"/>
                </a:solidFill>
                <a:latin typeface="Arial"/>
                <a:cs typeface="Arial"/>
              </a:rPr>
              <a:t>Pilani, Hyderabad</a:t>
            </a:r>
            <a:r>
              <a:rPr lang="en-US" sz="454" baseline="0" dirty="0">
                <a:solidFill>
                  <a:srgbClr val="101141"/>
                </a:solidFill>
                <a:latin typeface="Arial"/>
                <a:cs typeface="Arial"/>
              </a:rPr>
              <a:t> </a:t>
            </a:r>
            <a:r>
              <a:rPr lang="en-US" sz="454" dirty="0">
                <a:solidFill>
                  <a:srgbClr val="101141"/>
                </a:solidFill>
                <a:latin typeface="Arial"/>
                <a:cs typeface="Arial"/>
              </a:rPr>
              <a:t>Campus</a:t>
            </a:r>
          </a:p>
        </p:txBody>
      </p:sp>
    </p:spTree>
    <p:extLst>
      <p:ext uri="{BB962C8B-B14F-4D97-AF65-F5344CB8AC3E}">
        <p14:creationId xmlns:p14="http://schemas.microsoft.com/office/powerpoint/2010/main" val="2871316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7" Type="http://schemas.openxmlformats.org/officeDocument/2006/relationships/image" Target="../media/image1.png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 /><Relationship Id="rId13" Type="http://schemas.openxmlformats.org/officeDocument/2006/relationships/slideLayout" Target="../slideLayouts/slideLayout18.xml" /><Relationship Id="rId18" Type="http://schemas.openxmlformats.org/officeDocument/2006/relationships/slideLayout" Target="../slideLayouts/slideLayout23.xml" /><Relationship Id="rId3" Type="http://schemas.openxmlformats.org/officeDocument/2006/relationships/slideLayout" Target="../slideLayouts/slideLayout8.xml" /><Relationship Id="rId21" Type="http://schemas.openxmlformats.org/officeDocument/2006/relationships/slideLayout" Target="../slideLayouts/slideLayout26.xml" /><Relationship Id="rId7" Type="http://schemas.openxmlformats.org/officeDocument/2006/relationships/slideLayout" Target="../slideLayouts/slideLayout12.xml" /><Relationship Id="rId12" Type="http://schemas.openxmlformats.org/officeDocument/2006/relationships/slideLayout" Target="../slideLayouts/slideLayout17.xml" /><Relationship Id="rId17" Type="http://schemas.openxmlformats.org/officeDocument/2006/relationships/slideLayout" Target="../slideLayouts/slideLayout22.xml" /><Relationship Id="rId2" Type="http://schemas.openxmlformats.org/officeDocument/2006/relationships/slideLayout" Target="../slideLayouts/slideLayout7.xml" /><Relationship Id="rId16" Type="http://schemas.openxmlformats.org/officeDocument/2006/relationships/slideLayout" Target="../slideLayouts/slideLayout21.xml" /><Relationship Id="rId20" Type="http://schemas.openxmlformats.org/officeDocument/2006/relationships/slideLayout" Target="../slideLayouts/slideLayout25.xml" /><Relationship Id="rId1" Type="http://schemas.openxmlformats.org/officeDocument/2006/relationships/slideLayout" Target="../slideLayouts/slideLayout6.xml" /><Relationship Id="rId6" Type="http://schemas.openxmlformats.org/officeDocument/2006/relationships/slideLayout" Target="../slideLayouts/slideLayout11.xml" /><Relationship Id="rId11" Type="http://schemas.openxmlformats.org/officeDocument/2006/relationships/slideLayout" Target="../slideLayouts/slideLayout16.xml" /><Relationship Id="rId5" Type="http://schemas.openxmlformats.org/officeDocument/2006/relationships/slideLayout" Target="../slideLayouts/slideLayout10.xml" /><Relationship Id="rId15" Type="http://schemas.openxmlformats.org/officeDocument/2006/relationships/slideLayout" Target="../slideLayouts/slideLayout20.xml" /><Relationship Id="rId23" Type="http://schemas.openxmlformats.org/officeDocument/2006/relationships/theme" Target="../theme/theme2.xml" /><Relationship Id="rId10" Type="http://schemas.openxmlformats.org/officeDocument/2006/relationships/slideLayout" Target="../slideLayouts/slideLayout15.xml" /><Relationship Id="rId19" Type="http://schemas.openxmlformats.org/officeDocument/2006/relationships/slideLayout" Target="../slideLayouts/slideLayout24.xml" /><Relationship Id="rId4" Type="http://schemas.openxmlformats.org/officeDocument/2006/relationships/slideLayout" Target="../slideLayouts/slideLayout9.xml" /><Relationship Id="rId9" Type="http://schemas.openxmlformats.org/officeDocument/2006/relationships/slideLayout" Target="../slideLayouts/slideLayout14.xml" /><Relationship Id="rId14" Type="http://schemas.openxmlformats.org/officeDocument/2006/relationships/slideLayout" Target="../slideLayouts/slideLayout19.xml" /><Relationship Id="rId22" Type="http://schemas.openxmlformats.org/officeDocument/2006/relationships/slideLayout" Target="../slideLayouts/slideLayout27.xml" 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 /><Relationship Id="rId3" Type="http://schemas.openxmlformats.org/officeDocument/2006/relationships/slideLayout" Target="../slideLayouts/slideLayout30.xml" /><Relationship Id="rId7" Type="http://schemas.openxmlformats.org/officeDocument/2006/relationships/slideLayout" Target="../slideLayouts/slideLayout34.xml" /><Relationship Id="rId12" Type="http://schemas.openxmlformats.org/officeDocument/2006/relationships/theme" Target="../theme/theme3.xml" /><Relationship Id="rId2" Type="http://schemas.openxmlformats.org/officeDocument/2006/relationships/slideLayout" Target="../slideLayouts/slideLayout29.xml" /><Relationship Id="rId1" Type="http://schemas.openxmlformats.org/officeDocument/2006/relationships/slideLayout" Target="../slideLayouts/slideLayout28.xml" /><Relationship Id="rId6" Type="http://schemas.openxmlformats.org/officeDocument/2006/relationships/slideLayout" Target="../slideLayouts/slideLayout33.xml" /><Relationship Id="rId11" Type="http://schemas.openxmlformats.org/officeDocument/2006/relationships/slideLayout" Target="../slideLayouts/slideLayout38.xml" /><Relationship Id="rId5" Type="http://schemas.openxmlformats.org/officeDocument/2006/relationships/slideLayout" Target="../slideLayouts/slideLayout32.xml" /><Relationship Id="rId10" Type="http://schemas.openxmlformats.org/officeDocument/2006/relationships/slideLayout" Target="../slideLayouts/slideLayout37.xml" /><Relationship Id="rId4" Type="http://schemas.openxmlformats.org/officeDocument/2006/relationships/slideLayout" Target="../slideLayouts/slideLayout31.xml" /><Relationship Id="rId9" Type="http://schemas.openxmlformats.org/officeDocument/2006/relationships/slideLayout" Target="../slideLayouts/slideLayout3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70380"/>
            <a:ext cx="4571961" cy="321899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69083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8946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167268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323614" y="3360914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3" y="0"/>
                </a:lnTo>
                <a:lnTo>
                  <a:pt x="63833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260445" y="33672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620326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1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531425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607626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78593" y="3360914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1" y="12700"/>
                </a:lnTo>
              </a:path>
              <a:path w="50800" h="25400">
                <a:moveTo>
                  <a:pt x="12700" y="25400"/>
                </a:moveTo>
                <a:lnTo>
                  <a:pt x="50801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02393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3878593" y="3399015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1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14957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51033" y="3391395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1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423969" y="3364900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7" y="15183"/>
                </a:moveTo>
                <a:lnTo>
                  <a:pt x="30367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7" y="23568"/>
                </a:lnTo>
                <a:lnTo>
                  <a:pt x="30367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4329112" y="3360914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80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80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72527"/>
            <a:ext cx="289433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6557" y="623886"/>
            <a:ext cx="3902710" cy="23704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7249" y="1153583"/>
            <a:ext cx="3675403" cy="2030307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7249" y="3265309"/>
            <a:ext cx="814535" cy="1384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31234" y="3265309"/>
            <a:ext cx="2231489" cy="1384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97867" y="3265309"/>
            <a:ext cx="368168" cy="1384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288131" y="416988"/>
            <a:ext cx="0" cy="46143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7144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  <p:sldLayoutId id="2147483686" r:id="rId20"/>
    <p:sldLayoutId id="2147483687" r:id="rId21"/>
    <p:sldLayoutId id="2147483688" r:id="rId22"/>
  </p:sldLayoutIdLst>
  <p:hf hdr="0"/>
  <p:txStyles>
    <p:titleStyle>
      <a:lvl1pPr algn="l" defTabSz="461040" rtl="0" eaLnBrk="1" latinLnBrk="0" hangingPunct="1">
        <a:lnSpc>
          <a:spcPct val="80000"/>
        </a:lnSpc>
        <a:spcBef>
          <a:spcPct val="0"/>
        </a:spcBef>
        <a:buNone/>
        <a:defRPr sz="2218" kern="1200" cap="all" spc="5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46104" indent="-46104" algn="l" defTabSz="461040" rtl="0" eaLnBrk="1" latinLnBrk="0" hangingPunct="1">
        <a:lnSpc>
          <a:spcPct val="90000"/>
        </a:lnSpc>
        <a:spcBef>
          <a:spcPts val="605"/>
        </a:spcBef>
        <a:spcAft>
          <a:spcPts val="101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008" kern="1200">
          <a:solidFill>
            <a:schemeClr val="tx1"/>
          </a:solidFill>
          <a:latin typeface="+mn-lt"/>
          <a:ea typeface="+mn-ea"/>
          <a:cs typeface="+mn-cs"/>
        </a:defRPr>
      </a:lvl1pPr>
      <a:lvl2pPr marL="133702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807" kern="1200">
          <a:solidFill>
            <a:schemeClr val="tx1"/>
          </a:solidFill>
          <a:latin typeface="+mn-lt"/>
          <a:ea typeface="+mn-ea"/>
          <a:cs typeface="+mn-cs"/>
        </a:defRPr>
      </a:lvl2pPr>
      <a:lvl3pPr marL="22591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3pPr>
      <a:lvl4pPr marL="299676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4pPr>
      <a:lvl5pPr marL="391884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5pPr>
      <a:lvl6pPr marL="46104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6pPr>
      <a:lvl7pPr marL="534807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7pPr>
      <a:lvl8pPr marL="613184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8pPr>
      <a:lvl9pPr marL="68695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1pPr>
      <a:lvl2pPr marL="23052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2pPr>
      <a:lvl3pPr marL="46104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69156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4pPr>
      <a:lvl5pPr marL="92208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5pPr>
      <a:lvl6pPr marL="115260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6pPr>
      <a:lvl7pPr marL="138312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7pPr>
      <a:lvl8pPr marL="161364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8pPr>
      <a:lvl9pPr marL="184416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0505" y="138590"/>
            <a:ext cx="4149090" cy="5767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505" y="807509"/>
            <a:ext cx="4149090" cy="22839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0505" y="3207603"/>
            <a:ext cx="1075690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5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75118" y="3207603"/>
            <a:ext cx="1459865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5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AAOC ZC222 Optimization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303905" y="3207603"/>
            <a:ext cx="1075690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5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777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/>
  <p:txStyles>
    <p:titleStyle>
      <a:lvl1pPr algn="l" defTabSz="461040" rtl="0" eaLnBrk="1" latinLnBrk="0" hangingPunct="1">
        <a:spcBef>
          <a:spcPct val="0"/>
        </a:spcBef>
        <a:buNone/>
        <a:defRPr sz="2017" b="1" kern="1200" spc="-76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172890" indent="-172890" algn="l" defTabSz="461040" rtl="0" eaLnBrk="1" latinLnBrk="0" hangingPunct="1">
        <a:spcBef>
          <a:spcPct val="20000"/>
        </a:spcBef>
        <a:buFont typeface="Arial" pitchFamily="34" charset="0"/>
        <a:buChar char="•"/>
        <a:defRPr sz="1613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374595" indent="-144075" algn="l" defTabSz="461040" rtl="0" eaLnBrk="1" latinLnBrk="0" hangingPunct="1">
        <a:spcBef>
          <a:spcPct val="20000"/>
        </a:spcBef>
        <a:buFont typeface="Arial" pitchFamily="34" charset="0"/>
        <a:buChar char="–"/>
        <a:defRPr sz="1412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576301" indent="-115260" algn="l" defTabSz="461040" rtl="0" eaLnBrk="1" latinLnBrk="0" hangingPunct="1">
        <a:spcBef>
          <a:spcPct val="20000"/>
        </a:spcBef>
        <a:buFont typeface="Arial" pitchFamily="34" charset="0"/>
        <a:buChar char="•"/>
        <a:defRPr sz="121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806821" indent="-115260" algn="l" defTabSz="461040" rtl="0" eaLnBrk="1" latinLnBrk="0" hangingPunct="1">
        <a:spcBef>
          <a:spcPct val="20000"/>
        </a:spcBef>
        <a:buFont typeface="Arial" pitchFamily="34" charset="0"/>
        <a:buChar char="–"/>
        <a:defRPr sz="1008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037341" indent="-115260" algn="l" defTabSz="461040" rtl="0" eaLnBrk="1" latinLnBrk="0" hangingPunct="1">
        <a:spcBef>
          <a:spcPct val="20000"/>
        </a:spcBef>
        <a:buFont typeface="Arial" pitchFamily="34" charset="0"/>
        <a:buChar char="»"/>
        <a:defRPr sz="1008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267861" indent="-115260" algn="l" defTabSz="461040" rtl="0" eaLnBrk="1" latinLnBrk="0" hangingPunct="1">
        <a:spcBef>
          <a:spcPct val="20000"/>
        </a:spcBef>
        <a:buFont typeface="Arial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6pPr>
      <a:lvl7pPr marL="1498382" indent="-115260" algn="l" defTabSz="461040" rtl="0" eaLnBrk="1" latinLnBrk="0" hangingPunct="1">
        <a:spcBef>
          <a:spcPct val="20000"/>
        </a:spcBef>
        <a:buFont typeface="Arial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7pPr>
      <a:lvl8pPr marL="1728902" indent="-115260" algn="l" defTabSz="461040" rtl="0" eaLnBrk="1" latinLnBrk="0" hangingPunct="1">
        <a:spcBef>
          <a:spcPct val="20000"/>
        </a:spcBef>
        <a:buFont typeface="Arial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8pPr>
      <a:lvl9pPr marL="1959422" indent="-115260" algn="l" defTabSz="461040" rtl="0" eaLnBrk="1" latinLnBrk="0" hangingPunct="1">
        <a:spcBef>
          <a:spcPct val="20000"/>
        </a:spcBef>
        <a:buFont typeface="Arial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1pPr>
      <a:lvl2pPr marL="23052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2pPr>
      <a:lvl3pPr marL="46104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69156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4pPr>
      <a:lvl5pPr marL="92208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5pPr>
      <a:lvl6pPr marL="115260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6pPr>
      <a:lvl7pPr marL="138312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7pPr>
      <a:lvl8pPr marL="161364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8pPr>
      <a:lvl9pPr marL="184416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 /><Relationship Id="rId1" Type="http://schemas.openxmlformats.org/officeDocument/2006/relationships/slideLayout" Target="../slideLayouts/slideLayout18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18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 /><Relationship Id="rId1" Type="http://schemas.openxmlformats.org/officeDocument/2006/relationships/slideLayout" Target="../slideLayouts/slideLayout18.xml" 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 /><Relationship Id="rId2" Type="http://schemas.openxmlformats.org/officeDocument/2006/relationships/image" Target="../media/image140.png" /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 /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2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2.xml" 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2.xml" 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2.xml" 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2.xml" 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 /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2.xml" 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2.xml" 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31.xml" 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 /><Relationship Id="rId1" Type="http://schemas.openxmlformats.org/officeDocument/2006/relationships/slideLayout" Target="../slideLayouts/slideLayout31.xml" 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 /><Relationship Id="rId2" Type="http://schemas.openxmlformats.org/officeDocument/2006/relationships/image" Target="../media/image24.png" /><Relationship Id="rId1" Type="http://schemas.openxmlformats.org/officeDocument/2006/relationships/slideLayout" Target="../slideLayouts/slideLayout31.xml" 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 /><Relationship Id="rId1" Type="http://schemas.openxmlformats.org/officeDocument/2006/relationships/slideLayout" Target="../slideLayouts/slideLayout31.xml" 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 /><Relationship Id="rId1" Type="http://schemas.openxmlformats.org/officeDocument/2006/relationships/slideLayout" Target="../slideLayouts/slideLayout3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78559" y="1772688"/>
            <a:ext cx="1450975" cy="6851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1400" spc="1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Math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Foundations</a:t>
            </a: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Team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3487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Analytic</a:t>
            </a:r>
            <a:r>
              <a:rPr spc="285" dirty="0"/>
              <a:t> </a:t>
            </a:r>
            <a:r>
              <a:rPr spc="-10" dirty="0"/>
              <a:t>geometry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982304"/>
            <a:ext cx="3734435" cy="138176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15265" indent="-177165">
              <a:lnSpc>
                <a:spcPct val="100000"/>
              </a:lnSpc>
              <a:spcBef>
                <a:spcPts val="434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0" dirty="0">
                <a:latin typeface="Tahoma"/>
                <a:cs typeface="Tahoma"/>
              </a:rPr>
              <a:t> studied</a:t>
            </a:r>
            <a:r>
              <a:rPr sz="1100" spc="-35" dirty="0">
                <a:latin typeface="Tahoma"/>
                <a:cs typeface="Tahoma"/>
              </a:rPr>
              <a:t> vector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spaces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previous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lecture.</a:t>
            </a:r>
            <a:endParaRPr sz="1100">
              <a:latin typeface="Tahoma"/>
              <a:cs typeface="Tahoma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20" dirty="0">
                <a:latin typeface="Tahoma"/>
                <a:cs typeface="Tahoma"/>
              </a:rPr>
              <a:t>Now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would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like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provide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some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geometric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interpretation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these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concepts.</a:t>
            </a:r>
            <a:endParaRPr sz="1100">
              <a:latin typeface="Tahoma"/>
              <a:cs typeface="Tahoma"/>
            </a:endParaRPr>
          </a:p>
          <a:p>
            <a:pPr marL="214629" marR="130175" indent="-177165">
              <a:lnSpc>
                <a:spcPct val="102699"/>
              </a:lnSpc>
              <a:spcBef>
                <a:spcPts val="29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shall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take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close </a:t>
            </a:r>
            <a:r>
              <a:rPr sz="1100" dirty="0">
                <a:latin typeface="Tahoma"/>
                <a:cs typeface="Tahoma"/>
              </a:rPr>
              <a:t>look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geometric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spc="-35" dirty="0">
                <a:latin typeface="Tahoma"/>
                <a:cs typeface="Tahoma"/>
              </a:rPr>
              <a:t> and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35" dirty="0">
                <a:latin typeface="Tahoma"/>
                <a:cs typeface="Tahoma"/>
              </a:rPr>
              <a:t>concepts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lengths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angles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vectors.</a:t>
            </a:r>
            <a:endParaRPr sz="1100">
              <a:latin typeface="Tahoma"/>
              <a:cs typeface="Tahoma"/>
            </a:endParaRPr>
          </a:p>
          <a:p>
            <a:pPr marL="214629" marR="4381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But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first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need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add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concept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inner product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 </a:t>
            </a:r>
            <a:r>
              <a:rPr sz="1100" spc="-20" dirty="0">
                <a:latin typeface="Tahoma"/>
                <a:cs typeface="Tahoma"/>
              </a:rPr>
              <a:t>our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space.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1107A-8751-E23A-4854-C4E545BBC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894330" cy="430887"/>
          </a:xfrm>
        </p:spPr>
        <p:txBody>
          <a:bodyPr/>
          <a:lstStyle/>
          <a:p>
            <a:r>
              <a:rPr lang="en-IN" dirty="0"/>
              <a:t>Motivation to study the distance between vectors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970A42-2AD5-D8B0-367C-E9A915819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300" y="739775"/>
            <a:ext cx="4343349" cy="2369880"/>
          </a:xfrm>
        </p:spPr>
        <p:txBody>
          <a:bodyPr/>
          <a:lstStyle/>
          <a:p>
            <a:r>
              <a:rPr lang="en-US" dirty="0"/>
              <a:t> First let us introduce Similarity and Dissimilarity between data Objects:</a:t>
            </a:r>
          </a:p>
          <a:p>
            <a:endParaRPr lang="en-US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dirty="0"/>
              <a:t>Similarity is a numerical measure of how alike two data objects are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dirty="0"/>
              <a:t>Value is higher when data objects are more alike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dirty="0"/>
              <a:t>Often falls in the range of [0,1] (Otherwise one can normalize)</a:t>
            </a:r>
          </a:p>
          <a:p>
            <a:endParaRPr lang="en-US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dirty="0"/>
              <a:t>Dissimilarity is a numerical measure of how different two data objects are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dirty="0"/>
              <a:t>Lower when objects are more alike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dirty="0"/>
              <a:t>Minimum dissimilarity is 0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dirty="0"/>
              <a:t>Upper limits varies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9198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3D248-27BD-417C-AB15-5B55F7D39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894330" cy="430887"/>
          </a:xfrm>
        </p:spPr>
        <p:txBody>
          <a:bodyPr/>
          <a:lstStyle/>
          <a:p>
            <a:r>
              <a:rPr lang="en-US" dirty="0"/>
              <a:t>The Data Matrix and Dissimilarity matrix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166E4-5DBE-483A-9281-AFD879B1D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1449" y="815975"/>
            <a:ext cx="4127817" cy="169277"/>
          </a:xfrm>
        </p:spPr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81BDD37-A488-4A4B-9885-89011FD775B4}"/>
                  </a:ext>
                </a:extLst>
              </p:cNvPr>
              <p:cNvSpPr txBox="1"/>
              <p:nvPr/>
            </p:nvSpPr>
            <p:spPr>
              <a:xfrm>
                <a:off x="171450" y="815976"/>
                <a:ext cx="4267202" cy="22279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/>
                  <a:t>Suppose we have n data objects with p attributes, the Data Matrix is given by</a:t>
                </a:r>
              </a:p>
              <a:p>
                <a:endParaRPr lang="en-US" sz="1000" dirty="0"/>
              </a:p>
              <a:p>
                <a:endParaRPr lang="en-US" sz="1000" dirty="0"/>
              </a:p>
              <a:p>
                <a:r>
                  <a:rPr lang="en-US" sz="1000" dirty="0"/>
                  <a:t>                                  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1(</m:t>
                                        </m:r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−1)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2(</m:t>
                                        </m:r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−1)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000" b="0" i="1" smtClean="0"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000" b="0" i="1" smtClean="0"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000" b="0" i="1" smtClean="0"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  <m: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−1)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000" b="0" i="1" smtClean="0"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𝑛𝑝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IN" sz="1000" dirty="0"/>
              </a:p>
              <a:p>
                <a:endParaRPr lang="en-US" sz="1000" dirty="0"/>
              </a:p>
              <a:p>
                <a:r>
                  <a:rPr lang="en-US" sz="1000" dirty="0"/>
                  <a:t>N</a:t>
                </a:r>
                <a:r>
                  <a:rPr lang="en-IN" sz="1000" dirty="0" err="1"/>
                  <a:t>ote</a:t>
                </a:r>
                <a:r>
                  <a:rPr lang="en-IN" sz="1000" dirty="0"/>
                  <a:t> that the order of the data matrix is </a:t>
                </a:r>
                <a:r>
                  <a:rPr lang="en-IN" sz="1000" dirty="0" err="1"/>
                  <a:t>nxp</a:t>
                </a:r>
                <a:r>
                  <a:rPr lang="en-IN" sz="1000" dirty="0"/>
                  <a:t>.</a:t>
                </a:r>
              </a:p>
              <a:p>
                <a:endParaRPr lang="en-US" sz="1000" dirty="0"/>
              </a:p>
              <a:p>
                <a:endParaRPr lang="en-US" sz="1000" dirty="0"/>
              </a:p>
              <a:p>
                <a:r>
                  <a:rPr lang="en-US" sz="1000" dirty="0"/>
                  <a:t>N</a:t>
                </a:r>
                <a:r>
                  <a:rPr lang="en-IN" sz="1000" dirty="0"/>
                  <a:t>ow we want to give the dissimilarity matrix  in which the (</a:t>
                </a:r>
                <a:r>
                  <a:rPr lang="en-IN" sz="1000" dirty="0" err="1"/>
                  <a:t>i</a:t>
                </a:r>
                <a:r>
                  <a:rPr lang="en-IN" sz="1000" dirty="0"/>
                  <a:t>, j) </a:t>
                </a:r>
                <a:r>
                  <a:rPr lang="en-IN" sz="1000" dirty="0" err="1"/>
                  <a:t>th</a:t>
                </a:r>
                <a:r>
                  <a:rPr lang="en-IN" sz="1000" dirty="0"/>
                  <a:t> entry gives the dissimilarity measure of </a:t>
                </a:r>
                <a:r>
                  <a:rPr lang="en-IN" sz="1000" dirty="0" err="1"/>
                  <a:t>ith</a:t>
                </a:r>
                <a:r>
                  <a:rPr lang="en-IN" sz="1000" dirty="0"/>
                  <a:t> and </a:t>
                </a:r>
                <a:r>
                  <a:rPr lang="en-IN" sz="1000" dirty="0" err="1"/>
                  <a:t>jth</a:t>
                </a:r>
                <a:r>
                  <a:rPr lang="en-IN" sz="1000" dirty="0"/>
                  <a:t> data objects.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81BDD37-A488-4A4B-9885-89011FD77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50" y="815976"/>
                <a:ext cx="4267202" cy="2227918"/>
              </a:xfrm>
              <a:prstGeom prst="rect">
                <a:avLst/>
              </a:prstGeom>
              <a:blipFill>
                <a:blip r:embed="rId2"/>
                <a:stretch>
                  <a:fillRect b="-2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02AA720-06FC-4581-8F8D-7DAE60E98C53}"/>
              </a:ext>
            </a:extLst>
          </p:cNvPr>
          <p:cNvSpPr txBox="1"/>
          <p:nvPr/>
        </p:nvSpPr>
        <p:spPr>
          <a:xfrm>
            <a:off x="1839861" y="1272048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B08AA4-0B1C-4EC9-AB09-24A63E9919AF}"/>
              </a:ext>
            </a:extLst>
          </p:cNvPr>
          <p:cNvSpPr txBox="1"/>
          <p:nvPr/>
        </p:nvSpPr>
        <p:spPr>
          <a:xfrm>
            <a:off x="1085850" y="1128536"/>
            <a:ext cx="76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Data Objects</a:t>
            </a:r>
          </a:p>
          <a:p>
            <a:r>
              <a:rPr lang="en-US" sz="1000" dirty="0"/>
              <a:t>x</a:t>
            </a:r>
            <a:r>
              <a:rPr lang="en-US" sz="1000" baseline="-25000" dirty="0"/>
              <a:t>1</a:t>
            </a:r>
          </a:p>
          <a:p>
            <a:r>
              <a:rPr lang="en-US" sz="1000" baseline="-25000" dirty="0"/>
              <a:t> </a:t>
            </a:r>
            <a:r>
              <a:rPr lang="en-US" sz="1000" dirty="0"/>
              <a:t>x</a:t>
            </a:r>
            <a:r>
              <a:rPr lang="en-US" sz="1000" baseline="-25000" dirty="0"/>
              <a:t>2</a:t>
            </a:r>
          </a:p>
          <a:p>
            <a:endParaRPr lang="en-US" sz="1000" dirty="0"/>
          </a:p>
          <a:p>
            <a:r>
              <a:rPr lang="en-US" sz="1000" dirty="0" err="1"/>
              <a:t>x</a:t>
            </a:r>
            <a:r>
              <a:rPr lang="en-US" sz="1000" baseline="-25000" dirty="0" err="1"/>
              <a:t>n</a:t>
            </a:r>
            <a:r>
              <a:rPr lang="en-US" sz="1000" dirty="0"/>
              <a:t> </a:t>
            </a:r>
            <a:endParaRPr lang="en-IN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69DA29-6EDC-4248-BEA2-2A46A0EA5286}"/>
              </a:ext>
            </a:extLst>
          </p:cNvPr>
          <p:cNvSpPr txBox="1"/>
          <p:nvPr/>
        </p:nvSpPr>
        <p:spPr>
          <a:xfrm>
            <a:off x="1695450" y="1128536"/>
            <a:ext cx="1752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         Attributes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2280074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A0E6D-59F7-4EB2-9FBA-1A61F0352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894330" cy="215444"/>
          </a:xfrm>
        </p:spPr>
        <p:txBody>
          <a:bodyPr/>
          <a:lstStyle/>
          <a:p>
            <a:r>
              <a:rPr lang="en-US" dirty="0"/>
              <a:t>Dissimilarity Matrix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96EE205-443F-4B9C-A7D8-E716A7170F1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95412" y="739775"/>
                <a:ext cx="4190838" cy="2551083"/>
              </a:xfrm>
            </p:spPr>
            <p:txBody>
              <a:bodyPr/>
              <a:lstStyle/>
              <a:p>
                <a:r>
                  <a:rPr lang="en-US" dirty="0"/>
                  <a:t>  Suppose there are n data objects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The dissimilarity matrix is an </a:t>
                </a:r>
                <a:r>
                  <a:rPr lang="en-US" dirty="0" err="1"/>
                  <a:t>nxn</a:t>
                </a:r>
                <a:r>
                  <a:rPr lang="en-US" dirty="0"/>
                  <a:t> matrix  given by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,1</m:t>
                                        </m:r>
                                      </m:e>
                                    </m:d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(1,2)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(1,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,1</m:t>
                                        </m:r>
                                      </m:e>
                                    </m:d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,2)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(2,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,1</m:t>
                                        </m:r>
                                      </m:e>
                                    </m:d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,3)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3,2</m:t>
                                        </m:r>
                                      </m:e>
                                    </m:d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(2,3)</m:t>
                                    </m:r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,1</m:t>
                                              </m:r>
                                            </m:e>
                                          </m:d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(1,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,2</m:t>
                                              </m:r>
                                            </m:e>
                                          </m:d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(2,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…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</m:d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=0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en-US" dirty="0"/>
                  <a:t> Note that the diagonal elements are 0 since the dissimilarity measure between the same data objects are 0.</a:t>
                </a:r>
              </a:p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en-US" dirty="0"/>
                  <a:t>The dissimilarity matrix is a symmetric matrix  since the dissimilarity measure between x</a:t>
                </a:r>
                <a:r>
                  <a:rPr lang="en-US" baseline="-25000" dirty="0"/>
                  <a:t>i</a:t>
                </a:r>
                <a:r>
                  <a:rPr lang="en-US" dirty="0"/>
                  <a:t> and </a:t>
                </a:r>
                <a:r>
                  <a:rPr lang="en-US" dirty="0" err="1"/>
                  <a:t>x</a:t>
                </a:r>
                <a:r>
                  <a:rPr lang="en-US" baseline="-25000" dirty="0" err="1"/>
                  <a:t>j</a:t>
                </a:r>
                <a:r>
                  <a:rPr lang="en-US" dirty="0"/>
                  <a:t> is same the dissimilarity measure between  </a:t>
                </a:r>
                <a:r>
                  <a:rPr lang="en-US" dirty="0" err="1"/>
                  <a:t>x</a:t>
                </a:r>
                <a:r>
                  <a:rPr lang="en-US" baseline="-25000" dirty="0" err="1"/>
                  <a:t>j</a:t>
                </a:r>
                <a:r>
                  <a:rPr lang="en-US" dirty="0"/>
                  <a:t> and x</a:t>
                </a:r>
                <a:r>
                  <a:rPr lang="en-US" baseline="-25000" dirty="0"/>
                  <a:t>i</a:t>
                </a:r>
                <a:r>
                  <a:rPr lang="en-US" dirty="0"/>
                  <a:t>.</a:t>
                </a:r>
              </a:p>
              <a:p>
                <a:pPr marL="171450" indent="-171450"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96EE205-443F-4B9C-A7D8-E716A7170F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5412" y="739775"/>
                <a:ext cx="4190838" cy="2551083"/>
              </a:xfrm>
              <a:blipFill>
                <a:blip r:embed="rId2"/>
                <a:stretch>
                  <a:fillRect l="-2183" t="-1909" r="-7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6034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5115F-BE7F-4681-899E-7B3C725CF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894330" cy="215444"/>
          </a:xfrm>
        </p:spPr>
        <p:txBody>
          <a:bodyPr/>
          <a:lstStyle/>
          <a:p>
            <a:r>
              <a:rPr lang="en-US" dirty="0"/>
              <a:t>Dissimilarity Measures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560FC35-8D64-48B1-A81C-6E0EA170944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47650" y="739775"/>
                <a:ext cx="3902710" cy="2107115"/>
              </a:xfrm>
            </p:spPr>
            <p:txBody>
              <a:bodyPr/>
              <a:lstStyle/>
              <a:p>
                <a:r>
                  <a:rPr lang="en-US" dirty="0"/>
                  <a:t>There are many dissimilarity measures being used.</a:t>
                </a:r>
              </a:p>
              <a:p>
                <a:r>
                  <a:rPr lang="en-US" dirty="0"/>
                  <a:t>We are giving some of them without much details:</a:t>
                </a:r>
              </a:p>
              <a:p>
                <a:pPr marL="228600" indent="-228600">
                  <a:buAutoNum type="arabicPeriod"/>
                </a:pPr>
                <a:r>
                  <a:rPr lang="en-US" b="1" dirty="0"/>
                  <a:t>Simple dissimilarity measure </a:t>
                </a:r>
                <a:r>
                  <a:rPr lang="en-US" dirty="0"/>
                  <a:t>[Formula: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lang="en-IN" dirty="0"/>
                  <a:t> where p is the number of attributes and m is the number of matches of the attribute values of </a:t>
                </a:r>
                <a:r>
                  <a:rPr lang="en-IN" dirty="0" err="1"/>
                  <a:t>ith</a:t>
                </a:r>
                <a:r>
                  <a:rPr lang="en-IN" dirty="0"/>
                  <a:t> and </a:t>
                </a:r>
                <a:r>
                  <a:rPr lang="en-IN" dirty="0" err="1"/>
                  <a:t>jth</a:t>
                </a:r>
                <a:r>
                  <a:rPr lang="en-IN" dirty="0"/>
                  <a:t> data points.</a:t>
                </a:r>
              </a:p>
              <a:p>
                <a:pPr marL="228600" indent="-228600">
                  <a:buAutoNum type="arabicPeriod"/>
                </a:pPr>
                <a:r>
                  <a:rPr lang="en-US" b="1" dirty="0"/>
                  <a:t>Proximity dissimilarity Measure for binary attributes</a:t>
                </a:r>
              </a:p>
              <a:p>
                <a:pPr marL="228600" indent="-228600">
                  <a:buFontTx/>
                  <a:buAutoNum type="arabicPeriod"/>
                </a:pPr>
                <a:r>
                  <a:rPr lang="en-US" b="1" dirty="0"/>
                  <a:t>Dissimilarity Measure with Euclidian metric </a:t>
                </a:r>
                <a:r>
                  <a:rPr lang="en-US" dirty="0"/>
                  <a:t>Here   d(</a:t>
                </a:r>
                <a:r>
                  <a:rPr lang="en-US" dirty="0" err="1"/>
                  <a:t>i</a:t>
                </a:r>
                <a:r>
                  <a:rPr lang="en-US" dirty="0"/>
                  <a:t>, j) is the Euclidian distance between </a:t>
                </a:r>
                <a:r>
                  <a:rPr lang="en-IN" dirty="0" err="1"/>
                  <a:t>ith</a:t>
                </a:r>
                <a:r>
                  <a:rPr lang="en-IN" dirty="0"/>
                  <a:t> and </a:t>
                </a:r>
                <a:r>
                  <a:rPr lang="en-IN" dirty="0" err="1"/>
                  <a:t>jth</a:t>
                </a:r>
                <a:r>
                  <a:rPr lang="en-IN" dirty="0"/>
                  <a:t> data points.</a:t>
                </a:r>
              </a:p>
              <a:p>
                <a:endParaRPr lang="en-IN" b="1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560FC35-8D64-48B1-A81C-6E0EA17094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47650" y="739775"/>
                <a:ext cx="3902710" cy="2107115"/>
              </a:xfrm>
              <a:blipFill>
                <a:blip r:embed="rId2"/>
                <a:stretch>
                  <a:fillRect l="-2344" t="-20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7749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94281-A368-4A7E-8CA3-CB0C7FAB2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894330" cy="430887"/>
          </a:xfrm>
        </p:spPr>
        <p:txBody>
          <a:bodyPr/>
          <a:lstStyle/>
          <a:p>
            <a:r>
              <a:rPr lang="en-US" dirty="0"/>
              <a:t>Example of a dissimilarity matrix with Euclidian distance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3A01A-BD4A-4767-B6DF-8E7BF838B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851" y="815975"/>
            <a:ext cx="3932554" cy="338554"/>
          </a:xfrm>
        </p:spPr>
        <p:txBody>
          <a:bodyPr/>
          <a:lstStyle/>
          <a:p>
            <a:r>
              <a:rPr lang="en-US" dirty="0"/>
              <a:t>Suppose our data matrix of four data objects is given by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B7A30D-C80E-41FB-96B1-AF8B19BA2C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444798"/>
              </p:ext>
            </p:extLst>
          </p:nvPr>
        </p:nvGraphicFramePr>
        <p:xfrm>
          <a:off x="476249" y="1044575"/>
          <a:ext cx="2775768" cy="19981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5256">
                  <a:extLst>
                    <a:ext uri="{9D8B030D-6E8A-4147-A177-3AD203B41FA5}">
                      <a16:colId xmlns:a16="http://schemas.microsoft.com/office/drawing/2014/main" val="2025645297"/>
                    </a:ext>
                  </a:extLst>
                </a:gridCol>
                <a:gridCol w="925256">
                  <a:extLst>
                    <a:ext uri="{9D8B030D-6E8A-4147-A177-3AD203B41FA5}">
                      <a16:colId xmlns:a16="http://schemas.microsoft.com/office/drawing/2014/main" val="3655676226"/>
                    </a:ext>
                  </a:extLst>
                </a:gridCol>
                <a:gridCol w="925256">
                  <a:extLst>
                    <a:ext uri="{9D8B030D-6E8A-4147-A177-3AD203B41FA5}">
                      <a16:colId xmlns:a16="http://schemas.microsoft.com/office/drawing/2014/main" val="411431167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sz="1200" dirty="0"/>
                        <a:t>Data Object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Attribute 1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Attribute 2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224496"/>
                  </a:ext>
                </a:extLst>
              </a:tr>
              <a:tr h="38524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567400"/>
                  </a:ext>
                </a:extLst>
              </a:tr>
              <a:tr h="38524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8120225"/>
                  </a:ext>
                </a:extLst>
              </a:tr>
              <a:tr h="38524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1596650"/>
                  </a:ext>
                </a:extLst>
              </a:tr>
              <a:tr h="38524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8888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4011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E4AD3-BBFF-47C1-9CAE-768811C3A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894330" cy="430887"/>
          </a:xfrm>
        </p:spPr>
        <p:txBody>
          <a:bodyPr/>
          <a:lstStyle/>
          <a:p>
            <a:r>
              <a:rPr lang="en-US" dirty="0"/>
              <a:t>Example of a dissimilarity matrix with Euclidian distance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C7872-DB0B-4D77-9B3D-68AA7D2010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7650" y="815975"/>
            <a:ext cx="4051617" cy="2178366"/>
          </a:xfrm>
        </p:spPr>
        <p:txBody>
          <a:bodyPr/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DE75DF-4085-4ED5-AEFB-43B20F3DB3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2972182"/>
              </p:ext>
            </p:extLst>
          </p:nvPr>
        </p:nvGraphicFramePr>
        <p:xfrm>
          <a:off x="310833" y="822427"/>
          <a:ext cx="30734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4680">
                  <a:extLst>
                    <a:ext uri="{9D8B030D-6E8A-4147-A177-3AD203B41FA5}">
                      <a16:colId xmlns:a16="http://schemas.microsoft.com/office/drawing/2014/main" val="2286866342"/>
                    </a:ext>
                  </a:extLst>
                </a:gridCol>
                <a:gridCol w="614680">
                  <a:extLst>
                    <a:ext uri="{9D8B030D-6E8A-4147-A177-3AD203B41FA5}">
                      <a16:colId xmlns:a16="http://schemas.microsoft.com/office/drawing/2014/main" val="2155576027"/>
                    </a:ext>
                  </a:extLst>
                </a:gridCol>
                <a:gridCol w="614680">
                  <a:extLst>
                    <a:ext uri="{9D8B030D-6E8A-4147-A177-3AD203B41FA5}">
                      <a16:colId xmlns:a16="http://schemas.microsoft.com/office/drawing/2014/main" val="2447240826"/>
                    </a:ext>
                  </a:extLst>
                </a:gridCol>
                <a:gridCol w="614680">
                  <a:extLst>
                    <a:ext uri="{9D8B030D-6E8A-4147-A177-3AD203B41FA5}">
                      <a16:colId xmlns:a16="http://schemas.microsoft.com/office/drawing/2014/main" val="3472697076"/>
                    </a:ext>
                  </a:extLst>
                </a:gridCol>
                <a:gridCol w="614680">
                  <a:extLst>
                    <a:ext uri="{9D8B030D-6E8A-4147-A177-3AD203B41FA5}">
                      <a16:colId xmlns:a16="http://schemas.microsoft.com/office/drawing/2014/main" val="12635282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032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3.61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2.24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477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3.61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658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2.24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5.39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47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5.39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4067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0490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5E41C-BED0-48C2-B4DB-0201E8E5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894330" cy="215444"/>
          </a:xfrm>
        </p:spPr>
        <p:txBody>
          <a:bodyPr/>
          <a:lstStyle/>
          <a:p>
            <a:r>
              <a:rPr lang="en-US" dirty="0"/>
              <a:t>Example </a:t>
            </a:r>
            <a:r>
              <a:rPr lang="en-US" dirty="0" err="1"/>
              <a:t>Ctd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6F39305-6233-4BA3-8617-90690492347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71450" y="815975"/>
                <a:ext cx="4127817" cy="2236318"/>
              </a:xfrm>
            </p:spPr>
            <p:txBody>
              <a:bodyPr/>
              <a:lstStyle/>
              <a:p>
                <a:r>
                  <a:rPr lang="en-US" dirty="0"/>
                  <a:t>In each entry of the above table we calculate the Euclidian distance between the data objects. For example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(1−3)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(2−5)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e>
                      </m:ra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=3.61 </m:t>
                      </m:r>
                    </m:oMath>
                  </m:oMathPara>
                </a14:m>
                <a:endParaRPr lang="en-IN" dirty="0"/>
              </a:p>
              <a:p>
                <a:endParaRPr lang="en-US" dirty="0"/>
              </a:p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en-US" dirty="0"/>
                  <a:t>I</a:t>
                </a:r>
                <a:r>
                  <a:rPr lang="en-IN" dirty="0"/>
                  <a:t>n this context we need to study the distance between two vectors.</a:t>
                </a:r>
              </a:p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en-US" dirty="0"/>
                  <a:t>W</a:t>
                </a:r>
                <a:r>
                  <a:rPr lang="en-IN" dirty="0"/>
                  <a:t>e study this notion in more generic way.</a:t>
                </a:r>
              </a:p>
              <a:p>
                <a:pPr marL="171450" indent="-171450"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en-IN" dirty="0"/>
                  <a:t>first we define </a:t>
                </a:r>
                <a:r>
                  <a:rPr lang="en-IN" i="1" dirty="0"/>
                  <a:t>inner product </a:t>
                </a:r>
                <a:r>
                  <a:rPr lang="en-IN" dirty="0"/>
                  <a:t>of two vectors.</a:t>
                </a:r>
              </a:p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en-US" dirty="0"/>
                  <a:t>We will see that each inner product gives raise to a norm</a:t>
                </a:r>
              </a:p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en-US" dirty="0"/>
                  <a:t>Using a norm one can define distance between two vectors.</a:t>
                </a:r>
              </a:p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en-US" dirty="0"/>
                  <a:t>If we take the dot product which is an inner product in R</a:t>
                </a:r>
                <a:r>
                  <a:rPr lang="en-US" baseline="30000" dirty="0"/>
                  <a:t>n</a:t>
                </a:r>
                <a:r>
                  <a:rPr lang="en-US" dirty="0"/>
                  <a:t> we get the Euclidian norm.</a:t>
                </a:r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6F39305-6233-4BA3-8617-9069049234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71450" y="815975"/>
                <a:ext cx="4127817" cy="2236318"/>
              </a:xfrm>
              <a:blipFill>
                <a:blip r:embed="rId2"/>
                <a:stretch>
                  <a:fillRect l="-2068" t="-2180" b="-29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8475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32DF0-57E5-4CB1-ACD7-1961A14E8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894330" cy="215444"/>
          </a:xfrm>
        </p:spPr>
        <p:txBody>
          <a:bodyPr/>
          <a:lstStyle/>
          <a:p>
            <a:r>
              <a:rPr lang="en-US" dirty="0"/>
              <a:t>Dot product in R</a:t>
            </a:r>
            <a:r>
              <a:rPr lang="en-US" baseline="30000" dirty="0"/>
              <a:t>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7CA3B5A-266E-41E0-82DB-0365B551DBD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47651" y="815975"/>
                <a:ext cx="4008754" cy="2566985"/>
              </a:xfrm>
            </p:spPr>
            <p:txBody>
              <a:bodyPr/>
              <a:lstStyle/>
              <a:p>
                <a:r>
                  <a:rPr lang="en-US" dirty="0"/>
                  <a:t> Let x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Then the dot product of x and y is defined as </a:t>
                </a:r>
              </a:p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+…+</m:t>
                    </m:r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IN" dirty="0"/>
              </a:p>
              <a:p>
                <a:endParaRPr lang="en-US" dirty="0"/>
              </a:p>
              <a:p>
                <a:r>
                  <a:rPr lang="en-US" dirty="0"/>
                  <a:t>L</a:t>
                </a:r>
                <a:r>
                  <a:rPr lang="en-IN" dirty="0"/>
                  <a:t>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IN" dirty="0"/>
                  <a:t>.</a:t>
                </a:r>
              </a:p>
              <a:p>
                <a:r>
                  <a:rPr lang="en-US" dirty="0"/>
                  <a:t>T</a:t>
                </a:r>
                <a:r>
                  <a:rPr lang="en-IN" dirty="0"/>
                  <a:t>hen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en-US" b="1" i="1" dirty="0">
                    <a:latin typeface="Cambria Math" panose="02040503050406030204" pitchFamily="18" charset="0"/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  <a:p>
                <a:r>
                  <a:rPr lang="en-US" dirty="0"/>
                  <a:t>S</a:t>
                </a:r>
                <a:r>
                  <a:rPr lang="en-IN" dirty="0"/>
                  <a:t>similarly one can prove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𝐲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  <a:p>
                <a:r>
                  <a:rPr lang="en-US" dirty="0"/>
                  <a:t>Also it is easy to observe that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IN" dirty="0"/>
                  <a:t> and</a:t>
                </a: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𝒂𝒏𝒅𝒙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IN" dirty="0"/>
                  <a:t> if and only if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IN" b="1" dirty="0"/>
                  <a:t>.</a:t>
                </a:r>
              </a:p>
              <a:p>
                <a:r>
                  <a:rPr lang="en-US" dirty="0"/>
                  <a:t>W</a:t>
                </a:r>
                <a:r>
                  <a:rPr lang="en-IN" dirty="0"/>
                  <a:t>e generalize these properties of the dot product on any vector space and call it as inner product.</a:t>
                </a:r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7CA3B5A-266E-41E0-82DB-0365B551DB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47651" y="815975"/>
                <a:ext cx="4008754" cy="2566985"/>
              </a:xfrm>
              <a:blipFill>
                <a:blip r:embed="rId2"/>
                <a:stretch>
                  <a:fillRect l="-2283" t="-2138" r="-9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6729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528"/>
            <a:ext cx="2819350" cy="66364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10" dirty="0"/>
              <a:t>Definitions: Bilinear Mapping, Symmetric Mapping and Positive Definite Mapping</a:t>
            </a:r>
            <a:endParaRPr spc="-10" dirty="0"/>
          </a:p>
        </p:txBody>
      </p:sp>
      <p:sp>
        <p:nvSpPr>
          <p:cNvPr id="9" name="object 9"/>
          <p:cNvSpPr txBox="1"/>
          <p:nvPr/>
        </p:nvSpPr>
        <p:spPr>
          <a:xfrm>
            <a:off x="323850" y="815976"/>
            <a:ext cx="3972560" cy="190994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08250">
              <a:lnSpc>
                <a:spcPct val="100000"/>
              </a:lnSpc>
              <a:spcBef>
                <a:spcPts val="95"/>
              </a:spcBef>
            </a:pPr>
            <a:endParaRPr sz="800" dirty="0">
              <a:latin typeface="Tahoma"/>
              <a:cs typeface="Tahoma"/>
            </a:endParaRPr>
          </a:p>
          <a:p>
            <a:pPr marL="278130" marR="93980" indent="-177165">
              <a:lnSpc>
                <a:spcPts val="1350"/>
              </a:lnSpc>
              <a:spcBef>
                <a:spcPts val="25"/>
              </a:spcBef>
              <a:buClr>
                <a:srgbClr val="3333B2"/>
              </a:buClr>
              <a:buFont typeface="Lucida Sans Unicode"/>
              <a:buChar char="►"/>
              <a:tabLst>
                <a:tab pos="278130" algn="l"/>
              </a:tabLst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bilinear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mapping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Ω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mapping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arguments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is </a:t>
            </a:r>
            <a:r>
              <a:rPr sz="1100" spc="-30" dirty="0">
                <a:latin typeface="Tahoma"/>
                <a:cs typeface="Tahoma"/>
              </a:rPr>
              <a:t>linear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both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arguments: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Let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155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 </a:t>
            </a:r>
            <a:r>
              <a:rPr sz="1100" spc="-55" dirty="0">
                <a:latin typeface="Tahoma"/>
                <a:cs typeface="Tahoma"/>
              </a:rPr>
              <a:t>space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such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that</a:t>
            </a:r>
            <a:r>
              <a:rPr sz="1100" spc="500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-19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050" dirty="0">
                <a:latin typeface="Arial"/>
                <a:cs typeface="Arial"/>
              </a:rPr>
              <a:t>y</a:t>
            </a:r>
            <a:r>
              <a:rPr sz="1050" spc="-17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050" dirty="0">
                <a:latin typeface="Arial"/>
                <a:cs typeface="Arial"/>
              </a:rPr>
              <a:t>z</a:t>
            </a:r>
            <a:r>
              <a:rPr sz="1050" spc="50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∈</a:t>
            </a:r>
            <a:r>
              <a:rPr sz="1100" spc="50" dirty="0">
                <a:latin typeface="Cambria"/>
                <a:cs typeface="Cambria"/>
              </a:rPr>
              <a:t> </a:t>
            </a:r>
            <a:r>
              <a:rPr sz="1100" i="1" spc="-20" dirty="0">
                <a:latin typeface="Arial"/>
                <a:cs typeface="Arial"/>
              </a:rPr>
              <a:t>V</a:t>
            </a:r>
            <a:r>
              <a:rPr sz="1100" i="1" spc="-13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let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λ,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100" i="1" spc="-110" dirty="0">
                <a:latin typeface="Bookman Old Style"/>
                <a:cs typeface="Bookman Old Style"/>
              </a:rPr>
              <a:t>ψ</a:t>
            </a:r>
            <a:r>
              <a:rPr sz="1100" i="1" spc="1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Cambria"/>
                <a:cs typeface="Cambria"/>
              </a:rPr>
              <a:t>∈</a:t>
            </a:r>
            <a:r>
              <a:rPr sz="1100" spc="50" dirty="0">
                <a:latin typeface="Cambria"/>
                <a:cs typeface="Cambria"/>
              </a:rPr>
              <a:t> </a:t>
            </a:r>
            <a:r>
              <a:rPr sz="1100" dirty="0">
                <a:latin typeface="Century"/>
                <a:cs typeface="Century"/>
              </a:rPr>
              <a:t>R</a:t>
            </a:r>
            <a:r>
              <a:rPr sz="1100" dirty="0">
                <a:latin typeface="Tahoma"/>
                <a:cs typeface="Tahoma"/>
              </a:rPr>
              <a:t>.</a:t>
            </a:r>
            <a:r>
              <a:rPr sz="1100" spc="1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Then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have</a:t>
            </a:r>
            <a:endParaRPr sz="1100" dirty="0">
              <a:latin typeface="Tahoma"/>
              <a:cs typeface="Tahoma"/>
            </a:endParaRPr>
          </a:p>
          <a:p>
            <a:pPr marL="278130">
              <a:lnSpc>
                <a:spcPts val="1315"/>
              </a:lnSpc>
            </a:pPr>
            <a:r>
              <a:rPr sz="1100" dirty="0">
                <a:latin typeface="Tahoma"/>
                <a:cs typeface="Tahoma"/>
              </a:rPr>
              <a:t>Ω(</a:t>
            </a:r>
            <a:r>
              <a:rPr sz="1100" i="1" dirty="0">
                <a:latin typeface="Bookman Old Style"/>
                <a:cs typeface="Bookman Old Style"/>
              </a:rPr>
              <a:t>λ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1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ψ</a:t>
            </a:r>
            <a:r>
              <a:rPr sz="1050" spc="-35" dirty="0">
                <a:latin typeface="Arial"/>
                <a:cs typeface="Arial"/>
              </a:rPr>
              <a:t>y</a:t>
            </a:r>
            <a:r>
              <a:rPr sz="1050" spc="-15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14" dirty="0">
                <a:latin typeface="Bookman Old Style"/>
                <a:cs typeface="Bookman Old Style"/>
              </a:rPr>
              <a:t> </a:t>
            </a:r>
            <a:r>
              <a:rPr sz="1050" dirty="0">
                <a:latin typeface="Arial"/>
                <a:cs typeface="Arial"/>
              </a:rPr>
              <a:t>z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λ</a:t>
            </a:r>
            <a:r>
              <a:rPr sz="1100" dirty="0">
                <a:latin typeface="Tahoma"/>
                <a:cs typeface="Tahoma"/>
              </a:rPr>
              <a:t>Ω(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-17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14" dirty="0">
                <a:latin typeface="Bookman Old Style"/>
                <a:cs typeface="Bookman Old Style"/>
              </a:rPr>
              <a:t> </a:t>
            </a:r>
            <a:r>
              <a:rPr sz="1050" dirty="0">
                <a:latin typeface="Arial"/>
                <a:cs typeface="Arial"/>
              </a:rPr>
              <a:t>z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Bookman Old Style"/>
                <a:cs typeface="Bookman Old Style"/>
              </a:rPr>
              <a:t>ψ</a:t>
            </a:r>
            <a:r>
              <a:rPr sz="1100" spc="-20" dirty="0">
                <a:latin typeface="Tahoma"/>
                <a:cs typeface="Tahoma"/>
              </a:rPr>
              <a:t>Ω(</a:t>
            </a:r>
            <a:r>
              <a:rPr sz="1050" spc="-20" dirty="0">
                <a:latin typeface="Arial"/>
                <a:cs typeface="Arial"/>
              </a:rPr>
              <a:t>y</a:t>
            </a:r>
            <a:r>
              <a:rPr sz="1050" spc="-145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14" dirty="0">
                <a:latin typeface="Bookman Old Style"/>
                <a:cs typeface="Bookman Old Style"/>
              </a:rPr>
              <a:t> </a:t>
            </a:r>
            <a:r>
              <a:rPr sz="1050" dirty="0">
                <a:latin typeface="Arial"/>
                <a:cs typeface="Arial"/>
              </a:rPr>
              <a:t>z</a:t>
            </a:r>
            <a:r>
              <a:rPr sz="1100" dirty="0">
                <a:latin typeface="Tahoma"/>
                <a:cs typeface="Tahoma"/>
              </a:rPr>
              <a:t>),</a:t>
            </a:r>
            <a:r>
              <a:rPr sz="1100" spc="9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and</a:t>
            </a:r>
            <a:endParaRPr sz="1100" dirty="0">
              <a:latin typeface="Tahoma"/>
              <a:cs typeface="Tahoma"/>
            </a:endParaRPr>
          </a:p>
          <a:p>
            <a:pPr marL="27813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Tahoma"/>
                <a:cs typeface="Tahoma"/>
              </a:rPr>
              <a:t>Ω(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-18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25" dirty="0">
                <a:latin typeface="Bookman Old Style"/>
                <a:cs typeface="Bookman Old Style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λ</a:t>
            </a:r>
            <a:r>
              <a:rPr sz="1050" dirty="0">
                <a:latin typeface="Arial"/>
                <a:cs typeface="Arial"/>
              </a:rPr>
              <a:t>y</a:t>
            </a:r>
            <a:r>
              <a:rPr sz="1050" spc="1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ψ</a:t>
            </a:r>
            <a:r>
              <a:rPr sz="1050" dirty="0">
                <a:latin typeface="Arial"/>
                <a:cs typeface="Arial"/>
              </a:rPr>
              <a:t>z</a:t>
            </a:r>
            <a:r>
              <a:rPr sz="1100" dirty="0">
                <a:latin typeface="Tahoma"/>
                <a:cs typeface="Tahoma"/>
              </a:rPr>
              <a:t>) = </a:t>
            </a:r>
            <a:r>
              <a:rPr sz="1100" i="1" dirty="0">
                <a:latin typeface="Bookman Old Style"/>
                <a:cs typeface="Bookman Old Style"/>
              </a:rPr>
              <a:t>λ</a:t>
            </a:r>
            <a:r>
              <a:rPr sz="1100" dirty="0">
                <a:latin typeface="Tahoma"/>
                <a:cs typeface="Tahoma"/>
              </a:rPr>
              <a:t>Ω(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-175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30" dirty="0">
                <a:latin typeface="Bookman Old Style"/>
                <a:cs typeface="Bookman Old Style"/>
              </a:rPr>
              <a:t> </a:t>
            </a:r>
            <a:r>
              <a:rPr sz="1050" spc="65" dirty="0">
                <a:latin typeface="Arial"/>
                <a:cs typeface="Arial"/>
              </a:rPr>
              <a:t>y</a:t>
            </a:r>
            <a:r>
              <a:rPr sz="1100" spc="65" dirty="0">
                <a:latin typeface="Tahoma"/>
                <a:cs typeface="Tahoma"/>
              </a:rPr>
              <a:t>)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Bookman Old Style"/>
                <a:cs typeface="Bookman Old Style"/>
              </a:rPr>
              <a:t>ψ</a:t>
            </a:r>
            <a:r>
              <a:rPr sz="1100" spc="-20" dirty="0">
                <a:latin typeface="Tahoma"/>
                <a:cs typeface="Tahoma"/>
              </a:rPr>
              <a:t>Ω(</a:t>
            </a:r>
            <a:r>
              <a:rPr sz="1050" spc="-20" dirty="0">
                <a:latin typeface="Arial"/>
                <a:cs typeface="Arial"/>
              </a:rPr>
              <a:t>x</a:t>
            </a:r>
            <a:r>
              <a:rPr sz="1050" spc="-175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25" dirty="0">
                <a:latin typeface="Bookman Old Style"/>
                <a:cs typeface="Bookman Old Style"/>
              </a:rPr>
              <a:t> </a:t>
            </a:r>
            <a:r>
              <a:rPr sz="1050" spc="-25" dirty="0">
                <a:latin typeface="Arial"/>
                <a:cs typeface="Arial"/>
              </a:rPr>
              <a:t>z</a:t>
            </a:r>
            <a:r>
              <a:rPr sz="1100" spc="-25" dirty="0">
                <a:latin typeface="Tahoma"/>
                <a:cs typeface="Tahoma"/>
              </a:rPr>
              <a:t>).</a:t>
            </a:r>
            <a:endParaRPr sz="1100" dirty="0">
              <a:latin typeface="Tahoma"/>
              <a:cs typeface="Tahoma"/>
            </a:endParaRPr>
          </a:p>
          <a:p>
            <a:pPr marL="278130" marR="249554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78130" algn="l"/>
              </a:tabLst>
            </a:pPr>
            <a:r>
              <a:rPr sz="1100" dirty="0">
                <a:latin typeface="Tahoma"/>
                <a:cs typeface="Tahoma"/>
              </a:rPr>
              <a:t>Let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180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space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Ω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: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×</a:t>
            </a:r>
            <a:r>
              <a:rPr sz="1100" spc="-20" dirty="0">
                <a:latin typeface="Cambria"/>
                <a:cs typeface="Cambri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125" dirty="0">
                <a:latin typeface="Arial"/>
                <a:cs typeface="Arial"/>
              </a:rPr>
              <a:t> </a:t>
            </a:r>
            <a:r>
              <a:rPr sz="1100" spc="155" dirty="0">
                <a:latin typeface="Cambria"/>
                <a:cs typeface="Cambria"/>
              </a:rPr>
              <a:t>→</a:t>
            </a:r>
            <a:r>
              <a:rPr sz="1100" spc="35" dirty="0">
                <a:latin typeface="Cambria"/>
                <a:cs typeface="Cambria"/>
              </a:rPr>
              <a:t> </a:t>
            </a:r>
            <a:r>
              <a:rPr sz="1100" dirty="0">
                <a:latin typeface="Century"/>
                <a:cs typeface="Century"/>
              </a:rPr>
              <a:t>R</a:t>
            </a:r>
            <a:r>
              <a:rPr sz="1100" spc="20" dirty="0">
                <a:latin typeface="Century"/>
                <a:cs typeface="Century"/>
              </a:rPr>
              <a:t> </a:t>
            </a:r>
            <a:r>
              <a:rPr sz="1100" spc="-10" dirty="0">
                <a:latin typeface="Tahoma"/>
                <a:cs typeface="Tahoma"/>
              </a:rPr>
              <a:t>be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bilinear </a:t>
            </a:r>
            <a:r>
              <a:rPr sz="1100" spc="-40" dirty="0">
                <a:latin typeface="Tahoma"/>
                <a:cs typeface="Tahoma"/>
              </a:rPr>
              <a:t>mapping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takes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spc="-30" dirty="0">
                <a:latin typeface="Tahoma"/>
                <a:cs typeface="Tahoma"/>
              </a:rPr>
              <a:t> as </a:t>
            </a:r>
            <a:r>
              <a:rPr sz="1100" spc="-50" dirty="0">
                <a:latin typeface="Tahoma"/>
                <a:cs typeface="Tahoma"/>
              </a:rPr>
              <a:t>arguments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returns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 </a:t>
            </a:r>
            <a:r>
              <a:rPr sz="1100" spc="-20" dirty="0">
                <a:latin typeface="Tahoma"/>
                <a:cs typeface="Tahoma"/>
              </a:rPr>
              <a:t>real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number.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Ω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called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symmetric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if</a:t>
            </a:r>
            <a:endParaRPr sz="1100" dirty="0">
              <a:latin typeface="Tahoma"/>
              <a:cs typeface="Tahoma"/>
            </a:endParaRPr>
          </a:p>
          <a:p>
            <a:pPr marL="27813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Tahoma"/>
                <a:cs typeface="Tahoma"/>
              </a:rPr>
              <a:t>Ω(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-19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050" spc="65" dirty="0">
                <a:latin typeface="Arial"/>
                <a:cs typeface="Arial"/>
              </a:rPr>
              <a:t>y</a:t>
            </a:r>
            <a:r>
              <a:rPr sz="1100" spc="65" dirty="0">
                <a:latin typeface="Tahoma"/>
                <a:cs typeface="Tahoma"/>
              </a:rPr>
              <a:t>)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Ω(</a:t>
            </a:r>
            <a:r>
              <a:rPr sz="1050" dirty="0">
                <a:latin typeface="Arial"/>
                <a:cs typeface="Arial"/>
              </a:rPr>
              <a:t>y</a:t>
            </a:r>
            <a:r>
              <a:rPr sz="1050" spc="-17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100" dirty="0">
                <a:latin typeface="Tahoma"/>
                <a:cs typeface="Tahoma"/>
              </a:rPr>
              <a:t>).</a:t>
            </a:r>
            <a:r>
              <a:rPr sz="1100" spc="1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Also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Ω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called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positive-</a:t>
            </a:r>
            <a:r>
              <a:rPr sz="1100" spc="-30" dirty="0">
                <a:latin typeface="Tahoma"/>
                <a:cs typeface="Tahoma"/>
              </a:rPr>
              <a:t>definite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if</a:t>
            </a:r>
            <a:endParaRPr sz="1100" dirty="0">
              <a:latin typeface="Tahoma"/>
              <a:cs typeface="Tahoma"/>
            </a:endParaRPr>
          </a:p>
          <a:p>
            <a:pPr marL="27813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Cambria"/>
                <a:cs typeface="Cambria"/>
              </a:rPr>
              <a:t>∀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95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∈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110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\</a:t>
            </a:r>
            <a:r>
              <a:rPr sz="1100" spc="-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{</a:t>
            </a:r>
            <a:r>
              <a:rPr sz="1100" dirty="0">
                <a:latin typeface="Tahoma"/>
                <a:cs typeface="Tahoma"/>
              </a:rPr>
              <a:t>0</a:t>
            </a:r>
            <a:r>
              <a:rPr sz="1100" dirty="0">
                <a:latin typeface="Cambria"/>
                <a:cs typeface="Cambria"/>
              </a:rPr>
              <a:t>}</a:t>
            </a:r>
            <a:r>
              <a:rPr sz="1100" i="1" dirty="0">
                <a:latin typeface="Bookman Old Style"/>
                <a:cs typeface="Bookman Old Style"/>
              </a:rPr>
              <a:t>,</a:t>
            </a:r>
            <a:r>
              <a:rPr sz="1100" i="1" spc="4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ahoma"/>
                <a:cs typeface="Tahoma"/>
              </a:rPr>
              <a:t>Ω(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-19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050" spc="55" dirty="0">
                <a:latin typeface="Arial"/>
                <a:cs typeface="Arial"/>
              </a:rPr>
              <a:t>x</a:t>
            </a:r>
            <a:r>
              <a:rPr sz="1100" spc="55" dirty="0">
                <a:latin typeface="Tahoma"/>
                <a:cs typeface="Tahoma"/>
              </a:rPr>
              <a:t>)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spc="175" dirty="0">
                <a:latin typeface="Bookman Old Style"/>
                <a:cs typeface="Bookman Old Style"/>
              </a:rPr>
              <a:t>&gt;</a:t>
            </a:r>
            <a:r>
              <a:rPr sz="1100" i="1" spc="-3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ahoma"/>
                <a:cs typeface="Tahoma"/>
              </a:rPr>
              <a:t>0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Ω(</a:t>
            </a:r>
            <a:r>
              <a:rPr sz="1100" b="1" spc="-20" dirty="0">
                <a:latin typeface="Arial"/>
                <a:cs typeface="Arial"/>
              </a:rPr>
              <a:t>0</a:t>
            </a:r>
            <a:r>
              <a:rPr sz="1100" i="1" spc="-20" dirty="0">
                <a:latin typeface="Bookman Old Style"/>
                <a:cs typeface="Bookman Old Style"/>
              </a:rPr>
              <a:t>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100" b="1" dirty="0">
                <a:latin typeface="Arial"/>
                <a:cs typeface="Arial"/>
              </a:rPr>
              <a:t>0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0.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Inner</a:t>
            </a:r>
            <a:r>
              <a:rPr spc="55" dirty="0"/>
              <a:t> </a:t>
            </a:r>
            <a:r>
              <a:rPr spc="-10" dirty="0"/>
              <a:t>products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9257" y="819593"/>
            <a:ext cx="3890010" cy="184563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27965" indent="-177165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Font typeface="Lucida Sans Unicode"/>
              <a:buChar char="►"/>
              <a:tabLst>
                <a:tab pos="227965" algn="l"/>
              </a:tabLst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positive-</a:t>
            </a:r>
            <a:r>
              <a:rPr sz="1100" spc="-30" dirty="0">
                <a:latin typeface="Tahoma"/>
                <a:cs typeface="Tahoma"/>
              </a:rPr>
              <a:t>definite,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symmetric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bilinear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mapping</a:t>
            </a:r>
            <a:endParaRPr sz="1100" dirty="0">
              <a:latin typeface="Tahoma"/>
              <a:cs typeface="Tahoma"/>
            </a:endParaRPr>
          </a:p>
          <a:p>
            <a:pPr marL="227329" marR="43180">
              <a:lnSpc>
                <a:spcPct val="102699"/>
              </a:lnSpc>
            </a:pPr>
            <a:r>
              <a:rPr sz="1100" dirty="0">
                <a:latin typeface="Tahoma"/>
                <a:cs typeface="Tahoma"/>
              </a:rPr>
              <a:t>Ω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: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×</a:t>
            </a:r>
            <a:r>
              <a:rPr sz="1100" spc="-60" dirty="0">
                <a:latin typeface="Cambria"/>
                <a:cs typeface="Cambri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120" dirty="0">
                <a:latin typeface="Arial"/>
                <a:cs typeface="Arial"/>
              </a:rPr>
              <a:t> </a:t>
            </a:r>
            <a:r>
              <a:rPr sz="1100" spc="155" dirty="0">
                <a:latin typeface="Cambria"/>
                <a:cs typeface="Cambria"/>
              </a:rPr>
              <a:t>→</a:t>
            </a:r>
            <a:r>
              <a:rPr sz="1100" spc="35" dirty="0">
                <a:latin typeface="Cambria"/>
                <a:cs typeface="Cambria"/>
              </a:rPr>
              <a:t> </a:t>
            </a:r>
            <a:r>
              <a:rPr sz="1100" dirty="0">
                <a:latin typeface="Century"/>
                <a:cs typeface="Century"/>
              </a:rPr>
              <a:t>R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called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inner </a:t>
            </a:r>
            <a:r>
              <a:rPr sz="1100" spc="-25" dirty="0">
                <a:latin typeface="Tahoma"/>
                <a:cs typeface="Tahoma"/>
              </a:rPr>
              <a:t>product.</a:t>
            </a:r>
            <a:r>
              <a:rPr sz="1100" spc="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denote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inner </a:t>
            </a:r>
            <a:r>
              <a:rPr sz="1100" spc="-30" dirty="0">
                <a:latin typeface="Tahoma"/>
                <a:cs typeface="Tahoma"/>
              </a:rPr>
              <a:t>product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180" dirty="0">
                <a:latin typeface="Arial"/>
                <a:cs typeface="Arial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generally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write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Cambria"/>
                <a:cs typeface="Cambria"/>
              </a:rPr>
              <a:t>⟨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-19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050" spc="-25" dirty="0">
                <a:latin typeface="Arial"/>
                <a:cs typeface="Arial"/>
              </a:rPr>
              <a:t>y</a:t>
            </a:r>
            <a:r>
              <a:rPr sz="1100" spc="-25" dirty="0">
                <a:latin typeface="Cambria"/>
                <a:cs typeface="Cambria"/>
              </a:rPr>
              <a:t>⟩</a:t>
            </a:r>
            <a:r>
              <a:rPr sz="1100" spc="-25" dirty="0"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  <a:p>
            <a:pPr marL="227965" indent="-17716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Lucida Sans Unicode"/>
              <a:buChar char="►"/>
              <a:tabLst>
                <a:tab pos="227965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pair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V</a:t>
            </a:r>
            <a:r>
              <a:rPr sz="1100" i="1" spc="-13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100" spc="-20" dirty="0">
                <a:latin typeface="Cambria"/>
                <a:cs typeface="Cambria"/>
              </a:rPr>
              <a:t>⟨</a:t>
            </a:r>
            <a:r>
              <a:rPr sz="1100" i="1" spc="-20" dirty="0">
                <a:latin typeface="Bookman Old Style"/>
                <a:cs typeface="Bookman Old Style"/>
              </a:rPr>
              <a:t>.,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.</a:t>
            </a:r>
            <a:r>
              <a:rPr sz="1100" dirty="0">
                <a:latin typeface="Cambria"/>
                <a:cs typeface="Cambria"/>
              </a:rPr>
              <a:t>⟩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called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0" dirty="0">
                <a:latin typeface="Tahoma"/>
                <a:cs typeface="Tahoma"/>
              </a:rPr>
              <a:t> inner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product </a:t>
            </a:r>
            <a:r>
              <a:rPr sz="1100" spc="-10" dirty="0">
                <a:latin typeface="Tahoma"/>
                <a:cs typeface="Tahoma"/>
              </a:rPr>
              <a:t>space.</a:t>
            </a:r>
            <a:endParaRPr sz="1100" dirty="0">
              <a:latin typeface="Tahoma"/>
              <a:cs typeface="Tahoma"/>
            </a:endParaRPr>
          </a:p>
          <a:p>
            <a:pPr marL="227329" marR="43815" indent="-177165" algn="just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27329" algn="l"/>
              </a:tabLst>
            </a:pPr>
            <a:r>
              <a:rPr sz="1100" dirty="0">
                <a:latin typeface="Tahoma"/>
                <a:cs typeface="Tahoma"/>
              </a:rPr>
              <a:t>Next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we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introduce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concept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symmetric,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positive-</a:t>
            </a:r>
            <a:r>
              <a:rPr sz="1100" spc="-10" dirty="0">
                <a:latin typeface="Tahoma"/>
                <a:cs typeface="Tahoma"/>
              </a:rPr>
              <a:t>definite </a:t>
            </a:r>
            <a:r>
              <a:rPr sz="1100" spc="-30" dirty="0">
                <a:latin typeface="Tahoma"/>
                <a:cs typeface="Tahoma"/>
              </a:rPr>
              <a:t>matrices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show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5" dirty="0">
                <a:latin typeface="Tahoma"/>
                <a:cs typeface="Tahoma"/>
              </a:rPr>
              <a:t>we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express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inner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product </a:t>
            </a:r>
            <a:r>
              <a:rPr sz="1100" spc="-35" dirty="0">
                <a:latin typeface="Tahoma"/>
                <a:cs typeface="Tahoma"/>
              </a:rPr>
              <a:t>using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such </a:t>
            </a:r>
            <a:r>
              <a:rPr sz="1100" spc="-10" dirty="0">
                <a:latin typeface="Tahoma"/>
                <a:cs typeface="Tahoma"/>
              </a:rPr>
              <a:t>matrices.</a:t>
            </a:r>
            <a:endParaRPr sz="1100" dirty="0">
              <a:latin typeface="Tahoma"/>
              <a:cs typeface="Tahoma"/>
            </a:endParaRPr>
          </a:p>
          <a:p>
            <a:pPr marL="227329" marR="431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27329" algn="l"/>
              </a:tabLst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recall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space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16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110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25" dirty="0">
                <a:latin typeface="Tahoma"/>
                <a:cs typeface="Tahoma"/>
              </a:rPr>
              <a:t> be </a:t>
            </a:r>
            <a:r>
              <a:rPr sz="1100" spc="-20" dirty="0">
                <a:latin typeface="Tahoma"/>
                <a:cs typeface="Tahoma"/>
              </a:rPr>
              <a:t>written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linear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combination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basis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vectors.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use</a:t>
            </a:r>
            <a:r>
              <a:rPr sz="1100" spc="-20" dirty="0">
                <a:latin typeface="Tahoma"/>
                <a:cs typeface="Tahoma"/>
              </a:rPr>
              <a:t> this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express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0" dirty="0">
                <a:latin typeface="Tahoma"/>
                <a:cs typeface="Tahoma"/>
              </a:rPr>
              <a:t> inner product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terms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matrix.</a:t>
            </a:r>
            <a:r>
              <a:rPr lang="en-IN" sz="1100" spc="-10" dirty="0">
                <a:latin typeface="Tahoma"/>
                <a:cs typeface="Tahoma"/>
              </a:rPr>
              <a:t> 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5A5B8-E8D7-9AE3-1B93-D903D8B9D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894330" cy="215444"/>
          </a:xfrm>
        </p:spPr>
        <p:txBody>
          <a:bodyPr/>
          <a:lstStyle/>
          <a:p>
            <a:r>
              <a:rPr lang="en-IN" dirty="0"/>
              <a:t>Notation for coordinates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92BC5DE-1F78-5996-D3A1-2BBF68CF2A86}"/>
                  </a:ext>
                </a:extLst>
              </p:cNvPr>
              <p:cNvSpPr txBox="1"/>
              <p:nvPr/>
            </p:nvSpPr>
            <p:spPr>
              <a:xfrm>
                <a:off x="95300" y="892175"/>
                <a:ext cx="4267150" cy="22577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Let V be vector space and </a:t>
                </a:r>
                <a14:m>
                  <m:oMath xmlns:m="http://schemas.openxmlformats.org/officeDocument/2006/math"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IN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1000" dirty="0"/>
                  <a:t>,…,</a:t>
                </a:r>
                <a:r>
                  <a:rPr lang="en-IN" sz="10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IN" sz="1000" dirty="0"/>
                  <a:t>} be a basis of V. Then for any </a:t>
                </a:r>
                <a14:m>
                  <m:oMath xmlns:m="http://schemas.openxmlformats.org/officeDocument/2006/math"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1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1000" dirty="0"/>
                  <a:t>+</a:t>
                </a:r>
                <a:r>
                  <a:rPr lang="en-IN" sz="10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1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1000" dirty="0"/>
                  <a:t>+…+</a:t>
                </a:r>
                <a:r>
                  <a:rPr lang="en-IN" sz="10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IN" sz="1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𝑤h𝑒𝑟𝑒</m:t>
                    </m:r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=1,..</m:t>
                    </m:r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IN" sz="1000" b="0" dirty="0">
                  <a:ea typeface="Cambria Math" panose="02040503050406030204" pitchFamily="18" charset="0"/>
                </a:endParaRPr>
              </a:p>
              <a:p>
                <a:r>
                  <a:rPr lang="en-IN" sz="1000" dirty="0"/>
                  <a:t>Then the coordinate vector of </a:t>
                </a:r>
                <a14:m>
                  <m:oMath xmlns:m="http://schemas.openxmlformats.org/officeDocument/2006/math"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IN" sz="1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1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is</m:t>
                    </m:r>
                    <m:r>
                      <a:rPr lang="en-IN" sz="1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1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defined</m:t>
                    </m:r>
                    <m:r>
                      <a:rPr lang="en-IN" sz="1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1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as</m:t>
                    </m:r>
                    <m:r>
                      <a:rPr lang="en-IN" sz="1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IN" sz="1000" dirty="0"/>
              </a:p>
              <a:p>
                <a:r>
                  <a:rPr lang="en-IN" sz="1000" dirty="0"/>
                  <a:t>For example,</a:t>
                </a:r>
              </a:p>
              <a:p>
                <a:r>
                  <a:rPr lang="en-IN" sz="1000" dirty="0"/>
                  <a:t>In R</a:t>
                </a:r>
                <a:r>
                  <a:rPr lang="en-IN" sz="1000" baseline="30000" dirty="0"/>
                  <a:t>n</a:t>
                </a:r>
                <a:r>
                  <a:rPr lang="en-IN" sz="1000" dirty="0"/>
                  <a:t> if we take the standard basis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1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⋮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  <m: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1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⋮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  <m: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,⋯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1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⋮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e>
                    </m:d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1000" dirty="0"/>
                  <a:t>then for any x</a:t>
                </a:r>
                <a14:m>
                  <m:oMath xmlns:m="http://schemas.openxmlformats.org/officeDocument/2006/math"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IN" sz="1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acc>
                      <m:accPr>
                        <m:chr m:val="̂"/>
                        <m:ctrlP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IN" sz="1000" dirty="0"/>
                  <a:t>=</a:t>
                </a:r>
                <a:r>
                  <a:rPr lang="en-IN" sz="10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IN" sz="1000" dirty="0"/>
                  <a:t>.  Prove.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92BC5DE-1F78-5996-D3A1-2BBF68CF2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00" y="892175"/>
                <a:ext cx="4267150" cy="22577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3454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6A598-B115-5F27-C77B-D3013C38C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894330" cy="430887"/>
          </a:xfrm>
        </p:spPr>
        <p:txBody>
          <a:bodyPr/>
          <a:lstStyle/>
          <a:p>
            <a:r>
              <a:rPr lang="en-IN" dirty="0"/>
              <a:t>Symmetric Matrices and Positive Definite Matrices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40E446-3173-80EF-4B44-A40B3E25536F}"/>
                  </a:ext>
                </a:extLst>
              </p:cNvPr>
              <p:cNvSpPr txBox="1"/>
              <p:nvPr/>
            </p:nvSpPr>
            <p:spPr>
              <a:xfrm>
                <a:off x="171450" y="815975"/>
                <a:ext cx="4267200" cy="21829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If </a:t>
                </a:r>
                <a14:m>
                  <m:oMath xmlns:m="http://schemas.openxmlformats.org/officeDocument/2006/math"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IN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IN" sz="1000" dirty="0"/>
                  <a:t> is an </a:t>
                </a:r>
                <a:r>
                  <a:rPr lang="en-IN" sz="1000" dirty="0" err="1"/>
                  <a:t>mxn</a:t>
                </a:r>
                <a:r>
                  <a:rPr lang="en-IN" sz="1000" dirty="0"/>
                  <a:t> matrix, then we define transpose of A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IN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IN" sz="1000" dirty="0"/>
                  <a:t>.</a:t>
                </a:r>
              </a:p>
              <a:p>
                <a:r>
                  <a:rPr lang="en-IN" sz="1000" dirty="0"/>
                  <a:t>That is the rows of A become columns of A</a:t>
                </a:r>
                <a:r>
                  <a:rPr lang="en-IN" sz="1000" baseline="30000" dirty="0"/>
                  <a:t>T</a:t>
                </a:r>
                <a:r>
                  <a:rPr lang="en-IN" sz="1000" dirty="0"/>
                  <a:t> and the columns of A become rows of A</a:t>
                </a:r>
                <a:r>
                  <a:rPr lang="en-IN" sz="1000" baseline="30000" dirty="0"/>
                  <a:t>T</a:t>
                </a:r>
                <a:r>
                  <a:rPr lang="en-IN" sz="1000" dirty="0"/>
                  <a:t> .</a:t>
                </a:r>
              </a:p>
              <a:p>
                <a:r>
                  <a:rPr lang="en-IN" sz="1000" dirty="0"/>
                  <a:t>Note that if A is </a:t>
                </a:r>
                <a:r>
                  <a:rPr lang="en-IN" sz="1000" dirty="0" err="1"/>
                  <a:t>mxn</a:t>
                </a:r>
                <a:r>
                  <a:rPr lang="en-IN" sz="1000" dirty="0"/>
                  <a:t> matrix, then A</a:t>
                </a:r>
                <a:r>
                  <a:rPr lang="en-IN" sz="1000" baseline="30000" dirty="0"/>
                  <a:t>T </a:t>
                </a:r>
                <a:r>
                  <a:rPr lang="en-IN" sz="1000" dirty="0"/>
                  <a:t>is </a:t>
                </a:r>
                <a:r>
                  <a:rPr lang="en-IN" sz="1000" dirty="0" err="1"/>
                  <a:t>nxm</a:t>
                </a:r>
                <a:r>
                  <a:rPr lang="en-IN" sz="1000" dirty="0"/>
                  <a:t> matrix.</a:t>
                </a:r>
              </a:p>
              <a:p>
                <a:endParaRPr lang="en-IN" sz="1000" dirty="0"/>
              </a:p>
              <a:p>
                <a:r>
                  <a:rPr lang="en-IN" sz="1000" dirty="0"/>
                  <a:t>An </a:t>
                </a:r>
                <a:r>
                  <a:rPr lang="en-IN" sz="1000" dirty="0" err="1"/>
                  <a:t>nxn</a:t>
                </a:r>
                <a:r>
                  <a:rPr lang="en-IN" sz="1000" dirty="0"/>
                  <a:t> matrix A is called symmetric if A</a:t>
                </a:r>
                <a:r>
                  <a:rPr lang="en-IN" sz="1000" baseline="30000" dirty="0"/>
                  <a:t>T</a:t>
                </a:r>
                <a:r>
                  <a:rPr lang="en-IN" sz="1000" dirty="0"/>
                  <a:t> = A.</a:t>
                </a:r>
              </a:p>
              <a:p>
                <a:endParaRPr lang="en-IN" sz="1000" dirty="0"/>
              </a:p>
              <a:p>
                <a:r>
                  <a:rPr lang="en-IN" sz="1000" dirty="0"/>
                  <a:t>An </a:t>
                </a:r>
                <a:r>
                  <a:rPr lang="en-IN" sz="1000" dirty="0" err="1"/>
                  <a:t>nxn</a:t>
                </a:r>
                <a:r>
                  <a:rPr lang="en-IN" sz="1000" dirty="0"/>
                  <a:t> matrix A is called positive definite if for each x </a:t>
                </a:r>
                <a:r>
                  <a:rPr lang="en-IN" sz="1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∈ R</a:t>
                </a:r>
                <a:r>
                  <a:rPr lang="en-IN" sz="1000" baseline="30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</a:t>
                </a:r>
                <a14:m>
                  <m:oMath xmlns:m="http://schemas.openxmlformats.org/officeDocument/2006/math">
                    <m:r>
                      <a:rPr lang="en-IN" sz="1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IN" sz="1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             </a:t>
                </a:r>
                <a:r>
                  <a:rPr lang="en-IN" sz="10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:r>
                  <a:rPr lang="en-IN" sz="1000" baseline="300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T</a:t>
                </a:r>
                <a:r>
                  <a:rPr lang="en-IN" sz="10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Ax</a:t>
                </a:r>
                <a:r>
                  <a:rPr lang="en-IN" sz="1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0.</a:t>
                </a:r>
                <a:endParaRPr lang="en-IN" sz="100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40E446-3173-80EF-4B44-A40B3E255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50" y="815975"/>
                <a:ext cx="4267200" cy="21829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3341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3E7E7-D2AE-4962-A448-0ECA9B55F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894330" cy="215444"/>
          </a:xfrm>
        </p:spPr>
        <p:txBody>
          <a:bodyPr/>
          <a:lstStyle/>
          <a:p>
            <a:r>
              <a:rPr lang="en-US" dirty="0"/>
              <a:t>Relooking at Dot Product in R</a:t>
            </a:r>
            <a:r>
              <a:rPr lang="en-US" baseline="30000" dirty="0"/>
              <a:t>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0320334-4E07-4740-903A-0F4D402F1CF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71450" y="739775"/>
                <a:ext cx="4191000" cy="2664344"/>
              </a:xfrm>
            </p:spPr>
            <p:txBody>
              <a:bodyPr/>
              <a:lstStyle/>
              <a:p>
                <a:r>
                  <a:rPr lang="en-US" dirty="0"/>
                  <a:t>We have already seen that dot product is an inner product in R</a:t>
                </a:r>
                <a:r>
                  <a:rPr lang="en-US" baseline="30000" dirty="0"/>
                  <a:t>n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We ask a question this is the only inner product on R</a:t>
                </a:r>
                <a:r>
                  <a:rPr lang="en-US" baseline="30000" dirty="0"/>
                  <a:t>n </a:t>
                </a:r>
                <a:r>
                  <a:rPr lang="en-US" dirty="0"/>
                  <a:t> or is there any other inner product in R</a:t>
                </a:r>
                <a:r>
                  <a:rPr lang="en-US" baseline="30000" dirty="0"/>
                  <a:t>n</a:t>
                </a:r>
                <a:r>
                  <a:rPr lang="en-US" dirty="0"/>
                  <a:t>? In that case can we describe all inner products in R</a:t>
                </a:r>
                <a:r>
                  <a:rPr lang="en-US" baseline="30000" dirty="0"/>
                  <a:t>n</a:t>
                </a:r>
                <a:r>
                  <a:rPr lang="en-US" dirty="0"/>
                  <a:t>?</a:t>
                </a:r>
              </a:p>
              <a:p>
                <a:r>
                  <a:rPr lang="en-US" dirty="0"/>
                  <a:t>Recall that we define the inner product in R</a:t>
                </a:r>
                <a:r>
                  <a:rPr lang="en-US" baseline="30000" dirty="0"/>
                  <a:t>n</a:t>
                </a:r>
                <a:r>
                  <a:rPr lang="en-US" dirty="0"/>
                  <a:t> as </a:t>
                </a:r>
              </a:p>
              <a:p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IN" dirty="0"/>
                  <a:t> is the </a:t>
                </a:r>
                <a:r>
                  <a:rPr lang="en-IN" dirty="0" err="1"/>
                  <a:t>nxn</a:t>
                </a:r>
                <a:r>
                  <a:rPr lang="en-IN" dirty="0"/>
                  <a:t> identity matrix.</a:t>
                </a:r>
              </a:p>
              <a:p>
                <a:r>
                  <a:rPr lang="en-US" dirty="0"/>
                  <a:t>It is easy to see</a:t>
                </a:r>
                <a:r>
                  <a:rPr lang="en-IN" dirty="0"/>
                  <a:t>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IN" dirty="0"/>
                  <a:t>   hence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IN" dirty="0"/>
                  <a:t> is  symmetric.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IN" dirty="0"/>
                  <a:t> is Positive definite matrix, since </a:t>
                </a:r>
              </a:p>
              <a:p>
                <a:r>
                  <a:rPr lang="en-US" dirty="0"/>
                  <a:t>I</a:t>
                </a:r>
                <a:r>
                  <a:rPr lang="en-IN" dirty="0"/>
                  <a:t>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&lt;</m:t>
                    </m:r>
                  </m:oMath>
                </a14:m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&gt; = &lt;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&gt; =</m:t>
                    </m:r>
                    <m:rad>
                      <m:radPr>
                        <m:degHide m:val="on"/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+…</m:t>
                        </m:r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</m:sub>
                            </m:sSub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rad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&gt;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Also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if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and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only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if</m:t>
                    </m:r>
                    <m:r>
                      <m:rPr>
                        <m:nor/>
                      </m:rPr>
                      <a:rPr lang="en-US" b="1" dirty="0"/>
                      <m:t> </m:t>
                    </m:r>
                    <m:r>
                      <m:rPr>
                        <m:nor/>
                      </m:rPr>
                      <a:rPr lang="en-US" b="1" i="0" dirty="0" smtClean="0"/>
                      <m:t>&lt;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&gt; = &lt;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IN" dirty="0"/>
                  <a:t>=0.</a:t>
                </a:r>
              </a:p>
              <a:p>
                <a:endParaRPr lang="en-US" dirty="0"/>
              </a:p>
              <a:p>
                <a:r>
                  <a:rPr lang="en-US" dirty="0"/>
                  <a:t>In fact every inner product in R</a:t>
                </a:r>
                <a:r>
                  <a:rPr lang="en-US" baseline="30000" dirty="0"/>
                  <a:t>n</a:t>
                </a:r>
                <a:r>
                  <a:rPr lang="en-US" dirty="0"/>
                  <a:t> corresponds to a symmetric positive definite matrix A. We shall verify this fact with a simple example.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0320334-4E07-4740-903A-0F4D402F1C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71450" y="739775"/>
                <a:ext cx="4191000" cy="2664344"/>
              </a:xfrm>
              <a:blipFill>
                <a:blip r:embed="rId2"/>
                <a:stretch>
                  <a:fillRect l="-2035" t="-16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2815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54BA6-A73D-4B9E-9901-2DAFDA3A5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894330" cy="215444"/>
          </a:xfrm>
        </p:spPr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9A74F9C-6B70-440C-8EA7-A88E37BA8D5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47650" y="739775"/>
                <a:ext cx="3902710" cy="2424895"/>
              </a:xfrm>
            </p:spPr>
            <p:txBody>
              <a:bodyPr/>
              <a:lstStyle/>
              <a:p>
                <a:r>
                  <a:rPr lang="en-US" dirty="0"/>
                  <a:t> First let us prove that the 3x3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is a symmetric positive definite matrix.</a:t>
                </a:r>
              </a:p>
              <a:p>
                <a:r>
                  <a:rPr lang="en-IN" dirty="0"/>
                  <a:t>clearly A = A</a:t>
                </a:r>
                <a:r>
                  <a:rPr lang="en-IN" baseline="30000" dirty="0"/>
                  <a:t>T </a:t>
                </a:r>
                <a:r>
                  <a:rPr lang="en-IN" dirty="0"/>
                  <a:t>hence A is symmetric.</a:t>
                </a:r>
              </a:p>
              <a:p>
                <a:r>
                  <a:rPr lang="en-US" dirty="0"/>
                  <a:t>F</a:t>
                </a:r>
                <a:r>
                  <a:rPr lang="en-IN" dirty="0"/>
                  <a:t>or and x = [a, b, c]</a:t>
                </a:r>
                <a:r>
                  <a:rPr lang="en-IN" baseline="30000" dirty="0"/>
                  <a:t>T</a:t>
                </a:r>
                <a:r>
                  <a:rPr lang="en-IN" dirty="0"/>
                  <a:t> ≠ [0, 0, 0],</a:t>
                </a:r>
              </a:p>
              <a:p>
                <a:r>
                  <a:rPr lang="en-IN" dirty="0"/>
                  <a:t>[a, b, c](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en-IN" dirty="0"/>
                  <a:t>[a, b, c]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     </a:t>
                </a:r>
              </a:p>
              <a:p>
                <a:endParaRPr lang="en-US" dirty="0"/>
              </a:p>
              <a:p>
                <a:r>
                  <a:rPr lang="en-US" dirty="0"/>
                  <a:t>                           = 2a</a:t>
                </a:r>
                <a:r>
                  <a:rPr lang="en-US" baseline="30000" dirty="0"/>
                  <a:t>2</a:t>
                </a:r>
                <a:r>
                  <a:rPr lang="en-US" dirty="0"/>
                  <a:t> + ab + ab +3b</a:t>
                </a:r>
                <a:r>
                  <a:rPr lang="en-US" baseline="30000" dirty="0"/>
                  <a:t>2</a:t>
                </a:r>
                <a:r>
                  <a:rPr lang="en-US" dirty="0"/>
                  <a:t> – </a:t>
                </a:r>
                <a:r>
                  <a:rPr lang="en-US" dirty="0" err="1"/>
                  <a:t>bc</a:t>
                </a:r>
                <a:r>
                  <a:rPr lang="en-US" dirty="0"/>
                  <a:t> – </a:t>
                </a:r>
                <a:r>
                  <a:rPr lang="en-US" dirty="0" err="1"/>
                  <a:t>bc</a:t>
                </a:r>
                <a:r>
                  <a:rPr lang="en-US" dirty="0"/>
                  <a:t> + 2c</a:t>
                </a:r>
                <a:r>
                  <a:rPr lang="en-US" baseline="30000" dirty="0"/>
                  <a:t>2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                           = (</a:t>
                </a:r>
                <a:r>
                  <a:rPr lang="en-US" dirty="0" err="1"/>
                  <a:t>a+b</a:t>
                </a:r>
                <a:r>
                  <a:rPr lang="en-US" dirty="0"/>
                  <a:t>)</a:t>
                </a:r>
                <a:r>
                  <a:rPr lang="en-US" baseline="30000" dirty="0"/>
                  <a:t>2</a:t>
                </a:r>
                <a:r>
                  <a:rPr lang="en-US" dirty="0"/>
                  <a:t> + (b-c)</a:t>
                </a:r>
                <a:r>
                  <a:rPr lang="en-US" baseline="30000" dirty="0"/>
                  <a:t>2</a:t>
                </a:r>
                <a:r>
                  <a:rPr lang="en-US" dirty="0"/>
                  <a:t> + a</a:t>
                </a:r>
                <a:r>
                  <a:rPr lang="en-US" baseline="30000" dirty="0"/>
                  <a:t>2</a:t>
                </a:r>
                <a:r>
                  <a:rPr lang="en-US" dirty="0"/>
                  <a:t> + b</a:t>
                </a:r>
                <a:r>
                  <a:rPr lang="en-US" baseline="30000" dirty="0"/>
                  <a:t>2</a:t>
                </a:r>
                <a:r>
                  <a:rPr lang="en-US" dirty="0"/>
                  <a:t> + c</a:t>
                </a:r>
                <a:r>
                  <a:rPr lang="en-US" baseline="30000" dirty="0"/>
                  <a:t>2 </a:t>
                </a:r>
                <a:r>
                  <a:rPr lang="en-US" dirty="0"/>
                  <a:t>&gt; 0</a:t>
                </a:r>
              </a:p>
              <a:p>
                <a:endParaRPr lang="en-US" dirty="0"/>
              </a:p>
              <a:p>
                <a:r>
                  <a:rPr lang="en-US" dirty="0"/>
                  <a:t>Also if x = [0, 0, 0]</a:t>
                </a:r>
                <a:r>
                  <a:rPr lang="en-US" baseline="30000" dirty="0"/>
                  <a:t>T, </a:t>
                </a:r>
                <a:r>
                  <a:rPr lang="en-US" dirty="0"/>
                  <a:t> then </a:t>
                </a:r>
                <a:r>
                  <a:rPr lang="en-US" dirty="0" err="1"/>
                  <a:t>x</a:t>
                </a:r>
                <a:r>
                  <a:rPr lang="en-US" baseline="30000" dirty="0" err="1"/>
                  <a:t>T</a:t>
                </a:r>
                <a:r>
                  <a:rPr lang="en-US" dirty="0" err="1"/>
                  <a:t>Ax</a:t>
                </a:r>
                <a:r>
                  <a:rPr lang="en-US" dirty="0"/>
                  <a:t> = 0. This proves that A is positive definite.</a:t>
                </a:r>
                <a:endParaRPr lang="en-IN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9A74F9C-6B70-440C-8EA7-A88E37BA8D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47650" y="739775"/>
                <a:ext cx="3902710" cy="2424895"/>
              </a:xfrm>
              <a:blipFill>
                <a:blip r:embed="rId2"/>
                <a:stretch>
                  <a:fillRect l="-2344" b="-27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60555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66AD1-0BA3-4873-913F-90596B321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894330" cy="215444"/>
          </a:xfrm>
        </p:spPr>
        <p:txBody>
          <a:bodyPr/>
          <a:lstStyle/>
          <a:p>
            <a:r>
              <a:rPr lang="en-US" dirty="0"/>
              <a:t>Example(</a:t>
            </a:r>
            <a:r>
              <a:rPr lang="en-US" dirty="0" err="1"/>
              <a:t>Ctd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486692-1616-4A38-9827-2B4BED8C0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850" y="739775"/>
            <a:ext cx="3902710" cy="2200602"/>
          </a:xfrm>
        </p:spPr>
        <p:txBody>
          <a:bodyPr/>
          <a:lstStyle/>
          <a:p>
            <a:r>
              <a:rPr lang="en-US" dirty="0"/>
              <a:t>Now the inner product in R</a:t>
            </a:r>
            <a:r>
              <a:rPr lang="en-US" baseline="30000" dirty="0"/>
              <a:t>n</a:t>
            </a:r>
            <a:r>
              <a:rPr lang="en-US" dirty="0"/>
              <a:t> using this matrix A can be defined as &lt;x, y&gt; = X</a:t>
            </a:r>
            <a:r>
              <a:rPr lang="en-US" baseline="30000" dirty="0"/>
              <a:t>T</a:t>
            </a:r>
            <a:r>
              <a:rPr lang="en-US" dirty="0"/>
              <a:t>(Ay).</a:t>
            </a:r>
          </a:p>
          <a:p>
            <a:r>
              <a:rPr lang="en-US" dirty="0"/>
              <a:t>Proof: </a:t>
            </a:r>
          </a:p>
          <a:p>
            <a:r>
              <a:rPr lang="en-US" dirty="0"/>
              <a:t>&lt; &gt; is symmetric since &lt;x, y&gt; = X</a:t>
            </a:r>
            <a:r>
              <a:rPr lang="en-US" baseline="30000" dirty="0"/>
              <a:t>T</a:t>
            </a:r>
            <a:r>
              <a:rPr lang="en-US" dirty="0"/>
              <a:t>(Ay) = [X</a:t>
            </a:r>
            <a:r>
              <a:rPr lang="en-US" baseline="30000" dirty="0"/>
              <a:t>T</a:t>
            </a:r>
            <a:r>
              <a:rPr lang="en-US" dirty="0"/>
              <a:t>(Ay)]</a:t>
            </a:r>
            <a:r>
              <a:rPr lang="en-US" baseline="30000" dirty="0"/>
              <a:t>T</a:t>
            </a:r>
            <a:r>
              <a:rPr lang="en-US" dirty="0"/>
              <a:t> (Since &lt;x, y&gt; is a real number)   = (Ay)</a:t>
            </a:r>
            <a:r>
              <a:rPr lang="en-US" baseline="30000" dirty="0"/>
              <a:t>T</a:t>
            </a:r>
            <a:r>
              <a:rPr lang="en-US" dirty="0"/>
              <a:t> X = (</a:t>
            </a:r>
            <a:r>
              <a:rPr lang="en-US" dirty="0" err="1"/>
              <a:t>y</a:t>
            </a:r>
            <a:r>
              <a:rPr lang="en-US" baseline="30000" dirty="0" err="1"/>
              <a:t>T</a:t>
            </a:r>
            <a:r>
              <a:rPr lang="en-US" dirty="0" err="1"/>
              <a:t>A</a:t>
            </a:r>
            <a:r>
              <a:rPr lang="en-US" baseline="30000" dirty="0" err="1"/>
              <a:t>T</a:t>
            </a:r>
            <a:r>
              <a:rPr lang="en-US" dirty="0"/>
              <a:t>)x = (</a:t>
            </a:r>
            <a:r>
              <a:rPr lang="en-US" dirty="0" err="1"/>
              <a:t>y</a:t>
            </a:r>
            <a:r>
              <a:rPr lang="en-US" baseline="30000" dirty="0" err="1"/>
              <a:t>T</a:t>
            </a:r>
            <a:r>
              <a:rPr lang="en-US" dirty="0" err="1"/>
              <a:t>A</a:t>
            </a:r>
            <a:r>
              <a:rPr lang="en-US" dirty="0"/>
              <a:t>)x = </a:t>
            </a:r>
            <a:r>
              <a:rPr lang="en-US" dirty="0" err="1"/>
              <a:t>y</a:t>
            </a:r>
            <a:r>
              <a:rPr lang="en-US" baseline="30000" dirty="0" err="1"/>
              <a:t>T</a:t>
            </a:r>
            <a:r>
              <a:rPr lang="en-US" dirty="0"/>
              <a:t>(Ax) = &lt;y, x&gt; [The last two steps follow since A is symmetric and matrix multiplication  is associative.]</a:t>
            </a:r>
          </a:p>
          <a:p>
            <a:endParaRPr lang="en-US" dirty="0"/>
          </a:p>
          <a:p>
            <a:r>
              <a:rPr lang="en-US" dirty="0"/>
              <a:t>&lt;(</a:t>
            </a:r>
            <a:r>
              <a:rPr lang="en-US" dirty="0" err="1"/>
              <a:t>ax+by</a:t>
            </a:r>
            <a:r>
              <a:rPr lang="en-US" dirty="0"/>
              <a:t>) , z&gt; = (ax +by)</a:t>
            </a:r>
            <a:r>
              <a:rPr lang="en-US" baseline="30000" dirty="0"/>
              <a:t>T </a:t>
            </a:r>
            <a:r>
              <a:rPr lang="en-US" dirty="0"/>
              <a:t>Az = (</a:t>
            </a:r>
            <a:r>
              <a:rPr lang="en-US" dirty="0" err="1"/>
              <a:t>ax</a:t>
            </a:r>
            <a:r>
              <a:rPr lang="en-US" baseline="30000" dirty="0" err="1"/>
              <a:t>T</a:t>
            </a:r>
            <a:r>
              <a:rPr lang="en-US" dirty="0"/>
              <a:t>+ </a:t>
            </a:r>
            <a:r>
              <a:rPr lang="en-US" dirty="0" err="1"/>
              <a:t>by</a:t>
            </a:r>
            <a:r>
              <a:rPr lang="en-US" baseline="30000" dirty="0" err="1"/>
              <a:t>T</a:t>
            </a:r>
            <a:r>
              <a:rPr lang="en-US" dirty="0"/>
              <a:t>)Az </a:t>
            </a:r>
          </a:p>
          <a:p>
            <a:r>
              <a:rPr lang="en-US" dirty="0"/>
              <a:t>                                           = a(</a:t>
            </a:r>
            <a:r>
              <a:rPr lang="en-US" dirty="0" err="1"/>
              <a:t>x</a:t>
            </a:r>
            <a:r>
              <a:rPr lang="en-US" baseline="30000" dirty="0" err="1"/>
              <a:t>T</a:t>
            </a:r>
            <a:r>
              <a:rPr lang="en-US" dirty="0" err="1"/>
              <a:t>Az</a:t>
            </a:r>
            <a:r>
              <a:rPr lang="en-US" dirty="0"/>
              <a:t>) + b(</a:t>
            </a:r>
            <a:r>
              <a:rPr lang="en-US" dirty="0" err="1"/>
              <a:t>y</a:t>
            </a:r>
            <a:r>
              <a:rPr lang="en-US" baseline="30000" dirty="0" err="1"/>
              <a:t>T</a:t>
            </a:r>
            <a:r>
              <a:rPr lang="en-US" dirty="0" err="1"/>
              <a:t>Az</a:t>
            </a:r>
            <a:r>
              <a:rPr lang="en-US" dirty="0"/>
              <a:t>)</a:t>
            </a:r>
          </a:p>
          <a:p>
            <a:r>
              <a:rPr lang="en-US" dirty="0"/>
              <a:t>                                           = a&lt;x, z&gt; + b&lt;y, z&gt;</a:t>
            </a:r>
          </a:p>
          <a:p>
            <a:r>
              <a:rPr lang="en-US" dirty="0"/>
              <a:t>Similarly one can prove </a:t>
            </a:r>
          </a:p>
          <a:p>
            <a:r>
              <a:rPr lang="en-US" dirty="0"/>
              <a:t>&lt;x, ay + </a:t>
            </a:r>
            <a:r>
              <a:rPr lang="en-US" dirty="0" err="1"/>
              <a:t>bz</a:t>
            </a:r>
            <a:r>
              <a:rPr lang="en-US" dirty="0"/>
              <a:t>&gt; = a&lt;x, y&gt; + b&lt;y, z&gt;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9975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B5F21-9601-4F00-9682-B3A940381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226E2-AC7B-4F49-9BD2-670CDF9A2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7650" y="739775"/>
            <a:ext cx="3902710" cy="2031325"/>
          </a:xfrm>
        </p:spPr>
        <p:txBody>
          <a:bodyPr/>
          <a:lstStyle/>
          <a:p>
            <a:r>
              <a:rPr lang="en-US" dirty="0"/>
              <a:t> Now &lt;x, x&gt; = </a:t>
            </a:r>
            <a:r>
              <a:rPr lang="en-US" dirty="0" err="1"/>
              <a:t>x</a:t>
            </a:r>
            <a:r>
              <a:rPr lang="en-US" baseline="30000" dirty="0" err="1"/>
              <a:t>T</a:t>
            </a:r>
            <a:r>
              <a:rPr lang="en-US" dirty="0" err="1"/>
              <a:t>Ax</a:t>
            </a:r>
            <a:r>
              <a:rPr lang="en-US" dirty="0"/>
              <a:t> &gt; 0 if x ≠ 0. Since A is positive definite.</a:t>
            </a:r>
          </a:p>
          <a:p>
            <a:r>
              <a:rPr lang="en-US" dirty="0"/>
              <a:t>Also &lt;x, x&gt; = 0 if and only if x = 0.</a:t>
            </a:r>
          </a:p>
          <a:p>
            <a:endParaRPr lang="en-US" dirty="0"/>
          </a:p>
          <a:p>
            <a:r>
              <a:rPr lang="en-US" dirty="0"/>
              <a:t>Converse of this result is also true, namely if &lt; &gt; is an inner product on R</a:t>
            </a:r>
            <a:r>
              <a:rPr lang="en-US" baseline="30000" dirty="0"/>
              <a:t>n</a:t>
            </a:r>
            <a:r>
              <a:rPr lang="en-US" dirty="0"/>
              <a:t> then there exists a </a:t>
            </a:r>
            <a:r>
              <a:rPr lang="en-US" dirty="0" err="1"/>
              <a:t>nxn</a:t>
            </a:r>
            <a:r>
              <a:rPr lang="en-US" dirty="0"/>
              <a:t> symmetric positive definite matrix A such that &lt;x, y&gt; = </a:t>
            </a:r>
            <a:r>
              <a:rPr lang="en-US" dirty="0" err="1"/>
              <a:t>x</a:t>
            </a:r>
            <a:r>
              <a:rPr lang="en-US" baseline="30000" dirty="0" err="1"/>
              <a:t>T</a:t>
            </a:r>
            <a:r>
              <a:rPr lang="en-US" dirty="0" err="1"/>
              <a:t>Ay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This theorem can be generalized for any general metric space V which we sate and prove in the following slides.</a:t>
            </a:r>
          </a:p>
          <a:p>
            <a:endParaRPr lang="en-US" dirty="0"/>
          </a:p>
          <a:p>
            <a:r>
              <a:rPr lang="en-US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93149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Symmetric,</a:t>
            </a:r>
            <a:r>
              <a:rPr spc="185" dirty="0"/>
              <a:t> </a:t>
            </a:r>
            <a:r>
              <a:rPr spc="-10" dirty="0"/>
              <a:t>positive-definite</a:t>
            </a:r>
            <a:r>
              <a:rPr spc="185" dirty="0"/>
              <a:t> </a:t>
            </a:r>
            <a:r>
              <a:rPr spc="-10" dirty="0"/>
              <a:t>matrices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245694" y="926387"/>
                <a:ext cx="4091304" cy="1777923"/>
              </a:xfrm>
              <a:prstGeom prst="rect">
                <a:avLst/>
              </a:prstGeom>
            </p:spPr>
            <p:txBody>
              <a:bodyPr vert="horz" wrap="square" lIns="0" tIns="6985" rIns="0" bIns="0" rtlCol="0">
                <a:spAutoFit/>
              </a:bodyPr>
              <a:lstStyle/>
              <a:p>
                <a:pPr marL="114300" marR="81280">
                  <a:lnSpc>
                    <a:spcPct val="102600"/>
                  </a:lnSpc>
                  <a:spcBef>
                    <a:spcPts val="55"/>
                  </a:spcBef>
                </a:pPr>
                <a:r>
                  <a:rPr lang="en-US" sz="1100" b="1" spc="-30" dirty="0">
                    <a:latin typeface="Arial"/>
                    <a:cs typeface="Arial"/>
                  </a:rPr>
                  <a:t>Theorem</a:t>
                </a:r>
                <a:r>
                  <a:rPr lang="en-US" sz="1100" spc="-30" dirty="0">
                    <a:latin typeface="Tahoma"/>
                    <a:cs typeface="Tahoma"/>
                  </a:rPr>
                  <a:t>:</a:t>
                </a:r>
                <a:r>
                  <a:rPr lang="en-US" sz="1100" spc="100" dirty="0">
                    <a:latin typeface="Tahoma"/>
                    <a:cs typeface="Tahoma"/>
                  </a:rPr>
                  <a:t> </a:t>
                </a:r>
                <a:r>
                  <a:rPr lang="en-US" sz="1100" spc="-20" dirty="0">
                    <a:latin typeface="Tahoma"/>
                    <a:cs typeface="Tahoma"/>
                  </a:rPr>
                  <a:t>For</a:t>
                </a:r>
                <a:r>
                  <a:rPr lang="en-US" sz="1100" spc="-25" dirty="0">
                    <a:latin typeface="Tahoma"/>
                    <a:cs typeface="Tahoma"/>
                  </a:rPr>
                  <a:t> </a:t>
                </a:r>
                <a:r>
                  <a:rPr lang="en-US" sz="1100" dirty="0">
                    <a:latin typeface="Tahoma"/>
                    <a:cs typeface="Tahoma"/>
                  </a:rPr>
                  <a:t>a</a:t>
                </a:r>
                <a:r>
                  <a:rPr lang="en-US" sz="1100" spc="-20" dirty="0">
                    <a:latin typeface="Tahoma"/>
                    <a:cs typeface="Tahoma"/>
                  </a:rPr>
                  <a:t> </a:t>
                </a:r>
                <a:r>
                  <a:rPr lang="en-US" sz="1100" spc="-45" dirty="0">
                    <a:latin typeface="Tahoma"/>
                    <a:cs typeface="Tahoma"/>
                  </a:rPr>
                  <a:t>real-</a:t>
                </a:r>
                <a:r>
                  <a:rPr lang="en-US" sz="1100" spc="-40" dirty="0">
                    <a:latin typeface="Tahoma"/>
                    <a:cs typeface="Tahoma"/>
                  </a:rPr>
                  <a:t>valued,</a:t>
                </a:r>
                <a:r>
                  <a:rPr lang="en-US" sz="1100" spc="-15" dirty="0">
                    <a:latin typeface="Tahoma"/>
                    <a:cs typeface="Tahoma"/>
                  </a:rPr>
                  <a:t> </a:t>
                </a:r>
                <a:r>
                  <a:rPr lang="en-US" sz="1100" spc="-35" dirty="0">
                    <a:latin typeface="Tahoma"/>
                    <a:cs typeface="Tahoma"/>
                  </a:rPr>
                  <a:t>finite-dimensional</a:t>
                </a:r>
                <a:r>
                  <a:rPr lang="en-US" sz="1100" spc="-25" dirty="0">
                    <a:latin typeface="Tahoma"/>
                    <a:cs typeface="Tahoma"/>
                  </a:rPr>
                  <a:t> </a:t>
                </a:r>
                <a:r>
                  <a:rPr lang="en-US" sz="1100" spc="-45" dirty="0">
                    <a:latin typeface="Tahoma"/>
                    <a:cs typeface="Tahoma"/>
                  </a:rPr>
                  <a:t>vector</a:t>
                </a:r>
                <a:r>
                  <a:rPr lang="en-US" sz="1100" spc="-20" dirty="0">
                    <a:latin typeface="Tahoma"/>
                    <a:cs typeface="Tahoma"/>
                  </a:rPr>
                  <a:t> </a:t>
                </a:r>
                <a:r>
                  <a:rPr lang="en-US" sz="1100" spc="-60" dirty="0">
                    <a:latin typeface="Tahoma"/>
                    <a:cs typeface="Tahoma"/>
                  </a:rPr>
                  <a:t>space</a:t>
                </a:r>
                <a:r>
                  <a:rPr lang="en-US" sz="1100" spc="-25" dirty="0">
                    <a:latin typeface="Tahoma"/>
                    <a:cs typeface="Tahoma"/>
                  </a:rPr>
                  <a:t> </a:t>
                </a:r>
                <a:r>
                  <a:rPr lang="en-US" sz="1100" i="1" dirty="0">
                    <a:latin typeface="Arial"/>
                    <a:cs typeface="Arial"/>
                  </a:rPr>
                  <a:t>V</a:t>
                </a:r>
                <a:r>
                  <a:rPr lang="en-US" sz="1100" i="1" spc="175" dirty="0">
                    <a:latin typeface="Arial"/>
                    <a:cs typeface="Arial"/>
                  </a:rPr>
                  <a:t> </a:t>
                </a:r>
                <a:r>
                  <a:rPr lang="en-US" sz="1100" spc="-30" dirty="0">
                    <a:latin typeface="Tahoma"/>
                    <a:cs typeface="Tahoma"/>
                  </a:rPr>
                  <a:t>and </a:t>
                </a:r>
                <a:r>
                  <a:rPr lang="en-US" sz="1100" dirty="0">
                    <a:latin typeface="Tahoma"/>
                    <a:cs typeface="Tahoma"/>
                  </a:rPr>
                  <a:t>an</a:t>
                </a:r>
                <a:r>
                  <a:rPr lang="en-US" sz="1100" spc="-50" dirty="0">
                    <a:latin typeface="Tahoma"/>
                    <a:cs typeface="Tahoma"/>
                  </a:rPr>
                  <a:t> </a:t>
                </a:r>
                <a:r>
                  <a:rPr lang="en-US" sz="1100" spc="-65" dirty="0">
                    <a:latin typeface="Tahoma"/>
                    <a:cs typeface="Tahoma"/>
                  </a:rPr>
                  <a:t>ordered</a:t>
                </a:r>
                <a:r>
                  <a:rPr lang="en-US" sz="1100" spc="-5" dirty="0">
                    <a:latin typeface="Tahoma"/>
                    <a:cs typeface="Tahoma"/>
                  </a:rPr>
                  <a:t> </a:t>
                </a:r>
                <a:r>
                  <a:rPr lang="en-US" sz="1100" spc="-35" dirty="0">
                    <a:latin typeface="Tahoma"/>
                    <a:cs typeface="Tahoma"/>
                  </a:rPr>
                  <a:t>basis</a:t>
                </a:r>
                <a:r>
                  <a:rPr lang="en-US" sz="1100" spc="-5" dirty="0">
                    <a:latin typeface="Tahoma"/>
                    <a:cs typeface="Tahoma"/>
                  </a:rPr>
                  <a:t> </a:t>
                </a:r>
                <a:r>
                  <a:rPr lang="en-US" sz="1100" i="1" dirty="0">
                    <a:latin typeface="Arial"/>
                    <a:cs typeface="Arial"/>
                  </a:rPr>
                  <a:t>B</a:t>
                </a:r>
                <a:r>
                  <a:rPr lang="en-US" sz="1100" i="1" spc="114" dirty="0">
                    <a:latin typeface="Arial"/>
                    <a:cs typeface="Arial"/>
                  </a:rPr>
                  <a:t> </a:t>
                </a:r>
                <a:r>
                  <a:rPr lang="en-US" sz="1100" dirty="0">
                    <a:latin typeface="Tahoma"/>
                    <a:cs typeface="Tahoma"/>
                  </a:rPr>
                  <a:t>of</a:t>
                </a:r>
                <a:r>
                  <a:rPr lang="en-US" sz="1100" spc="-10" dirty="0">
                    <a:latin typeface="Tahoma"/>
                    <a:cs typeface="Tahoma"/>
                  </a:rPr>
                  <a:t> </a:t>
                </a:r>
                <a:r>
                  <a:rPr lang="en-US" sz="1100" i="1" spc="-20" dirty="0">
                    <a:latin typeface="Arial"/>
                    <a:cs typeface="Arial"/>
                  </a:rPr>
                  <a:t>V</a:t>
                </a:r>
                <a:r>
                  <a:rPr lang="en-US" sz="1100" i="1" spc="-130" dirty="0">
                    <a:latin typeface="Arial"/>
                    <a:cs typeface="Arial"/>
                  </a:rPr>
                  <a:t> </a:t>
                </a:r>
                <a:r>
                  <a:rPr lang="en-US" sz="1100" dirty="0">
                    <a:latin typeface="Tahoma"/>
                    <a:cs typeface="Tahoma"/>
                  </a:rPr>
                  <a:t>,</a:t>
                </a:r>
                <a:r>
                  <a:rPr lang="en-US" sz="1100" spc="-5" dirty="0">
                    <a:latin typeface="Tahoma"/>
                    <a:cs typeface="Tahoma"/>
                  </a:rPr>
                  <a:t> </a:t>
                </a:r>
                <a:r>
                  <a:rPr lang="en-US" sz="1100" dirty="0">
                    <a:latin typeface="Tahoma"/>
                    <a:cs typeface="Tahoma"/>
                  </a:rPr>
                  <a:t>it</a:t>
                </a:r>
                <a:r>
                  <a:rPr lang="en-US" sz="1100" spc="-5" dirty="0">
                    <a:latin typeface="Tahoma"/>
                    <a:cs typeface="Tahoma"/>
                  </a:rPr>
                  <a:t> </a:t>
                </a:r>
                <a:r>
                  <a:rPr lang="en-US" sz="1100" spc="-35" dirty="0">
                    <a:latin typeface="Tahoma"/>
                    <a:cs typeface="Tahoma"/>
                  </a:rPr>
                  <a:t>holds</a:t>
                </a:r>
                <a:r>
                  <a:rPr lang="en-US" sz="1100" spc="-10" dirty="0">
                    <a:latin typeface="Tahoma"/>
                    <a:cs typeface="Tahoma"/>
                  </a:rPr>
                  <a:t> </a:t>
                </a:r>
                <a:r>
                  <a:rPr lang="en-US" sz="1100" dirty="0">
                    <a:latin typeface="Tahoma"/>
                    <a:cs typeface="Tahoma"/>
                  </a:rPr>
                  <a:t>that</a:t>
                </a:r>
                <a:r>
                  <a:rPr lang="en-US" sz="1100" spc="-5" dirty="0">
                    <a:latin typeface="Tahoma"/>
                    <a:cs typeface="Tahoma"/>
                  </a:rPr>
                  <a:t> </a:t>
                </a:r>
                <a:r>
                  <a:rPr lang="en-US" sz="1100" spc="-20" dirty="0">
                    <a:latin typeface="Cambria"/>
                    <a:cs typeface="Cambria"/>
                  </a:rPr>
                  <a:t>⟨</a:t>
                </a:r>
                <a:r>
                  <a:rPr lang="en-US" sz="1100" i="1" spc="-20" dirty="0">
                    <a:latin typeface="Bookman Old Style"/>
                    <a:cs typeface="Bookman Old Style"/>
                  </a:rPr>
                  <a:t>.,</a:t>
                </a:r>
                <a:r>
                  <a:rPr lang="en-US" sz="1100" i="1" spc="-150" dirty="0">
                    <a:latin typeface="Bookman Old Style"/>
                    <a:cs typeface="Bookman Old Style"/>
                  </a:rPr>
                  <a:t> </a:t>
                </a:r>
                <a:r>
                  <a:rPr lang="en-US" sz="1100" i="1" dirty="0">
                    <a:latin typeface="Bookman Old Style"/>
                    <a:cs typeface="Bookman Old Style"/>
                  </a:rPr>
                  <a:t>.</a:t>
                </a:r>
                <a:r>
                  <a:rPr lang="en-US" sz="1100" dirty="0">
                    <a:latin typeface="Cambria"/>
                    <a:cs typeface="Cambria"/>
                  </a:rPr>
                  <a:t>⟩</a:t>
                </a:r>
                <a:r>
                  <a:rPr lang="en-US" sz="1100" spc="40" dirty="0">
                    <a:latin typeface="Cambria"/>
                    <a:cs typeface="Cambria"/>
                  </a:rPr>
                  <a:t> </a:t>
                </a:r>
                <a:r>
                  <a:rPr lang="en-US" sz="1100" spc="-90" dirty="0">
                    <a:latin typeface="Tahoma"/>
                    <a:cs typeface="Tahoma"/>
                  </a:rPr>
                  <a:t>:</a:t>
                </a:r>
                <a:r>
                  <a:rPr lang="en-US" sz="1100" spc="-40" dirty="0">
                    <a:latin typeface="Tahoma"/>
                    <a:cs typeface="Tahoma"/>
                  </a:rPr>
                  <a:t> </a:t>
                </a:r>
                <a:r>
                  <a:rPr lang="en-US" sz="1100" i="1" dirty="0">
                    <a:latin typeface="Arial"/>
                    <a:cs typeface="Arial"/>
                  </a:rPr>
                  <a:t>V</a:t>
                </a:r>
                <a:r>
                  <a:rPr lang="en-US" sz="1100" i="1" spc="80" dirty="0">
                    <a:latin typeface="Arial"/>
                    <a:cs typeface="Arial"/>
                  </a:rPr>
                  <a:t> </a:t>
                </a:r>
                <a:r>
                  <a:rPr lang="en-US" sz="1100" spc="229" dirty="0">
                    <a:latin typeface="Cambria"/>
                    <a:cs typeface="Cambria"/>
                  </a:rPr>
                  <a:t>×</a:t>
                </a:r>
                <a:r>
                  <a:rPr lang="en-US" sz="1100" spc="-15" dirty="0">
                    <a:latin typeface="Cambria"/>
                    <a:cs typeface="Cambria"/>
                  </a:rPr>
                  <a:t> </a:t>
                </a:r>
                <a:r>
                  <a:rPr lang="en-US" sz="1100" i="1" dirty="0">
                    <a:latin typeface="Arial"/>
                    <a:cs typeface="Arial"/>
                  </a:rPr>
                  <a:t>V</a:t>
                </a:r>
                <a:r>
                  <a:rPr lang="en-US" sz="1100" i="1" spc="135" dirty="0">
                    <a:latin typeface="Arial"/>
                    <a:cs typeface="Arial"/>
                  </a:rPr>
                  <a:t> </a:t>
                </a:r>
                <a:r>
                  <a:rPr lang="en-US" sz="1100" spc="155" dirty="0">
                    <a:latin typeface="Cambria"/>
                    <a:cs typeface="Cambria"/>
                  </a:rPr>
                  <a:t>→</a:t>
                </a:r>
                <a:r>
                  <a:rPr lang="en-US" sz="1100" spc="40" dirty="0">
                    <a:latin typeface="Cambria"/>
                    <a:cs typeface="Cambria"/>
                  </a:rPr>
                  <a:t> </a:t>
                </a:r>
                <a:r>
                  <a:rPr lang="en-US" sz="1100" dirty="0">
                    <a:latin typeface="Century"/>
                    <a:cs typeface="Century"/>
                  </a:rPr>
                  <a:t>R</a:t>
                </a:r>
                <a:r>
                  <a:rPr lang="en-US" sz="1100" spc="30" dirty="0">
                    <a:latin typeface="Century"/>
                    <a:cs typeface="Century"/>
                  </a:rPr>
                  <a:t> </a:t>
                </a:r>
                <a:r>
                  <a:rPr lang="en-US" sz="1100" dirty="0">
                    <a:latin typeface="Tahoma"/>
                    <a:cs typeface="Tahoma"/>
                  </a:rPr>
                  <a:t>is</a:t>
                </a:r>
                <a:r>
                  <a:rPr lang="en-US" sz="1100" spc="-10" dirty="0">
                    <a:latin typeface="Tahoma"/>
                    <a:cs typeface="Tahoma"/>
                  </a:rPr>
                  <a:t> </a:t>
                </a:r>
                <a:r>
                  <a:rPr lang="en-US" sz="1100" spc="-25" dirty="0">
                    <a:latin typeface="Tahoma"/>
                    <a:cs typeface="Tahoma"/>
                  </a:rPr>
                  <a:t>an </a:t>
                </a:r>
                <a:r>
                  <a:rPr lang="en-US" sz="1100" spc="-30" dirty="0">
                    <a:latin typeface="Tahoma"/>
                    <a:cs typeface="Tahoma"/>
                  </a:rPr>
                  <a:t>inner</a:t>
                </a:r>
                <a:r>
                  <a:rPr lang="en-US" sz="1100" spc="-25" dirty="0">
                    <a:latin typeface="Tahoma"/>
                    <a:cs typeface="Tahoma"/>
                  </a:rPr>
                  <a:t> </a:t>
                </a:r>
                <a:r>
                  <a:rPr lang="en-US" sz="1100" spc="-30" dirty="0">
                    <a:latin typeface="Tahoma"/>
                    <a:cs typeface="Tahoma"/>
                  </a:rPr>
                  <a:t>product</a:t>
                </a:r>
                <a:r>
                  <a:rPr lang="en-US" sz="1100" spc="-25" dirty="0">
                    <a:latin typeface="Tahoma"/>
                    <a:cs typeface="Tahoma"/>
                  </a:rPr>
                  <a:t> </a:t>
                </a:r>
                <a:r>
                  <a:rPr lang="en-US" sz="1100" dirty="0">
                    <a:latin typeface="Tahoma"/>
                    <a:cs typeface="Tahoma"/>
                  </a:rPr>
                  <a:t>if</a:t>
                </a:r>
                <a:r>
                  <a:rPr lang="en-US" sz="1100" spc="-25" dirty="0">
                    <a:latin typeface="Tahoma"/>
                    <a:cs typeface="Tahoma"/>
                  </a:rPr>
                  <a:t> </a:t>
                </a:r>
                <a:r>
                  <a:rPr lang="en-US" sz="1100" spc="-35" dirty="0">
                    <a:latin typeface="Tahoma"/>
                    <a:cs typeface="Tahoma"/>
                  </a:rPr>
                  <a:t>and</a:t>
                </a:r>
                <a:r>
                  <a:rPr lang="en-US" sz="1100" spc="-25" dirty="0">
                    <a:latin typeface="Tahoma"/>
                    <a:cs typeface="Tahoma"/>
                  </a:rPr>
                  <a:t> </a:t>
                </a:r>
                <a:r>
                  <a:rPr lang="en-US" sz="1100" spc="-20" dirty="0">
                    <a:latin typeface="Tahoma"/>
                    <a:cs typeface="Tahoma"/>
                  </a:rPr>
                  <a:t>only</a:t>
                </a:r>
                <a:r>
                  <a:rPr lang="en-US" sz="1100" spc="-30" dirty="0">
                    <a:latin typeface="Tahoma"/>
                    <a:cs typeface="Tahoma"/>
                  </a:rPr>
                  <a:t> </a:t>
                </a:r>
                <a:r>
                  <a:rPr lang="en-US" sz="1100" dirty="0">
                    <a:latin typeface="Tahoma"/>
                    <a:cs typeface="Tahoma"/>
                  </a:rPr>
                  <a:t>if</a:t>
                </a:r>
                <a:r>
                  <a:rPr lang="en-US" sz="1100" spc="-25" dirty="0">
                    <a:latin typeface="Tahoma"/>
                    <a:cs typeface="Tahoma"/>
                  </a:rPr>
                  <a:t> </a:t>
                </a:r>
                <a:r>
                  <a:rPr lang="en-US" sz="1100" spc="-45" dirty="0">
                    <a:latin typeface="Tahoma"/>
                    <a:cs typeface="Tahoma"/>
                  </a:rPr>
                  <a:t>there</a:t>
                </a:r>
                <a:r>
                  <a:rPr lang="en-US" sz="1100" spc="-20" dirty="0">
                    <a:latin typeface="Tahoma"/>
                    <a:cs typeface="Tahoma"/>
                  </a:rPr>
                  <a:t> </a:t>
                </a:r>
                <a:r>
                  <a:rPr lang="en-US" sz="1100" spc="-30" dirty="0">
                    <a:latin typeface="Tahoma"/>
                    <a:cs typeface="Tahoma"/>
                  </a:rPr>
                  <a:t>exists </a:t>
                </a:r>
                <a:r>
                  <a:rPr lang="en-US" sz="1100" dirty="0">
                    <a:latin typeface="Tahoma"/>
                    <a:cs typeface="Tahoma"/>
                  </a:rPr>
                  <a:t>a</a:t>
                </a:r>
                <a:r>
                  <a:rPr lang="en-US" sz="1100" spc="-25" dirty="0">
                    <a:latin typeface="Tahoma"/>
                    <a:cs typeface="Tahoma"/>
                  </a:rPr>
                  <a:t> </a:t>
                </a:r>
                <a:r>
                  <a:rPr lang="en-US" sz="1100" spc="-40" dirty="0">
                    <a:latin typeface="Tahoma"/>
                    <a:cs typeface="Tahoma"/>
                  </a:rPr>
                  <a:t>symmetric,</a:t>
                </a:r>
                <a:r>
                  <a:rPr lang="en-US" sz="1100" spc="-25" dirty="0">
                    <a:latin typeface="Tahoma"/>
                    <a:cs typeface="Tahoma"/>
                  </a:rPr>
                  <a:t> </a:t>
                </a:r>
                <a:r>
                  <a:rPr lang="en-US" sz="1100" spc="-10" dirty="0">
                    <a:latin typeface="Tahoma"/>
                    <a:cs typeface="Tahoma"/>
                  </a:rPr>
                  <a:t>positive </a:t>
                </a:r>
                <a:r>
                  <a:rPr lang="en-US" sz="1100" spc="-30" dirty="0">
                    <a:latin typeface="Tahoma"/>
                    <a:cs typeface="Tahoma"/>
                  </a:rPr>
                  <a:t>definite</a:t>
                </a:r>
                <a:r>
                  <a:rPr lang="en-US" sz="1100" spc="-5" dirty="0">
                    <a:latin typeface="Tahoma"/>
                    <a:cs typeface="Tahoma"/>
                  </a:rPr>
                  <a:t> </a:t>
                </a:r>
                <a:r>
                  <a:rPr lang="en-US" sz="1100" spc="-10" dirty="0">
                    <a:latin typeface="Tahoma"/>
                    <a:cs typeface="Tahoma"/>
                  </a:rPr>
                  <a:t>matrix</a:t>
                </a:r>
                <a:r>
                  <a:rPr lang="en-US" sz="1100" spc="10" dirty="0">
                    <a:latin typeface="Tahoma"/>
                    <a:cs typeface="Tahoma"/>
                  </a:rPr>
                  <a:t> </a:t>
                </a:r>
                <a:r>
                  <a:rPr lang="en-US" sz="1050" spc="90" dirty="0">
                    <a:latin typeface="Arial"/>
                    <a:cs typeface="Arial"/>
                  </a:rPr>
                  <a:t>A</a:t>
                </a:r>
                <a:r>
                  <a:rPr lang="en-US" sz="1050" dirty="0">
                    <a:latin typeface="Arial"/>
                    <a:cs typeface="Arial"/>
                  </a:rPr>
                  <a:t> </a:t>
                </a:r>
                <a:r>
                  <a:rPr lang="en-US" sz="1100" dirty="0">
                    <a:latin typeface="Cambria"/>
                    <a:cs typeface="Cambria"/>
                  </a:rPr>
                  <a:t>∈</a:t>
                </a:r>
                <a:r>
                  <a:rPr lang="en-US" sz="1100" spc="50" dirty="0">
                    <a:latin typeface="Cambria"/>
                    <a:cs typeface="Cambria"/>
                  </a:rPr>
                  <a:t> </a:t>
                </a:r>
                <a:r>
                  <a:rPr lang="en-US" sz="1100" dirty="0">
                    <a:latin typeface="Century"/>
                    <a:cs typeface="Century"/>
                  </a:rPr>
                  <a:t>R</a:t>
                </a:r>
                <a:r>
                  <a:rPr lang="en-US" sz="1200" i="1" baseline="27777" dirty="0">
                    <a:latin typeface="Arial"/>
                    <a:cs typeface="Arial"/>
                  </a:rPr>
                  <a:t>n</a:t>
                </a:r>
                <a:r>
                  <a:rPr lang="en-US" sz="1200" i="1" baseline="27777" dirty="0">
                    <a:latin typeface="Verdana"/>
                    <a:cs typeface="Verdana"/>
                  </a:rPr>
                  <a:t>×</a:t>
                </a:r>
                <a:r>
                  <a:rPr lang="en-US" sz="1200" i="1" baseline="27777" dirty="0">
                    <a:latin typeface="Arial"/>
                    <a:cs typeface="Arial"/>
                  </a:rPr>
                  <a:t>n</a:t>
                </a:r>
                <a:r>
                  <a:rPr lang="en-US" sz="1200" i="1" spc="292" baseline="27777" dirty="0">
                    <a:latin typeface="Arial"/>
                    <a:cs typeface="Arial"/>
                  </a:rPr>
                  <a:t> </a:t>
                </a:r>
                <a:r>
                  <a:rPr lang="en-US" sz="1100" dirty="0">
                    <a:latin typeface="Tahoma"/>
                    <a:cs typeface="Tahoma"/>
                  </a:rPr>
                  <a:t>with </a:t>
                </a:r>
                <a14:m>
                  <m:oMath xmlns:m="http://schemas.openxmlformats.org/officeDocument/2006/math">
                    <m:r>
                      <a:rPr lang="en-US" sz="1100" b="0" i="1" smtClean="0">
                        <a:latin typeface="Cambria Math" panose="02040503050406030204" pitchFamily="18" charset="0"/>
                        <a:cs typeface="Tahoma"/>
                      </a:rPr>
                      <m:t>&lt;</m:t>
                    </m:r>
                    <m:r>
                      <a:rPr lang="en-IN" sz="1100" b="0" i="1" smtClean="0">
                        <a:latin typeface="Cambria Math" panose="02040503050406030204" pitchFamily="18" charset="0"/>
                        <a:cs typeface="Tahoma"/>
                      </a:rPr>
                      <m:t>𝑥</m:t>
                    </m:r>
                    <m:r>
                      <a:rPr lang="en-IN" sz="1100" b="0" i="1" smtClean="0">
                        <a:latin typeface="Cambria Math" panose="02040503050406030204" pitchFamily="18" charset="0"/>
                        <a:cs typeface="Tahoma"/>
                      </a:rPr>
                      <m:t>, </m:t>
                    </m:r>
                    <m:r>
                      <a:rPr lang="en-IN" sz="1100" b="0" i="1" smtClean="0">
                        <a:latin typeface="Cambria Math" panose="02040503050406030204" pitchFamily="18" charset="0"/>
                        <a:cs typeface="Tahoma"/>
                      </a:rPr>
                      <m:t>𝑦</m:t>
                    </m:r>
                    <m:r>
                      <a:rPr lang="en-IN" sz="1100" b="0" i="1" smtClean="0">
                        <a:latin typeface="Cambria Math" panose="02040503050406030204" pitchFamily="18" charset="0"/>
                        <a:cs typeface="Tahoma"/>
                      </a:rPr>
                      <m:t>&gt; </m:t>
                    </m:r>
                    <m:r>
                      <a:rPr lang="en-IN" sz="1100" b="0" i="0" smtClean="0">
                        <a:latin typeface="Cambria Math" panose="02040503050406030204" pitchFamily="18" charset="0"/>
                        <a:cs typeface="Tahoma"/>
                      </a:rPr>
                      <m:t>= </m:t>
                    </m:r>
                    <m:acc>
                      <m:accPr>
                        <m:chr m:val="̂"/>
                        <m:ctrlPr>
                          <a:rPr lang="en-IN" sz="1100" b="0" i="1" smtClean="0">
                            <a:latin typeface="Cambria Math" panose="02040503050406030204" pitchFamily="18" charset="0"/>
                            <a:cs typeface="Tahoma"/>
                          </a:rPr>
                        </m:ctrlPr>
                      </m:accPr>
                      <m:e>
                        <m:r>
                          <a:rPr lang="en-IN" sz="1100" b="0" i="1" smtClean="0"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</m:acc>
                    <m:sSup>
                      <m:sSupPr>
                        <m:ctrlPr>
                          <a:rPr lang="en-US" sz="1100" b="0" i="1" smtClean="0"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IN" sz="1100" b="0" i="1" smtClean="0">
                            <a:latin typeface="Cambria Math" panose="02040503050406030204" pitchFamily="18" charset="0"/>
                            <a:cs typeface="Tahoma"/>
                          </a:rPr>
                          <m:t>𝐴</m:t>
                        </m:r>
                      </m:e>
                      <m:sup>
                        <m:r>
                          <a:rPr lang="en-IN" sz="1100" b="0" i="1" smtClean="0">
                            <a:latin typeface="Cambria Math" panose="02040503050406030204" pitchFamily="18" charset="0"/>
                            <a:cs typeface="Tahoma"/>
                          </a:rPr>
                          <m:t>𝑇</m:t>
                        </m:r>
                      </m:sup>
                    </m:sSup>
                    <m:acc>
                      <m:accPr>
                        <m:chr m:val="̂"/>
                        <m:ctrlPr>
                          <a:rPr lang="en-US" sz="1100" b="0" i="1" smtClean="0">
                            <a:latin typeface="Cambria Math" panose="02040503050406030204" pitchFamily="18" charset="0"/>
                            <a:cs typeface="Tahoma"/>
                          </a:rPr>
                        </m:ctrlPr>
                      </m:accPr>
                      <m:e>
                        <m:r>
                          <a:rPr lang="en-IN" sz="1100" b="0" i="1" smtClean="0">
                            <a:latin typeface="Cambria Math" panose="02040503050406030204" pitchFamily="18" charset="0"/>
                            <a:cs typeface="Tahoma"/>
                          </a:rPr>
                          <m:t>𝑦</m:t>
                        </m:r>
                      </m:e>
                    </m:acc>
                  </m:oMath>
                </a14:m>
                <a:endParaRPr lang="en-US" sz="1100" dirty="0">
                  <a:latin typeface="Tahoma"/>
                  <a:cs typeface="Tahoma"/>
                </a:endParaRPr>
              </a:p>
              <a:p>
                <a:pPr marL="113664" marR="431165">
                  <a:lnSpc>
                    <a:spcPct val="102699"/>
                  </a:lnSpc>
                </a:pPr>
                <a:r>
                  <a:rPr lang="en-US" sz="1100" b="1" dirty="0">
                    <a:latin typeface="Arial"/>
                    <a:cs typeface="Arial"/>
                  </a:rPr>
                  <a:t>Proof</a:t>
                </a:r>
                <a:r>
                  <a:rPr lang="en-US" sz="1100" dirty="0">
                    <a:latin typeface="Tahoma"/>
                    <a:cs typeface="Tahoma"/>
                  </a:rPr>
                  <a:t>:</a:t>
                </a:r>
                <a:r>
                  <a:rPr lang="en-US" sz="1100" spc="60" dirty="0">
                    <a:latin typeface="Tahoma"/>
                    <a:cs typeface="Tahoma"/>
                  </a:rPr>
                  <a:t> </a:t>
                </a:r>
                <a:r>
                  <a:rPr lang="en-US" sz="1100" spc="-10" dirty="0">
                    <a:latin typeface="Tahoma"/>
                    <a:cs typeface="Tahoma"/>
                  </a:rPr>
                  <a:t>One</a:t>
                </a:r>
                <a:r>
                  <a:rPr lang="en-US" sz="1100" spc="-20" dirty="0">
                    <a:latin typeface="Tahoma"/>
                    <a:cs typeface="Tahoma"/>
                  </a:rPr>
                  <a:t> </a:t>
                </a:r>
                <a:r>
                  <a:rPr lang="en-US" sz="1100" spc="-25" dirty="0">
                    <a:latin typeface="Tahoma"/>
                    <a:cs typeface="Tahoma"/>
                  </a:rPr>
                  <a:t>direction</a:t>
                </a:r>
                <a:r>
                  <a:rPr lang="en-US" sz="1100" spc="-30" dirty="0">
                    <a:latin typeface="Tahoma"/>
                    <a:cs typeface="Tahoma"/>
                  </a:rPr>
                  <a:t> </a:t>
                </a:r>
                <a:r>
                  <a:rPr lang="en-US" sz="1100" dirty="0">
                    <a:latin typeface="Cambria"/>
                    <a:cs typeface="Cambria"/>
                  </a:rPr>
                  <a:t>→</a:t>
                </a:r>
                <a:r>
                  <a:rPr lang="en-US" sz="1100" dirty="0">
                    <a:latin typeface="Tahoma"/>
                    <a:cs typeface="Tahoma"/>
                  </a:rPr>
                  <a:t>:</a:t>
                </a:r>
                <a:r>
                  <a:rPr lang="en-US" sz="1100" spc="85" dirty="0">
                    <a:latin typeface="Tahoma"/>
                    <a:cs typeface="Tahoma"/>
                  </a:rPr>
                  <a:t> </a:t>
                </a:r>
                <a:r>
                  <a:rPr lang="en-US" sz="1100" spc="-20" dirty="0">
                    <a:latin typeface="Cambria"/>
                    <a:cs typeface="Cambria"/>
                  </a:rPr>
                  <a:t>⟨</a:t>
                </a:r>
                <a:r>
                  <a:rPr lang="en-US" sz="1100" i="1" spc="-20" dirty="0">
                    <a:latin typeface="Bookman Old Style"/>
                    <a:cs typeface="Bookman Old Style"/>
                  </a:rPr>
                  <a:t>.,</a:t>
                </a:r>
                <a:r>
                  <a:rPr lang="en-US" sz="1100" i="1" spc="-150" dirty="0">
                    <a:latin typeface="Bookman Old Style"/>
                    <a:cs typeface="Bookman Old Style"/>
                  </a:rPr>
                  <a:t> </a:t>
                </a:r>
                <a:r>
                  <a:rPr lang="en-US" sz="1100" i="1" dirty="0">
                    <a:latin typeface="Bookman Old Style"/>
                    <a:cs typeface="Bookman Old Style"/>
                  </a:rPr>
                  <a:t>.</a:t>
                </a:r>
                <a:r>
                  <a:rPr lang="en-US" sz="1100" dirty="0">
                    <a:latin typeface="Cambria"/>
                    <a:cs typeface="Cambria"/>
                  </a:rPr>
                  <a:t>⟩</a:t>
                </a:r>
                <a:r>
                  <a:rPr lang="en-US" sz="1100" spc="75" dirty="0">
                    <a:latin typeface="Cambria"/>
                    <a:cs typeface="Cambria"/>
                  </a:rPr>
                  <a:t> </a:t>
                </a:r>
                <a:r>
                  <a:rPr lang="en-US" sz="1100" dirty="0">
                    <a:latin typeface="Tahoma"/>
                    <a:cs typeface="Tahoma"/>
                  </a:rPr>
                  <a:t>is</a:t>
                </a:r>
                <a:r>
                  <a:rPr lang="en-US" sz="1100" spc="-25" dirty="0">
                    <a:latin typeface="Tahoma"/>
                    <a:cs typeface="Tahoma"/>
                  </a:rPr>
                  <a:t> </a:t>
                </a:r>
                <a:r>
                  <a:rPr lang="en-US" sz="1100" dirty="0">
                    <a:latin typeface="Tahoma"/>
                    <a:cs typeface="Tahoma"/>
                  </a:rPr>
                  <a:t>an</a:t>
                </a:r>
                <a:r>
                  <a:rPr lang="en-US" sz="1100" spc="-25" dirty="0">
                    <a:latin typeface="Tahoma"/>
                    <a:cs typeface="Tahoma"/>
                  </a:rPr>
                  <a:t> </a:t>
                </a:r>
                <a:r>
                  <a:rPr lang="en-US" sz="1100" spc="-30" dirty="0">
                    <a:latin typeface="Tahoma"/>
                    <a:cs typeface="Tahoma"/>
                  </a:rPr>
                  <a:t>inner</a:t>
                </a:r>
                <a:r>
                  <a:rPr lang="en-US" sz="1100" spc="-20" dirty="0">
                    <a:latin typeface="Tahoma"/>
                    <a:cs typeface="Tahoma"/>
                  </a:rPr>
                  <a:t> </a:t>
                </a:r>
                <a:r>
                  <a:rPr lang="en-US" sz="1100" spc="-10" dirty="0">
                    <a:latin typeface="Tahoma"/>
                    <a:cs typeface="Tahoma"/>
                  </a:rPr>
                  <a:t>product</a:t>
                </a:r>
                <a:r>
                  <a:rPr lang="en-US" sz="1100" spc="245" dirty="0">
                    <a:latin typeface="Tahoma"/>
                    <a:cs typeface="Tahoma"/>
                  </a:rPr>
                  <a:t> </a:t>
                </a:r>
                <a:r>
                  <a:rPr lang="en-US" sz="1100" spc="245" dirty="0">
                    <a:latin typeface="Tahoma"/>
                    <a:ea typeface="Cambria Math" panose="02040503050406030204" pitchFamily="18" charset="0"/>
                    <a:cs typeface="Tahoma"/>
                  </a:rPr>
                  <a:t>⇒</a:t>
                </a:r>
                <a:r>
                  <a:rPr lang="en-US" sz="1100" spc="340" dirty="0">
                    <a:latin typeface="Cambria"/>
                    <a:cs typeface="Cambria"/>
                  </a:rPr>
                  <a:t> </a:t>
                </a:r>
                <a:r>
                  <a:rPr lang="en-US" sz="1050" spc="90" dirty="0">
                    <a:latin typeface="Arial"/>
                    <a:ea typeface="Cambria Math" panose="02040503050406030204" pitchFamily="18" charset="0"/>
                    <a:cs typeface="Arial"/>
                  </a:rPr>
                  <a:t>there exists a</a:t>
                </a:r>
                <a:r>
                  <a:rPr lang="en-US" sz="1100" spc="-25" dirty="0">
                    <a:latin typeface="Tahoma"/>
                    <a:cs typeface="Tahoma"/>
                  </a:rPr>
                  <a:t> </a:t>
                </a:r>
                <a:r>
                  <a:rPr lang="en-US" sz="1100" spc="-40" dirty="0">
                    <a:latin typeface="Tahoma"/>
                    <a:cs typeface="Tahoma"/>
                  </a:rPr>
                  <a:t>symmetric,</a:t>
                </a:r>
                <a:r>
                  <a:rPr lang="en-US" sz="1100" spc="20" dirty="0">
                    <a:latin typeface="Tahoma"/>
                    <a:cs typeface="Tahoma"/>
                  </a:rPr>
                  <a:t> </a:t>
                </a:r>
                <a:r>
                  <a:rPr lang="en-US" sz="1100" spc="-40" dirty="0">
                    <a:latin typeface="Tahoma"/>
                    <a:cs typeface="Tahoma"/>
                  </a:rPr>
                  <a:t>positive-</a:t>
                </a:r>
                <a:r>
                  <a:rPr lang="en-US" sz="1100" spc="-30" dirty="0">
                    <a:latin typeface="Tahoma"/>
                    <a:cs typeface="Tahoma"/>
                  </a:rPr>
                  <a:t>definite</a:t>
                </a:r>
                <a:r>
                  <a:rPr lang="en-US" sz="1100" spc="20" dirty="0">
                    <a:latin typeface="Tahoma"/>
                    <a:cs typeface="Tahoma"/>
                  </a:rPr>
                  <a:t> matrix A </a:t>
                </a:r>
                <a:r>
                  <a:rPr lang="en-US" sz="1100" spc="-40" dirty="0">
                    <a:latin typeface="Tahoma"/>
                    <a:cs typeface="Tahoma"/>
                  </a:rPr>
                  <a:t>such</a:t>
                </a:r>
                <a:r>
                  <a:rPr lang="en-US" sz="1100" spc="20" dirty="0">
                    <a:latin typeface="Tahoma"/>
                    <a:cs typeface="Tahoma"/>
                  </a:rPr>
                  <a:t> </a:t>
                </a:r>
                <a:r>
                  <a:rPr lang="en-US" sz="1100" dirty="0">
                    <a:latin typeface="Tahoma"/>
                    <a:cs typeface="Tahoma"/>
                  </a:rPr>
                  <a:t>that</a:t>
                </a:r>
                <a:r>
                  <a:rPr lang="en-US" sz="1100" spc="15" dirty="0">
                    <a:latin typeface="Tahoma"/>
                    <a:cs typeface="Tahoma"/>
                  </a:rPr>
                  <a:t> </a:t>
                </a:r>
                <a14:m>
                  <m:oMath xmlns:m="http://schemas.openxmlformats.org/officeDocument/2006/math">
                    <m:r>
                      <a:rPr lang="en-US" sz="1100" b="0" i="1" smtClean="0">
                        <a:latin typeface="Cambria Math" panose="02040503050406030204" pitchFamily="18" charset="0"/>
                        <a:cs typeface="Tahoma"/>
                      </a:rPr>
                      <m:t>&lt;</m:t>
                    </m:r>
                    <m:r>
                      <a:rPr lang="en-IN" sz="1100" b="0" i="1" smtClean="0">
                        <a:latin typeface="Cambria Math" panose="02040503050406030204" pitchFamily="18" charset="0"/>
                        <a:cs typeface="Tahoma"/>
                      </a:rPr>
                      <m:t>𝑥</m:t>
                    </m:r>
                    <m:r>
                      <a:rPr lang="en-IN" sz="1100" b="0" i="1" smtClean="0">
                        <a:latin typeface="Cambria Math" panose="02040503050406030204" pitchFamily="18" charset="0"/>
                        <a:cs typeface="Tahoma"/>
                      </a:rPr>
                      <m:t>, </m:t>
                    </m:r>
                    <m:r>
                      <a:rPr lang="en-IN" sz="1100" b="0" i="1" smtClean="0">
                        <a:latin typeface="Cambria Math" panose="02040503050406030204" pitchFamily="18" charset="0"/>
                        <a:cs typeface="Tahoma"/>
                      </a:rPr>
                      <m:t>𝑦</m:t>
                    </m:r>
                    <m:r>
                      <a:rPr lang="en-IN" sz="1100" b="0" i="1" smtClean="0">
                        <a:latin typeface="Cambria Math" panose="02040503050406030204" pitchFamily="18" charset="0"/>
                        <a:cs typeface="Tahoma"/>
                      </a:rPr>
                      <m:t>&gt; </m:t>
                    </m:r>
                    <m:r>
                      <a:rPr lang="en-IN" sz="1100" b="0" i="0" smtClean="0">
                        <a:latin typeface="Cambria Math" panose="02040503050406030204" pitchFamily="18" charset="0"/>
                        <a:cs typeface="Tahoma"/>
                      </a:rPr>
                      <m:t>= </m:t>
                    </m:r>
                    <m:acc>
                      <m:accPr>
                        <m:chr m:val="̂"/>
                        <m:ctrlPr>
                          <a:rPr lang="en-IN" sz="1100" b="0" i="1" smtClean="0">
                            <a:latin typeface="Cambria Math" panose="02040503050406030204" pitchFamily="18" charset="0"/>
                            <a:cs typeface="Tahoma"/>
                          </a:rPr>
                        </m:ctrlPr>
                      </m:accPr>
                      <m:e>
                        <m:r>
                          <a:rPr lang="en-IN" sz="1100" b="0" i="1" smtClean="0"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</m:acc>
                    <m:sSup>
                      <m:sSupPr>
                        <m:ctrlPr>
                          <a:rPr lang="en-US" sz="1100" b="0" i="1" smtClean="0"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IN" sz="1100" b="0" i="1" smtClean="0">
                            <a:latin typeface="Cambria Math" panose="02040503050406030204" pitchFamily="18" charset="0"/>
                            <a:cs typeface="Tahoma"/>
                          </a:rPr>
                          <m:t>𝐴</m:t>
                        </m:r>
                      </m:e>
                      <m:sup>
                        <m:r>
                          <a:rPr lang="en-IN" sz="1100" b="0" i="1" smtClean="0">
                            <a:latin typeface="Cambria Math" panose="02040503050406030204" pitchFamily="18" charset="0"/>
                            <a:cs typeface="Tahoma"/>
                          </a:rPr>
                          <m:t>𝑇</m:t>
                        </m:r>
                      </m:sup>
                    </m:sSup>
                    <m:acc>
                      <m:accPr>
                        <m:chr m:val="̂"/>
                        <m:ctrlPr>
                          <a:rPr lang="en-US" sz="1100" b="0" i="1" smtClean="0">
                            <a:latin typeface="Cambria Math" panose="02040503050406030204" pitchFamily="18" charset="0"/>
                            <a:cs typeface="Tahoma"/>
                          </a:rPr>
                        </m:ctrlPr>
                      </m:accPr>
                      <m:e>
                        <m:r>
                          <a:rPr lang="en-IN" sz="1100" b="0" i="1" smtClean="0">
                            <a:latin typeface="Cambria Math" panose="02040503050406030204" pitchFamily="18" charset="0"/>
                            <a:cs typeface="Tahoma"/>
                          </a:rPr>
                          <m:t>𝑦</m:t>
                        </m:r>
                      </m:e>
                    </m:acc>
                  </m:oMath>
                </a14:m>
                <a:endParaRPr lang="en-US" sz="1100" dirty="0">
                  <a:latin typeface="Tahoma"/>
                  <a:cs typeface="Tahoma"/>
                </a:endParaRPr>
              </a:p>
              <a:p>
                <a:pPr marL="113664" marR="123825">
                  <a:lnSpc>
                    <a:spcPct val="102600"/>
                  </a:lnSpc>
                </a:pPr>
                <a:r>
                  <a:rPr lang="en-US" sz="1100" spc="-10" dirty="0">
                    <a:latin typeface="Tahoma"/>
                    <a:cs typeface="Tahoma"/>
                  </a:rPr>
                  <a:t>Other </a:t>
                </a:r>
                <a:r>
                  <a:rPr lang="en-US" sz="1100" spc="-25" dirty="0">
                    <a:latin typeface="Tahoma"/>
                    <a:cs typeface="Tahoma"/>
                  </a:rPr>
                  <a:t>direction</a:t>
                </a:r>
                <a:r>
                  <a:rPr lang="en-US" sz="1100" spc="-10" dirty="0">
                    <a:latin typeface="Tahoma"/>
                    <a:cs typeface="Tahoma"/>
                  </a:rPr>
                  <a:t> </a:t>
                </a:r>
                <a:r>
                  <a:rPr lang="en-US" sz="1100" dirty="0">
                    <a:latin typeface="Cambria"/>
                    <a:cs typeface="Cambria"/>
                  </a:rPr>
                  <a:t>←</a:t>
                </a:r>
                <a:r>
                  <a:rPr lang="en-US" sz="1100" dirty="0">
                    <a:latin typeface="Tahoma"/>
                    <a:cs typeface="Tahoma"/>
                  </a:rPr>
                  <a:t>:</a:t>
                </a:r>
                <a:r>
                  <a:rPr lang="en-US" sz="1100" spc="105" dirty="0">
                    <a:latin typeface="Tahoma"/>
                    <a:cs typeface="Tahoma"/>
                  </a:rPr>
                  <a:t> </a:t>
                </a:r>
                <a:r>
                  <a:rPr lang="en-US" sz="1050" spc="90" dirty="0">
                    <a:latin typeface="Arial"/>
                    <a:cs typeface="Arial"/>
                  </a:rPr>
                  <a:t>A</a:t>
                </a:r>
                <a:r>
                  <a:rPr lang="en-US" sz="1050" spc="40" dirty="0">
                    <a:latin typeface="Arial"/>
                    <a:cs typeface="Arial"/>
                  </a:rPr>
                  <a:t> </a:t>
                </a:r>
                <a:r>
                  <a:rPr lang="en-US" sz="1100" dirty="0">
                    <a:latin typeface="Tahoma"/>
                    <a:cs typeface="Tahoma"/>
                  </a:rPr>
                  <a:t>is</a:t>
                </a:r>
                <a:r>
                  <a:rPr lang="en-US" sz="1100" spc="-10" dirty="0">
                    <a:latin typeface="Tahoma"/>
                    <a:cs typeface="Tahoma"/>
                  </a:rPr>
                  <a:t> </a:t>
                </a:r>
                <a:r>
                  <a:rPr lang="en-US" sz="1100" spc="-40" dirty="0">
                    <a:latin typeface="Tahoma"/>
                    <a:cs typeface="Tahoma"/>
                  </a:rPr>
                  <a:t>symmetric,</a:t>
                </a:r>
                <a:r>
                  <a:rPr lang="en-US" sz="1100" spc="-5" dirty="0">
                    <a:latin typeface="Tahoma"/>
                    <a:cs typeface="Tahoma"/>
                  </a:rPr>
                  <a:t> </a:t>
                </a:r>
                <a:r>
                  <a:rPr lang="en-US" sz="1100" spc="-25" dirty="0">
                    <a:latin typeface="Tahoma"/>
                    <a:cs typeface="Tahoma"/>
                  </a:rPr>
                  <a:t>positive</a:t>
                </a:r>
                <a:r>
                  <a:rPr lang="en-US" sz="1100" spc="-10" dirty="0">
                    <a:latin typeface="Tahoma"/>
                    <a:cs typeface="Tahoma"/>
                  </a:rPr>
                  <a:t> </a:t>
                </a:r>
                <a:r>
                  <a:rPr lang="en-US" sz="1100" spc="-30" dirty="0">
                    <a:latin typeface="Tahoma"/>
                    <a:cs typeface="Tahoma"/>
                  </a:rPr>
                  <a:t>definite</a:t>
                </a:r>
                <a:r>
                  <a:rPr lang="en-US" sz="1100" spc="-5" dirty="0">
                    <a:latin typeface="Tahoma"/>
                    <a:cs typeface="Tahoma"/>
                  </a:rPr>
                  <a:t> </a:t>
                </a:r>
                <a:r>
                  <a:rPr lang="en-US" sz="1100" spc="-40" dirty="0">
                    <a:latin typeface="Tahoma"/>
                    <a:cs typeface="Tahoma"/>
                  </a:rPr>
                  <a:t>such</a:t>
                </a:r>
                <a:r>
                  <a:rPr lang="en-US" sz="1100" spc="-10" dirty="0">
                    <a:latin typeface="Tahoma"/>
                    <a:cs typeface="Tahoma"/>
                  </a:rPr>
                  <a:t> </a:t>
                </a:r>
                <a:r>
                  <a:rPr lang="en-US" sz="1100" dirty="0">
                    <a:latin typeface="Tahoma"/>
                    <a:cs typeface="Tahoma"/>
                  </a:rPr>
                  <a:t>that</a:t>
                </a:r>
                <a:r>
                  <a:rPr lang="en-US" sz="1100" spc="-10" dirty="0">
                    <a:latin typeface="Tahoma"/>
                    <a:cs typeface="Tahoma"/>
                  </a:rPr>
                  <a:t> </a:t>
                </a:r>
                <a:r>
                  <a:rPr lang="en-US" sz="1100" spc="-25" dirty="0">
                    <a:latin typeface="Tahoma"/>
                    <a:cs typeface="Tahoma"/>
                  </a:rPr>
                  <a:t>the </a:t>
                </a:r>
                <a:r>
                  <a:rPr lang="en-US" sz="1100" spc="-30" dirty="0">
                    <a:latin typeface="Tahoma"/>
                    <a:cs typeface="Tahoma"/>
                  </a:rPr>
                  <a:t>operation</a:t>
                </a:r>
                <a:r>
                  <a:rPr lang="en-US" sz="1100" spc="-60" dirty="0">
                    <a:latin typeface="Tahoma"/>
                    <a:cs typeface="Tahoma"/>
                  </a:rPr>
                  <a:t> </a:t>
                </a:r>
                <a:r>
                  <a:rPr lang="en-US" sz="1100" dirty="0">
                    <a:latin typeface="Cambria"/>
                    <a:cs typeface="Cambria"/>
                  </a:rPr>
                  <a:t>⟨</a:t>
                </a:r>
                <a:r>
                  <a:rPr lang="en-US" sz="1050" dirty="0">
                    <a:latin typeface="Arial"/>
                    <a:cs typeface="Arial"/>
                  </a:rPr>
                  <a:t>x</a:t>
                </a:r>
                <a:r>
                  <a:rPr lang="en-US" sz="1050" spc="-190" dirty="0">
                    <a:latin typeface="Arial"/>
                    <a:cs typeface="Arial"/>
                  </a:rPr>
                  <a:t> </a:t>
                </a:r>
                <a:r>
                  <a:rPr lang="en-US" sz="1100" i="1" spc="-35" dirty="0">
                    <a:latin typeface="Bookman Old Style"/>
                    <a:cs typeface="Bookman Old Style"/>
                  </a:rPr>
                  <a:t>,</a:t>
                </a:r>
                <a:r>
                  <a:rPr lang="en-US" sz="1100" i="1" spc="-150" dirty="0">
                    <a:latin typeface="Bookman Old Style"/>
                    <a:cs typeface="Bookman Old Style"/>
                  </a:rPr>
                  <a:t> </a:t>
                </a:r>
                <a:r>
                  <a:rPr lang="en-US" sz="1050" spc="75" dirty="0">
                    <a:latin typeface="Arial"/>
                    <a:cs typeface="Arial"/>
                  </a:rPr>
                  <a:t>y</a:t>
                </a:r>
                <a:r>
                  <a:rPr lang="en-US" sz="1100" spc="75" dirty="0">
                    <a:latin typeface="Cambria"/>
                    <a:cs typeface="Cambria"/>
                  </a:rPr>
                  <a:t>⟩ </a:t>
                </a:r>
                <a:r>
                  <a:rPr lang="en-US" sz="1100" dirty="0">
                    <a:latin typeface="Tahoma"/>
                    <a:cs typeface="Tahoma"/>
                  </a:rPr>
                  <a:t>is</a:t>
                </a:r>
                <a:r>
                  <a:rPr lang="en-US" sz="1100" spc="-10" dirty="0">
                    <a:latin typeface="Tahoma"/>
                    <a:cs typeface="Tahoma"/>
                  </a:rPr>
                  <a:t> </a:t>
                </a:r>
                <a:r>
                  <a:rPr lang="en-US" sz="1100" spc="-45" dirty="0">
                    <a:latin typeface="Tahoma"/>
                    <a:cs typeface="Tahoma"/>
                  </a:rPr>
                  <a:t>defined</a:t>
                </a:r>
                <a:r>
                  <a:rPr lang="en-US" sz="1100" spc="-10" dirty="0">
                    <a:latin typeface="Tahoma"/>
                    <a:cs typeface="Tahoma"/>
                  </a:rPr>
                  <a:t> </a:t>
                </a:r>
                <a:r>
                  <a:rPr lang="en-US" sz="1100" spc="-30" dirty="0">
                    <a:latin typeface="Tahoma"/>
                    <a:cs typeface="Tahoma"/>
                  </a:rPr>
                  <a:t>as</a:t>
                </a:r>
                <a:r>
                  <a:rPr lang="en-US" sz="1100" spc="-15" dirty="0">
                    <a:latin typeface="Tahoma"/>
                    <a:cs typeface="Tahoma"/>
                  </a:rPr>
                  <a:t> </a:t>
                </a:r>
                <a14:m>
                  <m:oMath xmlns:m="http://schemas.openxmlformats.org/officeDocument/2006/math">
                    <m:r>
                      <a:rPr lang="en-US" sz="1100" b="0" i="1" smtClean="0">
                        <a:latin typeface="Cambria Math" panose="02040503050406030204" pitchFamily="18" charset="0"/>
                        <a:cs typeface="Tahoma"/>
                      </a:rPr>
                      <m:t>&lt;</m:t>
                    </m:r>
                    <m:r>
                      <a:rPr lang="en-IN" sz="1100" b="0" i="1" smtClean="0">
                        <a:latin typeface="Cambria Math" panose="02040503050406030204" pitchFamily="18" charset="0"/>
                        <a:cs typeface="Tahoma"/>
                      </a:rPr>
                      <m:t>𝑥</m:t>
                    </m:r>
                    <m:r>
                      <a:rPr lang="en-IN" sz="1100" b="0" i="1" smtClean="0">
                        <a:latin typeface="Cambria Math" panose="02040503050406030204" pitchFamily="18" charset="0"/>
                        <a:cs typeface="Tahoma"/>
                      </a:rPr>
                      <m:t>, </m:t>
                    </m:r>
                    <m:r>
                      <a:rPr lang="en-IN" sz="1100" b="0" i="1" smtClean="0">
                        <a:latin typeface="Cambria Math" panose="02040503050406030204" pitchFamily="18" charset="0"/>
                        <a:cs typeface="Tahoma"/>
                      </a:rPr>
                      <m:t>𝑦</m:t>
                    </m:r>
                    <m:r>
                      <a:rPr lang="en-IN" sz="1100" b="0" i="1" smtClean="0">
                        <a:latin typeface="Cambria Math" panose="02040503050406030204" pitchFamily="18" charset="0"/>
                        <a:cs typeface="Tahoma"/>
                      </a:rPr>
                      <m:t>&gt; </m:t>
                    </m:r>
                    <m:r>
                      <a:rPr lang="en-IN" sz="1100" b="0" i="0" smtClean="0">
                        <a:latin typeface="Cambria Math" panose="02040503050406030204" pitchFamily="18" charset="0"/>
                        <a:cs typeface="Tahoma"/>
                      </a:rPr>
                      <m:t>= </m:t>
                    </m:r>
                    <m:acc>
                      <m:accPr>
                        <m:chr m:val="̂"/>
                        <m:ctrlPr>
                          <a:rPr lang="en-IN" sz="1100" b="0" i="1" smtClean="0">
                            <a:latin typeface="Cambria Math" panose="02040503050406030204" pitchFamily="18" charset="0"/>
                            <a:cs typeface="Tahoma"/>
                          </a:rPr>
                        </m:ctrlPr>
                      </m:accPr>
                      <m:e>
                        <m:r>
                          <a:rPr lang="en-IN" sz="1100" b="0" i="1" smtClean="0"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</m:acc>
                    <m:sSup>
                      <m:sSupPr>
                        <m:ctrlPr>
                          <a:rPr lang="en-US" sz="1100" b="0" i="1" smtClean="0"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IN" sz="1100" b="0" i="1" smtClean="0">
                            <a:latin typeface="Cambria Math" panose="02040503050406030204" pitchFamily="18" charset="0"/>
                            <a:cs typeface="Tahoma"/>
                          </a:rPr>
                          <m:t>𝐴</m:t>
                        </m:r>
                      </m:e>
                      <m:sup>
                        <m:r>
                          <a:rPr lang="en-IN" sz="1100" b="0" i="1" smtClean="0">
                            <a:latin typeface="Cambria Math" panose="02040503050406030204" pitchFamily="18" charset="0"/>
                            <a:cs typeface="Tahoma"/>
                          </a:rPr>
                          <m:t>𝑇</m:t>
                        </m:r>
                      </m:sup>
                    </m:sSup>
                    <m:acc>
                      <m:accPr>
                        <m:chr m:val="̂"/>
                        <m:ctrlPr>
                          <a:rPr lang="en-US" sz="1100" b="0" i="1" smtClean="0">
                            <a:latin typeface="Cambria Math" panose="02040503050406030204" pitchFamily="18" charset="0"/>
                            <a:cs typeface="Tahoma"/>
                          </a:rPr>
                        </m:ctrlPr>
                      </m:accPr>
                      <m:e>
                        <m:r>
                          <a:rPr lang="en-IN" sz="1100" b="0" i="1" smtClean="0">
                            <a:latin typeface="Cambria Math" panose="02040503050406030204" pitchFamily="18" charset="0"/>
                            <a:cs typeface="Tahoma"/>
                          </a:rPr>
                          <m:t>𝑦</m:t>
                        </m:r>
                      </m:e>
                    </m:acc>
                    <m:r>
                      <a:rPr lang="en-IN" sz="1100" b="0" i="1" smtClean="0">
                        <a:latin typeface="Cambria Math" panose="02040503050406030204" pitchFamily="18" charset="0"/>
                        <a:cs typeface="Tahoma"/>
                      </a:rPr>
                      <m:t> </m:t>
                    </m:r>
                    <m:r>
                      <a:rPr lang="en-IN" sz="1100" b="0" i="0" smtClean="0">
                        <a:latin typeface="Cambria Math" panose="02040503050406030204" pitchFamily="18" charset="0"/>
                        <a:cs typeface="Tahoma"/>
                      </a:rPr>
                      <m:t> </m:t>
                    </m:r>
                    <m:r>
                      <a:rPr lang="en-IN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ahoma"/>
                      </a:rPr>
                      <m:t>⇒</m:t>
                    </m:r>
                  </m:oMath>
                </a14:m>
                <a:r>
                  <a:rPr lang="en-US" sz="1100" spc="365" dirty="0">
                    <a:latin typeface="Cambria"/>
                    <a:cs typeface="Cambria"/>
                  </a:rPr>
                  <a:t> </a:t>
                </a:r>
                <a:r>
                  <a:rPr lang="en-US" sz="1100" spc="-10" dirty="0">
                    <a:latin typeface="Tahoma"/>
                    <a:cs typeface="Tahoma"/>
                  </a:rPr>
                  <a:t>the operation </a:t>
                </a:r>
                <a:r>
                  <a:rPr lang="en-US" sz="1100" spc="-45" dirty="0">
                    <a:latin typeface="Tahoma"/>
                    <a:cs typeface="Tahoma"/>
                  </a:rPr>
                  <a:t>defined </a:t>
                </a:r>
                <a:r>
                  <a:rPr lang="en-US" sz="1100" dirty="0">
                    <a:latin typeface="Tahoma"/>
                    <a:cs typeface="Tahoma"/>
                  </a:rPr>
                  <a:t>is</a:t>
                </a:r>
                <a:r>
                  <a:rPr lang="en-US" sz="1100" spc="-60" dirty="0">
                    <a:latin typeface="Tahoma"/>
                    <a:cs typeface="Tahoma"/>
                  </a:rPr>
                  <a:t> </a:t>
                </a:r>
                <a:r>
                  <a:rPr lang="en-US" sz="1100" dirty="0">
                    <a:latin typeface="Tahoma"/>
                    <a:cs typeface="Tahoma"/>
                  </a:rPr>
                  <a:t>an</a:t>
                </a:r>
                <a:r>
                  <a:rPr lang="en-US" sz="1100" spc="-55" dirty="0">
                    <a:latin typeface="Tahoma"/>
                    <a:cs typeface="Tahoma"/>
                  </a:rPr>
                  <a:t> </a:t>
                </a:r>
                <a:r>
                  <a:rPr lang="en-US" sz="1100" spc="-30" dirty="0">
                    <a:latin typeface="Tahoma"/>
                    <a:cs typeface="Tahoma"/>
                  </a:rPr>
                  <a:t>inner</a:t>
                </a:r>
                <a:r>
                  <a:rPr lang="en-US" sz="1100" spc="-50" dirty="0">
                    <a:latin typeface="Tahoma"/>
                    <a:cs typeface="Tahoma"/>
                  </a:rPr>
                  <a:t> </a:t>
                </a:r>
                <a:r>
                  <a:rPr lang="en-US" sz="1100" spc="-10" dirty="0">
                    <a:latin typeface="Tahoma"/>
                    <a:cs typeface="Tahoma"/>
                  </a:rPr>
                  <a:t>product.</a:t>
                </a:r>
                <a:endParaRPr sz="1100" dirty="0">
                  <a:latin typeface="Tahoma"/>
                  <a:cs typeface="Tahoma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694" y="926387"/>
                <a:ext cx="4091304" cy="1777923"/>
              </a:xfrm>
              <a:prstGeom prst="rect">
                <a:avLst/>
              </a:prstGeom>
              <a:blipFill>
                <a:blip r:embed="rId2"/>
                <a:stretch>
                  <a:fillRect t="-2740" r="-894" b="-17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9F00D-5B9C-4E60-A415-DE9724FE3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894330" cy="215444"/>
          </a:xfrm>
        </p:spPr>
        <p:txBody>
          <a:bodyPr/>
          <a:lstStyle/>
          <a:p>
            <a:r>
              <a:rPr lang="en-IN" dirty="0"/>
              <a:t>Proof (</a:t>
            </a:r>
            <a:r>
              <a:rPr lang="en-IN" dirty="0" err="1"/>
              <a:t>Ctd</a:t>
            </a:r>
            <a:r>
              <a:rPr lang="en-IN" dirty="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CF0D92-7573-A6B6-4F55-3EA58B52B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557" y="815975"/>
            <a:ext cx="3661093" cy="2178366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A06EC2-756E-C37A-1916-0D3B26E53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00" y="663575"/>
            <a:ext cx="4223067" cy="2464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9328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289433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IN" spc="-10" dirty="0"/>
              <a:t>Proof (</a:t>
            </a:r>
            <a:r>
              <a:rPr lang="en-IN" spc="-10" dirty="0" err="1"/>
              <a:t>Ctd</a:t>
            </a:r>
            <a:r>
              <a:rPr lang="en-IN" spc="-10" dirty="0"/>
              <a:t>)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23851" y="739776"/>
            <a:ext cx="3749992" cy="108145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27329" marR="4318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27329" algn="l"/>
              </a:tabLst>
            </a:pPr>
            <a:r>
              <a:rPr sz="1100" dirty="0">
                <a:latin typeface="Tahoma"/>
                <a:cs typeface="Tahoma"/>
              </a:rPr>
              <a:t>This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means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inner product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entirely </a:t>
            </a:r>
            <a:r>
              <a:rPr sz="1100" spc="-10" dirty="0">
                <a:latin typeface="Tahoma"/>
                <a:cs typeface="Tahoma"/>
              </a:rPr>
              <a:t>determined </a:t>
            </a:r>
            <a:r>
              <a:rPr sz="1100" spc="-35" dirty="0">
                <a:latin typeface="Tahoma"/>
                <a:cs typeface="Tahoma"/>
              </a:rPr>
              <a:t>through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matrix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A</a:t>
            </a:r>
            <a:r>
              <a:rPr sz="1100" dirty="0">
                <a:latin typeface="Tahoma"/>
                <a:cs typeface="Tahoma"/>
              </a:rPr>
              <a:t>.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symmetry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inner product </a:t>
            </a:r>
            <a:r>
              <a:rPr sz="1100" spc="-65" dirty="0">
                <a:latin typeface="Tahoma"/>
                <a:cs typeface="Tahoma"/>
              </a:rPr>
              <a:t>means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Arial"/>
                <a:cs typeface="Arial"/>
              </a:rPr>
              <a:t>ij</a:t>
            </a:r>
            <a:r>
              <a:rPr sz="1200" i="1" spc="390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Cambria"/>
                <a:cs typeface="Cambria"/>
              </a:rPr>
              <a:t>⟨</a:t>
            </a:r>
            <a:r>
              <a:rPr sz="1050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100" i="1" dirty="0">
                <a:latin typeface="Bookman Old Style"/>
                <a:cs typeface="Bookman Old Style"/>
              </a:rPr>
              <a:t>,</a:t>
            </a:r>
            <a:r>
              <a:rPr sz="1100" i="1" spc="-125" dirty="0">
                <a:latin typeface="Bookman Old Style"/>
                <a:cs typeface="Bookman Old Style"/>
              </a:rPr>
              <a:t> </a:t>
            </a:r>
            <a:r>
              <a:rPr sz="1050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j</a:t>
            </a:r>
            <a:r>
              <a:rPr sz="1200" i="1" spc="-12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⟩</a:t>
            </a:r>
            <a:r>
              <a:rPr sz="1100" spc="95" dirty="0">
                <a:latin typeface="Cambria"/>
                <a:cs typeface="Cambria"/>
              </a:rPr>
              <a:t> </a:t>
            </a:r>
            <a:r>
              <a:rPr sz="1100" dirty="0">
                <a:latin typeface="Tahoma"/>
                <a:cs typeface="Tahoma"/>
              </a:rPr>
              <a:t>=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Arial"/>
                <a:cs typeface="Arial"/>
              </a:rPr>
              <a:t>ji</a:t>
            </a:r>
            <a:r>
              <a:rPr sz="1200" i="1" spc="390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 </a:t>
            </a:r>
            <a:r>
              <a:rPr sz="1100" dirty="0">
                <a:latin typeface="Cambria"/>
                <a:cs typeface="Cambria"/>
              </a:rPr>
              <a:t>⟨</a:t>
            </a:r>
            <a:r>
              <a:rPr sz="1050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j</a:t>
            </a:r>
            <a:r>
              <a:rPr sz="1100" i="1" dirty="0">
                <a:latin typeface="Bookman Old Style"/>
                <a:cs typeface="Bookman Old Style"/>
              </a:rPr>
              <a:t>,</a:t>
            </a:r>
            <a:r>
              <a:rPr sz="1100" i="1" spc="-130" dirty="0">
                <a:latin typeface="Bookman Old Style"/>
                <a:cs typeface="Bookman Old Style"/>
              </a:rPr>
              <a:t> </a:t>
            </a:r>
            <a:r>
              <a:rPr sz="1050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-120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⟩</a:t>
            </a:r>
            <a:r>
              <a:rPr sz="1100" dirty="0">
                <a:latin typeface="Tahoma"/>
                <a:cs typeface="Tahoma"/>
              </a:rPr>
              <a:t>.</a:t>
            </a:r>
            <a:r>
              <a:rPr sz="1100" spc="2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Thus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050" spc="90" dirty="0">
                <a:latin typeface="Arial"/>
                <a:cs typeface="Arial"/>
              </a:rPr>
              <a:t>A</a:t>
            </a:r>
            <a:r>
              <a:rPr sz="1050" spc="114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is </a:t>
            </a:r>
            <a:r>
              <a:rPr sz="1100" spc="-10" dirty="0">
                <a:latin typeface="Tahoma"/>
                <a:cs typeface="Tahoma"/>
              </a:rPr>
              <a:t>symmetric.</a:t>
            </a:r>
            <a:endParaRPr sz="1100" dirty="0">
              <a:latin typeface="Tahoma"/>
              <a:cs typeface="Tahoma"/>
            </a:endParaRPr>
          </a:p>
          <a:p>
            <a:pPr marL="227965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/>
              <a:buChar char="►"/>
              <a:tabLst>
                <a:tab pos="227965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positive-</a:t>
            </a:r>
            <a:r>
              <a:rPr sz="1100" spc="-40" dirty="0">
                <a:latin typeface="Tahoma"/>
                <a:cs typeface="Tahoma"/>
              </a:rPr>
              <a:t>definiteness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inner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product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means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that</a:t>
            </a:r>
            <a:endParaRPr sz="1100" dirty="0">
              <a:latin typeface="Tahoma"/>
              <a:cs typeface="Tahoma"/>
            </a:endParaRPr>
          </a:p>
          <a:p>
            <a:pPr marL="227329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Cambria"/>
                <a:cs typeface="Cambria"/>
              </a:rPr>
              <a:t>∀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135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∈</a:t>
            </a:r>
            <a:r>
              <a:rPr sz="1100" spc="85" dirty="0">
                <a:latin typeface="Cambria"/>
                <a:cs typeface="Cambria"/>
              </a:rPr>
              <a:t> </a:t>
            </a:r>
            <a:r>
              <a:rPr sz="1100" i="1" spc="-20" dirty="0">
                <a:latin typeface="Arial"/>
                <a:cs typeface="Arial"/>
              </a:rPr>
              <a:t>V</a:t>
            </a:r>
            <a:r>
              <a:rPr sz="1100" i="1" spc="-120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\{</a:t>
            </a:r>
            <a:r>
              <a:rPr sz="1100" dirty="0">
                <a:latin typeface="Tahoma"/>
                <a:cs typeface="Tahoma"/>
              </a:rPr>
              <a:t>0</a:t>
            </a:r>
            <a:r>
              <a:rPr sz="1100" dirty="0">
                <a:latin typeface="Cambria"/>
                <a:cs typeface="Cambria"/>
              </a:rPr>
              <a:t>}</a:t>
            </a:r>
            <a:r>
              <a:rPr sz="1100" i="1" dirty="0">
                <a:latin typeface="Bookman Old Style"/>
                <a:cs typeface="Bookman Old Style"/>
              </a:rPr>
              <a:t>,</a:t>
            </a:r>
            <a:r>
              <a:rPr sz="1100" i="1" spc="-135" dirty="0">
                <a:latin typeface="Bookman Old Style"/>
                <a:cs typeface="Bookman Old Style"/>
              </a:rPr>
              <a:t> 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-180" dirty="0">
                <a:latin typeface="Arial"/>
                <a:cs typeface="Arial"/>
              </a:rPr>
              <a:t> </a:t>
            </a:r>
            <a:r>
              <a:rPr sz="1200" i="1" spc="127" baseline="27777" dirty="0">
                <a:latin typeface="Arial"/>
                <a:cs typeface="Arial"/>
              </a:rPr>
              <a:t>T</a:t>
            </a:r>
            <a:r>
              <a:rPr sz="1200" i="1" spc="-89" baseline="27777" dirty="0">
                <a:latin typeface="Arial"/>
                <a:cs typeface="Arial"/>
              </a:rPr>
              <a:t> </a:t>
            </a:r>
            <a:r>
              <a:rPr sz="1050" spc="55" dirty="0">
                <a:latin typeface="Arial"/>
                <a:cs typeface="Arial"/>
              </a:rPr>
              <a:t>Ax</a:t>
            </a:r>
            <a:r>
              <a:rPr sz="1050" spc="140" dirty="0">
                <a:latin typeface="Arial"/>
                <a:cs typeface="Arial"/>
              </a:rPr>
              <a:t> </a:t>
            </a:r>
            <a:r>
              <a:rPr sz="1100" i="1" spc="175" dirty="0">
                <a:latin typeface="Bookman Old Style"/>
                <a:cs typeface="Bookman Old Style"/>
              </a:rPr>
              <a:t>&gt;</a:t>
            </a:r>
            <a:r>
              <a:rPr sz="1100" i="1" spc="-1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Tahoma"/>
                <a:cs typeface="Tahoma"/>
              </a:rPr>
              <a:t>0.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289433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IN" spc="-10" dirty="0"/>
              <a:t>Proof(</a:t>
            </a:r>
            <a:r>
              <a:rPr lang="en-IN" spc="-10" dirty="0" err="1"/>
              <a:t>Ctd</a:t>
            </a:r>
            <a:r>
              <a:rPr lang="en-IN" spc="-10" dirty="0"/>
              <a:t>)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71450" y="892173"/>
            <a:ext cx="4114800" cy="1279838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40029" marR="64135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40029" algn="l"/>
              </a:tabLst>
            </a:pPr>
            <a:r>
              <a:rPr sz="900" spc="-20" dirty="0">
                <a:latin typeface="Tahoma"/>
                <a:cs typeface="Tahoma"/>
              </a:rPr>
              <a:t>Now</a:t>
            </a:r>
            <a:r>
              <a:rPr sz="900" spc="-6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let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us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spc="-40" dirty="0">
                <a:latin typeface="Tahoma"/>
                <a:cs typeface="Tahoma"/>
              </a:rPr>
              <a:t>consider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an</a:t>
            </a:r>
            <a:r>
              <a:rPr sz="900" spc="-30" dirty="0">
                <a:latin typeface="Tahoma"/>
                <a:cs typeface="Tahoma"/>
              </a:rPr>
              <a:t> operation </a:t>
            </a:r>
            <a:r>
              <a:rPr sz="900" spc="-10" dirty="0">
                <a:latin typeface="Tahoma"/>
                <a:cs typeface="Tahoma"/>
              </a:rPr>
              <a:t>op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spc="-40" dirty="0">
                <a:latin typeface="Tahoma"/>
                <a:cs typeface="Tahoma"/>
              </a:rPr>
              <a:t>such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that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dirty="0">
                <a:latin typeface="Arial"/>
                <a:cs typeface="Arial"/>
              </a:rPr>
              <a:t>x</a:t>
            </a:r>
            <a:r>
              <a:rPr sz="900" spc="-19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op</a:t>
            </a:r>
            <a:r>
              <a:rPr sz="900" dirty="0">
                <a:latin typeface="Arial"/>
                <a:cs typeface="Arial"/>
              </a:rPr>
              <a:t>y</a:t>
            </a:r>
            <a:r>
              <a:rPr sz="900" spc="75" dirty="0">
                <a:latin typeface="Arial"/>
                <a:cs typeface="Arial"/>
              </a:rPr>
              <a:t> </a:t>
            </a:r>
            <a:r>
              <a:rPr sz="900" dirty="0">
                <a:latin typeface="Tahoma"/>
                <a:cs typeface="Tahoma"/>
              </a:rPr>
              <a:t>=</a:t>
            </a:r>
            <a:r>
              <a:rPr sz="900" spc="-85" dirty="0">
                <a:latin typeface="Tahoma"/>
                <a:cs typeface="Tahoma"/>
              </a:rPr>
              <a:t> </a:t>
            </a:r>
            <a:r>
              <a:rPr sz="900" spc="-145" dirty="0">
                <a:latin typeface="Arial"/>
                <a:cs typeface="Arial"/>
              </a:rPr>
              <a:t>x</a:t>
            </a:r>
            <a:r>
              <a:rPr sz="900" spc="-145" dirty="0">
                <a:latin typeface="Tahoma"/>
                <a:cs typeface="Tahoma"/>
              </a:rPr>
              <a:t>ˆ</a:t>
            </a:r>
            <a:r>
              <a:rPr sz="900" i="1" spc="-217" baseline="27777" dirty="0">
                <a:latin typeface="Arial"/>
                <a:cs typeface="Arial"/>
              </a:rPr>
              <a:t>T</a:t>
            </a:r>
            <a:r>
              <a:rPr sz="900" i="1" spc="-104" baseline="27777" dirty="0">
                <a:latin typeface="Arial"/>
                <a:cs typeface="Arial"/>
              </a:rPr>
              <a:t> </a:t>
            </a:r>
            <a:r>
              <a:rPr sz="900" i="1" spc="-145" dirty="0">
                <a:latin typeface="Arial"/>
                <a:cs typeface="Arial"/>
              </a:rPr>
              <a:t>A</a:t>
            </a:r>
            <a:r>
              <a:rPr sz="900" spc="-145" dirty="0">
                <a:latin typeface="Arial"/>
                <a:cs typeface="Arial"/>
              </a:rPr>
              <a:t>y</a:t>
            </a:r>
            <a:r>
              <a:rPr sz="900" spc="-145" dirty="0">
                <a:latin typeface="Tahoma"/>
                <a:cs typeface="Tahoma"/>
              </a:rPr>
              <a:t>ˆ </a:t>
            </a:r>
            <a:r>
              <a:rPr sz="900" spc="-60" dirty="0">
                <a:latin typeface="Tahoma"/>
                <a:cs typeface="Tahoma"/>
              </a:rPr>
              <a:t>where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90" dirty="0">
                <a:latin typeface="Arial"/>
                <a:cs typeface="Arial"/>
              </a:rPr>
              <a:t>A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Tahoma"/>
                <a:cs typeface="Tahoma"/>
              </a:rPr>
              <a:t>is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40" dirty="0">
                <a:latin typeface="Tahoma"/>
                <a:cs typeface="Tahoma"/>
              </a:rPr>
              <a:t>symmetric,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positive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definite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matrix.</a:t>
            </a:r>
            <a:endParaRPr sz="900" dirty="0">
              <a:latin typeface="Tahoma"/>
              <a:cs typeface="Tahoma"/>
            </a:endParaRPr>
          </a:p>
          <a:p>
            <a:pPr marL="240029" marR="107950" indent="-177165">
              <a:lnSpc>
                <a:spcPts val="1200"/>
              </a:lnSpc>
              <a:spcBef>
                <a:spcPts val="315"/>
              </a:spcBef>
              <a:buClr>
                <a:srgbClr val="3333B2"/>
              </a:buClr>
              <a:buFont typeface="Lucida Sans Unicode"/>
              <a:buChar char="►"/>
              <a:tabLst>
                <a:tab pos="240029" algn="l"/>
              </a:tabLst>
            </a:pPr>
            <a:r>
              <a:rPr sz="900" dirty="0">
                <a:latin typeface="Tahoma"/>
                <a:cs typeface="Tahoma"/>
              </a:rPr>
              <a:t>We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shall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65" dirty="0">
                <a:latin typeface="Tahoma"/>
                <a:cs typeface="Tahoma"/>
              </a:rPr>
              <a:t>show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that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”op”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is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an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inner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product by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60" dirty="0">
                <a:latin typeface="Tahoma"/>
                <a:cs typeface="Tahoma"/>
              </a:rPr>
              <a:t>showing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that </a:t>
            </a:r>
            <a:r>
              <a:rPr sz="900" dirty="0">
                <a:latin typeface="Tahoma"/>
                <a:cs typeface="Tahoma"/>
              </a:rPr>
              <a:t>it</a:t>
            </a:r>
            <a:r>
              <a:rPr sz="900" spc="-40" dirty="0">
                <a:latin typeface="Tahoma"/>
                <a:cs typeface="Tahoma"/>
              </a:rPr>
              <a:t> </a:t>
            </a:r>
            <a:r>
              <a:rPr sz="900" spc="-45" dirty="0">
                <a:latin typeface="Tahoma"/>
                <a:cs typeface="Tahoma"/>
              </a:rPr>
              <a:t>has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all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the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spc="-40" dirty="0">
                <a:latin typeface="Tahoma"/>
                <a:cs typeface="Tahoma"/>
              </a:rPr>
              <a:t>properties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of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an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inner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product:</a:t>
            </a:r>
            <a:endParaRPr sz="900" dirty="0">
              <a:latin typeface="Tahoma"/>
              <a:cs typeface="Tahoma"/>
            </a:endParaRPr>
          </a:p>
          <a:p>
            <a:pPr marL="515620" lvl="1" indent="-165735">
              <a:lnSpc>
                <a:spcPts val="1200"/>
              </a:lnSpc>
              <a:spcBef>
                <a:spcPts val="150"/>
              </a:spcBef>
              <a:buClr>
                <a:srgbClr val="3333B2"/>
              </a:buClr>
              <a:buFont typeface="Lucida Sans Unicode"/>
              <a:buChar char="►"/>
              <a:tabLst>
                <a:tab pos="515620" algn="l"/>
              </a:tabLst>
            </a:pPr>
            <a:r>
              <a:rPr sz="1000" dirty="0">
                <a:latin typeface="Tahoma"/>
                <a:cs typeface="Tahoma"/>
              </a:rPr>
              <a:t>”op”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has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symmetry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because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950" dirty="0">
                <a:latin typeface="Arial"/>
                <a:cs typeface="Arial"/>
              </a:rPr>
              <a:t>x</a:t>
            </a:r>
            <a:r>
              <a:rPr sz="950" spc="-17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op</a:t>
            </a:r>
            <a:r>
              <a:rPr sz="950" dirty="0">
                <a:latin typeface="Arial"/>
                <a:cs typeface="Arial"/>
              </a:rPr>
              <a:t>y</a:t>
            </a:r>
            <a:r>
              <a:rPr sz="950" spc="135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950" spc="-130" dirty="0">
                <a:latin typeface="Arial"/>
                <a:cs typeface="Arial"/>
              </a:rPr>
              <a:t>x</a:t>
            </a:r>
            <a:r>
              <a:rPr sz="1000" spc="-130" dirty="0">
                <a:latin typeface="Tahoma"/>
                <a:cs typeface="Tahoma"/>
              </a:rPr>
              <a:t>ˆ</a:t>
            </a:r>
            <a:r>
              <a:rPr sz="1050" i="1" spc="-195" baseline="27777" dirty="0">
                <a:latin typeface="Arial"/>
                <a:cs typeface="Arial"/>
              </a:rPr>
              <a:t>T</a:t>
            </a:r>
            <a:r>
              <a:rPr sz="1050" i="1" spc="-75" baseline="27777" dirty="0">
                <a:latin typeface="Arial"/>
                <a:cs typeface="Arial"/>
              </a:rPr>
              <a:t> </a:t>
            </a:r>
            <a:r>
              <a:rPr sz="1000" i="1" spc="-150" dirty="0">
                <a:latin typeface="Arial"/>
                <a:cs typeface="Arial"/>
              </a:rPr>
              <a:t>A</a:t>
            </a:r>
            <a:r>
              <a:rPr sz="950" spc="-150" dirty="0">
                <a:latin typeface="Arial"/>
                <a:cs typeface="Arial"/>
              </a:rPr>
              <a:t>y</a:t>
            </a:r>
            <a:r>
              <a:rPr sz="1000" spc="-150" dirty="0">
                <a:latin typeface="Tahoma"/>
                <a:cs typeface="Tahoma"/>
              </a:rPr>
              <a:t>ˆ</a:t>
            </a:r>
            <a:r>
              <a:rPr sz="1000" spc="4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endParaRPr sz="1000" dirty="0">
              <a:latin typeface="Tahoma"/>
              <a:cs typeface="Tahoma"/>
            </a:endParaRPr>
          </a:p>
          <a:p>
            <a:pPr marL="517525" marR="108585">
              <a:lnSpc>
                <a:spcPts val="1200"/>
              </a:lnSpc>
              <a:spcBef>
                <a:spcPts val="40"/>
              </a:spcBef>
            </a:pPr>
            <a:r>
              <a:rPr sz="950" dirty="0">
                <a:latin typeface="Arial"/>
                <a:cs typeface="Arial"/>
              </a:rPr>
              <a:t>y</a:t>
            </a:r>
            <a:r>
              <a:rPr sz="950" spc="-15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op</a:t>
            </a:r>
            <a:r>
              <a:rPr sz="950" dirty="0">
                <a:latin typeface="Arial"/>
                <a:cs typeface="Arial"/>
              </a:rPr>
              <a:t>x</a:t>
            </a:r>
            <a:r>
              <a:rPr sz="950" spc="6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950" spc="-125" dirty="0">
                <a:latin typeface="Arial"/>
                <a:cs typeface="Arial"/>
              </a:rPr>
              <a:t>y</a:t>
            </a:r>
            <a:r>
              <a:rPr sz="1000" spc="-125" dirty="0">
                <a:latin typeface="Tahoma"/>
                <a:cs typeface="Tahoma"/>
              </a:rPr>
              <a:t>ˆ</a:t>
            </a:r>
            <a:r>
              <a:rPr sz="1050" i="1" spc="-187" baseline="27777" dirty="0">
                <a:latin typeface="Arial"/>
                <a:cs typeface="Arial"/>
              </a:rPr>
              <a:t>T</a:t>
            </a:r>
            <a:r>
              <a:rPr sz="1050" i="1" spc="-82" baseline="27777" dirty="0">
                <a:latin typeface="Arial"/>
                <a:cs typeface="Arial"/>
              </a:rPr>
              <a:t> </a:t>
            </a:r>
            <a:r>
              <a:rPr sz="1000" i="1" spc="-160" dirty="0">
                <a:latin typeface="Arial"/>
                <a:cs typeface="Arial"/>
              </a:rPr>
              <a:t>A</a:t>
            </a:r>
            <a:r>
              <a:rPr sz="950" spc="-160" dirty="0">
                <a:latin typeface="Arial"/>
                <a:cs typeface="Arial"/>
              </a:rPr>
              <a:t>x</a:t>
            </a:r>
            <a:r>
              <a:rPr sz="1000" spc="-160" dirty="0">
                <a:latin typeface="Tahoma"/>
                <a:cs typeface="Tahoma"/>
              </a:rPr>
              <a:t>ˆ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950" spc="-125" dirty="0">
                <a:latin typeface="Arial"/>
                <a:cs typeface="Arial"/>
              </a:rPr>
              <a:t>y</a:t>
            </a:r>
            <a:r>
              <a:rPr sz="1000" spc="-125" dirty="0">
                <a:latin typeface="Tahoma"/>
                <a:cs typeface="Tahoma"/>
              </a:rPr>
              <a:t>ˆ</a:t>
            </a:r>
            <a:r>
              <a:rPr sz="1050" i="1" spc="-187" baseline="27777" dirty="0">
                <a:latin typeface="Arial"/>
                <a:cs typeface="Arial"/>
              </a:rPr>
              <a:t>T</a:t>
            </a:r>
            <a:r>
              <a:rPr sz="1050" i="1" spc="-82" baseline="27777" dirty="0">
                <a:latin typeface="Arial"/>
                <a:cs typeface="Arial"/>
              </a:rPr>
              <a:t> </a:t>
            </a:r>
            <a:r>
              <a:rPr sz="1000" spc="-60" dirty="0">
                <a:latin typeface="Tahoma"/>
                <a:cs typeface="Tahoma"/>
              </a:rPr>
              <a:t>(</a:t>
            </a:r>
            <a:r>
              <a:rPr sz="1000" i="1" spc="-60" dirty="0">
                <a:latin typeface="Arial"/>
                <a:cs typeface="Arial"/>
              </a:rPr>
              <a:t>A</a:t>
            </a:r>
            <a:r>
              <a:rPr sz="950" spc="-60" dirty="0">
                <a:latin typeface="Arial"/>
                <a:cs typeface="Arial"/>
              </a:rPr>
              <a:t>x</a:t>
            </a:r>
            <a:r>
              <a:rPr sz="1000" spc="-60" dirty="0">
                <a:latin typeface="Tahoma"/>
                <a:cs typeface="Tahoma"/>
              </a:rPr>
              <a:t>ˆ).</a:t>
            </a:r>
            <a:r>
              <a:rPr sz="1000" spc="1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By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 </a:t>
            </a:r>
            <a:r>
              <a:rPr sz="1000" spc="-35" dirty="0">
                <a:latin typeface="Tahoma"/>
                <a:cs typeface="Tahoma"/>
              </a:rPr>
              <a:t>property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 </a:t>
            </a:r>
            <a:r>
              <a:rPr sz="1000" spc="-20" dirty="0">
                <a:latin typeface="Tahoma"/>
                <a:cs typeface="Tahoma"/>
              </a:rPr>
              <a:t>the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dot </a:t>
            </a:r>
            <a:r>
              <a:rPr sz="1000" spc="-10" dirty="0">
                <a:latin typeface="Tahoma"/>
                <a:cs typeface="Tahoma"/>
              </a:rPr>
              <a:t>product </a:t>
            </a:r>
            <a:r>
              <a:rPr sz="1000" spc="-80" dirty="0">
                <a:latin typeface="Tahoma"/>
                <a:cs typeface="Tahoma"/>
              </a:rPr>
              <a:t>we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can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write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950" spc="-125" dirty="0">
                <a:latin typeface="Arial"/>
                <a:cs typeface="Arial"/>
              </a:rPr>
              <a:t>y</a:t>
            </a:r>
            <a:r>
              <a:rPr sz="1000" spc="-125" dirty="0">
                <a:latin typeface="Tahoma"/>
                <a:cs typeface="Tahoma"/>
              </a:rPr>
              <a:t>ˆ</a:t>
            </a:r>
            <a:r>
              <a:rPr sz="1050" i="1" spc="-187" baseline="27777" dirty="0">
                <a:latin typeface="Arial"/>
                <a:cs typeface="Arial"/>
              </a:rPr>
              <a:t>T</a:t>
            </a:r>
            <a:r>
              <a:rPr sz="1050" i="1" spc="-67" baseline="27777" dirty="0">
                <a:latin typeface="Arial"/>
                <a:cs typeface="Arial"/>
              </a:rPr>
              <a:t> </a:t>
            </a:r>
            <a:r>
              <a:rPr sz="1000" spc="-100" dirty="0">
                <a:latin typeface="Tahoma"/>
                <a:cs typeface="Tahoma"/>
              </a:rPr>
              <a:t>(</a:t>
            </a:r>
            <a:r>
              <a:rPr sz="1000" i="1" spc="-100" dirty="0">
                <a:latin typeface="Arial"/>
                <a:cs typeface="Arial"/>
              </a:rPr>
              <a:t>A</a:t>
            </a:r>
            <a:r>
              <a:rPr sz="950" spc="-100" dirty="0">
                <a:latin typeface="Arial"/>
                <a:cs typeface="Arial"/>
              </a:rPr>
              <a:t>x</a:t>
            </a:r>
            <a:r>
              <a:rPr sz="1000" spc="-100" dirty="0">
                <a:latin typeface="Tahoma"/>
                <a:cs typeface="Tahoma"/>
              </a:rPr>
              <a:t>ˆ)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70" dirty="0">
                <a:latin typeface="Tahoma"/>
                <a:cs typeface="Tahoma"/>
              </a:rPr>
              <a:t>(</a:t>
            </a:r>
            <a:r>
              <a:rPr sz="1000" i="1" spc="-70" dirty="0">
                <a:latin typeface="Arial"/>
                <a:cs typeface="Arial"/>
              </a:rPr>
              <a:t>A</a:t>
            </a:r>
            <a:r>
              <a:rPr sz="950" spc="-70" dirty="0">
                <a:latin typeface="Arial"/>
                <a:cs typeface="Arial"/>
              </a:rPr>
              <a:t>x</a:t>
            </a:r>
            <a:r>
              <a:rPr sz="1000" spc="-70" dirty="0">
                <a:latin typeface="Tahoma"/>
                <a:cs typeface="Tahoma"/>
              </a:rPr>
              <a:t>ˆ)</a:t>
            </a:r>
            <a:r>
              <a:rPr sz="1050" i="1" spc="-104" baseline="27777" dirty="0">
                <a:latin typeface="Arial"/>
                <a:cs typeface="Arial"/>
              </a:rPr>
              <a:t>T</a:t>
            </a:r>
            <a:r>
              <a:rPr sz="1050" i="1" spc="-67" baseline="27777" dirty="0">
                <a:latin typeface="Arial"/>
                <a:cs typeface="Arial"/>
              </a:rPr>
              <a:t> </a:t>
            </a:r>
            <a:r>
              <a:rPr sz="950" spc="-229" dirty="0">
                <a:latin typeface="Arial"/>
                <a:cs typeface="Arial"/>
              </a:rPr>
              <a:t>y</a:t>
            </a:r>
            <a:r>
              <a:rPr sz="1000" spc="-229" dirty="0">
                <a:latin typeface="Tahoma"/>
                <a:cs typeface="Tahoma"/>
              </a:rPr>
              <a:t>ˆ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950" spc="-130" dirty="0">
                <a:latin typeface="Arial"/>
                <a:cs typeface="Arial"/>
              </a:rPr>
              <a:t>x</a:t>
            </a:r>
            <a:r>
              <a:rPr sz="1000" spc="-130" dirty="0">
                <a:latin typeface="Tahoma"/>
                <a:cs typeface="Tahoma"/>
              </a:rPr>
              <a:t>ˆ</a:t>
            </a:r>
            <a:r>
              <a:rPr sz="1050" i="1" spc="-195" baseline="27777" dirty="0">
                <a:latin typeface="Arial"/>
                <a:cs typeface="Arial"/>
              </a:rPr>
              <a:t>T</a:t>
            </a:r>
            <a:r>
              <a:rPr sz="1050" i="1" spc="-67" baseline="27777" dirty="0">
                <a:latin typeface="Arial"/>
                <a:cs typeface="Arial"/>
              </a:rPr>
              <a:t> </a:t>
            </a:r>
            <a:r>
              <a:rPr sz="950" spc="85" dirty="0">
                <a:latin typeface="Arial"/>
                <a:cs typeface="Arial"/>
              </a:rPr>
              <a:t>A</a:t>
            </a:r>
            <a:r>
              <a:rPr sz="1050" i="1" spc="127" baseline="27777" dirty="0">
                <a:latin typeface="Arial"/>
                <a:cs typeface="Arial"/>
              </a:rPr>
              <a:t>T</a:t>
            </a:r>
            <a:r>
              <a:rPr sz="1050" i="1" spc="-75" baseline="27777" dirty="0">
                <a:latin typeface="Arial"/>
                <a:cs typeface="Arial"/>
              </a:rPr>
              <a:t> </a:t>
            </a:r>
            <a:r>
              <a:rPr sz="950" spc="-229" dirty="0">
                <a:latin typeface="Arial"/>
                <a:cs typeface="Arial"/>
              </a:rPr>
              <a:t>y</a:t>
            </a:r>
            <a:r>
              <a:rPr sz="1000" spc="-229" dirty="0">
                <a:latin typeface="Tahoma"/>
                <a:cs typeface="Tahoma"/>
              </a:rPr>
              <a:t>ˆ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950" spc="-130" dirty="0">
                <a:latin typeface="Arial"/>
                <a:cs typeface="Arial"/>
              </a:rPr>
              <a:t>x</a:t>
            </a:r>
            <a:r>
              <a:rPr sz="1000" spc="-130" dirty="0">
                <a:latin typeface="Tahoma"/>
                <a:cs typeface="Tahoma"/>
              </a:rPr>
              <a:t>ˆ</a:t>
            </a:r>
            <a:r>
              <a:rPr sz="1050" i="1" spc="-195" baseline="27777" dirty="0">
                <a:latin typeface="Arial"/>
                <a:cs typeface="Arial"/>
              </a:rPr>
              <a:t>T</a:t>
            </a:r>
            <a:r>
              <a:rPr sz="1050" i="1" spc="-75" baseline="27777" dirty="0">
                <a:latin typeface="Arial"/>
                <a:cs typeface="Arial"/>
              </a:rPr>
              <a:t> </a:t>
            </a:r>
            <a:r>
              <a:rPr sz="950" spc="-120" dirty="0">
                <a:latin typeface="Arial"/>
                <a:cs typeface="Arial"/>
              </a:rPr>
              <a:t>Ay</a:t>
            </a:r>
            <a:r>
              <a:rPr sz="1000" spc="-120" dirty="0">
                <a:latin typeface="Tahoma"/>
                <a:cs typeface="Tahoma"/>
              </a:rPr>
              <a:t>ˆ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where </a:t>
            </a:r>
            <a:r>
              <a:rPr sz="1000" spc="-20" dirty="0">
                <a:latin typeface="Tahoma"/>
                <a:cs typeface="Tahoma"/>
              </a:rPr>
              <a:t>the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last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equality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the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chain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possible </a:t>
            </a:r>
            <a:r>
              <a:rPr sz="1000" spc="-30" dirty="0">
                <a:latin typeface="Tahoma"/>
                <a:cs typeface="Tahoma"/>
              </a:rPr>
              <a:t>since </a:t>
            </a:r>
            <a:r>
              <a:rPr sz="950" spc="100" dirty="0">
                <a:latin typeface="Arial"/>
                <a:cs typeface="Arial"/>
              </a:rPr>
              <a:t>A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symmetric.</a:t>
            </a:r>
            <a:endParaRPr sz="10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50E50-A59E-BC46-01CA-20EF94157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894330" cy="215444"/>
          </a:xfrm>
        </p:spPr>
        <p:txBody>
          <a:bodyPr/>
          <a:lstStyle/>
          <a:p>
            <a:r>
              <a:rPr lang="en-IN" dirty="0"/>
              <a:t>Proof(</a:t>
            </a:r>
            <a:r>
              <a:rPr lang="en-IN" dirty="0" err="1"/>
              <a:t>Ctd</a:t>
            </a:r>
            <a:r>
              <a:rPr lang="en-IN" dirty="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1F2E6-B304-668F-E561-E82AD0A4E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7651" y="892175"/>
            <a:ext cx="4051616" cy="1541448"/>
          </a:xfrm>
        </p:spPr>
        <p:txBody>
          <a:bodyPr/>
          <a:lstStyle/>
          <a:p>
            <a:pPr marL="515620" marR="0" lvl="1" indent="-165735" defTabSz="914400" eaLnBrk="1" fontAlgn="auto" latinLnBrk="0" hangingPunct="1">
              <a:lnSpc>
                <a:spcPts val="1145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Tx/>
              <a:buFont typeface="Lucida Sans Unicode"/>
              <a:buChar char="►"/>
              <a:tabLst>
                <a:tab pos="515620" algn="l"/>
              </a:tabLst>
              <a:defRPr/>
            </a:pP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”op”</a:t>
            </a:r>
            <a:r>
              <a:rPr kumimoji="0" lang="en-IN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also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has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-25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bilinearity</a:t>
            </a:r>
            <a:r>
              <a:rPr kumimoji="0" lang="en-IN" sz="10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since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we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see</a:t>
            </a:r>
            <a:r>
              <a:rPr kumimoji="0" lang="en-IN" sz="10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that </a:t>
            </a:r>
            <a:r>
              <a:rPr kumimoji="0" lang="en-IN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for</a:t>
            </a:r>
            <a:endParaRPr kumimoji="0" lang="en-IN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  <a:p>
            <a:pPr marL="517525" marR="0" lvl="0" indent="0" defTabSz="914400" eaLnBrk="1" fontAlgn="auto" latinLnBrk="0" hangingPunct="1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</a:t>
            </a:r>
            <a:r>
              <a:rPr kumimoji="0" lang="en-IN" sz="1000" b="0" i="1" u="none" strike="noStrike" kern="0" cap="none" spc="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∈</a:t>
            </a:r>
            <a:r>
              <a:rPr kumimoji="0" lang="en-IN" sz="1000" b="0" i="0" u="none" strike="noStrike" kern="0" cap="none" spc="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lang="en-IN" sz="10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</a:t>
            </a:r>
            <a:r>
              <a:rPr kumimoji="0" lang="en-IN" sz="10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,</a:t>
            </a:r>
            <a:r>
              <a:rPr kumimoji="0" lang="en-IN" sz="1000" b="0" i="1" u="none" strike="noStrike" kern="0" cap="none" spc="-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lang="en-IN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(</a:t>
            </a:r>
            <a:r>
              <a:rPr kumimoji="0" lang="en-IN" sz="10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</a:t>
            </a:r>
            <a:r>
              <a:rPr kumimoji="0" lang="en-IN" sz="1000" b="0" i="1" u="none" strike="noStrike" kern="0" cap="none" spc="-1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9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)</a:t>
            </a:r>
            <a:r>
              <a:rPr kumimoji="0" lang="en-IN" sz="1000" b="0" i="1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op</a:t>
            </a:r>
            <a:r>
              <a:rPr kumimoji="0" lang="en-IN" sz="95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y</a:t>
            </a:r>
            <a:r>
              <a:rPr kumimoji="0" lang="en-IN" sz="950" b="0" i="0" u="none" strike="noStrike" kern="0" cap="none" spc="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</a:t>
            </a:r>
            <a:r>
              <a:rPr kumimoji="0" lang="en-IN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(</a:t>
            </a:r>
            <a:r>
              <a:rPr kumimoji="0" lang="en-IN" sz="10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</a:t>
            </a:r>
            <a:r>
              <a:rPr kumimoji="0" lang="en-IN" sz="1000" b="0" i="1" u="none" strike="noStrike" kern="0" cap="none" spc="-1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95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lang="en-IN" sz="100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ˆ)</a:t>
            </a:r>
            <a:r>
              <a:rPr kumimoji="0" lang="en-IN" sz="1050" b="0" i="1" u="none" strike="noStrike" kern="0" cap="none" spc="-150" normalizeH="0" baseline="27777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</a:t>
            </a:r>
            <a:r>
              <a:rPr kumimoji="0" lang="en-IN" sz="1050" b="0" i="1" u="none" strike="noStrike" kern="0" cap="none" spc="-60" normalizeH="0" baseline="27777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95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Ay</a:t>
            </a:r>
            <a:r>
              <a:rPr kumimoji="0" lang="en-IN" sz="100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ˆ</a:t>
            </a:r>
            <a:r>
              <a:rPr kumimoji="0" lang="en-IN" sz="10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</a:t>
            </a:r>
            <a:r>
              <a:rPr kumimoji="0" lang="en-IN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</a:t>
            </a:r>
            <a:r>
              <a:rPr kumimoji="0" lang="en-IN" sz="1000" b="0" i="1" u="none" strike="noStrike" kern="0" cap="none" spc="-1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950" b="0" i="0" u="none" strike="noStrike" kern="0" cap="none" spc="-13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lang="en-IN" sz="1000" b="0" i="0" u="none" strike="noStrike" kern="0" cap="none" spc="-13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ˆ</a:t>
            </a:r>
            <a:r>
              <a:rPr kumimoji="0" lang="en-IN" sz="1050" b="0" i="1" u="none" strike="noStrike" kern="0" cap="none" spc="-195" normalizeH="0" baseline="27777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</a:t>
            </a:r>
            <a:r>
              <a:rPr kumimoji="0" lang="en-IN" sz="1050" b="0" i="1" u="none" strike="noStrike" kern="0" cap="none" spc="-60" normalizeH="0" baseline="27777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95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Ay</a:t>
            </a:r>
            <a:r>
              <a:rPr kumimoji="0" lang="en-IN" sz="100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ˆ</a:t>
            </a:r>
            <a:r>
              <a:rPr kumimoji="0" lang="en-IN" sz="10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</a:t>
            </a:r>
            <a:r>
              <a:rPr kumimoji="0" lang="en-IN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</a:t>
            </a:r>
            <a:r>
              <a:rPr kumimoji="0" lang="en-IN" sz="1000" b="0" i="1" u="none" strike="noStrike" kern="0" cap="none" spc="-1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(</a:t>
            </a:r>
            <a:r>
              <a:rPr kumimoji="0" lang="en-IN" sz="9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lang="en-IN" sz="950" b="0" i="0" u="none" strike="noStrike" kern="0" cap="none" spc="-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1000" b="0" i="1" u="none" strike="noStrike" kern="0" cap="none" spc="-2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op</a:t>
            </a:r>
            <a:r>
              <a:rPr kumimoji="0" lang="en-IN" sz="950" b="0" i="0" u="none" strike="noStrike" kern="0" cap="none" spc="-2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y</a:t>
            </a:r>
            <a:r>
              <a:rPr kumimoji="0" lang="en-IN" sz="95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)</a:t>
            </a:r>
            <a:r>
              <a:rPr kumimoji="0" lang="en-IN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.</a:t>
            </a:r>
          </a:p>
          <a:p>
            <a:pPr marL="517525" marR="0" lvl="0" indent="0" defTabSz="914400" eaLnBrk="1" fontAlgn="auto" latinLnBrk="0" hangingPunct="1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000" spc="-20" noProof="0" dirty="0">
                <a:solidFill>
                  <a:sysClr val="windowText" lastClr="000000"/>
                </a:solidFill>
              </a:rPr>
              <a:t>Similarly we can prove </a:t>
            </a:r>
            <a:r>
              <a:rPr kumimoji="0" lang="en-IN" sz="1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</a:t>
            </a:r>
            <a:r>
              <a:rPr kumimoji="0" lang="en-IN" sz="1000" b="0" i="1" u="none" strike="noStrike" kern="0" cap="none" spc="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∈</a:t>
            </a:r>
            <a:r>
              <a:rPr kumimoji="0" lang="en-IN" sz="1000" b="0" i="0" u="none" strike="noStrike" kern="0" cap="none" spc="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lang="en-IN" sz="10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</a:t>
            </a:r>
            <a:r>
              <a:rPr kumimoji="0" lang="en-IN" sz="10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,</a:t>
            </a:r>
            <a:r>
              <a:rPr kumimoji="0" lang="en-IN" sz="1000" b="0" i="1" u="none" strike="noStrike" kern="0" cap="none" spc="-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lang="en-IN" sz="1000" spc="-10" dirty="0">
                <a:solidFill>
                  <a:sysClr val="windowText" lastClr="000000"/>
                </a:solidFill>
              </a:rPr>
              <a:t>x</a:t>
            </a:r>
            <a:r>
              <a:rPr kumimoji="0" lang="en-IN" sz="1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op(</a:t>
            </a:r>
            <a:r>
              <a:rPr kumimoji="0" lang="en-IN" sz="1000" b="0" i="1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</a:t>
            </a:r>
            <a:r>
              <a:rPr kumimoji="0" lang="en-IN" sz="95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y</a:t>
            </a:r>
            <a:r>
              <a:rPr kumimoji="0" lang="en-IN" sz="9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)</a:t>
            </a:r>
            <a:r>
              <a:rPr kumimoji="0" lang="en-IN" sz="950" b="0" i="0" u="none" strike="noStrike" kern="0" cap="none" spc="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517525" marR="0" lvl="0" indent="0" defTabSz="914400" eaLnBrk="1" fontAlgn="auto" latinLnBrk="0" hangingPunct="1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  <a:p>
            <a:pPr marL="515620" marR="0" lvl="1" indent="-165735" defTabSz="914400" eaLnBrk="1" fontAlgn="auto" latinLnBrk="0" hangingPunct="1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Tx/>
              <a:buFont typeface="Lucida Sans Unicode"/>
              <a:buChar char="►"/>
              <a:tabLst>
                <a:tab pos="515620" algn="l"/>
              </a:tabLst>
              <a:defRPr/>
            </a:pP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(</a:t>
            </a:r>
            <a:r>
              <a:rPr kumimoji="0" lang="en-IN" sz="9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lang="en-IN" sz="950" b="0" i="0" u="none" strike="noStrike" kern="0" cap="none" spc="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+</a:t>
            </a:r>
            <a:r>
              <a:rPr kumimoji="0" lang="en-IN" sz="10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9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y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)</a:t>
            </a:r>
            <a:r>
              <a:rPr kumimoji="0" lang="en-IN" sz="1000" b="0" i="1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op</a:t>
            </a:r>
            <a:r>
              <a:rPr kumimoji="0" lang="en-IN" sz="95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z</a:t>
            </a:r>
            <a:r>
              <a:rPr kumimoji="0" lang="en-IN" sz="950" b="0" i="0" u="none" strike="noStrike" kern="0" cap="none" spc="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 </a:t>
            </a:r>
            <a:r>
              <a:rPr kumimoji="0" lang="en-IN" sz="1000" b="0" i="0" u="none" strike="noStrike" kern="0" cap="none" spc="-1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(</a:t>
            </a:r>
            <a:r>
              <a:rPr kumimoji="0" lang="en-IN" sz="950" b="0" i="0" u="none" strike="noStrike" kern="0" cap="none" spc="-1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lang="en-IN" sz="1000" b="0" i="0" u="none" strike="noStrike" kern="0" cap="none" spc="-1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ˆ</a:t>
            </a:r>
            <a:r>
              <a:rPr kumimoji="0" lang="en-IN" sz="1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+</a:t>
            </a:r>
            <a:r>
              <a:rPr kumimoji="0" lang="en-IN" sz="10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95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y</a:t>
            </a:r>
            <a:r>
              <a:rPr kumimoji="0" lang="en-IN" sz="10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ˆ)</a:t>
            </a:r>
            <a:r>
              <a:rPr kumimoji="0" lang="en-IN" sz="1050" b="0" i="1" u="none" strike="noStrike" kern="0" cap="none" spc="-142" normalizeH="0" baseline="27777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</a:t>
            </a:r>
            <a:r>
              <a:rPr kumimoji="0" lang="en-IN" sz="1050" b="0" i="1" u="none" strike="noStrike" kern="0" cap="none" spc="-52" normalizeH="0" baseline="27777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95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Az</a:t>
            </a:r>
            <a:r>
              <a:rPr kumimoji="0" lang="en-IN" sz="100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ˆ</a:t>
            </a:r>
            <a:r>
              <a:rPr kumimoji="0" lang="en-IN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</a:t>
            </a:r>
            <a:r>
              <a:rPr kumimoji="0" lang="en-IN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950" b="0" i="0" u="none" strike="noStrike" kern="0" cap="none" spc="-13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lang="en-IN" sz="1000" b="0" i="0" u="none" strike="noStrike" kern="0" cap="none" spc="-13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ˆ</a:t>
            </a:r>
            <a:r>
              <a:rPr kumimoji="0" lang="en-IN" sz="1050" b="0" i="1" u="none" strike="noStrike" kern="0" cap="none" spc="-195" normalizeH="0" baseline="27777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</a:t>
            </a:r>
            <a:r>
              <a:rPr kumimoji="0" lang="en-IN" sz="1050" b="0" i="1" u="none" strike="noStrike" kern="0" cap="none" spc="-52" normalizeH="0" baseline="27777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950" b="0" i="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Az</a:t>
            </a:r>
            <a:r>
              <a:rPr kumimoji="0" lang="en-IN" sz="1000" b="0" i="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ˆ</a:t>
            </a:r>
            <a:r>
              <a:rPr kumimoji="0" lang="en-IN" sz="10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+</a:t>
            </a:r>
            <a:r>
              <a:rPr kumimoji="0" lang="en-IN" sz="10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950" b="0" i="0" u="none" strike="noStrike" kern="0" cap="none" spc="-125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y</a:t>
            </a:r>
            <a:r>
              <a:rPr kumimoji="0" lang="en-IN" sz="1000" b="0" i="0" u="none" strike="noStrike" kern="0" cap="none" spc="-125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ˆ</a:t>
            </a:r>
            <a:r>
              <a:rPr kumimoji="0" lang="en-IN" sz="1050" b="0" i="1" u="none" strike="noStrike" kern="0" cap="none" spc="-187" normalizeH="0" baseline="27777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</a:t>
            </a:r>
            <a:r>
              <a:rPr kumimoji="0" lang="en-IN" sz="1050" b="0" i="1" u="none" strike="noStrike" kern="0" cap="none" spc="-60" normalizeH="0" baseline="27777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95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Az</a:t>
            </a:r>
            <a:r>
              <a:rPr kumimoji="0" lang="en-IN" sz="100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ˆ</a:t>
            </a:r>
            <a:r>
              <a:rPr kumimoji="0" lang="en-IN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 </a:t>
            </a:r>
            <a:r>
              <a:rPr kumimoji="0" lang="en-IN" sz="9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lang="en-IN" sz="950" b="0" i="0" u="none" strike="noStrike" kern="0" cap="none" spc="-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1000" b="0" i="1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op</a:t>
            </a:r>
            <a:r>
              <a:rPr kumimoji="0" lang="en-IN" sz="95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z</a:t>
            </a:r>
            <a:r>
              <a:rPr kumimoji="0" lang="en-IN" sz="950" b="0" i="0" u="none" strike="noStrike" kern="0" cap="none" spc="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+</a:t>
            </a:r>
            <a:r>
              <a:rPr kumimoji="0" lang="en-IN" sz="10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9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y</a:t>
            </a:r>
            <a:r>
              <a:rPr kumimoji="0" lang="en-IN" sz="950" b="0" i="0" u="none" strike="noStrike" kern="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1000" b="0" i="1" u="none" strike="noStrike" kern="0" cap="none" spc="-2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op</a:t>
            </a:r>
            <a:r>
              <a:rPr kumimoji="0" lang="en-IN" sz="950" b="0" i="0" u="none" strike="noStrike" kern="0" cap="none" spc="-2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z</a:t>
            </a:r>
            <a:r>
              <a:rPr kumimoji="0" lang="en-IN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.</a:t>
            </a:r>
          </a:p>
          <a:p>
            <a:pPr marL="349885" marR="0" lvl="1" defTabSz="914400" eaLnBrk="1" fontAlgn="auto" latinLnBrk="0" hangingPunct="1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Tx/>
              <a:tabLst>
                <a:tab pos="515620" algn="l"/>
              </a:tabLst>
              <a:defRPr/>
            </a:pPr>
            <a:r>
              <a:rPr lang="en-IN" sz="1000" spc="-20" dirty="0">
                <a:latin typeface="Tahoma"/>
                <a:cs typeface="Tahoma"/>
              </a:rPr>
              <a:t>     </a:t>
            </a:r>
            <a:endParaRPr kumimoji="0" lang="en-IN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  <a:p>
            <a:pPr marL="514984" marR="353695" lvl="1" indent="-165735" defTabSz="914400" eaLnBrk="1" fontAlgn="auto" latinLnBrk="0" hangingPunct="1">
              <a:lnSpc>
                <a:spcPts val="1200"/>
              </a:lnSpc>
              <a:spcBef>
                <a:spcPts val="35"/>
              </a:spcBef>
              <a:spcAft>
                <a:spcPts val="0"/>
              </a:spcAft>
              <a:buClr>
                <a:srgbClr val="3333B2"/>
              </a:buClr>
              <a:buSzTx/>
              <a:buFont typeface="Lucida Sans Unicode"/>
              <a:buChar char="►"/>
              <a:tabLst>
                <a:tab pos="517525" algn="l"/>
              </a:tabLst>
              <a:defRPr/>
            </a:pP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Finally</a:t>
            </a:r>
            <a:r>
              <a:rPr kumimoji="0" lang="en-IN" sz="1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if</a:t>
            </a:r>
            <a:r>
              <a:rPr kumimoji="0" lang="en-IN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9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lang="en-IN" sz="950" b="0" i="0" u="none" strike="noStrike" kern="0" cap="none" spc="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is</a:t>
            </a:r>
            <a:r>
              <a:rPr kumimoji="0" lang="en-IN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</a:t>
            </a:r>
            <a:r>
              <a:rPr kumimoji="0" lang="en-IN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non-</a:t>
            </a:r>
            <a:r>
              <a:rPr kumimoji="0" lang="en-IN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zero</a:t>
            </a:r>
            <a:r>
              <a:rPr kumimoji="0" lang="en-IN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vector</a:t>
            </a:r>
            <a:r>
              <a:rPr kumimoji="0" lang="en-IN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then</a:t>
            </a:r>
            <a:r>
              <a:rPr kumimoji="0" lang="en-IN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950" b="0" i="0" u="none" strike="noStrike" kern="0" cap="none" spc="-2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lang="en-IN" sz="1000" b="0" i="0" u="none" strike="noStrike" kern="0" cap="none" spc="-2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ˆ</a:t>
            </a:r>
            <a:r>
              <a:rPr kumimoji="0" lang="en-IN" sz="100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is</a:t>
            </a:r>
            <a:r>
              <a:rPr kumimoji="0" lang="en-IN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also</a:t>
            </a:r>
            <a:r>
              <a:rPr kumimoji="0" lang="en-IN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</a:t>
            </a:r>
            <a:r>
              <a:rPr kumimoji="0" lang="en-IN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non-</a:t>
            </a:r>
            <a:r>
              <a:rPr kumimoji="0" lang="en-IN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zero 	</a:t>
            </a:r>
            <a:r>
              <a:rPr kumimoji="0" lang="en-IN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vector, </a:t>
            </a:r>
            <a:r>
              <a:rPr kumimoji="0" lang="en-IN" sz="9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lang="en-IN" sz="950" b="0" i="0" u="none" strike="noStrike" kern="0" cap="none" spc="-1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1000" b="0" i="1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op</a:t>
            </a:r>
            <a:r>
              <a:rPr kumimoji="0" lang="en-IN" sz="95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lang="en-IN" sz="950" b="0" i="0" u="none" strike="noStrike" kern="0" cap="none" spc="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</a:t>
            </a:r>
            <a:r>
              <a:rPr kumimoji="0" lang="en-IN" sz="1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950" b="0" i="0" u="none" strike="noStrike" kern="0" cap="none" spc="-13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lang="en-IN" sz="1000" b="0" i="0" u="none" strike="noStrike" kern="0" cap="none" spc="-13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ˆ</a:t>
            </a:r>
            <a:r>
              <a:rPr kumimoji="0" lang="en-IN" sz="1050" b="0" i="1" u="none" strike="noStrike" kern="0" cap="none" spc="-195" normalizeH="0" baseline="27777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</a:t>
            </a:r>
            <a:r>
              <a:rPr kumimoji="0" lang="en-IN" sz="1050" b="0" i="1" u="none" strike="noStrike" kern="0" cap="none" spc="-82" normalizeH="0" baseline="27777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950" b="0" i="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Ax</a:t>
            </a:r>
            <a:r>
              <a:rPr kumimoji="0" lang="en-IN" sz="1000" b="0" i="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ˆ</a:t>
            </a:r>
            <a:r>
              <a:rPr kumimoji="0" lang="en-IN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1" u="none" strike="noStrike" kern="0" cap="none" spc="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&gt;</a:t>
            </a:r>
            <a:r>
              <a:rPr kumimoji="0" lang="en-IN" sz="1000" b="0" i="1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0 </a:t>
            </a:r>
            <a:r>
              <a:rPr kumimoji="0" lang="en-IN" sz="1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since</a:t>
            </a:r>
            <a:r>
              <a:rPr kumimoji="0" lang="en-IN" sz="10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we</a:t>
            </a:r>
            <a:r>
              <a:rPr kumimoji="0" lang="en-IN" sz="10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are</a:t>
            </a:r>
            <a:r>
              <a:rPr kumimoji="0" lang="en-IN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given</a:t>
            </a:r>
            <a:r>
              <a:rPr kumimoji="0" lang="en-IN" sz="10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that</a:t>
            </a:r>
            <a:r>
              <a:rPr kumimoji="0" lang="en-IN" sz="10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950" b="0" i="0" u="none" strike="noStrike" kern="0" cap="none" spc="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lang="en-IN" sz="95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is 	</a:t>
            </a:r>
            <a:r>
              <a:rPr kumimoji="0" lang="en-IN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positive-</a:t>
            </a:r>
            <a:r>
              <a:rPr kumimoji="0" lang="en-IN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definite.</a:t>
            </a:r>
            <a:endParaRPr kumimoji="0" lang="en-IN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04345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1008" dirty="0"/>
                  <a:t>Now we shall prove a property regarding symmetric, positive definite matrices. In this context first we shall define what is a rank of a matrix.</a:t>
                </a:r>
              </a:p>
              <a:p>
                <a:r>
                  <a:rPr lang="en-US" sz="1008" dirty="0"/>
                  <a:t>Let  </a:t>
                </a:r>
                <a14:m>
                  <m:oMath xmlns:m="http://schemas.openxmlformats.org/officeDocument/2006/math">
                    <m:r>
                      <a:rPr lang="en-US" sz="1008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008" i="1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lang="en-US" sz="1008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1008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008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1008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008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008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008" i="1">
                                                  <a:latin typeface="Cambria Math" panose="02040503050406030204" pitchFamily="18" charset="0"/>
                                                </a:rPr>
                                                <m:t>11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008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008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008" i="1">
                                                  <a:latin typeface="Cambria Math" panose="02040503050406030204" pitchFamily="18" charset="0"/>
                                                </a:rPr>
                                                <m:t>21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1008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008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008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008" i="1">
                                                  <a:latin typeface="Cambria Math" panose="02040503050406030204" pitchFamily="18" charset="0"/>
                                                </a:rPr>
                                                <m:t>12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008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008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008" i="1">
                                                  <a:latin typeface="Cambria Math" panose="02040503050406030204" pitchFamily="18" charset="0"/>
                                                </a:rPr>
                                                <m:t>22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r>
                                <a:rPr lang="en-US" sz="1008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008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1008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8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1008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sz="1008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1008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8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1008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sz="1008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r>
                                <a:rPr lang="en-US" sz="1008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1008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1008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008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1008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8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1008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US" sz="1008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1008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8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1008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US" sz="1008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r>
                                <a:rPr lang="en-US" sz="1008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008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8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008" i="1">
                                      <a:latin typeface="Cambria Math" panose="02040503050406030204" pitchFamily="18" charset="0"/>
                                    </a:rPr>
                                    <m:t>𝑚𝑛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sz="1008" dirty="0"/>
                  <a:t> be an </a:t>
                </a:r>
                <a:r>
                  <a:rPr lang="en-US" sz="1008" dirty="0" err="1"/>
                  <a:t>mxn</a:t>
                </a:r>
                <a:r>
                  <a:rPr lang="en-US" sz="1008" dirty="0"/>
                  <a:t> matrix.</a:t>
                </a:r>
              </a:p>
              <a:p>
                <a:r>
                  <a:rPr lang="en-US" sz="1008" dirty="0"/>
                  <a:t>Span({ (a</a:t>
                </a:r>
                <a:r>
                  <a:rPr lang="en-US" sz="1008" baseline="-25000" dirty="0"/>
                  <a:t>11</a:t>
                </a:r>
                <a:r>
                  <a:rPr lang="en-US" sz="1008" dirty="0"/>
                  <a:t>, a</a:t>
                </a:r>
                <a:r>
                  <a:rPr lang="en-US" sz="1008" baseline="-25000" dirty="0"/>
                  <a:t>12,</a:t>
                </a:r>
                <a:r>
                  <a:rPr lang="en-US" sz="1008" dirty="0"/>
                  <a:t> …a</a:t>
                </a:r>
                <a:r>
                  <a:rPr lang="en-US" sz="1008" baseline="-25000" dirty="0"/>
                  <a:t>1n</a:t>
                </a:r>
                <a:r>
                  <a:rPr lang="en-US" sz="1008" dirty="0"/>
                  <a:t>), (a</a:t>
                </a:r>
                <a:r>
                  <a:rPr lang="en-US" sz="1008" baseline="-25000" dirty="0"/>
                  <a:t>21</a:t>
                </a:r>
                <a:r>
                  <a:rPr lang="en-US" sz="1008" dirty="0"/>
                  <a:t>, a</a:t>
                </a:r>
                <a:r>
                  <a:rPr lang="en-US" sz="1008" baseline="-25000" dirty="0"/>
                  <a:t>22,</a:t>
                </a:r>
                <a:r>
                  <a:rPr lang="en-US" sz="1008" dirty="0"/>
                  <a:t> …a</a:t>
                </a:r>
                <a:r>
                  <a:rPr lang="en-US" sz="1008" baseline="-25000" dirty="0"/>
                  <a:t>2n</a:t>
                </a:r>
                <a:r>
                  <a:rPr lang="en-US" sz="1008" dirty="0"/>
                  <a:t>), …, (a</a:t>
                </a:r>
                <a:r>
                  <a:rPr lang="en-US" sz="1008" baseline="-25000" dirty="0"/>
                  <a:t>m1</a:t>
                </a:r>
                <a:r>
                  <a:rPr lang="en-US" sz="1008" dirty="0"/>
                  <a:t>, a</a:t>
                </a:r>
                <a:r>
                  <a:rPr lang="en-US" sz="1008" baseline="-25000" dirty="0"/>
                  <a:t>m2,</a:t>
                </a:r>
                <a:r>
                  <a:rPr lang="en-US" sz="1008" dirty="0"/>
                  <a:t> …</a:t>
                </a:r>
                <a:r>
                  <a:rPr lang="en-US" sz="1008" dirty="0" err="1"/>
                  <a:t>a</a:t>
                </a:r>
                <a:r>
                  <a:rPr lang="en-US" sz="1008" baseline="-25000" dirty="0" err="1"/>
                  <a:t>mn</a:t>
                </a:r>
                <a:r>
                  <a:rPr lang="en-US" sz="1008" dirty="0"/>
                  <a:t>)}) is a subspace of R</a:t>
                </a:r>
                <a:r>
                  <a:rPr lang="en-US" sz="1008" baseline="30000" dirty="0"/>
                  <a:t>n</a:t>
                </a:r>
                <a:r>
                  <a:rPr lang="en-US" sz="1008" dirty="0"/>
                  <a:t>. It is called Row space of A.</a:t>
                </a:r>
              </a:p>
              <a:p>
                <a:r>
                  <a:rPr lang="en-US" sz="1008" dirty="0"/>
                  <a:t>Span({ (a</a:t>
                </a:r>
                <a:r>
                  <a:rPr lang="en-US" sz="1008" baseline="-25000" dirty="0"/>
                  <a:t>11</a:t>
                </a:r>
                <a:r>
                  <a:rPr lang="en-US" sz="1008" dirty="0"/>
                  <a:t>, a</a:t>
                </a:r>
                <a:r>
                  <a:rPr lang="en-US" sz="1008" baseline="-25000" dirty="0"/>
                  <a:t>21,</a:t>
                </a:r>
                <a:r>
                  <a:rPr lang="en-US" sz="1008" dirty="0"/>
                  <a:t> …a</a:t>
                </a:r>
                <a:r>
                  <a:rPr lang="en-US" sz="1008" baseline="-25000" dirty="0"/>
                  <a:t>m1</a:t>
                </a:r>
                <a:r>
                  <a:rPr lang="en-US" sz="1008" dirty="0"/>
                  <a:t>), (a</a:t>
                </a:r>
                <a:r>
                  <a:rPr lang="en-US" sz="1008" baseline="-25000" dirty="0"/>
                  <a:t>12</a:t>
                </a:r>
                <a:r>
                  <a:rPr lang="en-US" sz="1008" dirty="0"/>
                  <a:t>, a</a:t>
                </a:r>
                <a:r>
                  <a:rPr lang="en-US" sz="1008" baseline="-25000" dirty="0"/>
                  <a:t>22,</a:t>
                </a:r>
                <a:r>
                  <a:rPr lang="en-US" sz="1008" dirty="0"/>
                  <a:t> …a</a:t>
                </a:r>
                <a:r>
                  <a:rPr lang="en-US" sz="1008" baseline="-25000" dirty="0"/>
                  <a:t>m2</a:t>
                </a:r>
                <a:r>
                  <a:rPr lang="en-US" sz="1008" dirty="0"/>
                  <a:t>), …, (a</a:t>
                </a:r>
                <a:r>
                  <a:rPr lang="en-US" sz="1008" baseline="-25000" dirty="0"/>
                  <a:t>1n</a:t>
                </a:r>
                <a:r>
                  <a:rPr lang="en-US" sz="1008" dirty="0"/>
                  <a:t>, a</a:t>
                </a:r>
                <a:r>
                  <a:rPr lang="en-US" sz="1008" baseline="-25000" dirty="0"/>
                  <a:t>2n,</a:t>
                </a:r>
                <a:r>
                  <a:rPr lang="en-US" sz="1008" dirty="0"/>
                  <a:t> …</a:t>
                </a:r>
                <a:r>
                  <a:rPr lang="en-US" sz="1008" dirty="0" err="1"/>
                  <a:t>a</a:t>
                </a:r>
                <a:r>
                  <a:rPr lang="en-US" sz="1008" baseline="-25000" dirty="0" err="1"/>
                  <a:t>mn</a:t>
                </a:r>
                <a:r>
                  <a:rPr lang="en-US" sz="1008" dirty="0"/>
                  <a:t>)}) is a subspace of R</a:t>
                </a:r>
                <a:r>
                  <a:rPr lang="en-US" sz="1008" baseline="30000" dirty="0"/>
                  <a:t>m</a:t>
                </a:r>
                <a:r>
                  <a:rPr lang="en-US" sz="1008" dirty="0"/>
                  <a:t>. It is called column space of A.</a:t>
                </a:r>
              </a:p>
              <a:p>
                <a:r>
                  <a:rPr lang="en-US" sz="1008" dirty="0"/>
                  <a:t>One can prove that dimension of Row space = dimension of column space. This dimension is called rank of the matrix A.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34" t="-2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Rank of a Matrix</a:t>
            </a:r>
          </a:p>
        </p:txBody>
      </p:sp>
    </p:spTree>
    <p:extLst>
      <p:ext uri="{BB962C8B-B14F-4D97-AF65-F5344CB8AC3E}">
        <p14:creationId xmlns:p14="http://schemas.microsoft.com/office/powerpoint/2010/main" val="25331104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Consider the matrix A =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mr>
                    </m:m>
                  </m:oMath>
                </a14:m>
                <a:r>
                  <a:rPr lang="en-US" dirty="0"/>
                  <a:t>   .  Row space of A = span ({(1, -2, 4, 0), (2, -1, 5, 0), (-1, 3, -3, 0)}) = W</a:t>
                </a:r>
              </a:p>
              <a:p>
                <a:r>
                  <a:rPr lang="en-US" dirty="0"/>
                  <a:t>{(1, -2, 4, 0), (2, -1, 5, 0), (-1, 3, -3, 0)} is linearly independent, hence it is a basis of W. dim of W = 3.</a:t>
                </a:r>
              </a:p>
              <a:p>
                <a:r>
                  <a:rPr lang="en-US" dirty="0"/>
                  <a:t>Column space of A = span ({(1,2,-1), (-2,-1,3), (4,5,-3), (0,0,0)}) = U.</a:t>
                </a:r>
              </a:p>
              <a:p>
                <a:r>
                  <a:rPr lang="en-US" dirty="0"/>
                  <a:t>Verify that {(1,2,-1), (-2,-1,3), (4,5,-3)} is a basis of U and hence dim of U is 3.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r="-2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Double Bracket 3"/>
          <p:cNvSpPr/>
          <p:nvPr/>
        </p:nvSpPr>
        <p:spPr>
          <a:xfrm>
            <a:off x="1844040" y="773577"/>
            <a:ext cx="1152525" cy="614680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61040" rtl="0"/>
            <a:endParaRPr lang="en-US" sz="908" kern="1200">
              <a:solidFill>
                <a:prstClr val="black"/>
              </a:solidFill>
              <a:latin typeface="Tw Cen MT" panose="020B0602020104020603"/>
            </a:endParaRPr>
          </a:p>
        </p:txBody>
      </p:sp>
    </p:spTree>
    <p:extLst>
      <p:ext uri="{BB962C8B-B14F-4D97-AF65-F5344CB8AC3E}">
        <p14:creationId xmlns:p14="http://schemas.microsoft.com/office/powerpoint/2010/main" val="1477854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000" dirty="0"/>
              <a:t>Theorem : The nonzero row vectors of a matrix A that is in  echelon form is a basis for the row space of A. The rank of A is the number of nonzero row vectors.</a:t>
            </a:r>
          </a:p>
          <a:p>
            <a:endParaRPr lang="en-US" sz="1000" dirty="0"/>
          </a:p>
          <a:p>
            <a:r>
              <a:rPr lang="en-US" sz="1000" dirty="0"/>
              <a:t>                                       </a:t>
            </a:r>
          </a:p>
          <a:p>
            <a:r>
              <a:rPr lang="en-US" sz="1000" dirty="0"/>
              <a:t>                                            These matrices are in echelon form.</a:t>
            </a:r>
          </a:p>
          <a:p>
            <a:r>
              <a:rPr lang="en-US" sz="1000" dirty="0"/>
              <a:t> </a:t>
            </a:r>
          </a:p>
          <a:p>
            <a:r>
              <a:rPr lang="en-US" sz="1000" dirty="0"/>
              <a:t>Hance rank of the first matrix is 4 and the second matrix is 3.</a:t>
            </a:r>
          </a:p>
          <a:p>
            <a:endParaRPr lang="en-US" sz="1000" dirty="0"/>
          </a:p>
          <a:p>
            <a:r>
              <a:rPr lang="en-US" sz="1000" dirty="0"/>
              <a:t>Theorem: An </a:t>
            </a:r>
            <a:r>
              <a:rPr lang="en-US" sz="1000" dirty="0" err="1"/>
              <a:t>nxn</a:t>
            </a:r>
            <a:r>
              <a:rPr lang="en-US" sz="1000" dirty="0"/>
              <a:t> matrix A has rank n  if and only if the homogenous equation AX = 0 has only the trivial solution(in other words the null space of A only 0 vector).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Method to find the rank of a matrix.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98" y="1423035"/>
            <a:ext cx="1389498" cy="53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1398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2894330" cy="448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IN" spc="-10" dirty="0"/>
              <a:t>Properties of Symmetric , Positive Definite Matrices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421957" y="987626"/>
            <a:ext cx="3756025" cy="211019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0480" indent="-177165" algn="just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25" dirty="0">
                <a:latin typeface="Tahoma"/>
                <a:cs typeface="Tahoma"/>
              </a:rPr>
              <a:t>Can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symmetric,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positive-</a:t>
            </a:r>
            <a:r>
              <a:rPr sz="1100" spc="-40" dirty="0">
                <a:latin typeface="Tahoma"/>
                <a:cs typeface="Tahoma"/>
              </a:rPr>
              <a:t>definite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lang="en-IN" sz="1100" spc="20" dirty="0" err="1">
                <a:latin typeface="Tahoma"/>
                <a:cs typeface="Tahoma"/>
              </a:rPr>
              <a:t>nxn</a:t>
            </a:r>
            <a:r>
              <a:rPr lang="en-IN" sz="1100" spc="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matrix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have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lang="en-IN" sz="1100" spc="20" dirty="0">
                <a:latin typeface="Tahoma"/>
                <a:cs typeface="Tahoma"/>
              </a:rPr>
              <a:t>rank </a:t>
            </a:r>
            <a:r>
              <a:rPr sz="1100" spc="-60" dirty="0">
                <a:latin typeface="Tahoma"/>
                <a:cs typeface="Tahoma"/>
              </a:rPr>
              <a:t>less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than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lang="en-IN" sz="1100" spc="-15" dirty="0">
                <a:latin typeface="Tahoma"/>
                <a:cs typeface="Tahoma"/>
              </a:rPr>
              <a:t>n</a:t>
            </a:r>
            <a:r>
              <a:rPr sz="1100" spc="-35" dirty="0">
                <a:latin typeface="Tahoma"/>
                <a:cs typeface="Tahoma"/>
              </a:rPr>
              <a:t>?</a:t>
            </a:r>
            <a:r>
              <a:rPr sz="1100" spc="1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We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have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050" spc="15" dirty="0">
                <a:latin typeface="Arial"/>
                <a:cs typeface="Arial"/>
              </a:rPr>
              <a:t>x</a:t>
            </a:r>
            <a:r>
              <a:rPr sz="1050" spc="-190" dirty="0">
                <a:latin typeface="Arial"/>
                <a:cs typeface="Arial"/>
              </a:rPr>
              <a:t> </a:t>
            </a:r>
            <a:r>
              <a:rPr sz="1200" i="1" spc="127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050" spc="55" dirty="0">
                <a:latin typeface="Arial"/>
                <a:cs typeface="Arial"/>
              </a:rPr>
              <a:t>Ax</a:t>
            </a:r>
            <a:r>
              <a:rPr sz="1050" spc="110" dirty="0">
                <a:latin typeface="Arial"/>
                <a:cs typeface="Arial"/>
              </a:rPr>
              <a:t> </a:t>
            </a:r>
            <a:r>
              <a:rPr sz="1100" i="1" spc="175" dirty="0">
                <a:latin typeface="Bookman Old Style"/>
                <a:cs typeface="Bookman Old Style"/>
              </a:rPr>
              <a:t>&gt;</a:t>
            </a:r>
            <a:r>
              <a:rPr sz="1100" i="1" spc="-30" dirty="0">
                <a:latin typeface="Bookman Old Style"/>
                <a:cs typeface="Bookman Old Style"/>
              </a:rPr>
              <a:t> </a:t>
            </a:r>
            <a:r>
              <a:rPr sz="1100" spc="-60" dirty="0">
                <a:latin typeface="Tahoma"/>
                <a:cs typeface="Tahoma"/>
              </a:rPr>
              <a:t>0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for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all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non-</a:t>
            </a:r>
            <a:r>
              <a:rPr sz="1100" spc="-50" dirty="0">
                <a:latin typeface="Tahoma"/>
                <a:cs typeface="Tahoma"/>
              </a:rPr>
              <a:t>zero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050" spc="35" dirty="0">
                <a:latin typeface="Arial"/>
                <a:cs typeface="Arial"/>
              </a:rPr>
              <a:t>x</a:t>
            </a:r>
            <a:r>
              <a:rPr sz="1100" spc="35" dirty="0">
                <a:latin typeface="Tahoma"/>
                <a:cs typeface="Tahoma"/>
              </a:rPr>
              <a:t>.</a:t>
            </a:r>
            <a:r>
              <a:rPr sz="1100" spc="140" dirty="0">
                <a:latin typeface="Tahoma"/>
                <a:cs typeface="Tahoma"/>
              </a:rPr>
              <a:t> </a:t>
            </a:r>
            <a:r>
              <a:rPr lang="en-US" sz="1100" spc="-20" dirty="0">
                <a:latin typeface="Tahoma"/>
                <a:cs typeface="Tahoma"/>
              </a:rPr>
              <a:t>Thus the homogenous equation Ax = 0 has only a trivial solution. This means in the reduce row echelon form A, each column must have a pivot element. This means there is no  zero row in the reduce row echelon form A </a:t>
            </a:r>
            <a:r>
              <a:rPr sz="1100" spc="140" dirty="0">
                <a:latin typeface="Tahoma"/>
                <a:cs typeface="Tahoma"/>
              </a:rPr>
              <a:t> </a:t>
            </a:r>
            <a:r>
              <a:rPr lang="en-IN" sz="1100" spc="140" dirty="0">
                <a:latin typeface="Tahoma"/>
                <a:cs typeface="Tahoma"/>
              </a:rPr>
              <a:t>Hence A must have rank n.</a:t>
            </a:r>
          </a:p>
          <a:p>
            <a:pPr marL="37464" marR="30480" algn="just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tabLst>
                <a:tab pos="214629" algn="l"/>
              </a:tabLst>
            </a:pPr>
            <a:endParaRPr lang="en-IN" sz="1100" spc="140" dirty="0">
              <a:latin typeface="Tahoma"/>
              <a:cs typeface="Tahoma"/>
            </a:endParaRPr>
          </a:p>
          <a:p>
            <a:pPr marL="214629" marR="30480" indent="-177165" algn="just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What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said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about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diagonal</a:t>
            </a:r>
            <a:r>
              <a:rPr sz="1100" spc="-50" dirty="0">
                <a:latin typeface="Tahoma"/>
                <a:cs typeface="Tahoma"/>
              </a:rPr>
              <a:t> elements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a</a:t>
            </a:r>
            <a:endParaRPr sz="1100" dirty="0">
              <a:latin typeface="Tahoma"/>
              <a:cs typeface="Tahoma"/>
            </a:endParaRPr>
          </a:p>
          <a:p>
            <a:pPr marL="214629" marR="49530">
              <a:lnSpc>
                <a:spcPct val="102600"/>
              </a:lnSpc>
            </a:pPr>
            <a:r>
              <a:rPr sz="1100" spc="-40" dirty="0">
                <a:latin typeface="Tahoma"/>
                <a:cs typeface="Tahoma"/>
              </a:rPr>
              <a:t>positive-</a:t>
            </a:r>
            <a:r>
              <a:rPr sz="1100" spc="-30" dirty="0">
                <a:latin typeface="Tahoma"/>
                <a:cs typeface="Tahoma"/>
              </a:rPr>
              <a:t>definite</a:t>
            </a:r>
            <a:r>
              <a:rPr sz="1100" spc="-10" dirty="0">
                <a:latin typeface="Tahoma"/>
                <a:cs typeface="Tahoma"/>
              </a:rPr>
              <a:t> matrix?</a:t>
            </a:r>
            <a:r>
              <a:rPr sz="1100" spc="12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050" spc="-10" dirty="0">
                <a:latin typeface="Arial"/>
                <a:cs typeface="Arial"/>
              </a:rPr>
              <a:t>e</a:t>
            </a:r>
            <a:r>
              <a:rPr sz="1200" i="1" spc="-15" baseline="-10416" dirty="0">
                <a:latin typeface="Arial"/>
                <a:cs typeface="Arial"/>
              </a:rPr>
              <a:t>i</a:t>
            </a:r>
            <a:r>
              <a:rPr sz="1200" i="1" spc="-14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200" i="1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Ae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292" baseline="-10416" dirty="0">
                <a:latin typeface="Arial"/>
                <a:cs typeface="Arial"/>
              </a:rPr>
              <a:t> </a:t>
            </a:r>
            <a:r>
              <a:rPr sz="1100" i="1" spc="175" dirty="0">
                <a:latin typeface="Bookman Old Style"/>
                <a:cs typeface="Bookman Old Style"/>
              </a:rPr>
              <a:t>&gt;</a:t>
            </a:r>
            <a:r>
              <a:rPr sz="1100" i="1" spc="-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ahoma"/>
                <a:cs typeface="Tahoma"/>
              </a:rPr>
              <a:t>0 </a:t>
            </a:r>
            <a:r>
              <a:rPr sz="1100" spc="-60" dirty="0">
                <a:latin typeface="Tahoma"/>
                <a:cs typeface="Tahoma"/>
              </a:rPr>
              <a:t>where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e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36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th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canonical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basis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we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85" dirty="0">
                <a:latin typeface="Tahoma"/>
                <a:cs typeface="Tahoma"/>
              </a:rPr>
              <a:t>see</a:t>
            </a:r>
            <a:r>
              <a:rPr sz="1100" dirty="0">
                <a:latin typeface="Tahoma"/>
                <a:cs typeface="Tahoma"/>
              </a:rPr>
              <a:t> that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Arial"/>
                <a:cs typeface="Arial"/>
              </a:rPr>
              <a:t>ii</a:t>
            </a:r>
            <a:r>
              <a:rPr sz="1200" i="1" spc="254" baseline="-10416" dirty="0">
                <a:latin typeface="Arial"/>
                <a:cs typeface="Arial"/>
              </a:rPr>
              <a:t> </a:t>
            </a:r>
            <a:r>
              <a:rPr sz="1100" i="1" spc="175" dirty="0">
                <a:latin typeface="Bookman Old Style"/>
                <a:cs typeface="Bookman Old Style"/>
              </a:rPr>
              <a:t>&gt;</a:t>
            </a:r>
            <a:r>
              <a:rPr sz="1100" i="1" spc="-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ahoma"/>
                <a:cs typeface="Tahoma"/>
              </a:rPr>
              <a:t>0.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Thus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35" dirty="0">
                <a:latin typeface="Tahoma"/>
                <a:cs typeface="Tahoma"/>
              </a:rPr>
              <a:t>diagonal entries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strictly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positive.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Norms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3068" y="785507"/>
            <a:ext cx="34925" cy="1397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4606" y="785507"/>
            <a:ext cx="34925" cy="1397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938830" y="785507"/>
            <a:ext cx="142875" cy="292100"/>
            <a:chOff x="2938830" y="785507"/>
            <a:chExt cx="142875" cy="2921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38830" y="785507"/>
              <a:ext cx="34925" cy="1397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6590" y="785507"/>
              <a:ext cx="34925" cy="1397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91243" y="937336"/>
              <a:ext cx="34925" cy="139700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42818" y="937336"/>
            <a:ext cx="34925" cy="139700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2321839" y="1275829"/>
            <a:ext cx="73660" cy="279400"/>
            <a:chOff x="2321839" y="1275829"/>
            <a:chExt cx="73660" cy="27940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21839" y="1275829"/>
              <a:ext cx="31750" cy="127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3495" y="1427657"/>
              <a:ext cx="31750" cy="127000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2910136" y="1275829"/>
            <a:ext cx="73660" cy="279400"/>
            <a:chOff x="2910136" y="1275829"/>
            <a:chExt cx="73660" cy="27940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10136" y="1275829"/>
              <a:ext cx="31750" cy="1270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51784" y="1427657"/>
              <a:ext cx="31750" cy="127000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3048546" y="1275829"/>
            <a:ext cx="76200" cy="279400"/>
            <a:chOff x="3048546" y="1275829"/>
            <a:chExt cx="76200" cy="279400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8546" y="1275829"/>
              <a:ext cx="31750" cy="1270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2602" y="1427657"/>
              <a:ext cx="31750" cy="127000"/>
            </a:xfrm>
            <a:prstGeom prst="rect">
              <a:avLst/>
            </a:prstGeom>
          </p:spPr>
        </p:pic>
      </p:grp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60372" y="1579486"/>
            <a:ext cx="31750" cy="127000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1992871" y="1427657"/>
            <a:ext cx="38100" cy="279400"/>
            <a:chOff x="1992871" y="1427657"/>
            <a:chExt cx="38100" cy="279400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92871" y="1427657"/>
              <a:ext cx="31750" cy="1270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98789" y="1579486"/>
              <a:ext cx="31750" cy="127000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2534069" y="1275829"/>
            <a:ext cx="93345" cy="431165"/>
            <a:chOff x="2534069" y="1275829"/>
            <a:chExt cx="93345" cy="431165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34069" y="1275829"/>
              <a:ext cx="31750" cy="1270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95517" y="1427657"/>
              <a:ext cx="31750" cy="1270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9908" y="1579486"/>
              <a:ext cx="31750" cy="127000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2708338" y="1427657"/>
            <a:ext cx="57785" cy="279400"/>
            <a:chOff x="2708338" y="1427657"/>
            <a:chExt cx="57785" cy="279400"/>
          </a:xfrm>
        </p:grpSpPr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33878" y="1427657"/>
              <a:ext cx="31750" cy="1270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8338" y="1579486"/>
              <a:ext cx="31750" cy="127000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396557" y="739037"/>
            <a:ext cx="3832860" cy="97409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240029" marR="55880" lvl="0" indent="-177165" algn="just" defTabSz="914400" eaLnBrk="1" fontAlgn="auto" latinLnBrk="0" hangingPunct="1">
              <a:lnSpc>
                <a:spcPts val="1200"/>
              </a:lnSpc>
              <a:spcBef>
                <a:spcPts val="229"/>
              </a:spcBef>
              <a:spcAft>
                <a:spcPts val="0"/>
              </a:spcAft>
              <a:buClr>
                <a:srgbClr val="3333B2"/>
              </a:buClr>
              <a:buSzTx/>
              <a:buFont typeface="Lucida Sans Unicode"/>
              <a:buChar char="►"/>
              <a:tabLst>
                <a:tab pos="240029" algn="l"/>
              </a:tabLst>
              <a:defRPr/>
            </a:pPr>
            <a:r>
              <a:rPr kumimoji="0" sz="1100" b="0" i="0" u="none" strike="noStrike" kern="0" cap="none" spc="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</a:t>
            </a:r>
            <a:r>
              <a:rPr kumimoji="0" sz="11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norm</a:t>
            </a:r>
            <a:r>
              <a:rPr kumimoji="0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on</a:t>
            </a:r>
            <a:r>
              <a:rPr kumimoji="0" sz="11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</a:t>
            </a:r>
            <a:r>
              <a:rPr kumimoji="0" sz="11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vector</a:t>
            </a:r>
            <a:r>
              <a:rPr kumimoji="0" sz="11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space</a:t>
            </a:r>
            <a:r>
              <a:rPr kumimoji="0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is</a:t>
            </a:r>
            <a:r>
              <a:rPr kumimoji="0" sz="11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</a:t>
            </a:r>
            <a:r>
              <a:rPr kumimoji="0" sz="11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function</a:t>
            </a:r>
            <a:r>
              <a:rPr kumimoji="0" sz="1100" b="0" i="0" u="none" strike="noStrike" kern="0" cap="none" spc="5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.</a:t>
            </a:r>
            <a:r>
              <a:rPr kumimoji="0" sz="1100" b="0" i="1" u="none" strike="noStrike" kern="0" cap="none" spc="50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: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V</a:t>
            </a:r>
            <a:r>
              <a:rPr kumimoji="0" sz="1100" b="0" i="1" u="none" strike="noStrike" kern="0" cap="none" spc="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1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→</a:t>
            </a:r>
            <a:r>
              <a:rPr kumimoji="0" sz="1100" b="0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"/>
                <a:cs typeface="Century"/>
              </a:rPr>
              <a:t>R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,</a:t>
            </a:r>
            <a:r>
              <a:rPr kumimoji="0" sz="11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05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1050" b="0" i="0" u="none" strike="noStrike" kern="0" cap="none" spc="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1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→</a:t>
            </a:r>
            <a:r>
              <a:rPr kumimoji="0" sz="1100" b="0" i="0" u="none" strike="noStrike" kern="0" cap="none" spc="5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05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105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which</a:t>
            </a:r>
            <a:r>
              <a:rPr kumimoji="0" sz="11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assigns</a:t>
            </a:r>
            <a:r>
              <a:rPr kumimoji="0" sz="11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to</a:t>
            </a:r>
            <a:r>
              <a:rPr kumimoji="0" sz="11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each</a:t>
            </a:r>
            <a:r>
              <a:rPr kumimoji="0" sz="11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vector</a:t>
            </a:r>
            <a:r>
              <a:rPr kumimoji="0" sz="11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05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1050" b="0" i="0" u="none" strike="noStrike" kern="0" cap="none" spc="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</a:t>
            </a:r>
            <a:r>
              <a:rPr kumimoji="0" sz="11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length</a:t>
            </a:r>
            <a:r>
              <a:rPr kumimoji="0" sz="1100" b="0" i="0" u="none" strike="noStrike" kern="0" cap="none" spc="5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05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1050" b="0" i="0" u="none" strike="noStrike" kern="0" cap="none" spc="7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such</a:t>
            </a:r>
            <a:r>
              <a:rPr kumimoji="0" sz="11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that</a:t>
            </a:r>
            <a:r>
              <a:rPr kumimoji="0" sz="11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for</a:t>
            </a:r>
            <a:r>
              <a:rPr kumimoji="0" sz="11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all </a:t>
            </a:r>
            <a:r>
              <a:rPr kumimoji="0" sz="1100" b="0" i="1" u="none" strike="noStrike" kern="0" cap="none" spc="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λ</a:t>
            </a:r>
            <a:r>
              <a:rPr kumimoji="0" sz="1100" b="0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∈</a:t>
            </a:r>
            <a:r>
              <a:rPr kumimoji="0" sz="1100" b="0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"/>
                <a:cs typeface="Century"/>
              </a:rPr>
              <a:t>R</a:t>
            </a:r>
            <a:r>
              <a:rPr kumimoji="0" sz="1100" b="0" i="0" u="none" strike="noStrike" kern="0" cap="none" spc="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"/>
                <a:cs typeface="Century"/>
              </a:rPr>
              <a:t> </a:t>
            </a:r>
            <a:r>
              <a:rPr kumimoji="0" sz="11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and</a:t>
            </a:r>
            <a:r>
              <a:rPr kumimoji="0" sz="11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05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1050" b="0" i="0" u="none" strike="noStrike" kern="0" cap="none" spc="-1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,</a:t>
            </a:r>
            <a:r>
              <a:rPr kumimoji="0" sz="1100" b="0" i="1" u="none" strike="noStrike" kern="0" cap="none" spc="-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05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y</a:t>
            </a:r>
            <a:r>
              <a:rPr kumimoji="0" sz="1050" b="0" i="0" u="none" strike="noStrike" kern="0" cap="none" spc="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∈</a:t>
            </a:r>
            <a:r>
              <a:rPr kumimoji="0" sz="1100" b="0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100" b="0" i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V</a:t>
            </a:r>
            <a:r>
              <a:rPr kumimoji="0" sz="1100" b="0" i="1" u="none" strike="noStrike" kern="0" cap="none" spc="2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1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following</a:t>
            </a:r>
            <a:r>
              <a:rPr kumimoji="0" sz="11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properties</a:t>
            </a:r>
            <a:r>
              <a:rPr kumimoji="0" sz="11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hold: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  <a:p>
            <a:pPr marL="515620" marR="0" lvl="1" indent="-165735" defTabSz="914400" eaLnBrk="1" fontAlgn="auto" latinLnBrk="0" hangingPunct="1">
              <a:lnSpc>
                <a:spcPts val="1200"/>
              </a:lnSpc>
              <a:spcBef>
                <a:spcPts val="145"/>
              </a:spcBef>
              <a:spcAft>
                <a:spcPts val="0"/>
              </a:spcAft>
              <a:buClr>
                <a:srgbClr val="3333B2"/>
              </a:buClr>
              <a:buSzTx/>
              <a:buFont typeface="Lucida Sans Unicode"/>
              <a:buChar char="►"/>
              <a:tabLst>
                <a:tab pos="515620" algn="l"/>
              </a:tabLst>
              <a:defRPr/>
            </a:pP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Absolutely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homogeneous:</a:t>
            </a:r>
            <a:r>
              <a:rPr kumimoji="0" sz="1000" b="0" i="0" u="none" strike="noStrike" kern="0" cap="none" spc="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 </a:t>
            </a:r>
            <a:r>
              <a:rPr kumimoji="0" sz="1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λ</a:t>
            </a:r>
            <a:r>
              <a:rPr kumimoji="0" sz="9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950" b="0" i="0" u="none" strike="noStrike" kern="0" cap="none" spc="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</a:t>
            </a: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|</a:t>
            </a:r>
            <a:r>
              <a:rPr kumimoji="0" sz="1000" b="0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λ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|</a:t>
            </a:r>
            <a:r>
              <a:rPr kumimoji="0" lang="en-IN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  </a:t>
            </a:r>
            <a:r>
              <a:rPr kumimoji="0" sz="95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endParaRPr kumimoji="0" sz="9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515620" marR="0" lvl="1" indent="-165735" defTabSz="914400" eaLnBrk="1" fontAlgn="auto" latinLnBrk="0" hangingPunct="1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Tx/>
              <a:buFont typeface="Lucida Sans Unicode"/>
              <a:buChar char="►"/>
              <a:tabLst>
                <a:tab pos="515620" algn="l"/>
              </a:tabLst>
              <a:defRPr/>
            </a:pP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Triangle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inequality:</a:t>
            </a:r>
            <a:r>
              <a:rPr kumimoji="0" sz="1000" b="0" i="0" u="none" strike="noStrike" kern="0" cap="none" spc="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 </a:t>
            </a:r>
            <a:r>
              <a:rPr kumimoji="0" sz="9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950" b="0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+</a:t>
            </a:r>
            <a:r>
              <a:rPr kumimoji="0" sz="10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9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y</a:t>
            </a:r>
            <a:r>
              <a:rPr kumimoji="0" sz="950" b="0" i="0" u="none" strike="noStrike" kern="0" cap="none" spc="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 </a:t>
            </a:r>
            <a:r>
              <a:rPr kumimoji="0" sz="1000" b="0" i="0" u="none" strike="noStrike" kern="0" cap="none" spc="2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≤</a:t>
            </a:r>
            <a:r>
              <a:rPr kumimoji="0" sz="1000" b="0" i="0" u="none" strike="noStrike" kern="0" cap="none" spc="1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 </a:t>
            </a:r>
            <a:r>
              <a:rPr kumimoji="0" sz="9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950" b="0" i="0" u="none" strike="noStrike" kern="0" cap="none" spc="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+</a:t>
            </a:r>
            <a:r>
              <a:rPr kumimoji="0" sz="1000" b="0" i="0" u="none" strike="noStrike" kern="0" cap="none" spc="3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95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y</a:t>
            </a:r>
            <a:endParaRPr kumimoji="0" sz="9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515620" marR="0" lvl="1" indent="-165735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Tx/>
              <a:buFont typeface="Lucida Sans Unicode"/>
              <a:buChar char="►"/>
              <a:tabLst>
                <a:tab pos="515620" algn="l"/>
              </a:tabLst>
              <a:defRPr/>
            </a:pP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Positive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definite:</a:t>
            </a:r>
            <a:r>
              <a:rPr kumimoji="0" sz="1000" b="0" i="0" u="none" strike="noStrike" kern="0" cap="none" spc="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 </a:t>
            </a:r>
            <a:r>
              <a:rPr kumimoji="0" sz="9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950" b="0" i="0" u="none" strike="noStrike" kern="0" cap="none" spc="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 </a:t>
            </a:r>
            <a:r>
              <a:rPr kumimoji="0" sz="1000" b="0" i="0" u="none" strike="noStrike" kern="0" cap="none" spc="2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≥</a:t>
            </a:r>
            <a:r>
              <a:rPr kumimoji="0" sz="1000" b="0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0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and</a:t>
            </a:r>
            <a:r>
              <a:rPr kumimoji="0" sz="1000" b="0" i="0" u="none" strike="noStrike" kern="0" cap="none" spc="4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9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950" b="0" i="0" u="none" strike="noStrike" kern="0" cap="none" spc="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</a:t>
            </a:r>
            <a:r>
              <a:rPr kumimoji="0" sz="1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0</a:t>
            </a:r>
            <a:r>
              <a:rPr kumimoji="0" sz="1000" b="0" i="0" u="none" strike="noStrike" kern="0" cap="none" spc="1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1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Tahoma"/>
              </a:rPr>
              <a:t>⇔</a:t>
            </a:r>
            <a:r>
              <a:rPr kumimoji="0" sz="1000" b="0" i="0" u="none" strike="noStrike" kern="0" cap="none" spc="2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9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950" b="0" i="0" u="none" strike="noStrike" kern="0" cap="none" spc="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</a:t>
            </a:r>
            <a:r>
              <a:rPr kumimoji="0" sz="1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0</a:t>
            </a:r>
            <a:endParaRPr kumimoji="0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</p:txBody>
      </p:sp>
      <p:pic>
        <p:nvPicPr>
          <p:cNvPr id="31" name="object 3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5574" y="1908606"/>
            <a:ext cx="34925" cy="139700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7136" y="1908606"/>
            <a:ext cx="34925" cy="139700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2094472" y="1772495"/>
            <a:ext cx="270548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</a:t>
            </a:r>
            <a:r>
              <a:rPr kumimoji="0" sz="800" b="0" i="1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</a:t>
            </a:r>
            <a:r>
              <a:rPr kumimoji="0" sz="8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094471" y="1865613"/>
            <a:ext cx="28415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84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Σ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061592" y="2042955"/>
            <a:ext cx="303250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</a:t>
            </a:r>
            <a:r>
              <a:rPr kumimoji="0" sz="800" b="0" i="1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=1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478151" y="1921102"/>
            <a:ext cx="514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34657" y="1862136"/>
            <a:ext cx="216217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2565" marR="0" lvl="0" indent="-177165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3333B2"/>
              </a:buClr>
              <a:buSzTx/>
              <a:buFont typeface="Lucida Sans Unicode"/>
              <a:buChar char="►"/>
              <a:tabLst>
                <a:tab pos="202565" algn="l"/>
                <a:tab pos="1393825" algn="l"/>
                <a:tab pos="1953260" algn="l"/>
              </a:tabLst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Manhattan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norm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: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	</a:t>
            </a:r>
            <a:r>
              <a:rPr kumimoji="0" lang="en-IN" sz="1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lang="en-IN" sz="1050" b="0" i="0" u="none" strike="noStrike" kern="0" cap="none" spc="1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 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</a:t>
            </a:r>
            <a:r>
              <a:rPr kumimoji="0" lang="en-IN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     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	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|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1100" b="0" i="1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|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/>
              <a:cs typeface="Cambria"/>
            </a:endParaRPr>
          </a:p>
        </p:txBody>
      </p:sp>
      <p:pic>
        <p:nvPicPr>
          <p:cNvPr id="38" name="object 3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3214" y="2446591"/>
            <a:ext cx="34925" cy="139700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4776" y="2446591"/>
            <a:ext cx="34925" cy="139700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1885480" y="2458223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2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34657" y="2400120"/>
            <a:ext cx="16954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2565" marR="0" lvl="0" indent="-177165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3333B2"/>
              </a:buClr>
              <a:buSzTx/>
              <a:buFont typeface="Lucida Sans Unicode"/>
              <a:buChar char="►"/>
              <a:tabLst>
                <a:tab pos="202565" algn="l"/>
                <a:tab pos="1311275" algn="l"/>
                <a:tab pos="1561465" algn="l"/>
              </a:tabLst>
              <a:defRPr/>
            </a:pP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Euclidean 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norm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: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	</a:t>
            </a:r>
            <a:r>
              <a:rPr kumimoji="0" sz="105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	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288349" y="2264269"/>
            <a:ext cx="2006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</a:t>
            </a:r>
            <a:r>
              <a:rPr kumimoji="0" sz="800" b="0" i="1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</a:t>
            </a:r>
            <a:r>
              <a:rPr kumimoji="0" sz="8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136826" y="2422695"/>
            <a:ext cx="35941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2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 </a:t>
            </a:r>
            <a:r>
              <a:rPr kumimoji="0" sz="1100" b="0" i="0" u="none" strike="noStrike" kern="0" cap="none" spc="-3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Σ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290076" y="2606102"/>
            <a:ext cx="1987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</a:t>
            </a:r>
            <a:r>
              <a:rPr kumimoji="0" sz="800" b="0" i="1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=1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563647" y="2481261"/>
            <a:ext cx="514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474366" y="2400120"/>
            <a:ext cx="2514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1100" b="0" i="1" u="none" strike="noStrike" kern="0" cap="none" spc="-20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-37" normalizeH="0" baseline="27777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2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.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527658640"/>
      </p:ext>
    </p:extLst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FFD65-4353-23AE-0D6A-CFD8F6A5F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894330" cy="215444"/>
          </a:xfrm>
        </p:spPr>
        <p:txBody>
          <a:bodyPr/>
          <a:lstStyle/>
          <a:p>
            <a:r>
              <a:rPr lang="en-IN" dirty="0"/>
              <a:t>Norms and Inner Products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F1C4048-BE35-9C5C-1BD8-3B3F5D7EF4F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96557" y="815975"/>
                <a:ext cx="3661093" cy="847348"/>
              </a:xfrm>
            </p:spPr>
            <p:txBody>
              <a:bodyPr/>
              <a:lstStyle/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en-IN" dirty="0"/>
                  <a:t>Every inner product induces a norm.</a:t>
                </a:r>
              </a:p>
              <a:p>
                <a:r>
                  <a:rPr lang="en-IN" dirty="0"/>
                  <a:t>     For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 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 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⃦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⃦=</m:t>
                    </m:r>
                    <m:rad>
                      <m:radPr>
                        <m:degHide m:val="on"/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</m:t>
                        </m:r>
                      </m:e>
                    </m:rad>
                  </m:oMath>
                </a14:m>
                <a:r>
                  <a:rPr lang="en-IN" dirty="0"/>
                  <a:t>.</a:t>
                </a:r>
              </a:p>
              <a:p>
                <a:pPr marL="171450" indent="-171450">
                  <a:buFont typeface="Wingdings" panose="05000000000000000000" pitchFamily="2" charset="2"/>
                  <a:buChar char="Ø"/>
                </a:pPr>
                <a:endParaRPr lang="en-IN" dirty="0"/>
              </a:p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en-IN" dirty="0"/>
                  <a:t>Every norm does not give rise to an inner product. For example the Manhattan norm.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F1C4048-BE35-9C5C-1BD8-3B3F5D7EF4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96557" y="815975"/>
                <a:ext cx="3661093" cy="847348"/>
              </a:xfrm>
              <a:blipFill>
                <a:blip r:embed="rId2"/>
                <a:stretch>
                  <a:fillRect l="-2329" t="-5755" r="-166" b="-93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9DAA6FD-7BB4-A2DB-7F7D-9CCC5CC7E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78" y="1907237"/>
            <a:ext cx="3905250" cy="713075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18BEE78-8F9F-1BEB-95FB-AB7F89A2DC47}"/>
              </a:ext>
            </a:extLst>
          </p:cNvPr>
          <p:cNvCxnSpPr/>
          <p:nvPr/>
        </p:nvCxnSpPr>
        <p:spPr>
          <a:xfrm>
            <a:off x="3067050" y="2187575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0227034-BBB6-A159-062F-631CAAE6FBBA}"/>
              </a:ext>
            </a:extLst>
          </p:cNvPr>
          <p:cNvCxnSpPr/>
          <p:nvPr/>
        </p:nvCxnSpPr>
        <p:spPr>
          <a:xfrm>
            <a:off x="3448050" y="2187575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04824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289433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IN" dirty="0"/>
              <a:t>Proof of </a:t>
            </a:r>
            <a:r>
              <a:rPr dirty="0"/>
              <a:t>Cauchy-Schwarz</a:t>
            </a:r>
            <a:r>
              <a:rPr spc="405" dirty="0"/>
              <a:t> </a:t>
            </a:r>
            <a:r>
              <a:rPr spc="-10" dirty="0"/>
              <a:t>inequality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713192"/>
            <a:ext cx="3768725" cy="7461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0480" indent="-177165">
              <a:lnSpc>
                <a:spcPct val="102699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Let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u</a:t>
            </a:r>
            <a:r>
              <a:rPr sz="1050" spc="8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v</a:t>
            </a:r>
            <a:r>
              <a:rPr sz="1050" spc="125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let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us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consider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length</a:t>
            </a:r>
            <a:r>
              <a:rPr sz="1100" spc="-25" dirty="0">
                <a:latin typeface="Tahoma"/>
                <a:cs typeface="Tahoma"/>
              </a:rPr>
              <a:t> of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u</a:t>
            </a:r>
            <a:r>
              <a:rPr sz="1050" spc="-5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-20" dirty="0">
                <a:latin typeface="Cambria"/>
                <a:cs typeface="Cambria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α</a:t>
            </a:r>
            <a:r>
              <a:rPr sz="1050" dirty="0">
                <a:latin typeface="Arial"/>
                <a:cs typeface="Arial"/>
              </a:rPr>
              <a:t>v</a:t>
            </a:r>
            <a:r>
              <a:rPr sz="1050" spc="145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where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α</a:t>
            </a:r>
            <a:r>
              <a:rPr sz="1100" i="1" spc="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0" dirty="0">
                <a:latin typeface="Tahoma"/>
                <a:cs typeface="Tahoma"/>
              </a:rPr>
              <a:t> constant.</a:t>
            </a:r>
            <a:endParaRPr sz="1100">
              <a:latin typeface="Tahoma"/>
              <a:cs typeface="Tahoma"/>
            </a:endParaRPr>
          </a:p>
          <a:p>
            <a:pPr marL="214629" marR="91440" indent="-177165">
              <a:lnSpc>
                <a:spcPct val="102699"/>
              </a:lnSpc>
              <a:spcBef>
                <a:spcPts val="29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length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u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-30" dirty="0">
                <a:latin typeface="Cambria"/>
                <a:cs typeface="Cambria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α</a:t>
            </a:r>
            <a:r>
              <a:rPr sz="1050" dirty="0">
                <a:latin typeface="Arial"/>
                <a:cs typeface="Arial"/>
              </a:rPr>
              <a:t>v</a:t>
            </a:r>
            <a:r>
              <a:rPr sz="1050" spc="12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greater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than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equal</a:t>
            </a:r>
            <a:r>
              <a:rPr sz="1100" spc="-25" dirty="0">
                <a:latin typeface="Tahoma"/>
                <a:cs typeface="Tahoma"/>
              </a:rPr>
              <a:t> to </a:t>
            </a:r>
            <a:r>
              <a:rPr sz="1100" spc="-20" dirty="0">
                <a:latin typeface="Tahoma"/>
                <a:cs typeface="Tahoma"/>
              </a:rPr>
              <a:t>zero.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length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u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-30" dirty="0">
                <a:latin typeface="Cambria"/>
                <a:cs typeface="Cambria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α</a:t>
            </a:r>
            <a:r>
              <a:rPr sz="1050" dirty="0">
                <a:latin typeface="Arial"/>
                <a:cs typeface="Arial"/>
              </a:rPr>
              <a:t>v</a:t>
            </a:r>
            <a:r>
              <a:rPr sz="1050" spc="125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is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2970" y="1485925"/>
            <a:ext cx="34925" cy="1397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2778" y="1485925"/>
            <a:ext cx="34925" cy="1397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131667" y="1426501"/>
            <a:ext cx="990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5" dirty="0"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3661" y="1439454"/>
            <a:ext cx="313372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50" dirty="0">
                <a:latin typeface="Arial"/>
                <a:cs typeface="Arial"/>
              </a:rPr>
              <a:t>u</a:t>
            </a:r>
            <a:r>
              <a:rPr sz="1050" spc="45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25" dirty="0">
                <a:latin typeface="Cambria"/>
                <a:cs typeface="Cambria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α</a:t>
            </a:r>
            <a:r>
              <a:rPr sz="1050" dirty="0">
                <a:latin typeface="Arial"/>
                <a:cs typeface="Arial"/>
              </a:rPr>
              <a:t>v</a:t>
            </a:r>
            <a:r>
              <a:rPr sz="1050" spc="235" dirty="0">
                <a:latin typeface="Arial"/>
                <a:cs typeface="Arial"/>
              </a:rPr>
              <a:t> </a:t>
            </a:r>
            <a:r>
              <a:rPr lang="en-US" sz="1050" spc="235" baseline="30000" dirty="0">
                <a:latin typeface="Arial"/>
                <a:cs typeface="Arial"/>
              </a:rPr>
              <a:t>2</a:t>
            </a:r>
            <a:r>
              <a:rPr sz="1050" spc="23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Cambria"/>
                <a:cs typeface="Cambria"/>
              </a:rPr>
              <a:t>⟨</a:t>
            </a:r>
            <a:r>
              <a:rPr sz="1050" dirty="0">
                <a:latin typeface="Arial"/>
                <a:cs typeface="Arial"/>
              </a:rPr>
              <a:t>u</a:t>
            </a:r>
            <a:r>
              <a:rPr sz="1050" spc="45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25" dirty="0">
                <a:latin typeface="Cambria"/>
                <a:cs typeface="Cambria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α</a:t>
            </a:r>
            <a:r>
              <a:rPr sz="1050" dirty="0">
                <a:latin typeface="Arial"/>
                <a:cs typeface="Arial"/>
              </a:rPr>
              <a:t>v</a:t>
            </a:r>
            <a:r>
              <a:rPr sz="1050" spc="-16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35" dirty="0">
                <a:latin typeface="Bookman Old Style"/>
                <a:cs typeface="Bookman Old Style"/>
              </a:rPr>
              <a:t> </a:t>
            </a:r>
            <a:r>
              <a:rPr sz="1050" dirty="0">
                <a:latin typeface="Arial"/>
                <a:cs typeface="Arial"/>
              </a:rPr>
              <a:t>u</a:t>
            </a:r>
            <a:r>
              <a:rPr sz="1050" spc="50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20" dirty="0">
                <a:latin typeface="Cambria"/>
                <a:cs typeface="Cambria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α</a:t>
            </a:r>
            <a:r>
              <a:rPr sz="1050" dirty="0">
                <a:latin typeface="Arial"/>
                <a:cs typeface="Arial"/>
              </a:rPr>
              <a:t>v</a:t>
            </a:r>
            <a:r>
              <a:rPr sz="1100" dirty="0">
                <a:latin typeface="Cambria"/>
                <a:cs typeface="Cambria"/>
              </a:rPr>
              <a:t>⟩</a:t>
            </a:r>
            <a:r>
              <a:rPr sz="1100" spc="90" dirty="0">
                <a:latin typeface="Cambria"/>
                <a:cs typeface="Cambri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"/>
                <a:cs typeface="Arial"/>
              </a:rPr>
              <a:t>u</a:t>
            </a:r>
            <a:r>
              <a:rPr sz="1050" spc="50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25" dirty="0">
                <a:latin typeface="Cambria"/>
                <a:cs typeface="Cambria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α</a:t>
            </a:r>
            <a:r>
              <a:rPr sz="1050" dirty="0">
                <a:latin typeface="Arial"/>
                <a:cs typeface="Arial"/>
              </a:rPr>
              <a:t>v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lang="en-IN" sz="1100" spc="459" dirty="0">
                <a:latin typeface="Tahoma"/>
                <a:cs typeface="Tahoma"/>
              </a:rPr>
              <a:t> </a:t>
            </a:r>
            <a:r>
              <a:rPr lang="en-IN" sz="1100" dirty="0">
                <a:latin typeface="Tahoma"/>
                <a:cs typeface="Tahoma"/>
              </a:rPr>
              <a:t>(</a:t>
            </a:r>
            <a:r>
              <a:rPr sz="1050" dirty="0">
                <a:latin typeface="Arial"/>
                <a:cs typeface="Arial"/>
              </a:rPr>
              <a:t>u</a:t>
            </a:r>
            <a:r>
              <a:rPr sz="1050" spc="50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i="1" spc="-20" dirty="0">
                <a:latin typeface="Bookman Old Style"/>
                <a:cs typeface="Bookman Old Style"/>
              </a:rPr>
              <a:t>α</a:t>
            </a:r>
            <a:r>
              <a:rPr sz="1050" spc="-20" dirty="0">
                <a:latin typeface="Arial"/>
                <a:cs typeface="Arial"/>
              </a:rPr>
              <a:t>v</a:t>
            </a:r>
            <a:r>
              <a:rPr sz="1100" spc="-20" dirty="0">
                <a:latin typeface="Tahoma"/>
                <a:cs typeface="Tahoma"/>
              </a:rPr>
              <a:t>).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7357" y="1729362"/>
            <a:ext cx="3710940" cy="35009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5265" indent="-177165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lang="en-US" sz="1100" dirty="0">
                <a:latin typeface="Tahoma"/>
                <a:cs typeface="Tahoma"/>
              </a:rPr>
              <a:t>w</a:t>
            </a:r>
            <a:r>
              <a:rPr sz="1100" dirty="0">
                <a:latin typeface="Tahoma"/>
                <a:cs typeface="Tahoma"/>
              </a:rPr>
              <a:t>e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expand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dot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product</a:t>
            </a:r>
            <a:endParaRPr sz="1100" dirty="0">
              <a:latin typeface="Tahoma"/>
              <a:cs typeface="Tahoma"/>
            </a:endParaRPr>
          </a:p>
          <a:p>
            <a:pPr marL="214629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"/>
                <a:cs typeface="Arial"/>
              </a:rPr>
              <a:t>u</a:t>
            </a:r>
            <a:r>
              <a:rPr sz="1050" spc="40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20" dirty="0">
                <a:latin typeface="Cambria"/>
                <a:cs typeface="Cambria"/>
              </a:rPr>
              <a:t> </a:t>
            </a:r>
            <a:r>
              <a:rPr sz="1100" i="1" spc="50" dirty="0">
                <a:latin typeface="Bookman Old Style"/>
                <a:cs typeface="Bookman Old Style"/>
              </a:rPr>
              <a:t>α</a:t>
            </a:r>
            <a:r>
              <a:rPr sz="1050" spc="50" dirty="0">
                <a:latin typeface="Arial"/>
                <a:cs typeface="Arial"/>
              </a:rPr>
              <a:t>v</a:t>
            </a:r>
            <a:r>
              <a:rPr sz="1100" spc="50" dirty="0">
                <a:latin typeface="Tahoma"/>
                <a:cs typeface="Tahoma"/>
              </a:rPr>
              <a:t>)</a:t>
            </a:r>
            <a:r>
              <a:rPr sz="1200" i="1" spc="75" baseline="27777" dirty="0">
                <a:latin typeface="Arial"/>
                <a:cs typeface="Arial"/>
              </a:rPr>
              <a:t>T</a:t>
            </a:r>
            <a:r>
              <a:rPr sz="1200" i="1" spc="-82" baseline="27777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"/>
                <a:cs typeface="Arial"/>
              </a:rPr>
              <a:t>u</a:t>
            </a:r>
            <a:r>
              <a:rPr sz="1050" spc="45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20" dirty="0">
                <a:latin typeface="Cambria"/>
                <a:cs typeface="Cambria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α</a:t>
            </a:r>
            <a:r>
              <a:rPr sz="1050" dirty="0">
                <a:latin typeface="Arial"/>
                <a:cs typeface="Arial"/>
              </a:rPr>
              <a:t>v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050" spc="90" dirty="0">
                <a:latin typeface="Arial"/>
                <a:cs typeface="Arial"/>
              </a:rPr>
              <a:t>u</a:t>
            </a:r>
            <a:r>
              <a:rPr sz="1200" i="1" spc="135" baseline="27777" dirty="0">
                <a:latin typeface="Arial"/>
                <a:cs typeface="Arial"/>
              </a:rPr>
              <a:t>T</a:t>
            </a:r>
            <a:r>
              <a:rPr sz="1200" i="1" spc="-89" baseline="27777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u</a:t>
            </a:r>
            <a:r>
              <a:rPr sz="1050" spc="45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20" dirty="0">
                <a:latin typeface="Cambria"/>
                <a:cs typeface="Cambria"/>
              </a:rPr>
              <a:t> </a:t>
            </a:r>
            <a:r>
              <a:rPr sz="1100" i="1" spc="55" dirty="0">
                <a:latin typeface="Bookman Old Style"/>
                <a:cs typeface="Bookman Old Style"/>
              </a:rPr>
              <a:t>α</a:t>
            </a:r>
            <a:r>
              <a:rPr sz="1050" spc="55" dirty="0">
                <a:latin typeface="Arial"/>
                <a:cs typeface="Arial"/>
              </a:rPr>
              <a:t>u</a:t>
            </a:r>
            <a:r>
              <a:rPr sz="1200" i="1" spc="82" baseline="27777" dirty="0">
                <a:latin typeface="Arial"/>
                <a:cs typeface="Arial"/>
              </a:rPr>
              <a:t>T</a:t>
            </a:r>
            <a:r>
              <a:rPr sz="1200" i="1" spc="-89" baseline="27777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v</a:t>
            </a:r>
            <a:r>
              <a:rPr sz="1050" spc="100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20" dirty="0">
                <a:latin typeface="Cambria"/>
                <a:cs typeface="Cambria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α</a:t>
            </a:r>
            <a:r>
              <a:rPr sz="1050" dirty="0">
                <a:latin typeface="Arial"/>
                <a:cs typeface="Arial"/>
              </a:rPr>
              <a:t>v</a:t>
            </a:r>
            <a:r>
              <a:rPr sz="1050" spc="-160" dirty="0">
                <a:latin typeface="Arial"/>
                <a:cs typeface="Arial"/>
              </a:rPr>
              <a:t> </a:t>
            </a:r>
            <a:r>
              <a:rPr sz="1200" i="1" spc="127" baseline="27777" dirty="0">
                <a:latin typeface="Arial"/>
                <a:cs typeface="Arial"/>
              </a:rPr>
              <a:t>T</a:t>
            </a:r>
            <a:r>
              <a:rPr sz="1200" i="1" spc="-89" baseline="27777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u</a:t>
            </a:r>
            <a:r>
              <a:rPr sz="1050" spc="4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α</a:t>
            </a:r>
            <a:r>
              <a:rPr sz="1200" baseline="27777" dirty="0">
                <a:latin typeface="Tahoma"/>
                <a:cs typeface="Tahoma"/>
              </a:rPr>
              <a:t>2</a:t>
            </a:r>
            <a:r>
              <a:rPr sz="1050" dirty="0">
                <a:latin typeface="Arial"/>
                <a:cs typeface="Arial"/>
              </a:rPr>
              <a:t>v</a:t>
            </a:r>
            <a:r>
              <a:rPr sz="1050" spc="-160" dirty="0">
                <a:latin typeface="Arial"/>
                <a:cs typeface="Arial"/>
              </a:rPr>
              <a:t> </a:t>
            </a:r>
            <a:r>
              <a:rPr sz="1200" i="1" spc="127" baseline="27777" dirty="0">
                <a:latin typeface="Arial"/>
                <a:cs typeface="Arial"/>
              </a:rPr>
              <a:t>T</a:t>
            </a:r>
            <a:r>
              <a:rPr sz="1200" i="1" spc="-82" baseline="27777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v</a:t>
            </a:r>
            <a:r>
              <a:rPr sz="1050" spc="160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≥</a:t>
            </a:r>
            <a:r>
              <a:rPr sz="1100" spc="85" dirty="0">
                <a:latin typeface="Cambria"/>
                <a:cs typeface="Cambria"/>
              </a:rPr>
              <a:t> </a:t>
            </a:r>
            <a:r>
              <a:rPr sz="1100" spc="-50" dirty="0">
                <a:latin typeface="Tahoma"/>
                <a:cs typeface="Tahoma"/>
              </a:rPr>
              <a:t>0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7357" y="2047683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75" dirty="0">
                <a:solidFill>
                  <a:srgbClr val="3333B2"/>
                </a:solidFill>
                <a:latin typeface="Lucida Sans Unicode"/>
                <a:cs typeface="Lucida Sans Unicode"/>
              </a:rPr>
              <a:t>►</a:t>
            </a:r>
            <a:endParaRPr sz="1100">
              <a:latin typeface="Lucida Sans Unicode"/>
              <a:cs typeface="Lucida Sans Unicod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1B5DAA5-B1AF-C9E1-B4D0-A2A572D10309}"/>
                  </a:ext>
                </a:extLst>
              </p:cNvPr>
              <p:cNvSpPr txBox="1"/>
              <p:nvPr/>
            </p:nvSpPr>
            <p:spPr>
              <a:xfrm>
                <a:off x="557402" y="2118558"/>
                <a:ext cx="3633280" cy="3371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Taking </a:t>
                </a:r>
                <a14:m>
                  <m:oMath xmlns:m="http://schemas.openxmlformats.org/officeDocument/2006/math"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1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N" sz="1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1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sSup>
                          <m:sSupPr>
                            <m:ctrlPr>
                              <a:rPr lang="en-IN" sz="1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1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    </m:t>
                    </m:r>
                  </m:oMath>
                </a14:m>
                <a:r>
                  <a:rPr lang="en-IN" sz="1000" dirty="0"/>
                  <a:t>we get </a:t>
                </a:r>
                <a14:m>
                  <m:oMath xmlns:m="http://schemas.openxmlformats.org/officeDocument/2006/math"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|&lt;</m:t>
                    </m:r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&gt;|≤     ⃦ </m:t>
                    </m:r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⃦</m:t>
                    </m:r>
                    <m:r>
                      <a:rPr lang="en-IN" sz="1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⃦ </m:t>
                    </m:r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⃦    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1B5DAA5-B1AF-C9E1-B4D0-A2A572D10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402" y="2118558"/>
                <a:ext cx="3633280" cy="3371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9690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Metric</a:t>
            </a:r>
            <a:r>
              <a:rPr spc="150" dirty="0"/>
              <a:t> </a:t>
            </a:r>
            <a:r>
              <a:rPr spc="-10" dirty="0"/>
              <a:t>space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3534" y="902628"/>
            <a:ext cx="3943032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2565" indent="-177165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Font typeface="Lucida Sans Unicode"/>
              <a:buChar char="►"/>
              <a:tabLst>
                <a:tab pos="202565" algn="l"/>
              </a:tabLst>
            </a:pPr>
            <a:r>
              <a:rPr sz="1100" spc="-35" dirty="0">
                <a:latin typeface="Tahoma"/>
                <a:cs typeface="Tahoma"/>
              </a:rPr>
              <a:t>Consider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inner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product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space</a:t>
            </a:r>
            <a:r>
              <a:rPr sz="1100" spc="-10" dirty="0">
                <a:latin typeface="Tahoma"/>
                <a:cs typeface="Tahoma"/>
              </a:rPr>
              <a:t> (</a:t>
            </a:r>
            <a:r>
              <a:rPr sz="1100" i="1" spc="-10" dirty="0">
                <a:latin typeface="Arial"/>
                <a:cs typeface="Arial"/>
              </a:rPr>
              <a:t>V</a:t>
            </a:r>
            <a:r>
              <a:rPr sz="1100" i="1" spc="-13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100" spc="-20" dirty="0">
                <a:latin typeface="Cambria"/>
                <a:cs typeface="Cambria"/>
              </a:rPr>
              <a:t>⟨</a:t>
            </a:r>
            <a:r>
              <a:rPr sz="1100" i="1" spc="-20" dirty="0">
                <a:latin typeface="Bookman Old Style"/>
                <a:cs typeface="Bookman Old Style"/>
              </a:rPr>
              <a:t>.,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.</a:t>
            </a:r>
            <a:r>
              <a:rPr sz="1100" dirty="0">
                <a:latin typeface="Cambria"/>
                <a:cs typeface="Cambria"/>
              </a:rPr>
              <a:t>⟩</a:t>
            </a:r>
            <a:r>
              <a:rPr sz="1100" dirty="0">
                <a:latin typeface="Tahoma"/>
                <a:cs typeface="Tahoma"/>
              </a:rPr>
              <a:t>).</a:t>
            </a:r>
            <a:r>
              <a:rPr sz="1100" spc="9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Define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spc="-65" dirty="0">
                <a:latin typeface="Arial"/>
                <a:cs typeface="Arial"/>
              </a:rPr>
              <a:t>d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-19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050" spc="65" dirty="0">
                <a:latin typeface="Arial"/>
                <a:cs typeface="Arial"/>
              </a:rPr>
              <a:t>y</a:t>
            </a:r>
            <a:r>
              <a:rPr sz="1100" spc="65" dirty="0">
                <a:latin typeface="Tahoma"/>
                <a:cs typeface="Tahoma"/>
              </a:rPr>
              <a:t>)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4395" y="1282178"/>
            <a:ext cx="25755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distance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14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y</a:t>
            </a:r>
            <a:r>
              <a:rPr sz="1050" spc="16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to </a:t>
            </a:r>
            <a:r>
              <a:rPr sz="1100" spc="-25" dirty="0">
                <a:latin typeface="Tahoma"/>
                <a:cs typeface="Tahoma"/>
              </a:rPr>
              <a:t>be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8976" y="1500720"/>
            <a:ext cx="34925" cy="1397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4804" y="1500720"/>
            <a:ext cx="34925" cy="1397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00050" y="1452450"/>
            <a:ext cx="3648393" cy="157402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27329">
              <a:lnSpc>
                <a:spcPct val="100000"/>
              </a:lnSpc>
              <a:spcBef>
                <a:spcPts val="434"/>
              </a:spcBef>
              <a:tabLst>
                <a:tab pos="1631950" algn="l"/>
              </a:tabLst>
            </a:pPr>
            <a:r>
              <a:rPr sz="1100" i="1" spc="-65" dirty="0">
                <a:latin typeface="Arial"/>
                <a:cs typeface="Arial"/>
              </a:rPr>
              <a:t>d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-185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45" dirty="0">
                <a:latin typeface="Bookman Old Style"/>
                <a:cs typeface="Bookman Old Style"/>
              </a:rPr>
              <a:t> </a:t>
            </a:r>
            <a:r>
              <a:rPr sz="1050" spc="65" dirty="0">
                <a:latin typeface="Arial"/>
                <a:cs typeface="Arial"/>
              </a:rPr>
              <a:t>y</a:t>
            </a:r>
            <a:r>
              <a:rPr sz="1100" spc="65" dirty="0">
                <a:latin typeface="Tahoma"/>
                <a:cs typeface="Tahoma"/>
              </a:rPr>
              <a:t>)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95" dirty="0">
                <a:latin typeface="Tahoma"/>
                <a:cs typeface="Tahoma"/>
              </a:rPr>
              <a:t>  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60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10" dirty="0">
                <a:latin typeface="Cambria"/>
                <a:cs typeface="Cambria"/>
              </a:rPr>
              <a:t> </a:t>
            </a:r>
            <a:r>
              <a:rPr sz="1050" dirty="0">
                <a:latin typeface="Arial"/>
                <a:cs typeface="Arial"/>
              </a:rPr>
              <a:t>y</a:t>
            </a:r>
            <a:endParaRPr sz="1100" dirty="0">
              <a:latin typeface="Tahoma"/>
              <a:cs typeface="Tahoma"/>
            </a:endParaRPr>
          </a:p>
          <a:p>
            <a:pPr marL="227329" marR="431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27329" algn="l"/>
              </a:tabLst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dot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product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inner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product,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35" dirty="0">
                <a:latin typeface="Tahoma"/>
                <a:cs typeface="Tahoma"/>
              </a:rPr>
              <a:t>distance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called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Euclidean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distance.</a:t>
            </a:r>
            <a:endParaRPr sz="1100" dirty="0">
              <a:latin typeface="Tahoma"/>
              <a:cs typeface="Tahoma"/>
            </a:endParaRPr>
          </a:p>
          <a:p>
            <a:pPr marL="227965" indent="-17716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Lucida Sans Unicode"/>
              <a:buChar char="►"/>
              <a:tabLst>
                <a:tab pos="227965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mapping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d</a:t>
            </a:r>
            <a:r>
              <a:rPr sz="1100" i="1" spc="65" dirty="0">
                <a:latin typeface="Arial"/>
                <a:cs typeface="Arial"/>
              </a:rPr>
              <a:t> </a:t>
            </a:r>
            <a:r>
              <a:rPr sz="1100" spc="-90" dirty="0">
                <a:latin typeface="Tahoma"/>
                <a:cs typeface="Tahoma"/>
              </a:rPr>
              <a:t>: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×</a:t>
            </a:r>
            <a:r>
              <a:rPr sz="1100" spc="-20" dirty="0">
                <a:latin typeface="Cambria"/>
                <a:cs typeface="Cambri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125" dirty="0">
                <a:latin typeface="Arial"/>
                <a:cs typeface="Arial"/>
              </a:rPr>
              <a:t> </a:t>
            </a:r>
            <a:r>
              <a:rPr sz="1100" spc="155" dirty="0">
                <a:latin typeface="Cambria"/>
                <a:cs typeface="Cambria"/>
              </a:rPr>
              <a:t>→</a:t>
            </a:r>
            <a:r>
              <a:rPr sz="1100" spc="35" dirty="0">
                <a:latin typeface="Cambria"/>
                <a:cs typeface="Cambria"/>
              </a:rPr>
              <a:t> </a:t>
            </a:r>
            <a:r>
              <a:rPr sz="1100" dirty="0">
                <a:latin typeface="Century"/>
                <a:cs typeface="Century"/>
              </a:rPr>
              <a:t>R</a:t>
            </a:r>
            <a:r>
              <a:rPr sz="1100" spc="20" dirty="0">
                <a:latin typeface="Century"/>
                <a:cs typeface="Century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called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0" dirty="0">
                <a:latin typeface="Tahoma"/>
                <a:cs typeface="Tahoma"/>
              </a:rPr>
              <a:t> metric.</a:t>
            </a:r>
            <a:endParaRPr lang="en-US" sz="1100" spc="-10" dirty="0">
              <a:latin typeface="Tahoma"/>
              <a:cs typeface="Tahoma"/>
            </a:endParaRPr>
          </a:p>
          <a:p>
            <a:pPr marL="227965" indent="-17716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Lucida Sans Unicode"/>
              <a:buChar char="►"/>
              <a:tabLst>
                <a:tab pos="227965" algn="l"/>
              </a:tabLst>
            </a:pPr>
            <a:endParaRPr lang="en-US" sz="1100" spc="-10" dirty="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tabLst>
                <a:tab pos="227965" algn="l"/>
              </a:tabLst>
            </a:pPr>
            <a:r>
              <a:rPr lang="en-US" sz="1100" spc="-10" dirty="0">
                <a:latin typeface="Tahoma"/>
                <a:cs typeface="Tahoma"/>
              </a:rPr>
              <a:t>P</a:t>
            </a:r>
            <a:r>
              <a:rPr lang="en-IN" sz="1100" spc="-10" dirty="0" err="1">
                <a:latin typeface="Tahoma"/>
                <a:cs typeface="Tahoma"/>
              </a:rPr>
              <a:t>roblem</a:t>
            </a:r>
            <a:r>
              <a:rPr lang="en-IN" sz="1100" spc="-10" dirty="0">
                <a:latin typeface="Tahoma"/>
                <a:cs typeface="Tahoma"/>
              </a:rPr>
              <a:t>: With respect the inner product &lt; &gt; defined using a matrix A in slide no 17, find the norm on R</a:t>
            </a:r>
            <a:r>
              <a:rPr lang="en-IN" sz="1100" spc="-10" baseline="30000" dirty="0">
                <a:latin typeface="Tahoma"/>
                <a:cs typeface="Tahoma"/>
              </a:rPr>
              <a:t>n</a:t>
            </a:r>
            <a:r>
              <a:rPr lang="en-IN" sz="1100" spc="-10" dirty="0">
                <a:latin typeface="Tahoma"/>
                <a:cs typeface="Tahoma"/>
              </a:rPr>
              <a:t> and also the distance between any two vectors in R</a:t>
            </a:r>
            <a:r>
              <a:rPr lang="en-IN" sz="1100" spc="-10" baseline="30000" dirty="0">
                <a:latin typeface="Tahoma"/>
                <a:cs typeface="Tahoma"/>
              </a:rPr>
              <a:t>n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289433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Prop</a:t>
            </a:r>
            <a:r>
              <a:rPr lang="en-US" dirty="0"/>
              <a:t>erties </a:t>
            </a:r>
            <a:r>
              <a:rPr dirty="0"/>
              <a:t>of</a:t>
            </a:r>
            <a:r>
              <a:rPr spc="120" dirty="0"/>
              <a:t> </a:t>
            </a:r>
            <a:r>
              <a:rPr dirty="0"/>
              <a:t>a</a:t>
            </a:r>
            <a:r>
              <a:rPr spc="120" dirty="0"/>
              <a:t> </a:t>
            </a:r>
            <a:r>
              <a:rPr dirty="0"/>
              <a:t>metric</a:t>
            </a:r>
            <a:r>
              <a:rPr spc="120" dirty="0"/>
              <a:t> </a:t>
            </a:r>
            <a:r>
              <a:rPr spc="-10" dirty="0"/>
              <a:t>space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6494" y="684210"/>
            <a:ext cx="3989704" cy="210820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34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metric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d</a:t>
            </a:r>
            <a:r>
              <a:rPr sz="1100" i="1" spc="100" dirty="0">
                <a:latin typeface="Arial"/>
                <a:cs typeface="Arial"/>
              </a:rPr>
              <a:t> </a:t>
            </a:r>
            <a:r>
              <a:rPr sz="1100" spc="-45" dirty="0">
                <a:latin typeface="Tahoma"/>
                <a:cs typeface="Tahoma"/>
              </a:rPr>
              <a:t>has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following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properties:</a:t>
            </a:r>
            <a:endParaRPr sz="1100">
              <a:latin typeface="Tahoma"/>
              <a:cs typeface="Tahoma"/>
            </a:endParaRPr>
          </a:p>
          <a:p>
            <a:pPr marL="340360" indent="-17716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Lucida Sans Unicode"/>
              <a:buChar char="►"/>
              <a:tabLst>
                <a:tab pos="340360" algn="l"/>
              </a:tabLst>
            </a:pPr>
            <a:r>
              <a:rPr sz="1100" i="1" dirty="0">
                <a:latin typeface="Arial"/>
                <a:cs typeface="Arial"/>
              </a:rPr>
              <a:t>d</a:t>
            </a:r>
            <a:r>
              <a:rPr sz="1100" i="1" spc="1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positive-</a:t>
            </a:r>
            <a:r>
              <a:rPr sz="1100" spc="-30" dirty="0">
                <a:latin typeface="Tahoma"/>
                <a:cs typeface="Tahoma"/>
              </a:rPr>
              <a:t>definite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means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i="1" spc="-65" dirty="0">
                <a:latin typeface="Arial"/>
                <a:cs typeface="Arial"/>
              </a:rPr>
              <a:t>d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-19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050" spc="65" dirty="0">
                <a:latin typeface="Arial"/>
                <a:cs typeface="Arial"/>
              </a:rPr>
              <a:t>y</a:t>
            </a:r>
            <a:r>
              <a:rPr sz="1100" spc="65" dirty="0">
                <a:latin typeface="Tahoma"/>
                <a:cs typeface="Tahoma"/>
              </a:rPr>
              <a:t>)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229" dirty="0">
                <a:latin typeface="Cambria"/>
                <a:cs typeface="Cambria"/>
              </a:rPr>
              <a:t>≥</a:t>
            </a:r>
            <a:r>
              <a:rPr sz="1100" spc="50" dirty="0">
                <a:latin typeface="Cambria"/>
                <a:cs typeface="Cambria"/>
              </a:rPr>
              <a:t> </a:t>
            </a:r>
            <a:r>
              <a:rPr sz="1100" dirty="0">
                <a:latin typeface="Tahoma"/>
                <a:cs typeface="Tahoma"/>
              </a:rPr>
              <a:t>0</a:t>
            </a:r>
            <a:r>
              <a:rPr sz="1100" spc="245" dirty="0">
                <a:latin typeface="Tahoma"/>
                <a:cs typeface="Tahoma"/>
              </a:rPr>
              <a:t> </a:t>
            </a:r>
            <a:r>
              <a:rPr sz="1100" spc="-40" dirty="0">
                <a:latin typeface="Cambria"/>
                <a:cs typeface="Cambria"/>
              </a:rPr>
              <a:t>∀</a:t>
            </a:r>
            <a:r>
              <a:rPr sz="1050" spc="-40" dirty="0">
                <a:latin typeface="Arial"/>
                <a:cs typeface="Arial"/>
              </a:rPr>
              <a:t>x</a:t>
            </a:r>
            <a:r>
              <a:rPr sz="1050" spc="-19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050" dirty="0">
                <a:latin typeface="Arial"/>
                <a:cs typeface="Arial"/>
              </a:rPr>
              <a:t>y</a:t>
            </a:r>
            <a:r>
              <a:rPr sz="1050" spc="120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∈</a:t>
            </a:r>
            <a:r>
              <a:rPr sz="1100" spc="50" dirty="0">
                <a:latin typeface="Cambria"/>
                <a:cs typeface="Cambria"/>
              </a:rPr>
              <a:t> </a:t>
            </a:r>
            <a:r>
              <a:rPr sz="1100" i="1" spc="-20" dirty="0">
                <a:latin typeface="Arial"/>
                <a:cs typeface="Arial"/>
              </a:rPr>
              <a:t>V</a:t>
            </a:r>
            <a:r>
              <a:rPr sz="1100" i="1" spc="-13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340360">
              <a:lnSpc>
                <a:spcPct val="100000"/>
              </a:lnSpc>
              <a:spcBef>
                <a:spcPts val="35"/>
              </a:spcBef>
            </a:pPr>
            <a:r>
              <a:rPr sz="1100" i="1" spc="-65" dirty="0">
                <a:latin typeface="Arial"/>
                <a:cs typeface="Arial"/>
              </a:rPr>
              <a:t>d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-19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45" dirty="0">
                <a:latin typeface="Bookman Old Style"/>
                <a:cs typeface="Bookman Old Style"/>
              </a:rPr>
              <a:t> </a:t>
            </a:r>
            <a:r>
              <a:rPr sz="1050" spc="65" dirty="0">
                <a:latin typeface="Arial"/>
                <a:cs typeface="Arial"/>
              </a:rPr>
              <a:t>y</a:t>
            </a:r>
            <a:r>
              <a:rPr sz="1100" spc="65" dirty="0">
                <a:latin typeface="Tahoma"/>
                <a:cs typeface="Tahoma"/>
              </a:rPr>
              <a:t>)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0</a:t>
            </a:r>
            <a:r>
              <a:rPr sz="1100" spc="2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dirty="0">
                <a:latin typeface="Cambria"/>
                <a:cs typeface="Cambria"/>
              </a:rPr>
              <a:t>⇒</a:t>
            </a:r>
            <a:r>
              <a:rPr sz="1100" spc="365" dirty="0">
                <a:latin typeface="Cambria"/>
                <a:cs typeface="Cambria"/>
              </a:rPr>
              <a:t> 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114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050" spc="-25" dirty="0">
                <a:latin typeface="Arial"/>
                <a:cs typeface="Arial"/>
              </a:rPr>
              <a:t>y</a:t>
            </a:r>
            <a:r>
              <a:rPr sz="1100" spc="-25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340360" indent="-17716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Lucida Sans Unicode"/>
              <a:buChar char="►"/>
              <a:tabLst>
                <a:tab pos="340360" algn="l"/>
              </a:tabLst>
            </a:pPr>
            <a:r>
              <a:rPr sz="1100" i="1" dirty="0">
                <a:latin typeface="Arial"/>
                <a:cs typeface="Arial"/>
              </a:rPr>
              <a:t>d</a:t>
            </a:r>
            <a:r>
              <a:rPr sz="1100" i="1" spc="1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symmetric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means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i="1" spc="-65" dirty="0">
                <a:latin typeface="Arial"/>
                <a:cs typeface="Arial"/>
              </a:rPr>
              <a:t>d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-19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050" spc="65" dirty="0">
                <a:latin typeface="Arial"/>
                <a:cs typeface="Arial"/>
              </a:rPr>
              <a:t>y</a:t>
            </a:r>
            <a:r>
              <a:rPr sz="1100" spc="65" dirty="0">
                <a:latin typeface="Tahoma"/>
                <a:cs typeface="Tahoma"/>
              </a:rPr>
              <a:t>)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spc="-65" dirty="0">
                <a:latin typeface="Arial"/>
                <a:cs typeface="Arial"/>
              </a:rPr>
              <a:t>d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"/>
                <a:cs typeface="Arial"/>
              </a:rPr>
              <a:t>y</a:t>
            </a:r>
            <a:r>
              <a:rPr sz="1050" spc="-17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050" spc="55" dirty="0">
                <a:latin typeface="Arial"/>
                <a:cs typeface="Arial"/>
              </a:rPr>
              <a:t>x</a:t>
            </a:r>
            <a:r>
              <a:rPr sz="1100" spc="55" dirty="0">
                <a:latin typeface="Tahoma"/>
                <a:cs typeface="Tahoma"/>
              </a:rPr>
              <a:t>)</a:t>
            </a:r>
            <a:r>
              <a:rPr sz="1100" spc="254" dirty="0">
                <a:latin typeface="Tahoma"/>
                <a:cs typeface="Tahoma"/>
              </a:rPr>
              <a:t> </a:t>
            </a:r>
            <a:r>
              <a:rPr sz="1100" spc="-40" dirty="0">
                <a:latin typeface="Cambria"/>
                <a:cs typeface="Cambria"/>
              </a:rPr>
              <a:t>∀</a:t>
            </a:r>
            <a:r>
              <a:rPr sz="1050" spc="-40" dirty="0">
                <a:latin typeface="Arial"/>
                <a:cs typeface="Arial"/>
              </a:rPr>
              <a:t>x</a:t>
            </a:r>
            <a:r>
              <a:rPr sz="1050" spc="-19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050" dirty="0">
                <a:latin typeface="Arial"/>
                <a:cs typeface="Arial"/>
              </a:rPr>
              <a:t>y</a:t>
            </a:r>
            <a:r>
              <a:rPr sz="1050" spc="120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∈</a:t>
            </a:r>
            <a:r>
              <a:rPr sz="1100" spc="55" dirty="0">
                <a:latin typeface="Cambria"/>
                <a:cs typeface="Cambria"/>
              </a:rPr>
              <a:t> </a:t>
            </a:r>
            <a:r>
              <a:rPr sz="1100" i="1" spc="-20" dirty="0">
                <a:latin typeface="Arial"/>
                <a:cs typeface="Arial"/>
              </a:rPr>
              <a:t>V</a:t>
            </a:r>
            <a:r>
              <a:rPr sz="1100" i="1" spc="-13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340360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/>
              <a:buChar char="►"/>
              <a:tabLst>
                <a:tab pos="340360" algn="l"/>
              </a:tabLst>
            </a:pPr>
            <a:r>
              <a:rPr sz="1100" i="1" dirty="0">
                <a:latin typeface="Arial"/>
                <a:cs typeface="Arial"/>
              </a:rPr>
              <a:t>d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100" spc="-55" dirty="0">
                <a:latin typeface="Tahoma"/>
                <a:cs typeface="Tahoma"/>
              </a:rPr>
              <a:t>obeys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triangle</a:t>
            </a:r>
            <a:r>
              <a:rPr sz="1100" spc="-30" dirty="0">
                <a:latin typeface="Tahoma"/>
                <a:cs typeface="Tahoma"/>
              </a:rPr>
              <a:t> inequality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follows:</a:t>
            </a:r>
            <a:endParaRPr sz="1100">
              <a:latin typeface="Tahoma"/>
              <a:cs typeface="Tahoma"/>
            </a:endParaRPr>
          </a:p>
          <a:p>
            <a:pPr marL="340360">
              <a:lnSpc>
                <a:spcPct val="100000"/>
              </a:lnSpc>
              <a:spcBef>
                <a:spcPts val="35"/>
              </a:spcBef>
            </a:pPr>
            <a:r>
              <a:rPr sz="1100" i="1" spc="-65" dirty="0">
                <a:latin typeface="Arial"/>
                <a:cs typeface="Arial"/>
              </a:rPr>
              <a:t>d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-18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35" dirty="0">
                <a:latin typeface="Bookman Old Style"/>
                <a:cs typeface="Bookman Old Style"/>
              </a:rPr>
              <a:t> </a:t>
            </a:r>
            <a:r>
              <a:rPr sz="1050" dirty="0">
                <a:latin typeface="Arial"/>
                <a:cs typeface="Arial"/>
              </a:rPr>
              <a:t>z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229" dirty="0">
                <a:latin typeface="Cambria"/>
                <a:cs typeface="Cambria"/>
              </a:rPr>
              <a:t>≤</a:t>
            </a:r>
            <a:r>
              <a:rPr sz="1100" spc="85" dirty="0">
                <a:latin typeface="Cambria"/>
                <a:cs typeface="Cambria"/>
              </a:rPr>
              <a:t> </a:t>
            </a:r>
            <a:r>
              <a:rPr sz="1100" i="1" spc="-65" dirty="0">
                <a:latin typeface="Arial"/>
                <a:cs typeface="Arial"/>
              </a:rPr>
              <a:t>d</a:t>
            </a:r>
            <a:r>
              <a:rPr sz="1100" i="1" spc="-19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-18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35" dirty="0">
                <a:latin typeface="Bookman Old Style"/>
                <a:cs typeface="Bookman Old Style"/>
              </a:rPr>
              <a:t> </a:t>
            </a:r>
            <a:r>
              <a:rPr sz="1050" spc="65" dirty="0">
                <a:latin typeface="Arial"/>
                <a:cs typeface="Arial"/>
              </a:rPr>
              <a:t>y</a:t>
            </a:r>
            <a:r>
              <a:rPr sz="1100" spc="65" dirty="0">
                <a:latin typeface="Tahoma"/>
                <a:cs typeface="Tahoma"/>
              </a:rPr>
              <a:t>)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i="1" spc="-65" dirty="0">
                <a:latin typeface="Arial"/>
                <a:cs typeface="Arial"/>
              </a:rPr>
              <a:t>d</a:t>
            </a:r>
            <a:r>
              <a:rPr sz="1100" i="1" spc="-19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"/>
                <a:cs typeface="Arial"/>
              </a:rPr>
              <a:t>y</a:t>
            </a:r>
            <a:r>
              <a:rPr sz="1050" spc="-16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35" dirty="0">
                <a:latin typeface="Bookman Old Style"/>
                <a:cs typeface="Bookman Old Style"/>
              </a:rPr>
              <a:t> </a:t>
            </a:r>
            <a:r>
              <a:rPr sz="1050" dirty="0">
                <a:latin typeface="Arial"/>
                <a:cs typeface="Arial"/>
              </a:rPr>
              <a:t>z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325" dirty="0">
                <a:latin typeface="Tahoma"/>
                <a:cs typeface="Tahoma"/>
              </a:rPr>
              <a:t> </a:t>
            </a:r>
            <a:r>
              <a:rPr sz="1100" spc="-40" dirty="0">
                <a:latin typeface="Cambria"/>
                <a:cs typeface="Cambria"/>
              </a:rPr>
              <a:t>∀</a:t>
            </a:r>
            <a:r>
              <a:rPr sz="1050" spc="-40" dirty="0">
                <a:latin typeface="Arial"/>
                <a:cs typeface="Arial"/>
              </a:rPr>
              <a:t>x</a:t>
            </a:r>
            <a:r>
              <a:rPr sz="1050" spc="-185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30" dirty="0">
                <a:latin typeface="Bookman Old Style"/>
                <a:cs typeface="Bookman Old Style"/>
              </a:rPr>
              <a:t> </a:t>
            </a:r>
            <a:r>
              <a:rPr sz="1050" dirty="0">
                <a:latin typeface="Arial"/>
                <a:cs typeface="Arial"/>
              </a:rPr>
              <a:t>y</a:t>
            </a:r>
            <a:r>
              <a:rPr sz="1050" spc="-16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35" dirty="0">
                <a:latin typeface="Bookman Old Style"/>
                <a:cs typeface="Bookman Old Style"/>
              </a:rPr>
              <a:t> </a:t>
            </a:r>
            <a:r>
              <a:rPr sz="1050" dirty="0">
                <a:latin typeface="Arial"/>
                <a:cs typeface="Arial"/>
              </a:rPr>
              <a:t>z</a:t>
            </a:r>
            <a:r>
              <a:rPr sz="1050" spc="145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∈</a:t>
            </a:r>
            <a:r>
              <a:rPr sz="1100" spc="90" dirty="0">
                <a:latin typeface="Cambria"/>
                <a:cs typeface="Cambria"/>
              </a:rPr>
              <a:t> </a:t>
            </a:r>
            <a:r>
              <a:rPr sz="1100" i="1" spc="-50" dirty="0">
                <a:latin typeface="Arial"/>
                <a:cs typeface="Arial"/>
              </a:rPr>
              <a:t>V</a:t>
            </a:r>
            <a:endParaRPr sz="1100">
              <a:latin typeface="Arial"/>
              <a:cs typeface="Arial"/>
            </a:endParaRPr>
          </a:p>
          <a:p>
            <a:pPr marL="63500" marR="30480">
              <a:lnSpc>
                <a:spcPct val="102600"/>
              </a:lnSpc>
              <a:spcBef>
                <a:spcPts val="300"/>
              </a:spcBef>
            </a:pPr>
            <a:r>
              <a:rPr sz="1100" spc="-70" dirty="0">
                <a:latin typeface="Tahoma"/>
                <a:cs typeface="Tahoma"/>
              </a:rPr>
              <a:t>Inner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products</a:t>
            </a:r>
            <a:r>
              <a:rPr sz="1100" spc="-45" dirty="0">
                <a:latin typeface="Tahoma"/>
                <a:cs typeface="Tahoma"/>
              </a:rPr>
              <a:t> and </a:t>
            </a:r>
            <a:r>
              <a:rPr sz="1100" spc="-30" dirty="0">
                <a:latin typeface="Tahoma"/>
                <a:cs typeface="Tahoma"/>
              </a:rPr>
              <a:t>metrics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85" dirty="0">
                <a:latin typeface="Tahoma"/>
                <a:cs typeface="Tahoma"/>
              </a:rPr>
              <a:t>seem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be </a:t>
            </a:r>
            <a:r>
              <a:rPr sz="1100" spc="-55" dirty="0">
                <a:latin typeface="Tahoma"/>
                <a:cs typeface="Tahoma"/>
              </a:rPr>
              <a:t>very</a:t>
            </a:r>
            <a:r>
              <a:rPr sz="1100" spc="-30" dirty="0">
                <a:latin typeface="Tahoma"/>
                <a:cs typeface="Tahoma"/>
              </a:rPr>
              <a:t> similar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terms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their </a:t>
            </a:r>
            <a:r>
              <a:rPr sz="1100" spc="-45" dirty="0">
                <a:latin typeface="Tahoma"/>
                <a:cs typeface="Tahoma"/>
              </a:rPr>
              <a:t>properties </a:t>
            </a:r>
            <a:r>
              <a:rPr sz="1100" dirty="0">
                <a:latin typeface="Tahoma"/>
                <a:cs typeface="Tahoma"/>
              </a:rPr>
              <a:t>-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80" dirty="0">
                <a:latin typeface="Tahoma"/>
                <a:cs typeface="Tahoma"/>
              </a:rPr>
              <a:t>however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one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important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difference.</a:t>
            </a:r>
            <a:r>
              <a:rPr sz="1100" spc="10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When 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114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and </a:t>
            </a:r>
            <a:r>
              <a:rPr sz="1050" dirty="0">
                <a:latin typeface="Arial"/>
                <a:cs typeface="Arial"/>
              </a:rPr>
              <a:t>y</a:t>
            </a:r>
            <a:r>
              <a:rPr sz="1050" spc="114" dirty="0">
                <a:latin typeface="Arial"/>
                <a:cs typeface="Arial"/>
              </a:rPr>
              <a:t> </a:t>
            </a:r>
            <a:r>
              <a:rPr sz="1100" spc="-75" dirty="0">
                <a:latin typeface="Tahoma"/>
                <a:cs typeface="Tahoma"/>
              </a:rPr>
              <a:t>are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close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each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other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inner</a:t>
            </a:r>
            <a:r>
              <a:rPr sz="1100" spc="-30" dirty="0">
                <a:latin typeface="Tahoma"/>
                <a:cs typeface="Tahoma"/>
              </a:rPr>
              <a:t> product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large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but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distance </a:t>
            </a:r>
            <a:r>
              <a:rPr sz="1100" spc="-20" dirty="0">
                <a:latin typeface="Tahoma"/>
                <a:cs typeface="Tahoma"/>
              </a:rPr>
              <a:t>metric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small.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other </a:t>
            </a:r>
            <a:r>
              <a:rPr sz="1100" spc="-45" dirty="0">
                <a:latin typeface="Tahoma"/>
                <a:cs typeface="Tahoma"/>
              </a:rPr>
              <a:t>hand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when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10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y</a:t>
            </a:r>
            <a:r>
              <a:rPr sz="1050" spc="125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far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apart, </a:t>
            </a:r>
            <a:r>
              <a:rPr sz="1100" spc="-25" dirty="0">
                <a:latin typeface="Tahoma"/>
                <a:cs typeface="Tahoma"/>
              </a:rPr>
              <a:t>then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inner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product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small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but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distance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metric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large.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Angles</a:t>
            </a:r>
            <a:r>
              <a:rPr spc="145" dirty="0"/>
              <a:t> </a:t>
            </a:r>
            <a:r>
              <a:rPr dirty="0"/>
              <a:t>and</a:t>
            </a:r>
            <a:r>
              <a:rPr spc="145" dirty="0"/>
              <a:t> </a:t>
            </a:r>
            <a:r>
              <a:rPr spc="-10" dirty="0"/>
              <a:t>orthogonality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733626"/>
            <a:ext cx="3863975" cy="147256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048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65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addition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being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able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capture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lengths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spc="-25" dirty="0">
                <a:latin typeface="Tahoma"/>
                <a:cs typeface="Tahoma"/>
              </a:rPr>
              <a:t> and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distance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vectors,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inner</a:t>
            </a:r>
            <a:r>
              <a:rPr sz="1100" spc="-35" dirty="0">
                <a:latin typeface="Tahoma"/>
                <a:cs typeface="Tahoma"/>
              </a:rPr>
              <a:t> products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also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capture the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b="1" spc="-35" dirty="0">
                <a:latin typeface="Arial"/>
                <a:cs typeface="Arial"/>
              </a:rPr>
              <a:t>angle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ω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vectors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thus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capture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45" dirty="0">
                <a:latin typeface="Tahoma"/>
                <a:cs typeface="Tahoma"/>
              </a:rPr>
              <a:t>geometry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space.</a:t>
            </a:r>
            <a:endParaRPr sz="1100">
              <a:latin typeface="Tahoma"/>
              <a:cs typeface="Tahoma"/>
            </a:endParaRPr>
          </a:p>
          <a:p>
            <a:pPr marL="214629" marR="14351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key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using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inner product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characterize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angle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Cauchy-</a:t>
            </a:r>
            <a:r>
              <a:rPr sz="1100" spc="-35" dirty="0">
                <a:latin typeface="Tahoma"/>
                <a:cs typeface="Tahoma"/>
              </a:rPr>
              <a:t>Schwarz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inequality.</a:t>
            </a:r>
            <a:endParaRPr sz="1100">
              <a:latin typeface="Tahoma"/>
              <a:cs typeface="Tahoma"/>
            </a:endParaRPr>
          </a:p>
          <a:p>
            <a:pPr marL="214629" marR="56769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40" dirty="0">
                <a:latin typeface="Tahoma"/>
                <a:cs typeface="Tahoma"/>
              </a:rPr>
              <a:t>Assume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10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y</a:t>
            </a:r>
            <a:r>
              <a:rPr sz="1050" spc="120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b="1" dirty="0">
                <a:latin typeface="Arial"/>
                <a:cs typeface="Arial"/>
              </a:rPr>
              <a:t>0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vector.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40" dirty="0">
                <a:latin typeface="Tahoma"/>
                <a:cs typeface="Tahoma"/>
              </a:rPr>
              <a:t>Cauchy-</a:t>
            </a:r>
            <a:r>
              <a:rPr sz="1100" spc="-35" dirty="0">
                <a:latin typeface="Tahoma"/>
                <a:cs typeface="Tahoma"/>
              </a:rPr>
              <a:t>Schwarz</a:t>
            </a:r>
            <a:r>
              <a:rPr sz="1100" spc="-30" dirty="0">
                <a:latin typeface="Tahoma"/>
                <a:cs typeface="Tahoma"/>
              </a:rPr>
              <a:t> inequality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tells</a:t>
            </a:r>
            <a:r>
              <a:rPr sz="1100" spc="-30" dirty="0">
                <a:latin typeface="Tahoma"/>
                <a:cs typeface="Tahoma"/>
              </a:rPr>
              <a:t> us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that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84629" y="2407131"/>
            <a:ext cx="3486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85" dirty="0">
                <a:latin typeface="Cambria"/>
                <a:cs typeface="Cambria"/>
              </a:rPr>
              <a:t>−</a:t>
            </a:r>
            <a:r>
              <a:rPr sz="1100" spc="85" dirty="0">
                <a:latin typeface="Tahoma"/>
                <a:cs typeface="Tahoma"/>
              </a:rPr>
              <a:t>1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180" dirty="0">
                <a:latin typeface="Cambria"/>
                <a:cs typeface="Cambria"/>
              </a:rPr>
              <a:t>≤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28100" y="2316730"/>
            <a:ext cx="321310" cy="1879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1050" dirty="0">
                <a:latin typeface="Arial"/>
                <a:cs typeface="Arial"/>
              </a:rPr>
              <a:t>x</a:t>
            </a:r>
            <a:r>
              <a:rPr sz="1050" spc="-185" dirty="0">
                <a:latin typeface="Arial"/>
                <a:cs typeface="Arial"/>
              </a:rPr>
              <a:t> </a:t>
            </a:r>
            <a:r>
              <a:rPr sz="1200" i="1" spc="127" baseline="27777" dirty="0">
                <a:latin typeface="Arial"/>
                <a:cs typeface="Arial"/>
              </a:rPr>
              <a:t>T</a:t>
            </a:r>
            <a:r>
              <a:rPr sz="1200" i="1" spc="-89" baseline="27777" dirty="0">
                <a:latin typeface="Arial"/>
                <a:cs typeface="Arial"/>
              </a:rPr>
              <a:t> </a:t>
            </a:r>
            <a:r>
              <a:rPr sz="1050" spc="-50" dirty="0">
                <a:latin typeface="Arial"/>
                <a:cs typeface="Arial"/>
              </a:rPr>
              <a:t>y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271407" y="2520886"/>
            <a:ext cx="450215" cy="167640"/>
            <a:chOff x="2271407" y="2520886"/>
            <a:chExt cx="450215" cy="167640"/>
          </a:xfrm>
        </p:grpSpPr>
        <p:sp>
          <p:nvSpPr>
            <p:cNvPr id="7" name="object 7"/>
            <p:cNvSpPr/>
            <p:nvPr/>
          </p:nvSpPr>
          <p:spPr>
            <a:xfrm>
              <a:off x="2274265" y="2523744"/>
              <a:ext cx="444500" cy="0"/>
            </a:xfrm>
            <a:custGeom>
              <a:avLst/>
              <a:gdLst/>
              <a:ahLst/>
              <a:cxnLst/>
              <a:rect l="l" t="t" r="r" b="b"/>
              <a:pathLst>
                <a:path w="444500">
                  <a:moveTo>
                    <a:pt x="0" y="0"/>
                  </a:moveTo>
                  <a:lnTo>
                    <a:pt x="444309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90140" y="2548648"/>
              <a:ext cx="34925" cy="1397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0987" y="2548648"/>
              <a:ext cx="34925" cy="1397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41714" y="2548648"/>
              <a:ext cx="34925" cy="13970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2330843" y="2505503"/>
            <a:ext cx="315595" cy="1879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233045" algn="l"/>
              </a:tabLst>
            </a:pPr>
            <a:r>
              <a:rPr sz="1050" spc="-50" dirty="0">
                <a:latin typeface="Arial"/>
                <a:cs typeface="Arial"/>
              </a:rPr>
              <a:t>x</a:t>
            </a:r>
            <a:r>
              <a:rPr sz="1050" dirty="0">
                <a:latin typeface="Arial"/>
                <a:cs typeface="Arial"/>
              </a:rPr>
              <a:t>	</a:t>
            </a:r>
            <a:r>
              <a:rPr sz="1050" spc="-50" dirty="0">
                <a:latin typeface="Arial"/>
                <a:cs typeface="Arial"/>
              </a:rPr>
              <a:t>y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5183" y="2548648"/>
            <a:ext cx="34925" cy="13970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759544" y="2407131"/>
            <a:ext cx="15017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311275" algn="l"/>
              </a:tabLst>
            </a:pPr>
            <a:r>
              <a:rPr sz="1100" spc="229" dirty="0">
                <a:latin typeface="Cambria"/>
                <a:cs typeface="Cambria"/>
              </a:rPr>
              <a:t>≤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spc="-50" dirty="0">
                <a:latin typeface="Tahoma"/>
                <a:cs typeface="Tahoma"/>
              </a:rPr>
              <a:t>1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25" dirty="0">
                <a:latin typeface="Tahoma"/>
                <a:cs typeface="Tahoma"/>
              </a:rPr>
              <a:t>(1)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Angles</a:t>
            </a:r>
            <a:r>
              <a:rPr spc="145" dirty="0"/>
              <a:t> </a:t>
            </a:r>
            <a:r>
              <a:rPr dirty="0"/>
              <a:t>and</a:t>
            </a:r>
            <a:r>
              <a:rPr spc="145" dirty="0"/>
              <a:t> </a:t>
            </a:r>
            <a:r>
              <a:rPr spc="-10" dirty="0"/>
              <a:t>orthogonality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4657" y="748651"/>
            <a:ext cx="383921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01930" marR="1778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01930" algn="l"/>
              </a:tabLst>
            </a:pPr>
            <a:r>
              <a:rPr sz="1100" spc="-20" dirty="0">
                <a:latin typeface="Tahoma"/>
                <a:cs typeface="Tahoma"/>
              </a:rPr>
              <a:t>Since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Cauchy-</a:t>
            </a:r>
            <a:r>
              <a:rPr sz="1100" spc="-35" dirty="0">
                <a:latin typeface="Tahoma"/>
                <a:cs typeface="Tahoma"/>
              </a:rPr>
              <a:t>Schwarz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ratio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lies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-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spc="-35" dirty="0">
                <a:latin typeface="Tahoma"/>
                <a:cs typeface="Tahoma"/>
              </a:rPr>
              <a:t> 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can </a:t>
            </a:r>
            <a:r>
              <a:rPr sz="1100" spc="-45" dirty="0">
                <a:latin typeface="Tahoma"/>
                <a:cs typeface="Tahoma"/>
              </a:rPr>
              <a:t>set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equal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cosine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unique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angle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-114" dirty="0">
                <a:latin typeface="Bookman Old Style"/>
                <a:cs typeface="Bookman Old Style"/>
              </a:rPr>
              <a:t>ω</a:t>
            </a:r>
            <a:r>
              <a:rPr sz="1100" i="1" spc="1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Cambria"/>
                <a:cs typeface="Cambria"/>
              </a:rPr>
              <a:t>∈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spc="-75" dirty="0">
                <a:latin typeface="Tahoma"/>
                <a:cs typeface="Tahoma"/>
              </a:rPr>
              <a:t>[0</a:t>
            </a:r>
            <a:r>
              <a:rPr sz="1100" i="1" spc="-75" dirty="0">
                <a:latin typeface="Bookman Old Style"/>
                <a:cs typeface="Bookman Old Style"/>
              </a:rPr>
              <a:t>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100" i="1" spc="-50" dirty="0">
                <a:latin typeface="Bookman Old Style"/>
                <a:cs typeface="Bookman Old Style"/>
              </a:rPr>
              <a:t>π</a:t>
            </a:r>
            <a:r>
              <a:rPr sz="1100" spc="-50" dirty="0">
                <a:latin typeface="Tahoma"/>
                <a:cs typeface="Tahoma"/>
              </a:rPr>
              <a:t>]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such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that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0086" y="1446326"/>
            <a:ext cx="34925" cy="1397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671660" y="1446326"/>
            <a:ext cx="104775" cy="139700"/>
            <a:chOff x="2671660" y="1446326"/>
            <a:chExt cx="104775" cy="1397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40933" y="1446326"/>
              <a:ext cx="34925" cy="1397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1660" y="1446326"/>
              <a:ext cx="34925" cy="1397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560789" y="1403181"/>
            <a:ext cx="315595" cy="1879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233045" algn="l"/>
              </a:tabLst>
            </a:pPr>
            <a:r>
              <a:rPr sz="1050" spc="-50" dirty="0">
                <a:latin typeface="Arial"/>
                <a:cs typeface="Arial"/>
              </a:rPr>
              <a:t>x</a:t>
            </a:r>
            <a:r>
              <a:rPr sz="1050" dirty="0">
                <a:latin typeface="Arial"/>
                <a:cs typeface="Arial"/>
              </a:rPr>
              <a:t>	</a:t>
            </a:r>
            <a:r>
              <a:rPr sz="1050" spc="-50" dirty="0">
                <a:latin typeface="Arial"/>
                <a:cs typeface="Arial"/>
              </a:rPr>
              <a:t>y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5130" y="1446326"/>
            <a:ext cx="34925" cy="1397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908682" y="1211096"/>
            <a:ext cx="2352675" cy="285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94995">
              <a:lnSpc>
                <a:spcPts val="1030"/>
              </a:lnSpc>
              <a:spcBef>
                <a:spcPts val="90"/>
              </a:spcBef>
            </a:pPr>
            <a:r>
              <a:rPr sz="1100" u="sng" spc="17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⟨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x</a:t>
            </a:r>
            <a:r>
              <a:rPr sz="1050" u="sng" spc="-18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i="1" u="sng" spc="-35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,</a:t>
            </a:r>
            <a:r>
              <a:rPr sz="1100" i="1" u="sng" spc="-140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</a:t>
            </a:r>
            <a:r>
              <a:rPr sz="1050" u="sng" spc="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y</a:t>
            </a:r>
            <a:r>
              <a:rPr sz="1100" u="sng" spc="5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⟩</a:t>
            </a:r>
            <a:r>
              <a:rPr sz="1100" u="sng" spc="50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ts val="1030"/>
              </a:lnSpc>
              <a:tabLst>
                <a:tab pos="2162175" algn="l"/>
              </a:tabLst>
            </a:pPr>
            <a:r>
              <a:rPr sz="1100" spc="-40" dirty="0">
                <a:latin typeface="Tahoma"/>
                <a:cs typeface="Tahoma"/>
              </a:rPr>
              <a:t>cos(</a:t>
            </a:r>
            <a:r>
              <a:rPr sz="1100" i="1" spc="-40" dirty="0">
                <a:latin typeface="Bookman Old Style"/>
                <a:cs typeface="Bookman Old Style"/>
              </a:rPr>
              <a:t>ω</a:t>
            </a:r>
            <a:r>
              <a:rPr sz="1100" spc="-40" dirty="0">
                <a:latin typeface="Tahoma"/>
                <a:cs typeface="Tahoma"/>
              </a:rPr>
              <a:t>)</a:t>
            </a:r>
            <a:r>
              <a:rPr sz="1100" spc="-50" dirty="0">
                <a:latin typeface="Tahoma"/>
                <a:cs typeface="Tahoma"/>
              </a:rPr>
              <a:t> =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25" dirty="0">
                <a:latin typeface="Tahoma"/>
                <a:cs typeface="Tahoma"/>
              </a:rPr>
              <a:t>(2)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1957" y="1682532"/>
            <a:ext cx="3827779" cy="10902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111125" indent="-177165">
              <a:lnSpc>
                <a:spcPct val="102699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angle </a:t>
            </a:r>
            <a:r>
              <a:rPr sz="1100" i="1" dirty="0">
                <a:latin typeface="Bookman Old Style"/>
                <a:cs typeface="Bookman Old Style"/>
              </a:rPr>
              <a:t>ω</a:t>
            </a:r>
            <a:r>
              <a:rPr sz="1100" i="1" spc="1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angle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 </a:t>
            </a:r>
            <a:r>
              <a:rPr sz="1100" spc="-35" dirty="0">
                <a:latin typeface="Tahoma"/>
                <a:cs typeface="Tahoma"/>
              </a:rPr>
              <a:t>vectors.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does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it </a:t>
            </a:r>
            <a:r>
              <a:rPr sz="1100" spc="-10" dirty="0">
                <a:latin typeface="Tahoma"/>
                <a:cs typeface="Tahoma"/>
              </a:rPr>
              <a:t>capture?</a:t>
            </a:r>
            <a:endParaRPr sz="1100">
              <a:latin typeface="Tahoma"/>
              <a:cs typeface="Tahoma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notion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angle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captures </a:t>
            </a:r>
            <a:r>
              <a:rPr sz="1100" spc="-25" dirty="0">
                <a:latin typeface="Tahoma"/>
                <a:cs typeface="Tahoma"/>
              </a:rPr>
              <a:t>similarity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orientation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between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vectors.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When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dot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product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close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zero,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more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 </a:t>
            </a:r>
            <a:r>
              <a:rPr sz="1100" spc="-50" dirty="0">
                <a:latin typeface="Tahoma"/>
                <a:cs typeface="Tahoma"/>
              </a:rPr>
              <a:t>less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pointing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orthogonal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directions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and </a:t>
            </a:r>
            <a:r>
              <a:rPr sz="1100" i="1" spc="-114" dirty="0">
                <a:latin typeface="Bookman Old Style"/>
                <a:cs typeface="Bookman Old Style"/>
              </a:rPr>
              <a:t>ω</a:t>
            </a:r>
            <a:r>
              <a:rPr sz="1100" i="1" spc="10" dirty="0">
                <a:latin typeface="Bookman Old Style"/>
                <a:cs typeface="Bookman Old Style"/>
              </a:rPr>
              <a:t> </a:t>
            </a:r>
            <a:r>
              <a:rPr sz="1100" spc="229" dirty="0">
                <a:latin typeface="Cambria"/>
                <a:cs typeface="Cambria"/>
              </a:rPr>
              <a:t>≈</a:t>
            </a:r>
            <a:r>
              <a:rPr sz="1100" spc="65" dirty="0">
                <a:latin typeface="Cambria"/>
                <a:cs typeface="Cambria"/>
              </a:rPr>
              <a:t> </a:t>
            </a:r>
            <a:r>
              <a:rPr sz="1100" i="1" spc="-20" dirty="0">
                <a:latin typeface="Bookman Old Style"/>
                <a:cs typeface="Bookman Old Style"/>
              </a:rPr>
              <a:t>π/</a:t>
            </a:r>
            <a:r>
              <a:rPr sz="1100" spc="-20" dirty="0">
                <a:latin typeface="Tahoma"/>
                <a:cs typeface="Tahoma"/>
              </a:rPr>
              <a:t>2.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Angles</a:t>
            </a:r>
            <a:r>
              <a:rPr spc="145" dirty="0"/>
              <a:t> </a:t>
            </a:r>
            <a:r>
              <a:rPr dirty="0"/>
              <a:t>and</a:t>
            </a:r>
            <a:r>
              <a:rPr spc="145" dirty="0"/>
              <a:t> </a:t>
            </a:r>
            <a:r>
              <a:rPr spc="-10" dirty="0"/>
              <a:t>orthogonality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972437"/>
            <a:ext cx="3863975" cy="147256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048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10" dirty="0">
                <a:latin typeface="Tahoma"/>
                <a:cs typeface="Tahoma"/>
              </a:rPr>
              <a:t>Food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 </a:t>
            </a:r>
            <a:r>
              <a:rPr sz="1100" spc="-30" dirty="0">
                <a:latin typeface="Tahoma"/>
                <a:cs typeface="Tahoma"/>
              </a:rPr>
              <a:t>thought:</a:t>
            </a:r>
            <a:r>
              <a:rPr sz="1100" spc="8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Suppose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choose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114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050" spc="-50" dirty="0">
                <a:latin typeface="Arial"/>
                <a:cs typeface="Arial"/>
              </a:rPr>
              <a:t>y </a:t>
            </a:r>
            <a:r>
              <a:rPr sz="1100" spc="-35" dirty="0">
                <a:latin typeface="Tahoma"/>
                <a:cs typeface="Tahoma"/>
              </a:rPr>
              <a:t>uniformly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random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high </a:t>
            </a:r>
            <a:r>
              <a:rPr sz="1100" spc="-40" dirty="0">
                <a:latin typeface="Tahoma"/>
                <a:cs typeface="Tahoma"/>
              </a:rPr>
              <a:t>dimensions.</a:t>
            </a:r>
            <a:r>
              <a:rPr sz="1100" spc="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happens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dirty="0">
                <a:latin typeface="Tahoma"/>
                <a:cs typeface="Tahoma"/>
              </a:rPr>
              <a:t>dot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product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vectors</a:t>
            </a:r>
            <a:r>
              <a:rPr sz="1100" spc="-35" dirty="0">
                <a:latin typeface="Tahoma"/>
                <a:cs typeface="Tahoma"/>
              </a:rPr>
              <a:t> 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hence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angle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between </a:t>
            </a:r>
            <a:r>
              <a:rPr sz="1100" spc="-10" dirty="0">
                <a:latin typeface="Tahoma"/>
                <a:cs typeface="Tahoma"/>
              </a:rPr>
              <a:t>them?</a:t>
            </a:r>
            <a:endParaRPr sz="1100">
              <a:latin typeface="Tahoma"/>
              <a:cs typeface="Tahoma"/>
            </a:endParaRPr>
          </a:p>
          <a:p>
            <a:pPr marL="214629" marR="21082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choose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uniformly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random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over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sphere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let </a:t>
            </a:r>
            <a:r>
              <a:rPr sz="1100" spc="-60" dirty="0">
                <a:latin typeface="Tahoma"/>
                <a:cs typeface="Tahoma"/>
              </a:rPr>
              <a:t>every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component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independent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Gaussian </a:t>
            </a:r>
            <a:r>
              <a:rPr sz="1100" spc="-40" dirty="0">
                <a:latin typeface="Tahoma"/>
                <a:cs typeface="Tahoma"/>
              </a:rPr>
              <a:t>random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variable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mean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0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unit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variance.</a:t>
            </a:r>
            <a:endParaRPr sz="1100">
              <a:latin typeface="Tahoma"/>
              <a:cs typeface="Tahoma"/>
            </a:endParaRPr>
          </a:p>
          <a:p>
            <a:pPr marL="215265" indent="-17716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dirty="0">
                <a:latin typeface="Tahoma"/>
                <a:cs typeface="Tahoma"/>
              </a:rPr>
              <a:t>Write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small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program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85" dirty="0">
                <a:latin typeface="Tahoma"/>
                <a:cs typeface="Tahoma"/>
              </a:rPr>
              <a:t>see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what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happens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...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Angles</a:t>
            </a:r>
            <a:r>
              <a:rPr spc="145" dirty="0"/>
              <a:t> </a:t>
            </a:r>
            <a:r>
              <a:rPr dirty="0"/>
              <a:t>and</a:t>
            </a:r>
            <a:r>
              <a:rPr spc="145" dirty="0"/>
              <a:t> </a:t>
            </a:r>
            <a:r>
              <a:rPr spc="-10" dirty="0"/>
              <a:t>orthogonality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6557" y="819593"/>
            <a:ext cx="3860800" cy="18542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40029" marR="241935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40029" algn="l"/>
              </a:tabLst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key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feature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inner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product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25" dirty="0">
                <a:latin typeface="Tahoma"/>
                <a:cs typeface="Tahoma"/>
              </a:rPr>
              <a:t> to </a:t>
            </a:r>
            <a:r>
              <a:rPr sz="1100" spc="-40" dirty="0">
                <a:latin typeface="Tahoma"/>
                <a:cs typeface="Tahoma"/>
              </a:rPr>
              <a:t>characterize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vectors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orthogonal.</a:t>
            </a:r>
            <a:endParaRPr sz="1100">
              <a:latin typeface="Tahoma"/>
              <a:cs typeface="Tahoma"/>
            </a:endParaRPr>
          </a:p>
          <a:p>
            <a:pPr marL="240029" marR="6350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40029" algn="l"/>
              </a:tabLst>
            </a:pPr>
            <a:r>
              <a:rPr sz="1100" dirty="0">
                <a:latin typeface="Tahoma"/>
                <a:cs typeface="Tahoma"/>
              </a:rPr>
              <a:t>Two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12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y</a:t>
            </a:r>
            <a:r>
              <a:rPr sz="1050" spc="145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orthogonal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only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10" dirty="0">
                <a:latin typeface="Tahoma"/>
                <a:cs typeface="Tahoma"/>
              </a:rPr>
              <a:t> the inner </a:t>
            </a:r>
            <a:r>
              <a:rPr sz="1100" spc="-30" dirty="0">
                <a:latin typeface="Tahoma"/>
                <a:cs typeface="Tahoma"/>
              </a:rPr>
              <a:t>product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them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0.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orthogonal </a:t>
            </a:r>
            <a:r>
              <a:rPr sz="1100" spc="-10" dirty="0">
                <a:latin typeface="Tahoma"/>
                <a:cs typeface="Tahoma"/>
              </a:rPr>
              <a:t>pair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vectors 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y</a:t>
            </a:r>
            <a:r>
              <a:rPr sz="1050" spc="180" dirty="0">
                <a:latin typeface="Arial"/>
                <a:cs typeface="Arial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write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105" dirty="0">
                <a:latin typeface="Arial"/>
                <a:cs typeface="Arial"/>
              </a:rPr>
              <a:t> </a:t>
            </a:r>
            <a:r>
              <a:rPr sz="1100" spc="114" dirty="0">
                <a:latin typeface="Cambria"/>
                <a:cs typeface="Cambria"/>
              </a:rPr>
              <a:t>⊥</a:t>
            </a:r>
            <a:r>
              <a:rPr sz="1100" spc="55" dirty="0">
                <a:latin typeface="Cambria"/>
                <a:cs typeface="Cambria"/>
              </a:rPr>
              <a:t> </a:t>
            </a:r>
            <a:r>
              <a:rPr sz="1050" spc="-25" dirty="0">
                <a:latin typeface="Arial"/>
                <a:cs typeface="Arial"/>
              </a:rPr>
              <a:t>y</a:t>
            </a:r>
            <a:r>
              <a:rPr sz="1100" spc="-25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240029" marR="37655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40029" algn="l"/>
              </a:tabLst>
            </a:pPr>
            <a:r>
              <a:rPr sz="1100" dirty="0">
                <a:latin typeface="Tahoma"/>
                <a:cs typeface="Tahoma"/>
              </a:rPr>
              <a:t>By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above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definition</a:t>
            </a:r>
            <a:r>
              <a:rPr sz="1100" spc="-20" dirty="0">
                <a:latin typeface="Tahoma"/>
                <a:cs typeface="Tahoma"/>
              </a:rPr>
              <a:t> 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b="1" spc="-35" dirty="0">
                <a:latin typeface="Arial"/>
                <a:cs typeface="Arial"/>
              </a:rPr>
              <a:t>0</a:t>
            </a:r>
            <a:r>
              <a:rPr sz="1100" spc="-35" dirty="0">
                <a:latin typeface="Tahoma"/>
                <a:cs typeface="Tahoma"/>
              </a:rPr>
              <a:t>-vector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orthogonal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all </a:t>
            </a:r>
            <a:r>
              <a:rPr sz="1100" spc="-10" dirty="0">
                <a:latin typeface="Tahoma"/>
                <a:cs typeface="Tahoma"/>
              </a:rPr>
              <a:t>vectors.</a:t>
            </a:r>
            <a:endParaRPr sz="1100">
              <a:latin typeface="Tahoma"/>
              <a:cs typeface="Tahoma"/>
            </a:endParaRPr>
          </a:p>
          <a:p>
            <a:pPr marL="240029" marR="431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40029" algn="l"/>
              </a:tabLst>
            </a:pPr>
            <a:r>
              <a:rPr sz="1100" spc="-30" dirty="0">
                <a:latin typeface="Tahoma"/>
                <a:cs typeface="Tahoma"/>
              </a:rPr>
              <a:t>Vectors </a:t>
            </a:r>
            <a:r>
              <a:rPr sz="1100" spc="-25" dirty="0">
                <a:latin typeface="Tahoma"/>
                <a:cs typeface="Tahoma"/>
              </a:rPr>
              <a:t>which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orthogonal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respect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inner </a:t>
            </a:r>
            <a:r>
              <a:rPr sz="1100" spc="-30" dirty="0">
                <a:latin typeface="Tahoma"/>
                <a:cs typeface="Tahoma"/>
              </a:rPr>
              <a:t>product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need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orthogonal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respect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another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inner </a:t>
            </a:r>
            <a:r>
              <a:rPr sz="1100" spc="-10" dirty="0">
                <a:latin typeface="Tahoma"/>
                <a:cs typeface="Tahoma"/>
              </a:rPr>
              <a:t>product.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140" dirty="0"/>
              <a:t> </a:t>
            </a:r>
            <a:r>
              <a:rPr dirty="0"/>
              <a:t>-</a:t>
            </a:r>
            <a:r>
              <a:rPr spc="145" dirty="0"/>
              <a:t> </a:t>
            </a:r>
            <a:r>
              <a:rPr dirty="0"/>
              <a:t>angles</a:t>
            </a:r>
            <a:r>
              <a:rPr spc="145" dirty="0"/>
              <a:t> </a:t>
            </a:r>
            <a:r>
              <a:rPr dirty="0"/>
              <a:t>and</a:t>
            </a:r>
            <a:r>
              <a:rPr spc="145" dirty="0"/>
              <a:t> </a:t>
            </a:r>
            <a:r>
              <a:rPr spc="-10" dirty="0"/>
              <a:t>orthogonality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9257" y="840572"/>
            <a:ext cx="3876675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27965" indent="-177165">
              <a:lnSpc>
                <a:spcPct val="100000"/>
              </a:lnSpc>
              <a:spcBef>
                <a:spcPts val="434"/>
              </a:spcBef>
              <a:buClr>
                <a:srgbClr val="3333B2"/>
              </a:buClr>
              <a:buFont typeface="Lucida Sans Unicode"/>
              <a:buChar char="►"/>
              <a:tabLst>
                <a:tab pos="227965" algn="l"/>
              </a:tabLst>
            </a:pPr>
            <a:r>
              <a:rPr sz="1100" spc="-35" dirty="0">
                <a:latin typeface="Tahoma"/>
                <a:cs typeface="Tahoma"/>
              </a:rPr>
              <a:t>Consider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vectors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[1</a:t>
            </a:r>
            <a:r>
              <a:rPr sz="1100" i="1" spc="-75" dirty="0">
                <a:latin typeface="Bookman Old Style"/>
                <a:cs typeface="Bookman Old Style"/>
              </a:rPr>
              <a:t>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ahoma"/>
                <a:cs typeface="Tahoma"/>
              </a:rPr>
              <a:t>1]</a:t>
            </a:r>
            <a:r>
              <a:rPr sz="1200" i="1" baseline="27777" dirty="0">
                <a:latin typeface="Arial"/>
                <a:cs typeface="Arial"/>
              </a:rPr>
              <a:t>T</a:t>
            </a:r>
            <a:r>
              <a:rPr sz="1200" i="1" spc="412" baseline="27777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y</a:t>
            </a:r>
            <a:r>
              <a:rPr sz="1050" spc="1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[</a:t>
            </a:r>
            <a:r>
              <a:rPr sz="1100" dirty="0">
                <a:latin typeface="Cambria"/>
                <a:cs typeface="Cambria"/>
              </a:rPr>
              <a:t>−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i="1" dirty="0">
                <a:latin typeface="Bookman Old Style"/>
                <a:cs typeface="Bookman Old Style"/>
              </a:rPr>
              <a:t>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Tahoma"/>
                <a:cs typeface="Tahoma"/>
              </a:rPr>
              <a:t>1]</a:t>
            </a:r>
            <a:r>
              <a:rPr sz="1200" i="1" spc="-37" baseline="27777" dirty="0">
                <a:latin typeface="Arial"/>
                <a:cs typeface="Arial"/>
              </a:rPr>
              <a:t>T</a:t>
            </a:r>
            <a:endParaRPr sz="1200" baseline="27777">
              <a:latin typeface="Arial"/>
              <a:cs typeface="Arial"/>
            </a:endParaRPr>
          </a:p>
          <a:p>
            <a:pPr marL="227329" indent="-17716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Lucida Sans Unicode"/>
              <a:buChar char="►"/>
              <a:tabLst>
                <a:tab pos="227329" algn="l"/>
              </a:tabLst>
            </a:pPr>
            <a:r>
              <a:rPr sz="1100" dirty="0">
                <a:latin typeface="Tahoma"/>
                <a:cs typeface="Tahoma"/>
              </a:rPr>
              <a:t>With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respect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inner</a:t>
            </a:r>
            <a:r>
              <a:rPr sz="1100" spc="-30" dirty="0">
                <a:latin typeface="Tahoma"/>
                <a:cs typeface="Tahoma"/>
              </a:rPr>
              <a:t> product </a:t>
            </a:r>
            <a:r>
              <a:rPr sz="1100" spc="-45" dirty="0">
                <a:latin typeface="Tahoma"/>
                <a:cs typeface="Tahoma"/>
              </a:rPr>
              <a:t>defined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dot</a:t>
            </a:r>
            <a:r>
              <a:rPr sz="1100" spc="-30" dirty="0">
                <a:latin typeface="Tahoma"/>
                <a:cs typeface="Tahoma"/>
              </a:rPr>
              <a:t> product </a:t>
            </a:r>
            <a:r>
              <a:rPr sz="1100" spc="-25" dirty="0">
                <a:latin typeface="Tahoma"/>
                <a:cs typeface="Tahoma"/>
              </a:rPr>
              <a:t>we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8995" y="1266455"/>
            <a:ext cx="26581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85" dirty="0">
                <a:latin typeface="Tahoma"/>
                <a:cs typeface="Tahoma"/>
              </a:rPr>
              <a:t>see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dirty="0">
                <a:latin typeface="Cambria"/>
                <a:cs typeface="Cambria"/>
              </a:rPr>
              <a:t>⟨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-185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40" dirty="0">
                <a:latin typeface="Bookman Old Style"/>
                <a:cs typeface="Bookman Old Style"/>
              </a:rPr>
              <a:t> </a:t>
            </a:r>
            <a:r>
              <a:rPr sz="1050" spc="75" dirty="0">
                <a:latin typeface="Arial"/>
                <a:cs typeface="Arial"/>
              </a:rPr>
              <a:t>y</a:t>
            </a:r>
            <a:r>
              <a:rPr sz="1100" spc="75" dirty="0">
                <a:latin typeface="Cambria"/>
                <a:cs typeface="Cambria"/>
              </a:rPr>
              <a:t>⟩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-185" dirty="0">
                <a:latin typeface="Arial"/>
                <a:cs typeface="Arial"/>
              </a:rPr>
              <a:t> </a:t>
            </a:r>
            <a:r>
              <a:rPr sz="1200" i="1" spc="127" baseline="27777" dirty="0">
                <a:latin typeface="Arial"/>
                <a:cs typeface="Arial"/>
              </a:rPr>
              <a:t>T</a:t>
            </a:r>
            <a:r>
              <a:rPr sz="1200" i="1" spc="-89" baseline="27777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y</a:t>
            </a:r>
            <a:r>
              <a:rPr sz="1050" spc="15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Cambria"/>
                <a:cs typeface="Cambria"/>
              </a:rPr>
              <a:t>∗</a:t>
            </a:r>
            <a:r>
              <a:rPr sz="1100" spc="5" dirty="0">
                <a:latin typeface="Cambria"/>
                <a:cs typeface="Cambria"/>
              </a:rPr>
              <a:t> </a:t>
            </a:r>
            <a:r>
              <a:rPr sz="1100" spc="85" dirty="0">
                <a:latin typeface="Cambria"/>
                <a:cs typeface="Cambria"/>
              </a:rPr>
              <a:t>−</a:t>
            </a:r>
            <a:r>
              <a:rPr sz="1100" spc="85" dirty="0">
                <a:latin typeface="Tahoma"/>
                <a:cs typeface="Tahoma"/>
              </a:rPr>
              <a:t>1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Cambria"/>
                <a:cs typeface="Cambria"/>
              </a:rPr>
              <a:t>∗</a:t>
            </a:r>
            <a:r>
              <a:rPr sz="1100" spc="10" dirty="0">
                <a:latin typeface="Cambria"/>
                <a:cs typeface="Cambria"/>
              </a:rPr>
              <a:t> 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0.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7357" y="1542591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75" dirty="0">
                <a:solidFill>
                  <a:srgbClr val="3333B2"/>
                </a:solidFill>
                <a:latin typeface="Lucida Sans Unicode"/>
                <a:cs typeface="Lucida Sans Unicode"/>
              </a:rPr>
              <a:t>►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4395" y="1558415"/>
            <a:ext cx="20986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With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respect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inner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product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050" spc="-50" dirty="0">
                <a:latin typeface="Arial"/>
                <a:cs typeface="Arial"/>
              </a:rPr>
              <a:t>x</a:t>
            </a:r>
            <a:endParaRPr sz="1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10599" y="1545461"/>
            <a:ext cx="990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5" dirty="0"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00032" y="1472157"/>
            <a:ext cx="2908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2</a:t>
            </a:r>
            <a:r>
              <a:rPr sz="1100" spc="125" dirty="0">
                <a:latin typeface="Tahoma"/>
                <a:cs typeface="Tahoma"/>
              </a:rPr>
              <a:t>  </a:t>
            </a:r>
            <a:r>
              <a:rPr sz="1100" spc="-50" dirty="0">
                <a:latin typeface="Tahoma"/>
                <a:cs typeface="Tahoma"/>
              </a:rPr>
              <a:t>0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00032" y="1644229"/>
            <a:ext cx="2908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0</a:t>
            </a:r>
            <a:r>
              <a:rPr sz="1100" spc="125" dirty="0">
                <a:latin typeface="Tahoma"/>
                <a:cs typeface="Tahoma"/>
              </a:rPr>
              <a:t>  </a:t>
            </a: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26918" y="1363064"/>
            <a:ext cx="43688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350520" algn="l"/>
              </a:tabLst>
            </a:pPr>
            <a:r>
              <a:rPr sz="1100" dirty="0">
                <a:latin typeface="Arial"/>
                <a:cs typeface="Arial"/>
              </a:rPr>
              <a:t>	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61321" y="1558415"/>
            <a:ext cx="7727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50" dirty="0">
                <a:latin typeface="Arial"/>
                <a:cs typeface="Arial"/>
              </a:rPr>
              <a:t>y</a:t>
            </a:r>
            <a:r>
              <a:rPr sz="1050" spc="14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angle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4395" y="1804719"/>
            <a:ext cx="24796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14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y</a:t>
            </a:r>
            <a:r>
              <a:rPr sz="1050" spc="160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becomes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20646" y="2181058"/>
            <a:ext cx="6426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cos(</a:t>
            </a:r>
            <a:r>
              <a:rPr sz="1100" i="1" dirty="0">
                <a:latin typeface="Bookman Old Style"/>
                <a:cs typeface="Bookman Old Style"/>
              </a:rPr>
              <a:t>ω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4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79560" y="2087332"/>
            <a:ext cx="4699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u="sng" spc="17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⟨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x</a:t>
            </a:r>
            <a:r>
              <a:rPr sz="1050" u="sng" spc="-18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i="1" u="sng" spc="-35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,</a:t>
            </a:r>
            <a:r>
              <a:rPr sz="1100" i="1" u="sng" spc="-140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</a:t>
            </a:r>
            <a:r>
              <a:rPr sz="1050" u="sng" spc="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y</a:t>
            </a:r>
            <a:r>
              <a:rPr sz="1100" u="sng" spc="5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⟩</a:t>
            </a:r>
            <a:r>
              <a:rPr sz="1100" u="sng" spc="50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8135" y="2322563"/>
            <a:ext cx="34925" cy="139700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2759697" y="2322563"/>
            <a:ext cx="104775" cy="139700"/>
            <a:chOff x="2759697" y="2322563"/>
            <a:chExt cx="104775" cy="139700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28970" y="2322563"/>
              <a:ext cx="34925" cy="1397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59697" y="2322563"/>
              <a:ext cx="34925" cy="13970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2648826" y="2279417"/>
            <a:ext cx="315595" cy="1879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233045" algn="l"/>
              </a:tabLst>
            </a:pPr>
            <a:r>
              <a:rPr sz="1050" spc="-50" dirty="0">
                <a:latin typeface="Arial"/>
                <a:cs typeface="Arial"/>
              </a:rPr>
              <a:t>x</a:t>
            </a:r>
            <a:r>
              <a:rPr sz="1050" dirty="0">
                <a:latin typeface="Arial"/>
                <a:cs typeface="Arial"/>
              </a:rPr>
              <a:t>	</a:t>
            </a:r>
            <a:r>
              <a:rPr sz="1050" spc="-50" dirty="0">
                <a:latin typeface="Arial"/>
                <a:cs typeface="Arial"/>
              </a:rPr>
              <a:t>y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3179" y="2322563"/>
            <a:ext cx="34925" cy="139700"/>
          </a:xfrm>
          <a:prstGeom prst="rect">
            <a:avLst/>
          </a:prstGeom>
        </p:spPr>
      </p:pic>
      <p:sp>
        <p:nvSpPr>
          <p:cNvPr id="21" name="Left Bracket 20">
            <a:extLst>
              <a:ext uri="{FF2B5EF4-FFF2-40B4-BE49-F238E27FC236}">
                <a16:creationId xmlns:a16="http://schemas.microsoft.com/office/drawing/2014/main" id="{387E9681-8199-7D54-CC54-04BF3516520B}"/>
              </a:ext>
            </a:extLst>
          </p:cNvPr>
          <p:cNvSpPr/>
          <p:nvPr/>
        </p:nvSpPr>
        <p:spPr>
          <a:xfrm>
            <a:off x="2854313" y="1458225"/>
            <a:ext cx="45719" cy="338599"/>
          </a:xfrm>
          <a:prstGeom prst="lef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ight Bracket 21">
            <a:extLst>
              <a:ext uri="{FF2B5EF4-FFF2-40B4-BE49-F238E27FC236}">
                <a16:creationId xmlns:a16="http://schemas.microsoft.com/office/drawing/2014/main" id="{7CD87951-70A8-1354-DCF9-9CEF9A57068A}"/>
              </a:ext>
            </a:extLst>
          </p:cNvPr>
          <p:cNvSpPr/>
          <p:nvPr/>
        </p:nvSpPr>
        <p:spPr>
          <a:xfrm>
            <a:off x="3104070" y="1472157"/>
            <a:ext cx="131243" cy="363842"/>
          </a:xfrm>
          <a:prstGeom prst="righ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74954D-A96D-0663-53D4-8313A5290590}"/>
              </a:ext>
            </a:extLst>
          </p:cNvPr>
          <p:cNvSpPr txBox="1"/>
          <p:nvPr/>
        </p:nvSpPr>
        <p:spPr>
          <a:xfrm>
            <a:off x="2320107" y="2529493"/>
            <a:ext cx="5148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= -1/3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A218A3-3EC0-B365-505B-07336E39A586}"/>
              </a:ext>
            </a:extLst>
          </p:cNvPr>
          <p:cNvSpPr txBox="1"/>
          <p:nvPr/>
        </p:nvSpPr>
        <p:spPr>
          <a:xfrm>
            <a:off x="447357" y="2652603"/>
            <a:ext cx="39912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Hence with respect to this inner product the vectors are no longer orthogonal. </a:t>
            </a: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289433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Ort</a:t>
            </a:r>
            <a:r>
              <a:rPr lang="en-IN" dirty="0"/>
              <a:t>hogonal</a:t>
            </a:r>
            <a:r>
              <a:rPr spc="80" dirty="0"/>
              <a:t> </a:t>
            </a:r>
            <a:r>
              <a:rPr spc="-10" dirty="0"/>
              <a:t>matrix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857" y="807452"/>
            <a:ext cx="3930015" cy="18846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2729" marR="6858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52729" algn="l"/>
              </a:tabLst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square</a:t>
            </a:r>
            <a:r>
              <a:rPr sz="1100" spc="-10" dirty="0">
                <a:latin typeface="Tahoma"/>
                <a:cs typeface="Tahoma"/>
              </a:rPr>
              <a:t> matrix </a:t>
            </a:r>
            <a:r>
              <a:rPr sz="1050" spc="90" dirty="0">
                <a:latin typeface="Arial"/>
                <a:cs typeface="Arial"/>
              </a:rPr>
              <a:t>A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∈</a:t>
            </a:r>
            <a:r>
              <a:rPr sz="1100" spc="35" dirty="0">
                <a:latin typeface="Cambria"/>
                <a:cs typeface="Cambria"/>
              </a:rPr>
              <a:t> </a:t>
            </a:r>
            <a:r>
              <a:rPr sz="1100" dirty="0">
                <a:latin typeface="Century"/>
                <a:cs typeface="Century"/>
              </a:rPr>
              <a:t>R</a:t>
            </a:r>
            <a:r>
              <a:rPr sz="1200" i="1" baseline="27777" dirty="0">
                <a:latin typeface="Arial"/>
                <a:cs typeface="Arial"/>
              </a:rPr>
              <a:t>n</a:t>
            </a:r>
            <a:r>
              <a:rPr sz="1200" i="1" baseline="27777" dirty="0">
                <a:latin typeface="Verdana"/>
                <a:cs typeface="Verdana"/>
              </a:rPr>
              <a:t>×</a:t>
            </a:r>
            <a:r>
              <a:rPr sz="1200" i="1" baseline="27777" dirty="0">
                <a:latin typeface="Arial"/>
                <a:cs typeface="Arial"/>
              </a:rPr>
              <a:t>n</a:t>
            </a:r>
            <a:r>
              <a:rPr sz="1200" i="1" spc="247" baseline="27777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orthogonal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matrix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only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columns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10" dirty="0">
                <a:latin typeface="Tahoma"/>
                <a:cs typeface="Tahoma"/>
              </a:rPr>
              <a:t> orthonormal:</a:t>
            </a:r>
            <a:endParaRPr sz="1100">
              <a:latin typeface="Tahoma"/>
              <a:cs typeface="Tahoma"/>
            </a:endParaRPr>
          </a:p>
          <a:p>
            <a:pPr marR="1496695" algn="r">
              <a:lnSpc>
                <a:spcPts val="1260"/>
              </a:lnSpc>
              <a:spcBef>
                <a:spcPts val="1130"/>
              </a:spcBef>
            </a:pPr>
            <a:r>
              <a:rPr sz="1050" spc="85" dirty="0">
                <a:latin typeface="Arial"/>
                <a:cs typeface="Arial"/>
              </a:rPr>
              <a:t>A</a:t>
            </a:r>
            <a:r>
              <a:rPr sz="1200" i="1" spc="127" baseline="31250" dirty="0">
                <a:latin typeface="Arial"/>
                <a:cs typeface="Arial"/>
              </a:rPr>
              <a:t>T</a:t>
            </a:r>
            <a:r>
              <a:rPr sz="1200" i="1" spc="-97" baseline="31250" dirty="0">
                <a:latin typeface="Arial"/>
                <a:cs typeface="Arial"/>
              </a:rPr>
              <a:t> </a:t>
            </a:r>
            <a:r>
              <a:rPr sz="1050" spc="90" dirty="0">
                <a:latin typeface="Arial"/>
                <a:cs typeface="Arial"/>
              </a:rPr>
              <a:t>A</a:t>
            </a:r>
            <a:r>
              <a:rPr sz="1050" spc="3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050" spc="65" dirty="0">
                <a:latin typeface="Arial"/>
                <a:cs typeface="Arial"/>
              </a:rPr>
              <a:t>I</a:t>
            </a:r>
            <a:r>
              <a:rPr sz="1050" spc="17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050" spc="60" dirty="0">
                <a:latin typeface="Arial"/>
                <a:cs typeface="Arial"/>
              </a:rPr>
              <a:t>AA</a:t>
            </a:r>
            <a:r>
              <a:rPr sz="1200" i="1" spc="89" baseline="31250" dirty="0">
                <a:latin typeface="Arial"/>
                <a:cs typeface="Arial"/>
              </a:rPr>
              <a:t>T</a:t>
            </a:r>
            <a:endParaRPr sz="1200" baseline="31250">
              <a:latin typeface="Arial"/>
              <a:cs typeface="Arial"/>
            </a:endParaRPr>
          </a:p>
          <a:p>
            <a:pPr marR="1483360" algn="r">
              <a:lnSpc>
                <a:spcPts val="1260"/>
              </a:lnSpc>
            </a:pPr>
            <a:r>
              <a:rPr sz="1575" spc="127" baseline="-23809" dirty="0">
                <a:latin typeface="Arial"/>
                <a:cs typeface="Arial"/>
              </a:rPr>
              <a:t>A</a:t>
            </a:r>
            <a:r>
              <a:rPr sz="800" i="1" spc="85" dirty="0">
                <a:latin typeface="Arial"/>
                <a:cs typeface="Arial"/>
              </a:rPr>
              <a:t>T</a:t>
            </a:r>
            <a:r>
              <a:rPr sz="800" i="1" spc="260" dirty="0">
                <a:latin typeface="Arial"/>
                <a:cs typeface="Arial"/>
              </a:rPr>
              <a:t> </a:t>
            </a:r>
            <a:r>
              <a:rPr sz="1650" baseline="-22727" dirty="0">
                <a:latin typeface="Tahoma"/>
                <a:cs typeface="Tahoma"/>
              </a:rPr>
              <a:t>=</a:t>
            </a:r>
            <a:r>
              <a:rPr sz="1650" spc="-37" baseline="-22727" dirty="0">
                <a:latin typeface="Tahoma"/>
                <a:cs typeface="Tahoma"/>
              </a:rPr>
              <a:t> </a:t>
            </a:r>
            <a:r>
              <a:rPr sz="1575" spc="-37" baseline="-23809" dirty="0">
                <a:latin typeface="Arial"/>
                <a:cs typeface="Arial"/>
              </a:rPr>
              <a:t>A</a:t>
            </a:r>
            <a:r>
              <a:rPr sz="800" i="1" spc="-25" dirty="0">
                <a:latin typeface="Verdana"/>
                <a:cs typeface="Verdana"/>
              </a:rPr>
              <a:t>−</a:t>
            </a:r>
            <a:r>
              <a:rPr sz="800" spc="-25" dirty="0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800">
              <a:latin typeface="Tahoma"/>
              <a:cs typeface="Tahoma"/>
            </a:endParaRPr>
          </a:p>
          <a:p>
            <a:pPr marL="252729" marR="172085" indent="-177165">
              <a:lnSpc>
                <a:spcPct val="102600"/>
              </a:lnSpc>
              <a:buClr>
                <a:srgbClr val="3333B2"/>
              </a:buClr>
              <a:buFont typeface="Lucida Sans Unicode"/>
              <a:buChar char="►"/>
              <a:tabLst>
                <a:tab pos="252729" algn="l"/>
              </a:tabLst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columns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matrix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orthonormal,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why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rows </a:t>
            </a:r>
            <a:r>
              <a:rPr sz="1100" spc="-40" dirty="0">
                <a:latin typeface="Tahoma"/>
                <a:cs typeface="Tahoma"/>
              </a:rPr>
              <a:t>orthonormal </a:t>
            </a:r>
            <a:r>
              <a:rPr sz="1100" dirty="0">
                <a:latin typeface="Tahoma"/>
                <a:cs typeface="Tahoma"/>
              </a:rPr>
              <a:t>too?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follows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fact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</a:t>
            </a:r>
            <a:endParaRPr sz="1100">
              <a:latin typeface="Tahoma"/>
              <a:cs typeface="Tahoma"/>
            </a:endParaRPr>
          </a:p>
          <a:p>
            <a:pPr marL="252729" marR="57785">
              <a:lnSpc>
                <a:spcPct val="102600"/>
              </a:lnSpc>
              <a:spcBef>
                <a:spcPts val="5"/>
              </a:spcBef>
            </a:pPr>
            <a:r>
              <a:rPr sz="1100" spc="-40" dirty="0">
                <a:latin typeface="Tahoma"/>
                <a:cs typeface="Tahoma"/>
              </a:rPr>
              <a:t>left-</a:t>
            </a:r>
            <a:r>
              <a:rPr sz="1100" spc="-35" dirty="0">
                <a:latin typeface="Tahoma"/>
                <a:cs typeface="Tahoma"/>
              </a:rPr>
              <a:t>inverse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square</a:t>
            </a:r>
            <a:r>
              <a:rPr sz="1100" spc="-20" dirty="0">
                <a:latin typeface="Tahoma"/>
                <a:cs typeface="Tahoma"/>
              </a:rPr>
              <a:t> matrix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same</a:t>
            </a:r>
            <a:r>
              <a:rPr sz="1100" spc="-30" dirty="0">
                <a:latin typeface="Tahoma"/>
                <a:cs typeface="Tahoma"/>
              </a:rPr>
              <a:t> as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right-</a:t>
            </a:r>
            <a:r>
              <a:rPr sz="1100" spc="-50" dirty="0">
                <a:latin typeface="Tahoma"/>
                <a:cs typeface="Tahoma"/>
              </a:rPr>
              <a:t>inverse. </a:t>
            </a:r>
            <a:r>
              <a:rPr sz="1100" dirty="0">
                <a:latin typeface="Tahoma"/>
                <a:cs typeface="Tahoma"/>
              </a:rPr>
              <a:t>Let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050" spc="90" dirty="0">
                <a:latin typeface="Arial"/>
                <a:cs typeface="Arial"/>
              </a:rPr>
              <a:t>A</a:t>
            </a:r>
            <a:r>
              <a:rPr sz="1050" spc="30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square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matrix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050" spc="90" dirty="0">
                <a:latin typeface="Arial"/>
                <a:cs typeface="Arial"/>
              </a:rPr>
              <a:t>B</a:t>
            </a:r>
            <a:r>
              <a:rPr sz="1050" spc="10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C</a:t>
            </a:r>
            <a:r>
              <a:rPr sz="1050" spc="135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left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right </a:t>
            </a:r>
            <a:r>
              <a:rPr sz="1100" spc="-55" dirty="0">
                <a:latin typeface="Tahoma"/>
                <a:cs typeface="Tahoma"/>
              </a:rPr>
              <a:t>inverses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A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135" dirty="0">
                <a:latin typeface="Tahoma"/>
                <a:cs typeface="Tahoma"/>
              </a:rPr>
              <a:t> </a:t>
            </a:r>
            <a:r>
              <a:rPr sz="1050" spc="90" dirty="0">
                <a:latin typeface="Arial"/>
                <a:cs typeface="Arial"/>
              </a:rPr>
              <a:t>BA</a:t>
            </a:r>
            <a:r>
              <a:rPr sz="1050" spc="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13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AC</a:t>
            </a:r>
            <a:r>
              <a:rPr sz="1050" spc="42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dirty="0">
                <a:latin typeface="Cambria"/>
                <a:cs typeface="Cambria"/>
              </a:rPr>
              <a:t>⇒</a:t>
            </a:r>
            <a:r>
              <a:rPr sz="1100" spc="345" dirty="0">
                <a:latin typeface="Cambria"/>
                <a:cs typeface="Cambria"/>
              </a:rPr>
              <a:t> </a:t>
            </a:r>
            <a:r>
              <a:rPr sz="1050" spc="90" dirty="0">
                <a:latin typeface="Arial"/>
                <a:cs typeface="Arial"/>
              </a:rPr>
              <a:t>B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C</a:t>
            </a:r>
            <a:r>
              <a:rPr sz="1100" dirty="0">
                <a:latin typeface="Tahoma"/>
                <a:cs typeface="Tahoma"/>
              </a:rPr>
              <a:t>.</a:t>
            </a:r>
            <a:r>
              <a:rPr sz="1100" spc="1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Why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true?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289433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Ortho</a:t>
            </a:r>
            <a:r>
              <a:rPr lang="en-IN" dirty="0"/>
              <a:t>gonal </a:t>
            </a:r>
            <a:r>
              <a:rPr spc="-10" dirty="0"/>
              <a:t>matrix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2970" y="1559763"/>
            <a:ext cx="34925" cy="1397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6094" y="1559763"/>
            <a:ext cx="34925" cy="1397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/>
              <p:cNvSpPr txBox="1"/>
              <p:nvPr/>
            </p:nvSpPr>
            <p:spPr>
              <a:xfrm>
                <a:off x="409257" y="997075"/>
                <a:ext cx="3736975" cy="1037913"/>
              </a:xfrm>
              <a:prstGeom prst="rect">
                <a:avLst/>
              </a:prstGeom>
            </p:spPr>
            <p:txBody>
              <a:bodyPr vert="horz" wrap="square" lIns="0" tIns="6985" rIns="0" bIns="0" rtlCol="0">
                <a:spAutoFit/>
              </a:bodyPr>
              <a:lstStyle/>
              <a:p>
                <a:pPr marL="227329" marR="43180" indent="-177165">
                  <a:lnSpc>
                    <a:spcPct val="102600"/>
                  </a:lnSpc>
                  <a:spcBef>
                    <a:spcPts val="55"/>
                  </a:spcBef>
                  <a:buClr>
                    <a:srgbClr val="3333B2"/>
                  </a:buClr>
                  <a:buFont typeface="Lucida Sans Unicode"/>
                  <a:buChar char="►"/>
                  <a:tabLst>
                    <a:tab pos="227329" algn="l"/>
                  </a:tabLst>
                </a:pPr>
                <a:r>
                  <a:rPr sz="1100" spc="-40" dirty="0">
                    <a:latin typeface="Tahoma"/>
                    <a:cs typeface="Tahoma"/>
                  </a:rPr>
                  <a:t>Transformations</a:t>
                </a:r>
                <a:r>
                  <a:rPr sz="1100" spc="-50" dirty="0">
                    <a:latin typeface="Tahoma"/>
                    <a:cs typeface="Tahoma"/>
                  </a:rPr>
                  <a:t> </a:t>
                </a:r>
                <a:r>
                  <a:rPr sz="1100" spc="-30" dirty="0">
                    <a:latin typeface="Tahoma"/>
                    <a:cs typeface="Tahoma"/>
                  </a:rPr>
                  <a:t>by</a:t>
                </a:r>
                <a:r>
                  <a:rPr sz="1100" spc="-50" dirty="0">
                    <a:latin typeface="Tahoma"/>
                    <a:cs typeface="Tahoma"/>
                  </a:rPr>
                  <a:t> </a:t>
                </a:r>
                <a:r>
                  <a:rPr sz="1100" spc="-10" dirty="0">
                    <a:latin typeface="Tahoma"/>
                    <a:cs typeface="Tahoma"/>
                  </a:rPr>
                  <a:t>an</a:t>
                </a:r>
                <a:r>
                  <a:rPr sz="1100" spc="-35" dirty="0">
                    <a:latin typeface="Tahoma"/>
                    <a:cs typeface="Tahoma"/>
                  </a:rPr>
                  <a:t> </a:t>
                </a:r>
                <a:r>
                  <a:rPr sz="1100" spc="-40" dirty="0">
                    <a:latin typeface="Tahoma"/>
                    <a:cs typeface="Tahoma"/>
                  </a:rPr>
                  <a:t>orthonormal </a:t>
                </a:r>
                <a:r>
                  <a:rPr sz="1100" spc="-10" dirty="0">
                    <a:latin typeface="Tahoma"/>
                    <a:cs typeface="Tahoma"/>
                  </a:rPr>
                  <a:t>matrix</a:t>
                </a:r>
                <a:r>
                  <a:rPr sz="1100" spc="-35" dirty="0">
                    <a:latin typeface="Tahoma"/>
                    <a:cs typeface="Tahoma"/>
                  </a:rPr>
                  <a:t> </a:t>
                </a:r>
                <a:r>
                  <a:rPr sz="1100" spc="-65" dirty="0">
                    <a:latin typeface="Tahoma"/>
                    <a:cs typeface="Tahoma"/>
                  </a:rPr>
                  <a:t>preserve</a:t>
                </a:r>
                <a:r>
                  <a:rPr sz="1100" spc="-25" dirty="0">
                    <a:latin typeface="Tahoma"/>
                    <a:cs typeface="Tahoma"/>
                  </a:rPr>
                  <a:t> </a:t>
                </a:r>
                <a:r>
                  <a:rPr sz="1100" spc="-35" dirty="0">
                    <a:latin typeface="Tahoma"/>
                    <a:cs typeface="Tahoma"/>
                  </a:rPr>
                  <a:t>lengths. </a:t>
                </a:r>
                <a:r>
                  <a:rPr sz="1100" dirty="0">
                    <a:latin typeface="Tahoma"/>
                    <a:cs typeface="Tahoma"/>
                  </a:rPr>
                  <a:t>This</a:t>
                </a:r>
                <a:r>
                  <a:rPr sz="1100" spc="-80" dirty="0">
                    <a:latin typeface="Tahoma"/>
                    <a:cs typeface="Tahoma"/>
                  </a:rPr>
                  <a:t> </a:t>
                </a:r>
                <a:r>
                  <a:rPr sz="1100" spc="-20" dirty="0">
                    <a:latin typeface="Tahoma"/>
                    <a:cs typeface="Tahoma"/>
                  </a:rPr>
                  <a:t>can</a:t>
                </a:r>
                <a:r>
                  <a:rPr sz="1100" spc="-45" dirty="0">
                    <a:latin typeface="Tahoma"/>
                    <a:cs typeface="Tahoma"/>
                  </a:rPr>
                  <a:t> </a:t>
                </a:r>
                <a:r>
                  <a:rPr sz="1100" spc="-10" dirty="0">
                    <a:latin typeface="Tahoma"/>
                    <a:cs typeface="Tahoma"/>
                  </a:rPr>
                  <a:t>be</a:t>
                </a:r>
                <a:r>
                  <a:rPr sz="1100" spc="-40" dirty="0">
                    <a:latin typeface="Tahoma"/>
                    <a:cs typeface="Tahoma"/>
                  </a:rPr>
                  <a:t> </a:t>
                </a:r>
                <a:r>
                  <a:rPr sz="1100" spc="-70" dirty="0">
                    <a:latin typeface="Tahoma"/>
                    <a:cs typeface="Tahoma"/>
                  </a:rPr>
                  <a:t>seen</a:t>
                </a:r>
                <a:r>
                  <a:rPr sz="1100" spc="-20" dirty="0">
                    <a:latin typeface="Tahoma"/>
                    <a:cs typeface="Tahoma"/>
                  </a:rPr>
                  <a:t> </a:t>
                </a:r>
                <a:r>
                  <a:rPr sz="1100" spc="-30" dirty="0">
                    <a:latin typeface="Tahoma"/>
                    <a:cs typeface="Tahoma"/>
                  </a:rPr>
                  <a:t>as</a:t>
                </a:r>
                <a:r>
                  <a:rPr sz="1100" spc="-50" dirty="0">
                    <a:latin typeface="Tahoma"/>
                    <a:cs typeface="Tahoma"/>
                  </a:rPr>
                  <a:t> </a:t>
                </a:r>
                <a:r>
                  <a:rPr sz="1100" spc="-35" dirty="0">
                    <a:latin typeface="Tahoma"/>
                    <a:cs typeface="Tahoma"/>
                  </a:rPr>
                  <a:t>follows,</a:t>
                </a:r>
                <a:r>
                  <a:rPr sz="1100" spc="-45" dirty="0">
                    <a:latin typeface="Tahoma"/>
                    <a:cs typeface="Tahoma"/>
                  </a:rPr>
                  <a:t> </a:t>
                </a:r>
                <a:r>
                  <a:rPr sz="1100" spc="-35" dirty="0">
                    <a:latin typeface="Tahoma"/>
                    <a:cs typeface="Tahoma"/>
                  </a:rPr>
                  <a:t>using</a:t>
                </a:r>
                <a:r>
                  <a:rPr sz="1100" spc="-45" dirty="0">
                    <a:latin typeface="Tahoma"/>
                    <a:cs typeface="Tahoma"/>
                  </a:rPr>
                  <a:t> </a:t>
                </a:r>
                <a:r>
                  <a:rPr sz="1100" spc="-10" dirty="0">
                    <a:latin typeface="Tahoma"/>
                    <a:cs typeface="Tahoma"/>
                  </a:rPr>
                  <a:t>the</a:t>
                </a:r>
                <a:r>
                  <a:rPr sz="1100" spc="-45" dirty="0">
                    <a:latin typeface="Tahoma"/>
                    <a:cs typeface="Tahoma"/>
                  </a:rPr>
                  <a:t> </a:t>
                </a:r>
                <a:r>
                  <a:rPr sz="1100" dirty="0">
                    <a:latin typeface="Tahoma"/>
                    <a:cs typeface="Tahoma"/>
                  </a:rPr>
                  <a:t>dot</a:t>
                </a:r>
                <a:r>
                  <a:rPr sz="1100" spc="-50" dirty="0">
                    <a:latin typeface="Tahoma"/>
                    <a:cs typeface="Tahoma"/>
                  </a:rPr>
                  <a:t> </a:t>
                </a:r>
                <a:r>
                  <a:rPr sz="1100" spc="-30" dirty="0">
                    <a:latin typeface="Tahoma"/>
                    <a:cs typeface="Tahoma"/>
                  </a:rPr>
                  <a:t>product</a:t>
                </a:r>
                <a:r>
                  <a:rPr sz="1100" spc="-50" dirty="0">
                    <a:latin typeface="Tahoma"/>
                    <a:cs typeface="Tahoma"/>
                  </a:rPr>
                  <a:t> </a:t>
                </a:r>
                <a:r>
                  <a:rPr sz="1100" spc="-20" dirty="0">
                    <a:latin typeface="Tahoma"/>
                    <a:cs typeface="Tahoma"/>
                  </a:rPr>
                  <a:t>as</a:t>
                </a:r>
                <a:r>
                  <a:rPr sz="1100" spc="-45" dirty="0">
                    <a:latin typeface="Tahoma"/>
                    <a:cs typeface="Tahoma"/>
                  </a:rPr>
                  <a:t> </a:t>
                </a:r>
                <a:r>
                  <a:rPr sz="1100" spc="-25" dirty="0">
                    <a:latin typeface="Tahoma"/>
                    <a:cs typeface="Tahoma"/>
                  </a:rPr>
                  <a:t>the definition</a:t>
                </a:r>
                <a:r>
                  <a:rPr sz="1100" spc="-45" dirty="0">
                    <a:latin typeface="Tahoma"/>
                    <a:cs typeface="Tahoma"/>
                  </a:rPr>
                  <a:t> </a:t>
                </a:r>
                <a:r>
                  <a:rPr sz="1100" dirty="0">
                    <a:latin typeface="Tahoma"/>
                    <a:cs typeface="Tahoma"/>
                  </a:rPr>
                  <a:t>of</a:t>
                </a:r>
                <a:r>
                  <a:rPr sz="1100" spc="-45" dirty="0">
                    <a:latin typeface="Tahoma"/>
                    <a:cs typeface="Tahoma"/>
                  </a:rPr>
                  <a:t> </a:t>
                </a:r>
                <a:r>
                  <a:rPr sz="1100" spc="-10" dirty="0">
                    <a:latin typeface="Tahoma"/>
                    <a:cs typeface="Tahoma"/>
                  </a:rPr>
                  <a:t>the</a:t>
                </a:r>
                <a:r>
                  <a:rPr sz="1100" spc="-45" dirty="0">
                    <a:latin typeface="Tahoma"/>
                    <a:cs typeface="Tahoma"/>
                  </a:rPr>
                  <a:t> </a:t>
                </a:r>
                <a:r>
                  <a:rPr sz="1100" spc="-30" dirty="0">
                    <a:latin typeface="Tahoma"/>
                    <a:cs typeface="Tahoma"/>
                  </a:rPr>
                  <a:t>inner</a:t>
                </a:r>
                <a:r>
                  <a:rPr sz="1100" spc="-45" dirty="0">
                    <a:latin typeface="Tahoma"/>
                    <a:cs typeface="Tahoma"/>
                  </a:rPr>
                  <a:t> </a:t>
                </a:r>
                <a:r>
                  <a:rPr sz="1100" spc="-10" dirty="0">
                    <a:latin typeface="Tahoma"/>
                    <a:cs typeface="Tahoma"/>
                  </a:rPr>
                  <a:t>product:</a:t>
                </a:r>
                <a:endParaRPr sz="1100" dirty="0">
                  <a:latin typeface="Tahoma"/>
                  <a:cs typeface="Tahoma"/>
                </a:endParaRPr>
              </a:p>
              <a:p>
                <a:pPr marL="296545">
                  <a:lnSpc>
                    <a:spcPct val="100000"/>
                  </a:lnSpc>
                  <a:spcBef>
                    <a:spcPts val="35"/>
                  </a:spcBef>
                </a:pPr>
                <a:r>
                  <a:rPr sz="1050" spc="55" dirty="0">
                    <a:latin typeface="Arial"/>
                    <a:cs typeface="Arial"/>
                  </a:rPr>
                  <a:t>Ax</a:t>
                </a:r>
                <a:r>
                  <a:rPr sz="1050" spc="380" dirty="0">
                    <a:latin typeface="Arial"/>
                    <a:cs typeface="Arial"/>
                  </a:rPr>
                  <a:t> </a:t>
                </a:r>
                <a:r>
                  <a:rPr sz="1200" spc="15" baseline="27777" dirty="0">
                    <a:latin typeface="Tahoma"/>
                    <a:cs typeface="Tahoma"/>
                  </a:rPr>
                  <a:t>2</a:t>
                </a:r>
                <a:r>
                  <a:rPr sz="1200" spc="179" baseline="27777" dirty="0">
                    <a:latin typeface="Tahoma"/>
                    <a:cs typeface="Tahoma"/>
                  </a:rPr>
                  <a:t> </a:t>
                </a:r>
                <a:r>
                  <a:rPr sz="1100" spc="10" dirty="0">
                    <a:latin typeface="Tahoma"/>
                    <a:cs typeface="Tahoma"/>
                  </a:rPr>
                  <a:t>=</a:t>
                </a:r>
                <a:r>
                  <a:rPr sz="1100" spc="-25" dirty="0">
                    <a:latin typeface="Tahoma"/>
                    <a:cs typeface="Tahoma"/>
                  </a:rPr>
                  <a:t> </a:t>
                </a:r>
                <a:r>
                  <a:rPr sz="1100" spc="10" dirty="0">
                    <a:latin typeface="Tahoma"/>
                    <a:cs typeface="Tahoma"/>
                  </a:rPr>
                  <a:t>(</a:t>
                </a:r>
                <a:r>
                  <a:rPr sz="1050" spc="10" dirty="0">
                    <a:latin typeface="Arial"/>
                    <a:cs typeface="Arial"/>
                  </a:rPr>
                  <a:t>Ax</a:t>
                </a:r>
                <a:r>
                  <a:rPr sz="1050" spc="-185" dirty="0">
                    <a:latin typeface="Arial"/>
                    <a:cs typeface="Arial"/>
                  </a:rPr>
                  <a:t> </a:t>
                </a:r>
                <a:r>
                  <a:rPr sz="1100" spc="10" dirty="0">
                    <a:latin typeface="Tahoma"/>
                    <a:cs typeface="Tahoma"/>
                  </a:rPr>
                  <a:t>)</a:t>
                </a:r>
                <a:r>
                  <a:rPr sz="1200" i="1" spc="15" baseline="27777" dirty="0">
                    <a:latin typeface="Arial"/>
                    <a:cs typeface="Arial"/>
                  </a:rPr>
                  <a:t>T</a:t>
                </a:r>
                <a:r>
                  <a:rPr sz="1200" i="1" spc="-89" baseline="27777" dirty="0">
                    <a:latin typeface="Arial"/>
                    <a:cs typeface="Arial"/>
                  </a:rPr>
                  <a:t> </a:t>
                </a:r>
                <a:r>
                  <a:rPr sz="1050" spc="55" dirty="0">
                    <a:latin typeface="Arial"/>
                    <a:cs typeface="Arial"/>
                  </a:rPr>
                  <a:t>Ax</a:t>
                </a:r>
                <a:r>
                  <a:rPr sz="1050" spc="135" dirty="0">
                    <a:latin typeface="Arial"/>
                    <a:cs typeface="Arial"/>
                  </a:rPr>
                  <a:t> </a:t>
                </a:r>
                <a:r>
                  <a:rPr sz="1100" spc="10" dirty="0">
                    <a:latin typeface="Tahoma"/>
                    <a:cs typeface="Tahoma"/>
                  </a:rPr>
                  <a:t>=</a:t>
                </a:r>
                <a:r>
                  <a:rPr sz="1100" spc="-25" dirty="0">
                    <a:latin typeface="Tahoma"/>
                    <a:cs typeface="Tahoma"/>
                  </a:rPr>
                  <a:t> </a:t>
                </a:r>
                <a:r>
                  <a:rPr sz="1050" spc="10" dirty="0">
                    <a:latin typeface="Arial"/>
                    <a:cs typeface="Arial"/>
                  </a:rPr>
                  <a:t>x</a:t>
                </a:r>
                <a:r>
                  <a:rPr sz="1050" spc="-185" dirty="0">
                    <a:latin typeface="Arial"/>
                    <a:cs typeface="Arial"/>
                  </a:rPr>
                  <a:t> </a:t>
                </a:r>
                <a:r>
                  <a:rPr sz="1200" i="1" spc="127" baseline="27777" dirty="0">
                    <a:latin typeface="Arial"/>
                    <a:cs typeface="Arial"/>
                  </a:rPr>
                  <a:t>T</a:t>
                </a:r>
                <a:r>
                  <a:rPr sz="1200" i="1" spc="-89" baseline="27777" dirty="0">
                    <a:latin typeface="Arial"/>
                    <a:cs typeface="Arial"/>
                  </a:rPr>
                  <a:t> </a:t>
                </a:r>
                <a:r>
                  <a:rPr sz="1050" spc="85" dirty="0">
                    <a:latin typeface="Arial"/>
                    <a:cs typeface="Arial"/>
                  </a:rPr>
                  <a:t>A</a:t>
                </a:r>
                <a:r>
                  <a:rPr sz="1200" i="1" spc="127" baseline="27777" dirty="0">
                    <a:latin typeface="Arial"/>
                    <a:cs typeface="Arial"/>
                  </a:rPr>
                  <a:t>T</a:t>
                </a:r>
                <a:r>
                  <a:rPr sz="1200" i="1" spc="-89" baseline="27777" dirty="0">
                    <a:latin typeface="Arial"/>
                    <a:cs typeface="Arial"/>
                  </a:rPr>
                  <a:t> </a:t>
                </a:r>
                <a:r>
                  <a:rPr sz="1050" spc="55" dirty="0">
                    <a:latin typeface="Arial"/>
                    <a:cs typeface="Arial"/>
                  </a:rPr>
                  <a:t>Ax</a:t>
                </a:r>
                <a:r>
                  <a:rPr sz="1050" spc="130" dirty="0">
                    <a:latin typeface="Arial"/>
                    <a:cs typeface="Arial"/>
                  </a:rPr>
                  <a:t> </a:t>
                </a:r>
                <a:r>
                  <a:rPr sz="1100" spc="10" dirty="0">
                    <a:latin typeface="Tahoma"/>
                    <a:cs typeface="Tahoma"/>
                  </a:rPr>
                  <a:t>=</a:t>
                </a:r>
                <a:r>
                  <a:rPr sz="1100" spc="-20" dirty="0">
                    <a:latin typeface="Tahoma"/>
                    <a:cs typeface="Tahoma"/>
                  </a:rPr>
                  <a:t> </a:t>
                </a:r>
                <a:r>
                  <a:rPr sz="1050" spc="10" dirty="0">
                    <a:latin typeface="Arial"/>
                    <a:cs typeface="Arial"/>
                  </a:rPr>
                  <a:t>x</a:t>
                </a:r>
                <a:r>
                  <a:rPr sz="1050" spc="-185" dirty="0">
                    <a:latin typeface="Arial"/>
                    <a:cs typeface="Arial"/>
                  </a:rPr>
                  <a:t> </a:t>
                </a:r>
                <a:r>
                  <a:rPr sz="1200" i="1" spc="127" baseline="27777" dirty="0">
                    <a:latin typeface="Arial"/>
                    <a:cs typeface="Arial"/>
                  </a:rPr>
                  <a:t>T</a:t>
                </a:r>
                <a:r>
                  <a:rPr sz="1200" i="1" spc="-89" baseline="27777" dirty="0">
                    <a:latin typeface="Arial"/>
                    <a:cs typeface="Arial"/>
                  </a:rPr>
                  <a:t> </a:t>
                </a:r>
                <a:r>
                  <a:rPr sz="1100" i="1" dirty="0">
                    <a:latin typeface="Arial"/>
                    <a:cs typeface="Arial"/>
                  </a:rPr>
                  <a:t>I</a:t>
                </a:r>
                <a:r>
                  <a:rPr sz="1100" i="1" spc="-155" dirty="0">
                    <a:latin typeface="Arial"/>
                    <a:cs typeface="Arial"/>
                  </a:rPr>
                  <a:t> </a:t>
                </a:r>
                <a:r>
                  <a:rPr sz="1050" spc="10" dirty="0">
                    <a:latin typeface="Arial"/>
                    <a:cs typeface="Arial"/>
                  </a:rPr>
                  <a:t>x</a:t>
                </a:r>
                <a:r>
                  <a:rPr sz="1050" spc="135" dirty="0">
                    <a:latin typeface="Arial"/>
                    <a:cs typeface="Arial"/>
                  </a:rPr>
                  <a:t> </a:t>
                </a:r>
                <a:r>
                  <a:rPr sz="1100" spc="10" dirty="0">
                    <a:latin typeface="Tahoma"/>
                    <a:cs typeface="Tahoma"/>
                  </a:rPr>
                  <a:t>=</a:t>
                </a:r>
                <a:r>
                  <a:rPr sz="1100" spc="-25" dirty="0">
                    <a:latin typeface="Tahoma"/>
                    <a:cs typeface="Tahoma"/>
                  </a:rPr>
                  <a:t> </a:t>
                </a:r>
                <a:r>
                  <a:rPr sz="1050" spc="10" dirty="0">
                    <a:latin typeface="Arial"/>
                    <a:cs typeface="Arial"/>
                  </a:rPr>
                  <a:t>x</a:t>
                </a:r>
                <a:r>
                  <a:rPr sz="1050" spc="-185" dirty="0">
                    <a:latin typeface="Arial"/>
                    <a:cs typeface="Arial"/>
                  </a:rPr>
                  <a:t> </a:t>
                </a:r>
                <a:r>
                  <a:rPr sz="1200" i="1" spc="127" baseline="27777" dirty="0">
                    <a:latin typeface="Arial"/>
                    <a:cs typeface="Arial"/>
                  </a:rPr>
                  <a:t>T</a:t>
                </a:r>
                <a:r>
                  <a:rPr sz="1200" i="1" spc="-89" baseline="27777" dirty="0">
                    <a:latin typeface="Arial"/>
                    <a:cs typeface="Arial"/>
                  </a:rPr>
                  <a:t> </a:t>
                </a:r>
                <a:r>
                  <a:rPr sz="1050" spc="-25" dirty="0">
                    <a:latin typeface="Arial"/>
                    <a:cs typeface="Arial"/>
                  </a:rPr>
                  <a:t>x</a:t>
                </a:r>
                <a:r>
                  <a:rPr lang="en-IN" sz="1100" spc="-25" dirty="0">
                    <a:latin typeface="Tahoma"/>
                    <a:cs typeface="Tahoma"/>
                  </a:rPr>
                  <a:t> = </a:t>
                </a:r>
                <a:r>
                  <a:rPr lang="en-IN" sz="1100" spc="-25" dirty="0">
                    <a:latin typeface="Tahoma"/>
                    <a:ea typeface="Cambria Math" panose="02040503050406030204" pitchFamily="18" charset="0"/>
                    <a:cs typeface="Tahoma"/>
                  </a:rPr>
                  <a:t>⃦ x </a:t>
                </a:r>
                <a:r>
                  <a:rPr lang="en-IN" sz="1100" spc="-25" dirty="0">
                    <a:latin typeface="Cambria Math" panose="02040503050406030204" pitchFamily="18" charset="0"/>
                    <a:ea typeface="Cambria Math" panose="02040503050406030204" pitchFamily="18" charset="0"/>
                    <a:cs typeface="Tahoma"/>
                  </a:rPr>
                  <a:t>  </a:t>
                </a:r>
                <a14:m>
                  <m:oMath xmlns:m="http://schemas.openxmlformats.org/officeDocument/2006/math">
                    <m:r>
                      <a:rPr lang="en-IN" sz="1100" i="1" spc="-25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ahoma"/>
                      </a:rPr>
                      <m:t>⃦</m:t>
                    </m:r>
                  </m:oMath>
                </a14:m>
                <a:r>
                  <a:rPr lang="en-IN" sz="1100" spc="-25" baseline="30000" dirty="0">
                    <a:latin typeface="Cambria Math" panose="02040503050406030204" pitchFamily="18" charset="0"/>
                    <a:ea typeface="Cambria Math" panose="02040503050406030204" pitchFamily="18" charset="0"/>
                    <a:cs typeface="Tahoma"/>
                  </a:rPr>
                  <a:t>2</a:t>
                </a:r>
                <a:r>
                  <a:rPr lang="en-IN" sz="1100" spc="-25" dirty="0">
                    <a:latin typeface="Cambria Math" panose="02040503050406030204" pitchFamily="18" charset="0"/>
                    <a:ea typeface="Cambria Math" panose="02040503050406030204" pitchFamily="18" charset="0"/>
                    <a:cs typeface="Tahoma"/>
                  </a:rPr>
                  <a:t>   </a:t>
                </a:r>
              </a:p>
              <a:p>
                <a:pPr marL="296545">
                  <a:lnSpc>
                    <a:spcPct val="100000"/>
                  </a:lnSpc>
                  <a:spcBef>
                    <a:spcPts val="35"/>
                  </a:spcBef>
                </a:pPr>
                <a:endParaRPr lang="en-IN" sz="1100" spc="-25" dirty="0">
                  <a:latin typeface="Cambria Math" panose="02040503050406030204" pitchFamily="18" charset="0"/>
                  <a:ea typeface="Cambria Math" panose="02040503050406030204" pitchFamily="18" charset="0"/>
                  <a:cs typeface="Tahoma"/>
                </a:endParaRPr>
              </a:p>
              <a:p>
                <a:pPr marL="296545">
                  <a:lnSpc>
                    <a:spcPct val="100000"/>
                  </a:lnSpc>
                  <a:spcBef>
                    <a:spcPts val="35"/>
                  </a:spcBef>
                </a:pPr>
                <a:endParaRPr sz="1100" dirty="0">
                  <a:latin typeface="Tahoma"/>
                  <a:cs typeface="Tahoma"/>
                </a:endParaRPr>
              </a:p>
            </p:txBody>
          </p:sp>
        </mc:Choice>
        <mc:Fallback xmlns=""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257" y="997075"/>
                <a:ext cx="3736975" cy="1037913"/>
              </a:xfrm>
              <a:prstGeom prst="rect">
                <a:avLst/>
              </a:prstGeom>
              <a:blipFill>
                <a:blip r:embed="rId3"/>
                <a:stretch>
                  <a:fillRect l="-1631" t="-7647" r="-17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bject 6"/>
          <p:cNvSpPr txBox="1"/>
          <p:nvPr/>
        </p:nvSpPr>
        <p:spPr>
          <a:xfrm>
            <a:off x="434657" y="1723325"/>
            <a:ext cx="349059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2565" indent="-177165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Font typeface="Lucida Sans Unicode"/>
              <a:buChar char="►"/>
              <a:tabLst>
                <a:tab pos="202565" algn="l"/>
              </a:tabLst>
            </a:pPr>
            <a:r>
              <a:rPr sz="1100" dirty="0">
                <a:latin typeface="Tahoma"/>
                <a:cs typeface="Tahoma"/>
              </a:rPr>
              <a:t>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example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orthonormal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matrix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2D-</a:t>
            </a:r>
            <a:r>
              <a:rPr sz="1100" spc="-10" dirty="0">
                <a:latin typeface="Tahoma"/>
                <a:cs typeface="Tahoma"/>
              </a:rPr>
              <a:t>rotation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76029" y="1883370"/>
            <a:ext cx="7613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14655" algn="l"/>
              </a:tabLst>
            </a:pPr>
            <a:r>
              <a:rPr sz="1100" spc="-60" dirty="0">
                <a:latin typeface="Tahoma"/>
                <a:cs typeface="Tahoma"/>
              </a:rPr>
              <a:t>cos</a:t>
            </a:r>
            <a:r>
              <a:rPr sz="1100" spc="-14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Bookman Old Style"/>
                <a:cs typeface="Bookman Old Style"/>
              </a:rPr>
              <a:t>θ</a:t>
            </a:r>
            <a:r>
              <a:rPr sz="1100" i="1" dirty="0">
                <a:latin typeface="Bookman Old Style"/>
                <a:cs typeface="Bookman Old Style"/>
              </a:rPr>
              <a:t>	</a:t>
            </a:r>
            <a:r>
              <a:rPr sz="1100" spc="-10" dirty="0">
                <a:latin typeface="Cambria"/>
                <a:cs typeface="Cambria"/>
              </a:rPr>
              <a:t>−</a:t>
            </a:r>
            <a:r>
              <a:rPr sz="1100" i="1" spc="-10" dirty="0">
                <a:latin typeface="Arial"/>
                <a:cs typeface="Arial"/>
              </a:rPr>
              <a:t>sin</a:t>
            </a:r>
            <a:r>
              <a:rPr sz="1100" i="1" spc="-10" dirty="0">
                <a:latin typeface="Bookman Old Style"/>
                <a:cs typeface="Bookman Old Style"/>
              </a:rPr>
              <a:t>θ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99423" y="2055442"/>
            <a:ext cx="7010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27990" algn="l"/>
              </a:tabLst>
            </a:pPr>
            <a:r>
              <a:rPr sz="1100" i="1" spc="-20" dirty="0">
                <a:latin typeface="Arial"/>
                <a:cs typeface="Arial"/>
              </a:rPr>
              <a:t>sin</a:t>
            </a:r>
            <a:r>
              <a:rPr sz="1100" i="1" spc="-20" dirty="0">
                <a:latin typeface="Bookman Old Style"/>
                <a:cs typeface="Bookman Old Style"/>
              </a:rPr>
              <a:t>θ</a:t>
            </a:r>
            <a:r>
              <a:rPr sz="1100" i="1" dirty="0">
                <a:latin typeface="Bookman Old Style"/>
                <a:cs typeface="Bookman Old Style"/>
              </a:rPr>
              <a:t>	</a:t>
            </a:r>
            <a:r>
              <a:rPr sz="1100" i="1" spc="-75" dirty="0">
                <a:latin typeface="Arial"/>
                <a:cs typeface="Arial"/>
              </a:rPr>
              <a:t>cos</a:t>
            </a:r>
            <a:r>
              <a:rPr sz="1100" i="1" spc="-75" dirty="0">
                <a:latin typeface="Bookman Old Style"/>
                <a:cs typeface="Bookman Old Style"/>
              </a:rPr>
              <a:t>θ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02903" y="1774277"/>
            <a:ext cx="911225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824865" algn="l"/>
              </a:tabLst>
            </a:pPr>
            <a:r>
              <a:rPr sz="1100" dirty="0">
                <a:latin typeface="Arial"/>
                <a:cs typeface="Arial"/>
              </a:rPr>
              <a:t>	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34689" y="1969629"/>
            <a:ext cx="6096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0" dirty="0">
                <a:latin typeface="Tahoma"/>
                <a:cs typeface="Tahoma"/>
              </a:rPr>
              <a:t>where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spc="-150" dirty="0">
                <a:latin typeface="Bookman Old Style"/>
                <a:cs typeface="Bookman Old Style"/>
              </a:rPr>
              <a:t>θ</a:t>
            </a:r>
            <a:r>
              <a:rPr sz="1100" i="1" spc="6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Tahoma"/>
                <a:cs typeface="Tahoma"/>
              </a:rPr>
              <a:t>is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4395" y="1889580"/>
            <a:ext cx="1958339" cy="518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6900"/>
              </a:lnSpc>
              <a:spcBef>
                <a:spcPts val="100"/>
              </a:spcBef>
            </a:pPr>
            <a:r>
              <a:rPr sz="1100" spc="-20" dirty="0">
                <a:latin typeface="Tahoma"/>
                <a:cs typeface="Tahoma"/>
              </a:rPr>
              <a:t>matrix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expressed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as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angle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rotation.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12" name="Left Bracket 11">
            <a:extLst>
              <a:ext uri="{FF2B5EF4-FFF2-40B4-BE49-F238E27FC236}">
                <a16:creationId xmlns:a16="http://schemas.microsoft.com/office/drawing/2014/main" id="{FDE1CEEC-DDB8-E35F-1282-56BD50E14406}"/>
              </a:ext>
            </a:extLst>
          </p:cNvPr>
          <p:cNvSpPr/>
          <p:nvPr/>
        </p:nvSpPr>
        <p:spPr>
          <a:xfrm>
            <a:off x="2655468" y="1883370"/>
            <a:ext cx="106782" cy="456605"/>
          </a:xfrm>
          <a:prstGeom prst="lef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ight Bracket 12">
            <a:extLst>
              <a:ext uri="{FF2B5EF4-FFF2-40B4-BE49-F238E27FC236}">
                <a16:creationId xmlns:a16="http://schemas.microsoft.com/office/drawing/2014/main" id="{04305F79-90E1-06EE-6F67-C97914534F12}"/>
              </a:ext>
            </a:extLst>
          </p:cNvPr>
          <p:cNvSpPr/>
          <p:nvPr/>
        </p:nvSpPr>
        <p:spPr>
          <a:xfrm>
            <a:off x="3371850" y="1883370"/>
            <a:ext cx="125908" cy="456605"/>
          </a:xfrm>
          <a:prstGeom prst="righ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289433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Ortho</a:t>
            </a:r>
            <a:r>
              <a:rPr lang="en-IN" dirty="0"/>
              <a:t>gonal</a:t>
            </a:r>
            <a:r>
              <a:rPr spc="80" dirty="0"/>
              <a:t> </a:t>
            </a:r>
            <a:r>
              <a:rPr spc="-10" dirty="0"/>
              <a:t>matrix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4657" y="803261"/>
            <a:ext cx="3776345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01930" marR="1778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01930" algn="l"/>
              </a:tabLst>
            </a:pPr>
            <a:r>
              <a:rPr sz="1100" dirty="0">
                <a:latin typeface="Tahoma"/>
                <a:cs typeface="Tahoma"/>
              </a:rPr>
              <a:t>Also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angle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12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y</a:t>
            </a:r>
            <a:r>
              <a:rPr sz="1050" spc="140" dirty="0">
                <a:latin typeface="Arial"/>
                <a:cs typeface="Arial"/>
              </a:rPr>
              <a:t> </a:t>
            </a:r>
            <a:r>
              <a:rPr sz="1100" spc="-55" dirty="0">
                <a:latin typeface="Tahoma"/>
                <a:cs typeface="Tahoma"/>
              </a:rPr>
              <a:t>does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change </a:t>
            </a:r>
            <a:r>
              <a:rPr sz="1100" spc="-20" dirty="0">
                <a:latin typeface="Tahoma"/>
                <a:cs typeface="Tahoma"/>
              </a:rPr>
              <a:t>after</a:t>
            </a:r>
            <a:r>
              <a:rPr sz="1100" spc="-40" dirty="0">
                <a:latin typeface="Tahoma"/>
                <a:cs typeface="Tahoma"/>
              </a:rPr>
              <a:t> transformation</a:t>
            </a:r>
            <a:r>
              <a:rPr sz="1100" spc="-35" dirty="0">
                <a:latin typeface="Tahoma"/>
                <a:cs typeface="Tahoma"/>
              </a:rPr>
              <a:t> by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</a:t>
            </a:r>
            <a:r>
              <a:rPr lang="en-IN" sz="1100" spc="-40" dirty="0">
                <a:latin typeface="Tahoma"/>
                <a:cs typeface="Tahoma"/>
              </a:rPr>
              <a:t>gonal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matrix.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be </a:t>
            </a:r>
            <a:r>
              <a:rPr sz="1100" spc="-70" dirty="0">
                <a:latin typeface="Tahoma"/>
                <a:cs typeface="Tahoma"/>
              </a:rPr>
              <a:t>seen</a:t>
            </a:r>
            <a:r>
              <a:rPr sz="1100" spc="-20" dirty="0">
                <a:latin typeface="Tahoma"/>
                <a:cs typeface="Tahoma"/>
              </a:rPr>
              <a:t> as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follows: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01990" y="1513533"/>
            <a:ext cx="6426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cos(</a:t>
            </a:r>
            <a:r>
              <a:rPr sz="1100" i="1" dirty="0">
                <a:latin typeface="Bookman Old Style"/>
                <a:cs typeface="Bookman Old Style"/>
              </a:rPr>
              <a:t>ω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4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70746" y="1627289"/>
            <a:ext cx="687705" cy="167640"/>
            <a:chOff x="2470746" y="1627289"/>
            <a:chExt cx="687705" cy="167640"/>
          </a:xfrm>
        </p:grpSpPr>
        <p:sp>
          <p:nvSpPr>
            <p:cNvPr id="6" name="object 6"/>
            <p:cNvSpPr/>
            <p:nvPr/>
          </p:nvSpPr>
          <p:spPr>
            <a:xfrm>
              <a:off x="2473604" y="1630146"/>
              <a:ext cx="681990" cy="0"/>
            </a:xfrm>
            <a:custGeom>
              <a:avLst/>
              <a:gdLst/>
              <a:ahLst/>
              <a:cxnLst/>
              <a:rect l="l" t="t" r="r" b="b"/>
              <a:pathLst>
                <a:path w="681989">
                  <a:moveTo>
                    <a:pt x="0" y="0"/>
                  </a:moveTo>
                  <a:lnTo>
                    <a:pt x="681609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89479" y="1655038"/>
              <a:ext cx="34925" cy="1397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42603" y="1655038"/>
              <a:ext cx="34925" cy="1397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50391" y="1655038"/>
              <a:ext cx="34925" cy="1397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480106" y="1393342"/>
            <a:ext cx="653415" cy="40640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300"/>
              </a:spcBef>
            </a:pPr>
            <a:r>
              <a:rPr sz="1100" spc="10" dirty="0">
                <a:latin typeface="Tahoma"/>
                <a:cs typeface="Tahoma"/>
              </a:rPr>
              <a:t>(</a:t>
            </a:r>
            <a:r>
              <a:rPr sz="1050" spc="10" dirty="0">
                <a:latin typeface="Arial"/>
                <a:cs typeface="Arial"/>
              </a:rPr>
              <a:t>Ax</a:t>
            </a:r>
            <a:r>
              <a:rPr sz="1050" spc="-140" dirty="0">
                <a:latin typeface="Arial"/>
                <a:cs typeface="Arial"/>
              </a:rPr>
              <a:t> </a:t>
            </a:r>
            <a:r>
              <a:rPr sz="1100" spc="10" dirty="0">
                <a:latin typeface="Tahoma"/>
                <a:cs typeface="Tahoma"/>
              </a:rPr>
              <a:t>)</a:t>
            </a:r>
            <a:r>
              <a:rPr sz="1200" i="1" spc="15" baseline="27777" dirty="0">
                <a:latin typeface="Arial"/>
                <a:cs typeface="Arial"/>
              </a:rPr>
              <a:t>T</a:t>
            </a:r>
            <a:r>
              <a:rPr sz="1200" i="1" spc="22" baseline="27777" dirty="0">
                <a:latin typeface="Arial"/>
                <a:cs typeface="Arial"/>
              </a:rPr>
              <a:t> </a:t>
            </a:r>
            <a:r>
              <a:rPr sz="1050" spc="-25" dirty="0">
                <a:latin typeface="Arial"/>
                <a:cs typeface="Arial"/>
              </a:rPr>
              <a:t>Ay</a:t>
            </a:r>
            <a:endParaRPr sz="1050">
              <a:latin typeface="Arial"/>
              <a:cs typeface="Arial"/>
            </a:endParaRPr>
          </a:p>
          <a:p>
            <a:pPr marL="62230">
              <a:lnSpc>
                <a:spcPct val="100000"/>
              </a:lnSpc>
              <a:spcBef>
                <a:spcPts val="215"/>
              </a:spcBef>
              <a:tabLst>
                <a:tab pos="423545" algn="l"/>
              </a:tabLst>
            </a:pPr>
            <a:r>
              <a:rPr sz="1050" spc="30" dirty="0">
                <a:latin typeface="Arial"/>
                <a:cs typeface="Arial"/>
              </a:rPr>
              <a:t>Ax</a:t>
            </a:r>
            <a:r>
              <a:rPr sz="1050" dirty="0">
                <a:latin typeface="Arial"/>
                <a:cs typeface="Arial"/>
              </a:rPr>
              <a:t>	</a:t>
            </a:r>
            <a:r>
              <a:rPr sz="1050" spc="-25" dirty="0">
                <a:latin typeface="Arial"/>
                <a:cs typeface="Arial"/>
              </a:rPr>
              <a:t>Ay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1822" y="1655038"/>
            <a:ext cx="34925" cy="13970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211438" y="1908110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473604" y="2021954"/>
            <a:ext cx="553085" cy="167640"/>
            <a:chOff x="2473604" y="2021954"/>
            <a:chExt cx="553085" cy="167640"/>
          </a:xfrm>
        </p:grpSpPr>
        <p:sp>
          <p:nvSpPr>
            <p:cNvPr id="14" name="object 14"/>
            <p:cNvSpPr/>
            <p:nvPr/>
          </p:nvSpPr>
          <p:spPr>
            <a:xfrm>
              <a:off x="2473604" y="2024722"/>
              <a:ext cx="553085" cy="0"/>
            </a:xfrm>
            <a:custGeom>
              <a:avLst/>
              <a:gdLst/>
              <a:ahLst/>
              <a:cxnLst/>
              <a:rect l="l" t="t" r="r" b="b"/>
              <a:pathLst>
                <a:path w="553085">
                  <a:moveTo>
                    <a:pt x="0" y="0"/>
                  </a:moveTo>
                  <a:lnTo>
                    <a:pt x="552500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24328" y="2049614"/>
              <a:ext cx="34925" cy="1397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5902" y="2049614"/>
              <a:ext cx="34925" cy="1397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83691" y="2049614"/>
              <a:ext cx="34925" cy="1397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37852" y="2049614"/>
              <a:ext cx="34925" cy="13970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2211438" y="2302686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470746" y="2416441"/>
            <a:ext cx="488950" cy="167640"/>
            <a:chOff x="2470746" y="2416441"/>
            <a:chExt cx="488950" cy="167640"/>
          </a:xfrm>
        </p:grpSpPr>
        <p:sp>
          <p:nvSpPr>
            <p:cNvPr id="21" name="object 21"/>
            <p:cNvSpPr/>
            <p:nvPr/>
          </p:nvSpPr>
          <p:spPr>
            <a:xfrm>
              <a:off x="2473604" y="2419299"/>
              <a:ext cx="483234" cy="0"/>
            </a:xfrm>
            <a:custGeom>
              <a:avLst/>
              <a:gdLst/>
              <a:ahLst/>
              <a:cxnLst/>
              <a:rect l="l" t="t" r="r" b="b"/>
              <a:pathLst>
                <a:path w="483235">
                  <a:moveTo>
                    <a:pt x="0" y="0"/>
                  </a:moveTo>
                  <a:lnTo>
                    <a:pt x="482803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89479" y="2444204"/>
              <a:ext cx="34925" cy="1397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1053" y="2444204"/>
              <a:ext cx="34925" cy="1397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48842" y="2444204"/>
              <a:ext cx="34925" cy="13970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2410104" y="1791213"/>
            <a:ext cx="664210" cy="797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7005" marR="55880" indent="-104139">
              <a:lnSpc>
                <a:spcPct val="118000"/>
              </a:lnSpc>
              <a:spcBef>
                <a:spcPts val="95"/>
              </a:spcBef>
              <a:tabLst>
                <a:tab pos="426720" algn="l"/>
              </a:tabLst>
            </a:pPr>
            <a:r>
              <a:rPr sz="1050" dirty="0">
                <a:latin typeface="Arial"/>
                <a:cs typeface="Arial"/>
              </a:rPr>
              <a:t>x</a:t>
            </a:r>
            <a:r>
              <a:rPr sz="1050" spc="-185" dirty="0">
                <a:latin typeface="Arial"/>
                <a:cs typeface="Arial"/>
              </a:rPr>
              <a:t> </a:t>
            </a:r>
            <a:r>
              <a:rPr sz="1200" i="1" spc="127" baseline="27777" dirty="0">
                <a:latin typeface="Arial"/>
                <a:cs typeface="Arial"/>
              </a:rPr>
              <a:t>T</a:t>
            </a:r>
            <a:r>
              <a:rPr sz="1200" i="1" spc="-97" baseline="27777" dirty="0">
                <a:latin typeface="Arial"/>
                <a:cs typeface="Arial"/>
              </a:rPr>
              <a:t> </a:t>
            </a:r>
            <a:r>
              <a:rPr sz="1050" spc="85" dirty="0">
                <a:latin typeface="Arial"/>
                <a:cs typeface="Arial"/>
              </a:rPr>
              <a:t>A</a:t>
            </a:r>
            <a:r>
              <a:rPr sz="1200" i="1" spc="127" baseline="27777" dirty="0">
                <a:latin typeface="Arial"/>
                <a:cs typeface="Arial"/>
              </a:rPr>
              <a:t>T</a:t>
            </a:r>
            <a:r>
              <a:rPr sz="1200" i="1" spc="-89" baseline="27777" dirty="0">
                <a:latin typeface="Arial"/>
                <a:cs typeface="Arial"/>
              </a:rPr>
              <a:t> </a:t>
            </a:r>
            <a:r>
              <a:rPr sz="1050" spc="-25" dirty="0">
                <a:latin typeface="Arial"/>
                <a:cs typeface="Arial"/>
              </a:rPr>
              <a:t>Ay </a:t>
            </a:r>
            <a:r>
              <a:rPr sz="1050" spc="-50" dirty="0">
                <a:latin typeface="Arial"/>
                <a:cs typeface="Arial"/>
              </a:rPr>
              <a:t>x</a:t>
            </a:r>
            <a:r>
              <a:rPr sz="1050" dirty="0">
                <a:latin typeface="Arial"/>
                <a:cs typeface="Arial"/>
              </a:rPr>
              <a:t>	</a:t>
            </a:r>
            <a:r>
              <a:rPr sz="1050" spc="-50" dirty="0">
                <a:latin typeface="Arial"/>
                <a:cs typeface="Arial"/>
              </a:rPr>
              <a:t>y</a:t>
            </a:r>
            <a:endParaRPr sz="1050">
              <a:latin typeface="Arial"/>
              <a:cs typeface="Arial"/>
            </a:endParaRPr>
          </a:p>
          <a:p>
            <a:pPr marL="132715" marR="194310" indent="41275">
              <a:lnSpc>
                <a:spcPct val="118000"/>
              </a:lnSpc>
              <a:spcBef>
                <a:spcPts val="135"/>
              </a:spcBef>
              <a:tabLst>
                <a:tab pos="391795" algn="l"/>
              </a:tabLst>
            </a:pPr>
            <a:r>
              <a:rPr sz="1050" dirty="0">
                <a:latin typeface="Arial"/>
                <a:cs typeface="Arial"/>
              </a:rPr>
              <a:t>x</a:t>
            </a:r>
            <a:r>
              <a:rPr sz="1050" spc="-185" dirty="0">
                <a:latin typeface="Arial"/>
                <a:cs typeface="Arial"/>
              </a:rPr>
              <a:t> </a:t>
            </a:r>
            <a:r>
              <a:rPr sz="1200" i="1" spc="127" baseline="27777" dirty="0">
                <a:latin typeface="Arial"/>
                <a:cs typeface="Arial"/>
              </a:rPr>
              <a:t>T</a:t>
            </a:r>
            <a:r>
              <a:rPr sz="1200" i="1" spc="-89" baseline="27777" dirty="0">
                <a:latin typeface="Arial"/>
                <a:cs typeface="Arial"/>
              </a:rPr>
              <a:t> </a:t>
            </a:r>
            <a:r>
              <a:rPr sz="1050" spc="-50" dirty="0">
                <a:latin typeface="Arial"/>
                <a:cs typeface="Arial"/>
              </a:rPr>
              <a:t>y x</a:t>
            </a:r>
            <a:r>
              <a:rPr sz="1050" dirty="0">
                <a:latin typeface="Arial"/>
                <a:cs typeface="Arial"/>
              </a:rPr>
              <a:t>	</a:t>
            </a:r>
            <a:r>
              <a:rPr sz="1050" spc="-50" dirty="0">
                <a:latin typeface="Arial"/>
                <a:cs typeface="Arial"/>
              </a:rPr>
              <a:t>y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3004" y="2444203"/>
            <a:ext cx="34925" cy="1397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Orthonormal</a:t>
            </a:r>
            <a:r>
              <a:rPr spc="80" dirty="0"/>
              <a:t> </a:t>
            </a:r>
            <a:r>
              <a:rPr spc="-10" dirty="0"/>
              <a:t>basis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6557" y="707896"/>
            <a:ext cx="3912870" cy="216090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40029" marR="5588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40029" algn="l"/>
              </a:tabLst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already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looked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concept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basis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space,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found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space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Century"/>
                <a:cs typeface="Century"/>
              </a:rPr>
              <a:t>R</a:t>
            </a:r>
            <a:r>
              <a:rPr sz="1200" i="1" baseline="27777" dirty="0">
                <a:latin typeface="Arial"/>
                <a:cs typeface="Arial"/>
              </a:rPr>
              <a:t>n</a:t>
            </a:r>
            <a:r>
              <a:rPr sz="1200" i="1" spc="217" baseline="27777" dirty="0">
                <a:latin typeface="Arial"/>
                <a:cs typeface="Arial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need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basis vectors.</a:t>
            </a:r>
            <a:endParaRPr sz="1100">
              <a:latin typeface="Tahoma"/>
              <a:cs typeface="Tahoma"/>
            </a:endParaRPr>
          </a:p>
          <a:p>
            <a:pPr marL="240029" marR="10223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40029" algn="l"/>
              </a:tabLst>
            </a:pPr>
            <a:r>
              <a:rPr sz="1100" dirty="0">
                <a:latin typeface="Tahoma"/>
                <a:cs typeface="Tahoma"/>
              </a:rPr>
              <a:t>Our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basis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vectors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needed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only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linearly </a:t>
            </a:r>
            <a:r>
              <a:rPr sz="1100" spc="-45" dirty="0">
                <a:latin typeface="Tahoma"/>
                <a:cs typeface="Tahoma"/>
              </a:rPr>
              <a:t>independent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-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we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ensure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linear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independence</a:t>
            </a:r>
            <a:r>
              <a:rPr sz="1100" spc="-30" dirty="0">
                <a:latin typeface="Tahoma"/>
                <a:cs typeface="Tahoma"/>
              </a:rPr>
              <a:t> by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ensuring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our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basis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point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different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directions,</a:t>
            </a:r>
            <a:r>
              <a:rPr sz="1100" spc="-30" dirty="0">
                <a:latin typeface="Tahoma"/>
                <a:cs typeface="Tahoma"/>
              </a:rPr>
              <a:t> so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linear </a:t>
            </a:r>
            <a:r>
              <a:rPr sz="1100" spc="-30" dirty="0">
                <a:latin typeface="Tahoma"/>
                <a:cs typeface="Tahoma"/>
              </a:rPr>
              <a:t>combination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Arial"/>
                <a:cs typeface="Arial"/>
              </a:rPr>
              <a:t>n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-30" dirty="0">
                <a:latin typeface="Cambria"/>
                <a:cs typeface="Cambria"/>
              </a:rPr>
              <a:t> 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basis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vectors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cannot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cancel </a:t>
            </a:r>
            <a:r>
              <a:rPr sz="1100" dirty="0">
                <a:latin typeface="Tahoma"/>
                <a:cs typeface="Tahoma"/>
              </a:rPr>
              <a:t>out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n</a:t>
            </a:r>
            <a:r>
              <a:rPr sz="1100" spc="-25" dirty="0">
                <a:latin typeface="Tahoma"/>
                <a:cs typeface="Tahoma"/>
              </a:rPr>
              <a:t>th </a:t>
            </a:r>
            <a:r>
              <a:rPr sz="1100" spc="-35" dirty="0">
                <a:latin typeface="Tahoma"/>
                <a:cs typeface="Tahoma"/>
              </a:rPr>
              <a:t>basis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vector.</a:t>
            </a:r>
            <a:endParaRPr sz="1100">
              <a:latin typeface="Tahoma"/>
              <a:cs typeface="Tahoma"/>
            </a:endParaRPr>
          </a:p>
          <a:p>
            <a:pPr marL="240029" marR="5397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40029" algn="l"/>
              </a:tabLst>
            </a:pPr>
            <a:r>
              <a:rPr sz="1100" spc="-25" dirty="0">
                <a:latin typeface="Tahoma"/>
                <a:cs typeface="Tahoma"/>
              </a:rPr>
              <a:t>Now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5" dirty="0">
                <a:latin typeface="Tahoma"/>
                <a:cs typeface="Tahoma"/>
              </a:rPr>
              <a:t>we</a:t>
            </a:r>
            <a:r>
              <a:rPr sz="1100" dirty="0">
                <a:latin typeface="Tahoma"/>
                <a:cs typeface="Tahoma"/>
              </a:rPr>
              <a:t> will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look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special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case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basis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where</a:t>
            </a:r>
            <a:r>
              <a:rPr sz="1100" spc="-20" dirty="0">
                <a:latin typeface="Tahoma"/>
                <a:cs typeface="Tahoma"/>
              </a:rPr>
              <a:t> the</a:t>
            </a:r>
            <a:r>
              <a:rPr sz="1100" spc="-40" dirty="0">
                <a:latin typeface="Tahoma"/>
                <a:cs typeface="Tahoma"/>
              </a:rPr>
              <a:t> vectors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mutually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orthogonal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sense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inner </a:t>
            </a:r>
            <a:r>
              <a:rPr sz="1100" spc="-10" dirty="0">
                <a:latin typeface="Tahoma"/>
                <a:cs typeface="Tahoma"/>
              </a:rPr>
              <a:t>product,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each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unit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length.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call</a:t>
            </a:r>
            <a:r>
              <a:rPr sz="1100" spc="-45" dirty="0">
                <a:latin typeface="Tahoma"/>
                <a:cs typeface="Tahoma"/>
              </a:rPr>
              <a:t> such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basis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 </a:t>
            </a:r>
            <a:r>
              <a:rPr sz="1100" spc="-40" dirty="0">
                <a:latin typeface="Tahoma"/>
                <a:cs typeface="Tahoma"/>
              </a:rPr>
              <a:t>orthonormal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basis.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Orthonormal</a:t>
            </a:r>
            <a:r>
              <a:rPr spc="80" dirty="0"/>
              <a:t> </a:t>
            </a:r>
            <a:r>
              <a:rPr spc="-10" dirty="0"/>
              <a:t>basis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6557" y="903603"/>
            <a:ext cx="3881120" cy="164465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40029" marR="55880" indent="-177165">
              <a:lnSpc>
                <a:spcPct val="102699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40029" algn="l"/>
              </a:tabLst>
            </a:pPr>
            <a:r>
              <a:rPr sz="1100" spc="-30" dirty="0">
                <a:latin typeface="Tahoma"/>
                <a:cs typeface="Tahoma"/>
              </a:rPr>
              <a:t>Question:</a:t>
            </a:r>
            <a:r>
              <a:rPr sz="1100" spc="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Can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you </a:t>
            </a:r>
            <a:r>
              <a:rPr sz="1100" spc="-35" dirty="0">
                <a:latin typeface="Tahoma"/>
                <a:cs typeface="Tahoma"/>
              </a:rPr>
              <a:t>immediately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think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orthonormal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basis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Century"/>
                <a:cs typeface="Century"/>
              </a:rPr>
              <a:t>R</a:t>
            </a:r>
            <a:r>
              <a:rPr sz="1200" i="1" baseline="27777" dirty="0">
                <a:latin typeface="Arial"/>
                <a:cs typeface="Arial"/>
              </a:rPr>
              <a:t>n</a:t>
            </a:r>
            <a:r>
              <a:rPr sz="1100" dirty="0">
                <a:latin typeface="Tahoma"/>
                <a:cs typeface="Tahoma"/>
              </a:rPr>
              <a:t>?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Is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orthonormal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basis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space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unique?</a:t>
            </a:r>
            <a:endParaRPr sz="1100">
              <a:latin typeface="Tahoma"/>
              <a:cs typeface="Tahoma"/>
            </a:endParaRPr>
          </a:p>
          <a:p>
            <a:pPr marL="240665" indent="-17716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Lucida Sans Unicode"/>
              <a:buChar char="►"/>
              <a:tabLst>
                <a:tab pos="240665" algn="l"/>
              </a:tabLst>
            </a:pPr>
            <a:r>
              <a:rPr sz="1100" spc="-25" dirty="0">
                <a:latin typeface="Tahoma"/>
                <a:cs typeface="Tahoma"/>
              </a:rPr>
              <a:t>Formal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definition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orthonormal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basis: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Consider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</a:t>
            </a:r>
            <a:endParaRPr sz="1100">
              <a:latin typeface="Tahoma"/>
              <a:cs typeface="Tahoma"/>
            </a:endParaRPr>
          </a:p>
          <a:p>
            <a:pPr marL="240029">
              <a:lnSpc>
                <a:spcPct val="100000"/>
              </a:lnSpc>
              <a:spcBef>
                <a:spcPts val="30"/>
              </a:spcBef>
            </a:pPr>
            <a:r>
              <a:rPr sz="1100" i="1" spc="-45" dirty="0">
                <a:latin typeface="Arial"/>
                <a:cs typeface="Arial"/>
              </a:rPr>
              <a:t>n</a:t>
            </a:r>
            <a:r>
              <a:rPr sz="1100" spc="-45" dirty="0">
                <a:latin typeface="Tahoma"/>
                <a:cs typeface="Tahoma"/>
              </a:rPr>
              <a:t>-</a:t>
            </a:r>
            <a:r>
              <a:rPr sz="1100" spc="-40" dirty="0">
                <a:latin typeface="Tahoma"/>
                <a:cs typeface="Tahoma"/>
              </a:rPr>
              <a:t>dimensional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space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17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3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basis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vectors</a:t>
            </a:r>
            <a:endParaRPr sz="1100">
              <a:latin typeface="Tahoma"/>
              <a:cs typeface="Tahoma"/>
            </a:endParaRPr>
          </a:p>
          <a:p>
            <a:pPr marL="240029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Cambria"/>
                <a:cs typeface="Cambria"/>
              </a:rPr>
              <a:t>{</a:t>
            </a:r>
            <a:r>
              <a:rPr sz="1050" dirty="0">
                <a:latin typeface="Arial"/>
                <a:cs typeface="Arial"/>
              </a:rPr>
              <a:t>b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100" i="1" dirty="0">
                <a:latin typeface="Bookman Old Style"/>
                <a:cs typeface="Bookman Old Style"/>
              </a:rPr>
              <a:t>,</a:t>
            </a:r>
            <a:r>
              <a:rPr sz="1100" i="1" spc="-140" dirty="0">
                <a:latin typeface="Bookman Old Style"/>
                <a:cs typeface="Bookman Old Style"/>
              </a:rPr>
              <a:t> </a:t>
            </a:r>
            <a:r>
              <a:rPr sz="1050" dirty="0">
                <a:latin typeface="Arial"/>
                <a:cs typeface="Arial"/>
              </a:rPr>
              <a:t>b</a:t>
            </a:r>
            <a:r>
              <a:rPr sz="1200" baseline="-10416" dirty="0">
                <a:latin typeface="Tahoma"/>
                <a:cs typeface="Tahoma"/>
              </a:rPr>
              <a:t>2</a:t>
            </a:r>
            <a:r>
              <a:rPr sz="1100" i="1" dirty="0">
                <a:latin typeface="Bookman Old Style"/>
                <a:cs typeface="Bookman Old Style"/>
              </a:rPr>
              <a:t>,</a:t>
            </a:r>
            <a:r>
              <a:rPr sz="1100" i="1" spc="-140" dirty="0">
                <a:latin typeface="Bookman Old Style"/>
                <a:cs typeface="Bookman Old Style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.</a:t>
            </a:r>
            <a:r>
              <a:rPr sz="1100" i="1" spc="-140" dirty="0">
                <a:latin typeface="Bookman Old Style"/>
                <a:cs typeface="Bookman Old Style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.</a:t>
            </a:r>
            <a:r>
              <a:rPr sz="1100" i="1" spc="-140" dirty="0">
                <a:latin typeface="Bookman Old Style"/>
                <a:cs typeface="Bookman Old Style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.</a:t>
            </a:r>
            <a:r>
              <a:rPr sz="1100" i="1" spc="-140" dirty="0">
                <a:latin typeface="Bookman Old Style"/>
                <a:cs typeface="Bookman Old Style"/>
              </a:rPr>
              <a:t> </a:t>
            </a:r>
            <a:r>
              <a:rPr sz="1050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100" dirty="0">
                <a:latin typeface="Cambria"/>
                <a:cs typeface="Cambria"/>
              </a:rPr>
              <a:t>}</a:t>
            </a:r>
            <a:r>
              <a:rPr sz="1100" dirty="0">
                <a:latin typeface="Tahoma"/>
                <a:cs typeface="Tahoma"/>
              </a:rPr>
              <a:t>.</a:t>
            </a:r>
            <a:r>
              <a:rPr sz="1100" spc="17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true</a:t>
            </a:r>
            <a:r>
              <a:rPr sz="1100" spc="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that</a:t>
            </a:r>
            <a:endParaRPr sz="1100">
              <a:latin typeface="Tahoma"/>
              <a:cs typeface="Tahoma"/>
            </a:endParaRPr>
          </a:p>
          <a:p>
            <a:pPr marL="240029" marR="243204">
              <a:lnSpc>
                <a:spcPct val="102600"/>
              </a:lnSpc>
              <a:spcBef>
                <a:spcPts val="5"/>
              </a:spcBef>
            </a:pPr>
            <a:r>
              <a:rPr sz="1100" dirty="0">
                <a:latin typeface="Cambria"/>
                <a:cs typeface="Cambria"/>
              </a:rPr>
              <a:t>∀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dirty="0">
                <a:latin typeface="Bookman Old Style"/>
                <a:cs typeface="Bookman Old Style"/>
              </a:rPr>
              <a:t>,</a:t>
            </a:r>
            <a:r>
              <a:rPr sz="1100" i="1" spc="-135" dirty="0">
                <a:latin typeface="Bookman Old Style"/>
                <a:cs typeface="Bookman Old Style"/>
              </a:rPr>
              <a:t> </a:t>
            </a:r>
            <a:r>
              <a:rPr sz="1100" i="1" dirty="0">
                <a:latin typeface="Arial"/>
                <a:cs typeface="Arial"/>
              </a:rPr>
              <a:t>j</a:t>
            </a:r>
            <a:r>
              <a:rPr sz="1100" i="1" spc="12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1</a:t>
            </a:r>
            <a:r>
              <a:rPr sz="1100" i="1" spc="-55" dirty="0">
                <a:latin typeface="Bookman Old Style"/>
                <a:cs typeface="Bookman Old Style"/>
              </a:rPr>
              <a:t>,</a:t>
            </a:r>
            <a:r>
              <a:rPr sz="1100" i="1" spc="-135" dirty="0">
                <a:latin typeface="Bookman Old Style"/>
                <a:cs typeface="Bookman Old Style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.</a:t>
            </a:r>
            <a:r>
              <a:rPr sz="1100" i="1" spc="-135" dirty="0">
                <a:latin typeface="Bookman Old Style"/>
                <a:cs typeface="Bookman Old Style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.</a:t>
            </a:r>
            <a:r>
              <a:rPr sz="1100" i="1" spc="-135" dirty="0">
                <a:latin typeface="Bookman Old Style"/>
                <a:cs typeface="Bookman Old Style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.</a:t>
            </a:r>
            <a:r>
              <a:rPr sz="1100" i="1" spc="-135" dirty="0">
                <a:latin typeface="Bookman Old Style"/>
                <a:cs typeface="Bookman Old Style"/>
              </a:rPr>
              <a:t> </a:t>
            </a:r>
            <a:r>
              <a:rPr sz="1100" i="1" spc="-40" dirty="0">
                <a:latin typeface="Arial"/>
                <a:cs typeface="Arial"/>
              </a:rPr>
              <a:t>n</a:t>
            </a:r>
            <a:r>
              <a:rPr sz="1100" i="1" spc="-40" dirty="0">
                <a:latin typeface="Bookman Old Style"/>
                <a:cs typeface="Bookman Old Style"/>
              </a:rPr>
              <a:t>,</a:t>
            </a:r>
            <a:r>
              <a:rPr sz="1100" i="1" spc="-135" dirty="0">
                <a:latin typeface="Bookman Old Style"/>
                <a:cs typeface="Bookman Old Style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135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̸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j</a:t>
            </a:r>
            <a:r>
              <a:rPr sz="1100" i="1" spc="130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⟨</a:t>
            </a:r>
            <a:r>
              <a:rPr sz="1050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100" i="1" dirty="0">
                <a:latin typeface="Bookman Old Style"/>
                <a:cs typeface="Bookman Old Style"/>
              </a:rPr>
              <a:t>,</a:t>
            </a:r>
            <a:r>
              <a:rPr sz="1100" i="1" spc="-135" dirty="0">
                <a:latin typeface="Bookman Old Style"/>
                <a:cs typeface="Bookman Old Style"/>
              </a:rPr>
              <a:t> </a:t>
            </a:r>
            <a:r>
              <a:rPr sz="1050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j</a:t>
            </a:r>
            <a:r>
              <a:rPr sz="1200" i="1" spc="-13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⟩</a:t>
            </a:r>
            <a:r>
              <a:rPr sz="1100" spc="85" dirty="0">
                <a:latin typeface="Cambria"/>
                <a:cs typeface="Cambri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0</a:t>
            </a:r>
            <a:r>
              <a:rPr sz="1100" spc="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dirty="0">
                <a:latin typeface="Cambria"/>
                <a:cs typeface="Cambria"/>
              </a:rPr>
              <a:t>⟨</a:t>
            </a:r>
            <a:r>
              <a:rPr sz="1050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100" i="1" dirty="0">
                <a:latin typeface="Bookman Old Style"/>
                <a:cs typeface="Bookman Old Style"/>
              </a:rPr>
              <a:t>,</a:t>
            </a:r>
            <a:r>
              <a:rPr sz="1100" i="1" spc="-135" dirty="0">
                <a:latin typeface="Bookman Old Style"/>
                <a:cs typeface="Bookman Old Style"/>
              </a:rPr>
              <a:t> </a:t>
            </a:r>
            <a:r>
              <a:rPr sz="1050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-120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⟩</a:t>
            </a:r>
            <a:r>
              <a:rPr sz="1100" spc="85" dirty="0">
                <a:latin typeface="Cambria"/>
                <a:cs typeface="Cambri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1,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then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35" dirty="0">
                <a:latin typeface="Tahoma"/>
                <a:cs typeface="Tahoma"/>
              </a:rPr>
              <a:t>basis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called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orthonormal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basis.</a:t>
            </a:r>
            <a:endParaRPr sz="1100">
              <a:latin typeface="Tahoma"/>
              <a:cs typeface="Tahoma"/>
            </a:endParaRPr>
          </a:p>
          <a:p>
            <a:pPr marL="240029" marR="208279" indent="-177165">
              <a:lnSpc>
                <a:spcPct val="102600"/>
              </a:lnSpc>
              <a:spcBef>
                <a:spcPts val="295"/>
              </a:spcBef>
              <a:buClr>
                <a:srgbClr val="3333B2"/>
              </a:buClr>
              <a:buFont typeface="Lucida Sans Unicode"/>
              <a:buChar char="►"/>
              <a:tabLst>
                <a:tab pos="240029" algn="l"/>
              </a:tabLst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basis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only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mutually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orthogonal </a:t>
            </a:r>
            <a:r>
              <a:rPr sz="1100" dirty="0">
                <a:latin typeface="Tahoma"/>
                <a:cs typeface="Tahoma"/>
              </a:rPr>
              <a:t>but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of </a:t>
            </a:r>
            <a:r>
              <a:rPr sz="1100" spc="-30" dirty="0">
                <a:latin typeface="Tahoma"/>
                <a:cs typeface="Tahoma"/>
              </a:rPr>
              <a:t>length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unity, </a:t>
            </a:r>
            <a:r>
              <a:rPr sz="1100" spc="-25" dirty="0">
                <a:latin typeface="Tahoma"/>
                <a:cs typeface="Tahoma"/>
              </a:rPr>
              <a:t>then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orthogonal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basis.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Gram-Schmidt Orthonormalization Method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8922" y="1154113"/>
            <a:ext cx="2650808" cy="1908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92087" y="731521"/>
            <a:ext cx="3572828" cy="5114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461040" rtl="0"/>
            <a:r>
              <a:rPr lang="en-US" sz="908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Given a </a:t>
            </a:r>
            <a:r>
              <a:rPr lang="en-US" sz="908" kern="120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linarly</a:t>
            </a:r>
            <a:r>
              <a:rPr lang="en-US" sz="908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 independent set {x</a:t>
            </a:r>
            <a:r>
              <a:rPr lang="en-US" sz="908" kern="1200" baseline="-250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1</a:t>
            </a:r>
            <a:r>
              <a:rPr lang="en-US" sz="908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, x</a:t>
            </a:r>
            <a:r>
              <a:rPr lang="en-US" sz="908" kern="1200" baseline="-250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2</a:t>
            </a:r>
            <a:r>
              <a:rPr lang="en-US" sz="908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, …. </a:t>
            </a:r>
            <a:r>
              <a:rPr lang="en-US" sz="908" kern="120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x</a:t>
            </a:r>
            <a:r>
              <a:rPr lang="en-US" sz="908" kern="1200" baseline="-2500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n</a:t>
            </a:r>
            <a:r>
              <a:rPr lang="en-US" sz="908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}  we have to find an orthonormal set {e</a:t>
            </a:r>
            <a:r>
              <a:rPr lang="en-US" sz="908" kern="1200" baseline="-250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1</a:t>
            </a:r>
            <a:r>
              <a:rPr lang="en-US" sz="908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, e</a:t>
            </a:r>
            <a:r>
              <a:rPr lang="en-US" sz="908" kern="1200" baseline="-250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2</a:t>
            </a:r>
            <a:r>
              <a:rPr lang="en-US" sz="908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, … e</a:t>
            </a:r>
            <a:r>
              <a:rPr lang="en-US" sz="908" kern="1200" baseline="-250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n</a:t>
            </a:r>
            <a:r>
              <a:rPr lang="en-US" sz="908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}  such that span {x</a:t>
            </a:r>
            <a:r>
              <a:rPr lang="en-US" sz="908" kern="1200" baseline="-250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1</a:t>
            </a:r>
            <a:r>
              <a:rPr lang="en-US" sz="908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, x</a:t>
            </a:r>
            <a:r>
              <a:rPr lang="en-US" sz="908" kern="1200" baseline="-250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2</a:t>
            </a:r>
            <a:r>
              <a:rPr lang="en-US" sz="908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, …. </a:t>
            </a:r>
            <a:r>
              <a:rPr lang="en-US" sz="908" kern="120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x</a:t>
            </a:r>
            <a:r>
              <a:rPr lang="en-US" sz="908" kern="1200" baseline="-2500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n</a:t>
            </a:r>
            <a:r>
              <a:rPr lang="en-US" sz="908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}  = span {e</a:t>
            </a:r>
            <a:r>
              <a:rPr lang="en-US" sz="908" kern="1200" baseline="-250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1</a:t>
            </a:r>
            <a:r>
              <a:rPr lang="en-US" sz="908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, e</a:t>
            </a:r>
            <a:r>
              <a:rPr lang="en-US" sz="908" kern="1200" baseline="-250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2</a:t>
            </a:r>
            <a:r>
              <a:rPr lang="en-US" sz="908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, … e</a:t>
            </a:r>
            <a:r>
              <a:rPr lang="en-US" sz="908" kern="1200" baseline="-250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n</a:t>
            </a:r>
            <a:r>
              <a:rPr lang="en-US" sz="908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} 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Gram-Schmidt </a:t>
            </a:r>
            <a:r>
              <a:rPr lang="en-US" dirty="0" err="1"/>
              <a:t>Orthonormalization</a:t>
            </a:r>
            <a:r>
              <a:rPr lang="en-US" dirty="0"/>
              <a:t> Method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8923" y="769938"/>
            <a:ext cx="3303905" cy="2468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DE41DF7-6CDD-4B60-9B52-A436660D74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50" y="892175"/>
            <a:ext cx="4148137" cy="91341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72EF0-52FE-4B8D-98FC-958DD0A6979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7EC352-F76D-4A3B-B785-8104B4221E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" r="-3890" b="69146"/>
          <a:stretch/>
        </p:blipFill>
        <p:spPr>
          <a:xfrm>
            <a:off x="704850" y="1805589"/>
            <a:ext cx="1981200" cy="106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3134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3977795-CE5C-4426-8161-9394E8C7B9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8658" y="737419"/>
            <a:ext cx="1267965" cy="230105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ADD11-944C-4790-901D-E5181F96865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9236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8ABD823-2CA7-41C6-8A96-999E07363B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4886" r="-5556"/>
          <a:stretch/>
        </p:blipFill>
        <p:spPr>
          <a:xfrm>
            <a:off x="552450" y="968375"/>
            <a:ext cx="1447800" cy="217852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7D738-345F-4C0D-9298-ED89873C988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3962240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 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75E3588147654284604D4E812B6D70" ma:contentTypeVersion="32" ma:contentTypeDescription="Create a new document." ma:contentTypeScope="" ma:versionID="62c7be92337541b430aa89ae92170225">
  <xsd:schema xmlns:xsd="http://www.w3.org/2001/XMLSchema" xmlns:xs="http://www.w3.org/2001/XMLSchema" xmlns:p="http://schemas.microsoft.com/office/2006/metadata/properties" xmlns:ns2="0a2451e9-b2b7-43a3-aada-52e3e0c35c47" xmlns:ns3="7007aa70-762f-4b31-aded-bfa7aca65826" targetNamespace="http://schemas.microsoft.com/office/2006/metadata/properties" ma:root="true" ma:fieldsID="6bf9aa7f290f016ad30c1f432a629028" ns2:_="" ns3:_="">
    <xsd:import namespace="0a2451e9-b2b7-43a3-aada-52e3e0c35c47"/>
    <xsd:import namespace="7007aa70-762f-4b31-aded-bfa7aca65826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2451e9-b2b7-43a3-aada-52e3e0c35c47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34" nillable="true" ma:taxonomy="true" ma:internalName="lcf76f155ced4ddcb4097134ff3c332f" ma:taxonomyFieldName="MediaServiceImageTags" ma:displayName="Image Tags" ma:readOnly="false" ma:fieldId="{5cf76f15-5ced-4ddc-b409-7134ff3c332f}" ma:taxonomyMulti="true" ma:sspId="eb8cb680-6a83-4177-80f4-b15e2230c4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07aa70-762f-4b31-aded-bfa7aca65826" elementFormDefault="qualified">
    <xsd:import namespace="http://schemas.microsoft.com/office/2006/documentManagement/types"/>
    <xsd:import namespace="http://schemas.microsoft.com/office/infopath/2007/PartnerControls"/>
    <xsd:element name="TaxCatchAll" ma:index="35" nillable="true" ma:displayName="Taxonomy Catch All Column" ma:hidden="true" ma:list="{61294dec-a7db-4640-b18d-273187c9ed97}" ma:internalName="TaxCatchAll" ma:showField="CatchAllData" ma:web="7007aa70-762f-4b31-aded-bfa7aca658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lderType xmlns="0a2451e9-b2b7-43a3-aada-52e3e0c35c47" xsi:nil="true"/>
    <CultureName xmlns="0a2451e9-b2b7-43a3-aada-52e3e0c35c47" xsi:nil="true"/>
    <LMS_Mappings xmlns="0a2451e9-b2b7-43a3-aada-52e3e0c35c47" xsi:nil="true"/>
    <Invited_Students xmlns="0a2451e9-b2b7-43a3-aada-52e3e0c35c47" xsi:nil="true"/>
    <IsNotebookLocked xmlns="0a2451e9-b2b7-43a3-aada-52e3e0c35c47" xsi:nil="true"/>
    <Math_Settings xmlns="0a2451e9-b2b7-43a3-aada-52e3e0c35c47" xsi:nil="true"/>
    <Self_Registration_Enabled xmlns="0a2451e9-b2b7-43a3-aada-52e3e0c35c47" xsi:nil="true"/>
    <Teachers xmlns="0a2451e9-b2b7-43a3-aada-52e3e0c35c47">
      <UserInfo>
        <DisplayName/>
        <AccountId xsi:nil="true"/>
        <AccountType/>
      </UserInfo>
    </Teachers>
    <Students xmlns="0a2451e9-b2b7-43a3-aada-52e3e0c35c47">
      <UserInfo>
        <DisplayName/>
        <AccountId xsi:nil="true"/>
        <AccountType/>
      </UserInfo>
    </Students>
    <Student_Groups xmlns="0a2451e9-b2b7-43a3-aada-52e3e0c35c47">
      <UserInfo>
        <DisplayName/>
        <AccountId xsi:nil="true"/>
        <AccountType/>
      </UserInfo>
    </Student_Groups>
    <Templates xmlns="0a2451e9-b2b7-43a3-aada-52e3e0c35c47" xsi:nil="true"/>
    <Has_Teacher_Only_SectionGroup xmlns="0a2451e9-b2b7-43a3-aada-52e3e0c35c47" xsi:nil="true"/>
    <NotebookType xmlns="0a2451e9-b2b7-43a3-aada-52e3e0c35c47" xsi:nil="true"/>
    <Distribution_Groups xmlns="0a2451e9-b2b7-43a3-aada-52e3e0c35c47" xsi:nil="true"/>
    <lcf76f155ced4ddcb4097134ff3c332f xmlns="0a2451e9-b2b7-43a3-aada-52e3e0c35c47">
      <Terms xmlns="http://schemas.microsoft.com/office/infopath/2007/PartnerControls"/>
    </lcf76f155ced4ddcb4097134ff3c332f>
    <TaxCatchAll xmlns="7007aa70-762f-4b31-aded-bfa7aca65826" xsi:nil="true"/>
    <AppVersion xmlns="0a2451e9-b2b7-43a3-aada-52e3e0c35c47" xsi:nil="true"/>
    <Invited_Teachers xmlns="0a2451e9-b2b7-43a3-aada-52e3e0c35c47" xsi:nil="true"/>
    <Teams_Channel_Section_Location xmlns="0a2451e9-b2b7-43a3-aada-52e3e0c35c47" xsi:nil="true"/>
    <Owner xmlns="0a2451e9-b2b7-43a3-aada-52e3e0c35c47">
      <UserInfo>
        <DisplayName/>
        <AccountId xsi:nil="true"/>
        <AccountType/>
      </UserInfo>
    </Owner>
    <DefaultSectionNames xmlns="0a2451e9-b2b7-43a3-aada-52e3e0c35c47" xsi:nil="true"/>
    <TeamsChannelId xmlns="0a2451e9-b2b7-43a3-aada-52e3e0c35c47" xsi:nil="true"/>
    <Is_Collaboration_Space_Locked xmlns="0a2451e9-b2b7-43a3-aada-52e3e0c35c47" xsi:nil="true"/>
  </documentManagement>
</p:properties>
</file>

<file path=customXml/itemProps1.xml><?xml version="1.0" encoding="utf-8"?>
<ds:datastoreItem xmlns:ds="http://schemas.openxmlformats.org/officeDocument/2006/customXml" ds:itemID="{A7BB6D7B-9276-4EB2-AFAB-E3F6DD961DC1}"/>
</file>

<file path=customXml/itemProps2.xml><?xml version="1.0" encoding="utf-8"?>
<ds:datastoreItem xmlns:ds="http://schemas.openxmlformats.org/officeDocument/2006/customXml" ds:itemID="{BF6A519E-242C-42D1-8BB5-B8D000133440}"/>
</file>

<file path=customXml/itemProps3.xml><?xml version="1.0" encoding="utf-8"?>
<ds:datastoreItem xmlns:ds="http://schemas.openxmlformats.org/officeDocument/2006/customXml" ds:itemID="{86C513A0-0988-45EF-8937-62D4F96C1EAA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1803</TotalTime>
  <Words>4398</Words>
  <Application>Microsoft Office PowerPoint</Application>
  <PresentationFormat>Custom</PresentationFormat>
  <Paragraphs>355</Paragraphs>
  <Slides>48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Office Theme</vt:lpstr>
      <vt:lpstr>Integral</vt:lpstr>
      <vt:lpstr>1_Office Theme</vt:lpstr>
      <vt:lpstr>PowerPoint Presentation</vt:lpstr>
      <vt:lpstr>PowerPoint Presentation</vt:lpstr>
      <vt:lpstr>Analytic geometry</vt:lpstr>
      <vt:lpstr>Motivation to study the distance between vectors </vt:lpstr>
      <vt:lpstr>The Data Matrix and Dissimilarity matrix</vt:lpstr>
      <vt:lpstr>Dissimilarity Matrix</vt:lpstr>
      <vt:lpstr>Dissimilarity Measures</vt:lpstr>
      <vt:lpstr>Example of a dissimilarity matrix with Euclidian distance</vt:lpstr>
      <vt:lpstr>Example of a dissimilarity matrix with Euclidian distance</vt:lpstr>
      <vt:lpstr>Example Ctd</vt:lpstr>
      <vt:lpstr>Dot product in Rn</vt:lpstr>
      <vt:lpstr>Definitions: Bilinear Mapping, Symmetric Mapping and Positive Definite Mapping</vt:lpstr>
      <vt:lpstr>Inner products</vt:lpstr>
      <vt:lpstr>Notation for coordinates</vt:lpstr>
      <vt:lpstr>Symmetric Matrices and Positive Definite Matrices</vt:lpstr>
      <vt:lpstr>Relooking at Dot Product in Rn</vt:lpstr>
      <vt:lpstr>Example</vt:lpstr>
      <vt:lpstr>Example(Ctd)</vt:lpstr>
      <vt:lpstr>PowerPoint Presentation</vt:lpstr>
      <vt:lpstr>Symmetric, positive-definite matrices</vt:lpstr>
      <vt:lpstr>Proof (Ctd)</vt:lpstr>
      <vt:lpstr>Proof (Ctd)</vt:lpstr>
      <vt:lpstr>Proof(Ctd)</vt:lpstr>
      <vt:lpstr>Proof(Ctd)</vt:lpstr>
      <vt:lpstr>PowerPoint Presentation</vt:lpstr>
      <vt:lpstr>PowerPoint Presentation</vt:lpstr>
      <vt:lpstr>PowerPoint Presentation</vt:lpstr>
      <vt:lpstr>Properties of Symmetric , Positive Definite Matrices</vt:lpstr>
      <vt:lpstr>Norms</vt:lpstr>
      <vt:lpstr>Norms and Inner Products</vt:lpstr>
      <vt:lpstr>Proof of Cauchy-Schwarz inequality</vt:lpstr>
      <vt:lpstr>Metric space</vt:lpstr>
      <vt:lpstr>Properties of a metric space</vt:lpstr>
      <vt:lpstr>Angles and orthogonality</vt:lpstr>
      <vt:lpstr>Angles and orthogonality</vt:lpstr>
      <vt:lpstr>Angles and orthogonality</vt:lpstr>
      <vt:lpstr>Angles and orthogonality</vt:lpstr>
      <vt:lpstr>Example - angles and orthogonality</vt:lpstr>
      <vt:lpstr>Orthogonal matrix</vt:lpstr>
      <vt:lpstr>Orthogonal matrix</vt:lpstr>
      <vt:lpstr>Orthogonal matrix</vt:lpstr>
      <vt:lpstr>Orthonormal basis</vt:lpstr>
      <vt:lpstr>Orthonormal basis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whiteLecture 3</dc:title>
  <dc:creator>white Math Foundations Team</dc:creator>
  <cp:lastModifiedBy>SAURABH .</cp:lastModifiedBy>
  <cp:revision>47</cp:revision>
  <dcterms:created xsi:type="dcterms:W3CDTF">2025-05-10T06:51:23Z</dcterms:created>
  <dcterms:modified xsi:type="dcterms:W3CDTF">2025-05-16T00:45:36Z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2024-06-13T00:00:00Z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2025-05-10T00:00:00Z</vt:filetime>
  </property>
  <property fmtid="{D5CDD505-2E9C-101B-9397-08002B2CF9AE}" pid="5" name="PTEX.Fullbanner">
    <vt:lpwstr>This is MiKTeX-pdfTeX 4.13.0 (1.40.24)</vt:lpwstr>
  </property>
  <property fmtid="{D5CDD505-2E9C-101B-9397-08002B2CF9AE}" pid="6" name="Producer">
    <vt:lpwstr>3-Heights(TM) PDF Security Shell 4.8.25.2 (http://www.pdf-tools.com)</vt:lpwstr>
  </property>
  <property fmtid="{D5CDD505-2E9C-101B-9397-08002B2CF9AE}" pid="7" name="ContentTypeId">
    <vt:lpwstr>0x0101000A75E3588147654284604D4E812B6D70</vt:lpwstr>
  </property>
</Properties>
</file>