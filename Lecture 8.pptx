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0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91" r:id="rId16"/>
    <p:sldId id="292" r:id="rId17"/>
    <p:sldId id="281" r:id="rId18"/>
    <p:sldId id="284" r:id="rId19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0380"/>
            <a:ext cx="4571961" cy="321899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355536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1094" y="711148"/>
            <a:ext cx="4002773" cy="2034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18" y="14"/>
            <a:ext cx="4319985" cy="34559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78559" y="1772688"/>
            <a:ext cx="1450975" cy="685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Math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Foundations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71094" y="711148"/>
            <a:ext cx="4002773" cy="685341"/>
          </a:xfrm>
          <a:prstGeom prst="rect">
            <a:avLst/>
          </a:prstGeom>
        </p:spPr>
        <p:txBody>
          <a:bodyPr vert="horz" wrap="square" lIns="0" tIns="347878" rIns="0" bIns="0" rtlCol="0">
            <a:spAutoFit/>
          </a:bodyPr>
          <a:lstStyle/>
          <a:p>
            <a:pPr marL="187960" marR="3048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tabLst>
                <a:tab pos="365760" algn="l"/>
              </a:tabLst>
            </a:pPr>
            <a:r>
              <a:rPr lang="en-IN" spc="-20" dirty="0"/>
              <a:t>In this lecture </a:t>
            </a:r>
            <a:r>
              <a:rPr sz="1100" spc="-95" dirty="0"/>
              <a:t>we</a:t>
            </a:r>
            <a:r>
              <a:rPr sz="1100" spc="10" dirty="0"/>
              <a:t> </a:t>
            </a:r>
            <a:r>
              <a:rPr sz="1100" dirty="0"/>
              <a:t>will</a:t>
            </a:r>
            <a:r>
              <a:rPr sz="1100" spc="-20" dirty="0"/>
              <a:t> </a:t>
            </a:r>
            <a:r>
              <a:rPr sz="1100" spc="-50" dirty="0"/>
              <a:t>discuss</a:t>
            </a:r>
            <a:r>
              <a:rPr sz="1100" spc="-20" dirty="0"/>
              <a:t> back</a:t>
            </a:r>
            <a:r>
              <a:rPr sz="1100" spc="-15" dirty="0"/>
              <a:t> </a:t>
            </a:r>
            <a:r>
              <a:rPr sz="1100" spc="-45" dirty="0"/>
              <a:t>propagation</a:t>
            </a:r>
            <a:r>
              <a:rPr sz="1100" spc="-15" dirty="0"/>
              <a:t> </a:t>
            </a:r>
            <a:r>
              <a:rPr sz="1100" spc="-35" dirty="0"/>
              <a:t>and</a:t>
            </a:r>
            <a:r>
              <a:rPr sz="1100" spc="-20" dirty="0"/>
              <a:t> automatic </a:t>
            </a:r>
            <a:r>
              <a:rPr sz="1100" spc="-10" dirty="0"/>
              <a:t>differentiation.</a:t>
            </a:r>
            <a:endParaRPr sz="110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980C2-40C9-3517-1B14-C8717CAF0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555365" cy="430887"/>
          </a:xfrm>
        </p:spPr>
        <p:txBody>
          <a:bodyPr/>
          <a:lstStyle/>
          <a:p>
            <a:r>
              <a:rPr lang="en-IN" dirty="0"/>
              <a:t>Backpropagation and Automatic Differentiation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A9B8E33-46D4-6741-4CCE-B7C1B2575E9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71094" y="711148"/>
                <a:ext cx="4002773" cy="920573"/>
              </a:xfrm>
            </p:spPr>
            <p:txBody>
              <a:bodyPr/>
              <a:lstStyle/>
              <a:p>
                <a:pPr marL="38100" marR="0" lvl="0" indent="0" defTabSz="914400" eaLnBrk="1" fontAlgn="auto" latinLnBrk="0" hangingPunct="1">
                  <a:lnSpc>
                    <a:spcPct val="100000"/>
                  </a:lnSpc>
                  <a:spcBef>
                    <a:spcPts val="9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100" b="0" i="0" u="none" strike="noStrike" kern="0" cap="none" spc="-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Consider</a:t>
                </a:r>
                <a:r>
                  <a:rPr kumimoji="0" lang="en-IN" sz="1100" b="0" i="0" u="none" strike="noStrike" kern="0" cap="none" spc="-5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IN" sz="11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the</a:t>
                </a:r>
                <a:r>
                  <a:rPr kumimoji="0" lang="en-IN" sz="1100" b="0" i="0" u="none" strike="noStrike" kern="0" cap="none" spc="-5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IN" sz="11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function</a:t>
                </a:r>
                <a:endParaRPr kumimoji="0" lang="en-IN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  <a:p>
                <a:pPr marL="38100" marR="0" lvl="0" indent="0" defTabSz="914400" eaLnBrk="1" fontAlgn="auto" latinLnBrk="0" hangingPunct="1">
                  <a:lnSpc>
                    <a:spcPct val="100000"/>
                  </a:lnSpc>
                  <a:spcBef>
                    <a:spcPts val="9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100" b="0" i="1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f</a:t>
                </a:r>
                <a:r>
                  <a:rPr kumimoji="0" lang="en-IN" sz="1100" b="0" i="1" u="none" strike="noStrike" kern="0" cap="none" spc="-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 </a:t>
                </a:r>
                <a:r>
                  <a:rPr kumimoji="0" lang="en-IN" sz="1100" b="0" i="0" u="none" strike="noStrike" kern="0" cap="none" spc="-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(</a:t>
                </a:r>
                <a:r>
                  <a:rPr kumimoji="0" lang="en-IN" sz="1100" b="0" i="1" u="none" strike="noStrike" kern="0" cap="none" spc="-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x</a:t>
                </a:r>
                <a:r>
                  <a:rPr kumimoji="0" lang="en-IN" sz="1100" b="0" i="1" u="none" strike="noStrike" kern="0" cap="none" spc="-20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 </a:t>
                </a: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)</a:t>
                </a:r>
                <a:r>
                  <a:rPr kumimoji="0" lang="en-IN" sz="1100" b="0" i="0" u="none" strike="noStrike" kern="0" cap="none" spc="-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=</a:t>
                </a:r>
                <a:r>
                  <a:rPr kumimoji="0" lang="en-IN" sz="1100" b="0" i="0" u="none" strike="noStrike" kern="0" cap="none" spc="-1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ar-AE" sz="1100" b="0" i="1" u="none" strike="noStrike" kern="0" cap="none" spc="1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/>
                          </a:rPr>
                        </m:ctrlPr>
                      </m:radPr>
                      <m:deg/>
                      <m:e>
                        <m:r>
                          <a:rPr kumimoji="0" lang="ar-AE" sz="1100" b="0" i="1" u="none" strike="noStrike" kern="0" cap="none" spc="17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  <m:r>
                          <a:rPr kumimoji="0" lang="ar-AE" sz="1100" b="0" i="1" u="none" strike="noStrike" kern="0" cap="none" spc="-20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/>
                          </a:rPr>
                          <m:t> </m:t>
                        </m:r>
                        <m:r>
                          <a:rPr kumimoji="0" lang="ar-AE" sz="1200" b="0" i="1" u="none" strike="noStrike" kern="0" cap="none" spc="0" normalizeH="0" baseline="20833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ahoma"/>
                          </a:rPr>
                          <m:t>2</m:t>
                        </m:r>
                        <m:r>
                          <a:rPr kumimoji="0" lang="ar-AE" sz="1200" b="0" i="1" u="none" strike="noStrike" kern="0" cap="none" spc="104" normalizeH="0" baseline="20833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ahoma"/>
                          </a:rPr>
                          <m:t> </m:t>
                        </m:r>
                        <m:r>
                          <a:rPr kumimoji="0" lang="ar-AE" sz="11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kumimoji="0" lang="ar-AE" sz="1100" b="0" i="1" u="none" strike="noStrike" kern="0" cap="none" spc="-8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ahoma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0" lang="en-IN" sz="1100" b="0" i="1" u="none" strike="noStrike" kern="0" cap="none" spc="-55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/>
                          </a:rPr>
                          <m:t>exp</m:t>
                        </m:r>
                        <m:r>
                          <a:rPr kumimoji="0" lang="en-IN" sz="1100" b="0" i="1" u="none" strike="noStrike" kern="0" cap="none" spc="-55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/>
                          </a:rPr>
                          <m:t>⁡(</m:t>
                        </m:r>
                        <m:r>
                          <a:rPr kumimoji="0" lang="en-IN" sz="1100" b="0" i="1" u="none" strike="noStrike" kern="0" cap="none" spc="-55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  <m:r>
                          <a:rPr kumimoji="0" lang="en-IN" sz="1100" b="0" i="1" u="none" strike="noStrike" kern="0" cap="none" spc="-20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/>
                          </a:rPr>
                          <m:t> </m:t>
                        </m:r>
                        <m:r>
                          <a:rPr kumimoji="0" lang="en-IN" sz="1200" b="0" i="1" u="none" strike="noStrike" kern="0" cap="none" spc="0" normalizeH="0" baseline="20833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ahoma"/>
                          </a:rPr>
                          <m:t>2</m:t>
                        </m:r>
                        <m:r>
                          <a:rPr kumimoji="0" lang="en-IN" sz="11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ahoma"/>
                          </a:rPr>
                          <m:t>)</m:t>
                        </m:r>
                      </m:e>
                    </m:rad>
                  </m:oMath>
                </a14:m>
                <a:r>
                  <a:rPr kumimoji="0" lang="ar-AE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+</a:t>
                </a:r>
                <a:r>
                  <a:rPr kumimoji="0" lang="ar-AE" sz="1100" b="0" i="0" u="none" strike="noStrike" kern="0" cap="none" spc="-8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IN" sz="1100" b="0" i="1" u="none" strike="noStrike" kern="0" cap="none" spc="-5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cos</a:t>
                </a:r>
                <a:r>
                  <a:rPr kumimoji="0" lang="en-IN" sz="1100" b="0" i="0" u="none" strike="noStrike" kern="0" cap="none" spc="-5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(</a:t>
                </a:r>
                <a14:m>
                  <m:oMath xmlns:m="http://schemas.openxmlformats.org/officeDocument/2006/math">
                    <m:r>
                      <a:rPr lang="en-IN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IN" sz="1200" b="0" i="0" u="none" strike="noStrike" kern="0" cap="none" spc="0" normalizeH="0" baseline="3125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2</a:t>
                </a:r>
                <a:r>
                  <a:rPr kumimoji="0" lang="en-IN" sz="1200" b="0" i="0" u="none" strike="noStrike" kern="0" cap="none" spc="104" normalizeH="0" baseline="3125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+</a:t>
                </a:r>
                <a:r>
                  <a:rPr kumimoji="0" lang="en-IN" sz="1100" b="0" i="0" u="none" strike="noStrike" kern="0" cap="none" spc="-8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IN" sz="1100" b="0" i="1" u="none" strike="noStrike" kern="0" cap="none" spc="-5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exp</a:t>
                </a:r>
                <a:r>
                  <a:rPr kumimoji="0" lang="en-IN" sz="1100" b="0" i="0" u="none" strike="noStrike" kern="0" cap="none" spc="-5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(</a:t>
                </a:r>
                <a14:m>
                  <m:oMath xmlns:m="http://schemas.openxmlformats.org/officeDocument/2006/math">
                    <m:r>
                      <a:rPr lang="en-IN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IN" sz="1200" b="0" i="0" u="none" strike="noStrike" kern="0" cap="none" spc="-37" normalizeH="0" baseline="3125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2</a:t>
                </a:r>
                <a:r>
                  <a:rPr kumimoji="0" lang="en-IN" sz="110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)) </a:t>
                </a:r>
                <a:endParaRPr kumimoji="0" lang="en-IN" sz="1100" b="0" i="0" u="none" strike="noStrike" kern="0" cap="none" spc="-1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  <a:p>
                <a:pPr marL="38100" marR="0" lvl="0" indent="0" defTabSz="914400" eaLnBrk="1" fontAlgn="auto" latinLnBrk="0" hangingPunct="1">
                  <a:lnSpc>
                    <a:spcPct val="100000"/>
                  </a:lnSpc>
                  <a:spcBef>
                    <a:spcPts val="9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100" b="0" i="0" u="none" strike="noStrike" kern="0" cap="none" spc="-1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  <a:p>
                <a:pPr marL="38100" marR="0" lvl="0" indent="0" defTabSz="914400" eaLnBrk="1" fontAlgn="auto" latinLnBrk="0" hangingPunct="1">
                  <a:lnSpc>
                    <a:spcPct val="100000"/>
                  </a:lnSpc>
                  <a:spcBef>
                    <a:spcPts val="9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100" b="0" i="0" u="none" strike="noStrike" kern="0" cap="none" spc="-2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Taking</a:t>
                </a:r>
                <a:r>
                  <a:rPr kumimoji="0" lang="en-IN" sz="1100" b="0" i="0" u="none" strike="noStrike" kern="0" cap="none" spc="-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IN" sz="11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derivatives with applying chain rule we get</a:t>
                </a:r>
                <a:endParaRPr kumimoji="0" lang="en-IN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A9B8E33-46D4-6741-4CCE-B7C1B2575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71094" y="711148"/>
                <a:ext cx="4002773" cy="920573"/>
              </a:xfrm>
              <a:blipFill>
                <a:blip r:embed="rId2"/>
                <a:stretch>
                  <a:fillRect l="-1218" t="-52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CF1ADB-A42F-D5FE-4639-E4E4A73D1F34}"/>
                  </a:ext>
                </a:extLst>
              </p:cNvPr>
              <p:cNvSpPr txBox="1"/>
              <p:nvPr/>
            </p:nvSpPr>
            <p:spPr>
              <a:xfrm>
                <a:off x="323850" y="1806575"/>
                <a:ext cx="3950017" cy="654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1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𝑑𝑓</m:t>
                        </m:r>
                      </m:num>
                      <m:den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kumimoji="0" lang="en-IN" sz="1000" b="0" i="1" u="none" strike="noStrike" kern="0" cap="none" spc="-55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cs typeface="Arial"/>
                          </a:rPr>
                          <m:t>exp</m:t>
                        </m:r>
                        <m:r>
                          <m:rPr>
                            <m:nor/>
                          </m:rPr>
                          <a:rPr kumimoji="0" lang="en-IN" sz="1000" b="0" i="0" u="none" strike="noStrike" kern="0" cap="none" spc="-55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cs typeface="Tahoma"/>
                          </a:rPr>
                          <m:t>(</m:t>
                        </m:r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kumimoji="0" lang="en-IN" sz="1000" b="0" i="0" u="none" strike="noStrike" kern="0" cap="none" spc="-37" normalizeH="0" baseline="3125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cs typeface="Tahoma"/>
                          </a:rPr>
                          <m:t>2</m:t>
                        </m:r>
                        <m:r>
                          <m:rPr>
                            <m:nor/>
                          </m:rPr>
                          <a:rPr kumimoji="0" lang="en-IN" sz="1000" b="0" i="0" u="none" strike="noStrike" kern="0" cap="none" spc="-25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cs typeface="Tahoma"/>
                          </a:rPr>
                          <m:t>)</m:t>
                        </m:r>
                      </m:num>
                      <m:den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kumimoji="0" lang="ar-AE" sz="1000" b="0" i="1" u="none" strike="noStrike" kern="0" cap="none" spc="17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radPr>
                          <m:deg/>
                          <m:e>
                            <m:r>
                              <a:rPr kumimoji="0" lang="ar-AE" sz="1000" b="0" i="1" u="none" strike="noStrike" kern="0" cap="none" spc="17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  <m:r>
                              <a:rPr kumimoji="0" lang="ar-AE" sz="1000" b="0" i="1" u="none" strike="noStrike" kern="0" cap="none" spc="-20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  <m:t> </m:t>
                            </m:r>
                            <m:r>
                              <a:rPr kumimoji="0" lang="ar-AE" sz="1000" b="0" i="1" u="none" strike="noStrike" kern="0" cap="none" spc="0" normalizeH="0" baseline="20833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ahoma"/>
                              </a:rPr>
                              <m:t>2</m:t>
                            </m:r>
                            <m:r>
                              <a:rPr kumimoji="0" lang="ar-AE" sz="1000" b="0" i="1" u="none" strike="noStrike" kern="0" cap="none" spc="104" normalizeH="0" baseline="20833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ahoma"/>
                              </a:rPr>
                              <m:t> </m:t>
                            </m:r>
                            <m:r>
                              <a:rPr kumimoji="0" lang="ar-AE" sz="10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ahoma"/>
                              </a:rPr>
                              <m:t>+</m:t>
                            </m:r>
                            <m:r>
                              <a:rPr kumimoji="0" lang="ar-AE" sz="1000" b="0" i="1" u="none" strike="noStrike" kern="0" cap="none" spc="-8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ahoma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0" lang="en-IN" sz="1000" b="0" i="1" u="none" strike="noStrike" kern="0" cap="none" spc="-55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  <m:t>exp</m:t>
                            </m:r>
                            <m:r>
                              <a:rPr kumimoji="0" lang="en-IN" sz="1000" b="0" i="1" u="none" strike="noStrike" kern="0" cap="none" spc="-55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  <m:t>⁡(</m:t>
                            </m:r>
                            <m:r>
                              <a:rPr kumimoji="0" lang="en-IN" sz="1000" b="0" i="1" u="none" strike="noStrike" kern="0" cap="none" spc="-55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  <m:r>
                              <a:rPr kumimoji="0" lang="en-IN" sz="1000" b="0" i="1" u="none" strike="noStrike" kern="0" cap="none" spc="-20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  <m:t> </m:t>
                            </m:r>
                            <m:r>
                              <a:rPr kumimoji="0" lang="en-IN" sz="1000" b="0" i="1" u="none" strike="noStrike" kern="0" cap="none" spc="0" normalizeH="0" baseline="20833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ahoma"/>
                              </a:rPr>
                              <m:t>2</m:t>
                            </m:r>
                            <m:r>
                              <a:rPr kumimoji="0" lang="en-IN" sz="10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ahoma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lang="en-IN" sz="10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IN" sz="10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ahoma"/>
                      </a:rPr>
                      <m:t>− </m:t>
                    </m:r>
                  </m:oMath>
                </a14:m>
                <a:r>
                  <a:rPr kumimoji="0" lang="en-IN" sz="1000" b="0" i="0" u="none" strike="noStrike" kern="0" cap="none" spc="-5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Tahoma"/>
                  </a:rPr>
                  <a:t>sin (</a:t>
                </a:r>
                <a14:m>
                  <m:oMath xmlns:m="http://schemas.openxmlformats.org/officeDocument/2006/math">
                    <m:r>
                      <a:rPr lang="en-IN" sz="1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IN" sz="1000" b="0" i="0" u="none" strike="noStrike" kern="0" cap="none" spc="0" normalizeH="0" baseline="3125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Tahoma"/>
                  </a:rPr>
                  <a:t>2</a:t>
                </a:r>
                <a:r>
                  <a:rPr kumimoji="0" lang="en-IN" sz="1000" b="0" i="0" u="none" strike="noStrike" kern="0" cap="none" spc="104" normalizeH="0" baseline="3125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Tahoma"/>
                  </a:rPr>
                  <a:t> </a:t>
                </a:r>
                <a:r>
                  <a:rPr kumimoji="0" lang="en-I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Tahoma"/>
                  </a:rPr>
                  <a:t>+</a:t>
                </a:r>
                <a:r>
                  <a:rPr kumimoji="0" lang="en-IN" sz="1000" b="0" i="0" u="none" strike="noStrike" kern="0" cap="none" spc="-8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Tahoma"/>
                  </a:rPr>
                  <a:t> </a:t>
                </a:r>
                <a:r>
                  <a:rPr kumimoji="0" lang="en-IN" sz="1000" b="0" i="1" u="none" strike="noStrike" kern="0" cap="none" spc="-5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exp</a:t>
                </a:r>
                <a:r>
                  <a:rPr kumimoji="0" lang="en-IN" sz="1000" b="0" i="0" u="none" strike="noStrike" kern="0" cap="none" spc="-5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Tahoma"/>
                  </a:rPr>
                  <a:t>(</a:t>
                </a:r>
                <a14:m>
                  <m:oMath xmlns:m="http://schemas.openxmlformats.org/officeDocument/2006/math">
                    <m:r>
                      <a:rPr lang="en-IN" sz="1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IN" sz="1000" b="0" i="0" u="none" strike="noStrike" kern="0" cap="none" spc="-37" normalizeH="0" baseline="3125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Tahoma"/>
                  </a:rPr>
                  <a:t>2</a:t>
                </a:r>
                <a:r>
                  <a:rPr kumimoji="0" lang="en-IN" sz="100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Tahoma"/>
                  </a:rPr>
                  <a:t>)</a:t>
                </a:r>
                <a:r>
                  <a:rPr lang="en-IN" sz="1000" b="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IN" sz="1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IN" sz="1000" i="1" spc="-55" dirty="0">
                        <a:latin typeface="+mn-lt"/>
                        <a:cs typeface="Arial"/>
                      </a:rPr>
                      <m:t>exp</m:t>
                    </m:r>
                    <m:r>
                      <m:rPr>
                        <m:nor/>
                      </m:rPr>
                      <a:rPr kumimoji="0" lang="en-IN" sz="1000" b="0" i="0" u="none" strike="noStrike" kern="0" cap="none" spc="-55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lt"/>
                        <a:cs typeface="Tahoma"/>
                      </a:rPr>
                      <m:t>(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kumimoji="0" lang="en-IN" sz="1000" b="0" i="0" u="none" strike="noStrike" kern="0" cap="none" spc="-37" normalizeH="0" baseline="3125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lt"/>
                        <a:cs typeface="Tahoma"/>
                      </a:rPr>
                      <m:t>2</m:t>
                    </m:r>
                    <m:r>
                      <m:rPr>
                        <m:nor/>
                      </m:rPr>
                      <a:rPr kumimoji="0" lang="en-IN" sz="1000" b="0" i="0" u="none" strike="noStrike" kern="0" cap="none" spc="-25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lt"/>
                        <a:cs typeface="Tahoma"/>
                      </a:rPr>
                      <m:t>))</m:t>
                    </m:r>
                  </m:oMath>
                </a14:m>
                <a:endParaRPr lang="en-IN" sz="1000" dirty="0">
                  <a:latin typeface="+mn-lt"/>
                </a:endParaRPr>
              </a:p>
              <a:p>
                <a:r>
                  <a:rPr lang="en-IN" sz="1400" dirty="0"/>
                  <a:t>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kumimoji="0" lang="en-IN" sz="1000" b="0" i="1" u="none" strike="noStrike" kern="0" cap="none" spc="-55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cs typeface="Arial"/>
                          </a:rPr>
                          <m:t>exp</m:t>
                        </m:r>
                        <m:r>
                          <m:rPr>
                            <m:nor/>
                          </m:rPr>
                          <a:rPr kumimoji="0" lang="en-IN" sz="1000" b="0" i="0" u="none" strike="noStrike" kern="0" cap="none" spc="-55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cs typeface="Tahoma"/>
                          </a:rPr>
                          <m:t>(</m:t>
                        </m:r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kumimoji="0" lang="en-IN" sz="1000" b="0" i="0" u="none" strike="noStrike" kern="0" cap="none" spc="-37" normalizeH="0" baseline="3125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cs typeface="Tahoma"/>
                          </a:rPr>
                          <m:t>2</m:t>
                        </m:r>
                        <m:r>
                          <m:rPr>
                            <m:nor/>
                          </m:rPr>
                          <a:rPr kumimoji="0" lang="en-IN" sz="1000" b="0" i="0" u="none" strike="noStrike" kern="0" cap="none" spc="-25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cs typeface="Tahoma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0" lang="ar-AE" sz="1000" b="0" i="1" u="none" strike="noStrike" kern="0" cap="none" spc="17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radPr>
                          <m:deg/>
                          <m:e>
                            <m:r>
                              <a:rPr kumimoji="0" lang="ar-AE" sz="1000" b="0" i="1" u="none" strike="noStrike" kern="0" cap="none" spc="17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  <m:r>
                              <a:rPr kumimoji="0" lang="ar-AE" sz="1000" b="0" i="1" u="none" strike="noStrike" kern="0" cap="none" spc="-20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  <m:t> </m:t>
                            </m:r>
                            <m:r>
                              <a:rPr kumimoji="0" lang="ar-AE" sz="1000" b="0" i="1" u="none" strike="noStrike" kern="0" cap="none" spc="0" normalizeH="0" baseline="20833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ahoma"/>
                              </a:rPr>
                              <m:t>2</m:t>
                            </m:r>
                            <m:r>
                              <a:rPr kumimoji="0" lang="ar-AE" sz="1000" b="0" i="1" u="none" strike="noStrike" kern="0" cap="none" spc="104" normalizeH="0" baseline="20833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ahoma"/>
                              </a:rPr>
                              <m:t> </m:t>
                            </m:r>
                            <m:r>
                              <a:rPr kumimoji="0" lang="ar-AE" sz="10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ahoma"/>
                              </a:rPr>
                              <m:t>+</m:t>
                            </m:r>
                            <m:r>
                              <a:rPr kumimoji="0" lang="ar-AE" sz="1000" b="0" i="1" u="none" strike="noStrike" kern="0" cap="none" spc="-8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ahoma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0" lang="en-IN" sz="1000" b="0" i="1" u="none" strike="noStrike" kern="0" cap="none" spc="-55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  <m:t>exp</m:t>
                            </m:r>
                            <m:r>
                              <a:rPr kumimoji="0" lang="en-IN" sz="1000" b="0" i="1" u="none" strike="noStrike" kern="0" cap="none" spc="-55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  <m:t>⁡(</m:t>
                            </m:r>
                            <m:r>
                              <a:rPr kumimoji="0" lang="en-IN" sz="1000" b="0" i="1" u="none" strike="noStrike" kern="0" cap="none" spc="-55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  <m:r>
                              <a:rPr kumimoji="0" lang="en-IN" sz="1000" b="0" i="1" u="none" strike="noStrike" kern="0" cap="none" spc="-20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/>
                              </a:rPr>
                              <m:t> </m:t>
                            </m:r>
                            <m:r>
                              <a:rPr kumimoji="0" lang="en-IN" sz="1000" b="0" i="1" u="none" strike="noStrike" kern="0" cap="none" spc="0" normalizeH="0" baseline="20833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ahoma"/>
                              </a:rPr>
                              <m:t>2</m:t>
                            </m:r>
                            <m:r>
                              <a:rPr kumimoji="0" lang="en-IN" sz="10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ahoma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a:rPr kumimoji="0" lang="en-IN" sz="10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ahoma"/>
                      </a:rPr>
                      <m:t>   −</m:t>
                    </m:r>
                    <m:r>
                      <a:rPr kumimoji="0" lang="en-IN" sz="10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ahoma"/>
                      </a:rPr>
                      <m:t>2</m:t>
                    </m:r>
                  </m:oMath>
                </a14:m>
                <a:r>
                  <a:rPr lang="en-IN" sz="1000" b="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1000" spc="-55" dirty="0">
                    <a:latin typeface="+mn-lt"/>
                    <a:cs typeface="Tahoma"/>
                  </a:rPr>
                  <a:t> sin (</a:t>
                </a:r>
                <a14:m>
                  <m:oMath xmlns:m="http://schemas.openxmlformats.org/officeDocument/2006/math">
                    <m:r>
                      <a:rPr lang="en-IN" sz="1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000" baseline="31250" dirty="0">
                    <a:latin typeface="+mn-lt"/>
                    <a:cs typeface="Tahoma"/>
                  </a:rPr>
                  <a:t>2</a:t>
                </a:r>
                <a:r>
                  <a:rPr lang="en-IN" sz="1000" spc="104" baseline="31250" dirty="0">
                    <a:latin typeface="+mn-lt"/>
                    <a:cs typeface="Tahoma"/>
                  </a:rPr>
                  <a:t> </a:t>
                </a:r>
                <a:r>
                  <a:rPr lang="en-IN" sz="1000" dirty="0">
                    <a:latin typeface="+mn-lt"/>
                    <a:cs typeface="Tahoma"/>
                  </a:rPr>
                  <a:t>+</a:t>
                </a:r>
                <a:r>
                  <a:rPr lang="en-IN" sz="1000" spc="-80" dirty="0">
                    <a:latin typeface="+mn-lt"/>
                    <a:cs typeface="Tahoma"/>
                  </a:rPr>
                  <a:t> </a:t>
                </a:r>
                <a:r>
                  <a:rPr lang="en-IN" sz="1000" i="1" spc="-55" dirty="0">
                    <a:latin typeface="+mn-lt"/>
                    <a:cs typeface="Arial"/>
                  </a:rPr>
                  <a:t>exp</a:t>
                </a:r>
                <a:r>
                  <a:rPr lang="en-IN" sz="1000" spc="-55" dirty="0">
                    <a:latin typeface="+mn-lt"/>
                    <a:cs typeface="Tahoma"/>
                  </a:rPr>
                  <a:t>(</a:t>
                </a:r>
                <a14:m>
                  <m:oMath xmlns:m="http://schemas.openxmlformats.org/officeDocument/2006/math">
                    <m:r>
                      <a:rPr lang="en-IN" sz="1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000" spc="-37" baseline="31250" dirty="0">
                    <a:latin typeface="+mn-lt"/>
                    <a:cs typeface="Tahoma"/>
                  </a:rPr>
                  <a:t>2</a:t>
                </a:r>
                <a:r>
                  <a:rPr lang="en-IN" sz="1000" b="0" dirty="0">
                    <a:latin typeface="+mn-lt"/>
                  </a:rPr>
                  <a:t>)</a:t>
                </a:r>
                <a14:m>
                  <m:oMath xmlns:m="http://schemas.openxmlformats.org/officeDocument/2006/math">
                    <m:r>
                      <a:rPr lang="en-IN" sz="1000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1000" i="1" spc="-55" dirty="0">
                        <a:latin typeface="+mn-lt"/>
                        <a:cs typeface="Arial"/>
                      </a:rPr>
                      <m:t>exp</m:t>
                    </m:r>
                    <m:r>
                      <m:rPr>
                        <m:nor/>
                      </m:rPr>
                      <a:rPr kumimoji="0" lang="en-IN" sz="1000" b="0" i="0" u="none" strike="noStrike" kern="0" cap="none" spc="-55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lt"/>
                        <a:cs typeface="Tahoma"/>
                      </a:rPr>
                      <m:t>(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kumimoji="0" lang="en-IN" sz="1000" b="0" i="0" u="none" strike="noStrike" kern="0" cap="none" spc="-37" normalizeH="0" baseline="3125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lt"/>
                        <a:cs typeface="Tahoma"/>
                      </a:rPr>
                      <m:t>2</m:t>
                    </m:r>
                    <m:r>
                      <m:rPr>
                        <m:nor/>
                      </m:rPr>
                      <a:rPr kumimoji="0" lang="en-IN" sz="1000" b="0" i="0" u="none" strike="noStrike" kern="0" cap="none" spc="-25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lt"/>
                        <a:cs typeface="Tahoma"/>
                      </a:rPr>
                      <m:t>))</m:t>
                    </m:r>
                  </m:oMath>
                </a14:m>
                <a:endParaRPr lang="en-IN" sz="1000" dirty="0">
                  <a:latin typeface="+mn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CF1ADB-A42F-D5FE-4639-E4E4A73D1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" y="1806575"/>
                <a:ext cx="3950017" cy="654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7783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041271"/>
            <a:ext cx="3850004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8699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implementation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could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significantly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expensive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computing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imposes </a:t>
            </a:r>
            <a:r>
              <a:rPr sz="1100" spc="-60" dirty="0">
                <a:latin typeface="Tahoma"/>
                <a:cs typeface="Tahoma"/>
              </a:rPr>
              <a:t>unnecessary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overhead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lengthy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expressions.</a:t>
            </a:r>
            <a:endParaRPr sz="1100">
              <a:latin typeface="Tahoma"/>
              <a:cs typeface="Tahoma"/>
            </a:endParaRPr>
          </a:p>
          <a:p>
            <a:pPr marL="214629" marR="685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efficient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way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error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respect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parameters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model.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training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deep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neural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network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models,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backpropagation </a:t>
            </a:r>
            <a:r>
              <a:rPr sz="1100" spc="-30" dirty="0">
                <a:latin typeface="Tahoma"/>
                <a:cs typeface="Tahoma"/>
              </a:rPr>
              <a:t>algorithm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method.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Backpropagation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dirty="0"/>
              <a:t>Automatic</a:t>
            </a:r>
            <a:r>
              <a:rPr spc="-60" dirty="0"/>
              <a:t> </a:t>
            </a:r>
            <a:r>
              <a:rPr spc="-20" dirty="0"/>
              <a:t>Differentiation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22108"/>
            <a:ext cx="2253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neural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networks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multiple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layers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912945"/>
            <a:ext cx="2880060" cy="10800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6494" y="2174645"/>
            <a:ext cx="3660775" cy="6534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33475">
              <a:lnSpc>
                <a:spcPct val="100000"/>
              </a:lnSpc>
              <a:spcBef>
                <a:spcPts val="90"/>
              </a:spcBef>
            </a:pPr>
            <a:r>
              <a:rPr sz="1650" i="1" baseline="7575" dirty="0">
                <a:latin typeface="Arial"/>
                <a:cs typeface="Arial"/>
              </a:rPr>
              <a:t>f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75" dirty="0">
                <a:latin typeface="Arial"/>
                <a:cs typeface="Arial"/>
              </a:rPr>
              <a:t> </a:t>
            </a:r>
            <a:r>
              <a:rPr sz="1650" spc="-15" baseline="7575" dirty="0">
                <a:latin typeface="Tahoma"/>
                <a:cs typeface="Tahoma"/>
              </a:rPr>
              <a:t>(</a:t>
            </a:r>
            <a:r>
              <a:rPr sz="1650" i="1" spc="-15" baseline="7575" dirty="0">
                <a:latin typeface="Arial"/>
                <a:cs typeface="Arial"/>
              </a:rPr>
              <a:t>x</a:t>
            </a: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35" dirty="0">
                <a:latin typeface="Arial"/>
                <a:cs typeface="Arial"/>
              </a:rPr>
              <a:t> </a:t>
            </a:r>
            <a:r>
              <a:rPr sz="800" dirty="0">
                <a:latin typeface="Lucida Sans Unicode"/>
                <a:cs typeface="Lucida Sans Unicode"/>
              </a:rPr>
              <a:t>−</a:t>
            </a:r>
            <a:r>
              <a:rPr sz="800" dirty="0">
                <a:latin typeface="Tahoma"/>
                <a:cs typeface="Tahoma"/>
              </a:rPr>
              <a:t>1</a:t>
            </a:r>
            <a:r>
              <a:rPr sz="1650" baseline="7575" dirty="0">
                <a:latin typeface="Tahoma"/>
                <a:cs typeface="Tahoma"/>
              </a:rPr>
              <a:t>)</a:t>
            </a:r>
            <a:r>
              <a:rPr sz="1650" spc="22" baseline="7575" dirty="0">
                <a:latin typeface="Tahoma"/>
                <a:cs typeface="Tahoma"/>
              </a:rPr>
              <a:t> </a:t>
            </a:r>
            <a:r>
              <a:rPr sz="1650" baseline="7575" dirty="0">
                <a:latin typeface="Tahoma"/>
                <a:cs typeface="Tahoma"/>
              </a:rPr>
              <a:t>=</a:t>
            </a:r>
            <a:r>
              <a:rPr sz="1650" spc="7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Georgia"/>
                <a:cs typeface="Georgia"/>
              </a:rPr>
              <a:t>σ</a:t>
            </a:r>
            <a:r>
              <a:rPr sz="1650" baseline="7575" dirty="0">
                <a:latin typeface="Tahoma"/>
                <a:cs typeface="Tahoma"/>
              </a:rPr>
              <a:t>(</a:t>
            </a:r>
            <a:r>
              <a:rPr sz="1650" i="1" baseline="7575" dirty="0">
                <a:latin typeface="Arial"/>
                <a:cs typeface="Arial"/>
              </a:rPr>
              <a:t>A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35" dirty="0">
                <a:latin typeface="Arial"/>
                <a:cs typeface="Arial"/>
              </a:rPr>
              <a:t> </a:t>
            </a:r>
            <a:r>
              <a:rPr sz="800" dirty="0">
                <a:latin typeface="Lucida Sans Unicode"/>
                <a:cs typeface="Lucida Sans Unicode"/>
              </a:rPr>
              <a:t>−</a:t>
            </a:r>
            <a:r>
              <a:rPr sz="800" dirty="0">
                <a:latin typeface="Tahoma"/>
                <a:cs typeface="Tahoma"/>
              </a:rPr>
              <a:t>1</a:t>
            </a:r>
            <a:r>
              <a:rPr sz="1650" i="1" baseline="7575" dirty="0">
                <a:latin typeface="Arial"/>
                <a:cs typeface="Arial"/>
              </a:rPr>
              <a:t>x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30" dirty="0">
                <a:latin typeface="Arial"/>
                <a:cs typeface="Arial"/>
              </a:rPr>
              <a:t> </a:t>
            </a:r>
            <a:r>
              <a:rPr sz="800" dirty="0">
                <a:latin typeface="Lucida Sans Unicode"/>
                <a:cs typeface="Lucida Sans Unicode"/>
              </a:rPr>
              <a:t>−</a:t>
            </a:r>
            <a:r>
              <a:rPr sz="800" dirty="0">
                <a:latin typeface="Tahoma"/>
                <a:cs typeface="Tahoma"/>
              </a:rPr>
              <a:t>1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89" baseline="7575" dirty="0">
                <a:latin typeface="Tahoma"/>
                <a:cs typeface="Tahoma"/>
              </a:rPr>
              <a:t> </a:t>
            </a:r>
            <a:r>
              <a:rPr sz="1650" i="1" spc="-30" baseline="7575" dirty="0">
                <a:latin typeface="Arial"/>
                <a:cs typeface="Arial"/>
              </a:rPr>
              <a:t>b</a:t>
            </a:r>
            <a:r>
              <a:rPr sz="800" i="1" spc="-20" dirty="0">
                <a:latin typeface="Arial"/>
                <a:cs typeface="Arial"/>
              </a:rPr>
              <a:t>i</a:t>
            </a:r>
            <a:r>
              <a:rPr sz="800" i="1" spc="-135" dirty="0">
                <a:latin typeface="Arial"/>
                <a:cs typeface="Arial"/>
              </a:rPr>
              <a:t> </a:t>
            </a:r>
            <a:r>
              <a:rPr sz="800" spc="-25" dirty="0">
                <a:latin typeface="Lucida Sans Unicode"/>
                <a:cs typeface="Lucida Sans Unicode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r>
              <a:rPr sz="1650" spc="-37" baseline="7575" dirty="0">
                <a:latin typeface="Tahoma"/>
                <a:cs typeface="Tahoma"/>
              </a:rPr>
              <a:t>)</a:t>
            </a:r>
            <a:endParaRPr sz="1650" baseline="7575">
              <a:latin typeface="Tahoma"/>
              <a:cs typeface="Tahoma"/>
            </a:endParaRPr>
          </a:p>
          <a:p>
            <a:pPr marL="63500" marR="55880">
              <a:lnSpc>
                <a:spcPct val="102600"/>
              </a:lnSpc>
              <a:spcBef>
                <a:spcPts val="925"/>
              </a:spcBef>
            </a:pP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i="1" spc="-30" baseline="-10416" dirty="0">
                <a:latin typeface="Arial"/>
                <a:cs typeface="Arial"/>
              </a:rPr>
              <a:t>i</a:t>
            </a:r>
            <a:r>
              <a:rPr sz="1200" i="1" spc="-217" baseline="-10416" dirty="0">
                <a:latin typeface="Arial"/>
                <a:cs typeface="Arial"/>
              </a:rPr>
              <a:t> </a:t>
            </a:r>
            <a:r>
              <a:rPr sz="1200" baseline="-10416" dirty="0">
                <a:latin typeface="Lucida Sans Unicode"/>
                <a:cs typeface="Lucida Sans Unicode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04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layer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Georgia"/>
                <a:cs typeface="Georgia"/>
              </a:rPr>
              <a:t>σ</a:t>
            </a:r>
            <a:r>
              <a:rPr sz="1100" i="1" spc="80" dirty="0">
                <a:latin typeface="Georgia"/>
                <a:cs typeface="Georgi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activation </a:t>
            </a:r>
            <a:r>
              <a:rPr sz="1100" spc="-10" dirty="0">
                <a:latin typeface="Tahoma"/>
                <a:cs typeface="Tahoma"/>
              </a:rPr>
              <a:t>function.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Backpropagation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83794" y="754263"/>
                <a:ext cx="3926256" cy="2409249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76200" marR="6858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IN" sz="1000" dirty="0">
                    <a:latin typeface="Tahoma"/>
                    <a:cs typeface="Tahoma"/>
                  </a:rPr>
                  <a:t>To</a:t>
                </a:r>
                <a:r>
                  <a:rPr lang="en-IN" sz="1000" spc="-50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train</a:t>
                </a:r>
                <a:r>
                  <a:rPr lang="en-IN" sz="1000" spc="-40" dirty="0">
                    <a:latin typeface="Tahoma"/>
                    <a:cs typeface="Tahoma"/>
                  </a:rPr>
                  <a:t> </a:t>
                </a:r>
                <a:r>
                  <a:rPr lang="en-IN" sz="1000" spc="-45" dirty="0">
                    <a:latin typeface="Tahoma"/>
                    <a:cs typeface="Tahoma"/>
                  </a:rPr>
                  <a:t>these</a:t>
                </a:r>
                <a:r>
                  <a:rPr lang="en-IN" sz="1000" spc="-40" dirty="0">
                    <a:latin typeface="Tahoma"/>
                    <a:cs typeface="Tahoma"/>
                  </a:rPr>
                  <a:t> </a:t>
                </a:r>
                <a:r>
                  <a:rPr lang="en-IN" sz="1000" spc="-35" dirty="0">
                    <a:latin typeface="Tahoma"/>
                    <a:cs typeface="Tahoma"/>
                  </a:rPr>
                  <a:t>model,</a:t>
                </a:r>
                <a:r>
                  <a:rPr lang="en-IN" sz="1000" spc="-40" dirty="0">
                    <a:latin typeface="Tahoma"/>
                    <a:cs typeface="Tahoma"/>
                  </a:rPr>
                  <a:t> </a:t>
                </a:r>
                <a:r>
                  <a:rPr lang="en-IN" sz="1000" spc="-10" dirty="0">
                    <a:latin typeface="Tahoma"/>
                    <a:cs typeface="Tahoma"/>
                  </a:rPr>
                  <a:t>the</a:t>
                </a:r>
                <a:r>
                  <a:rPr lang="en-IN" sz="1000" spc="-40" dirty="0">
                    <a:latin typeface="Tahoma"/>
                    <a:cs typeface="Tahoma"/>
                  </a:rPr>
                  <a:t> </a:t>
                </a:r>
                <a:r>
                  <a:rPr lang="en-IN" sz="1000" spc="-35" dirty="0">
                    <a:latin typeface="Tahoma"/>
                    <a:cs typeface="Tahoma"/>
                  </a:rPr>
                  <a:t>gradient</a:t>
                </a:r>
                <a:r>
                  <a:rPr lang="en-IN" sz="1000" spc="-45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of</a:t>
                </a:r>
                <a:r>
                  <a:rPr lang="en-IN" sz="1000" spc="-45" dirty="0">
                    <a:latin typeface="Tahoma"/>
                    <a:cs typeface="Tahoma"/>
                  </a:rPr>
                  <a:t> </a:t>
                </a:r>
                <a:r>
                  <a:rPr lang="en-IN" sz="1000" spc="-10" dirty="0">
                    <a:latin typeface="Tahoma"/>
                    <a:cs typeface="Tahoma"/>
                  </a:rPr>
                  <a:t>the</a:t>
                </a:r>
                <a:r>
                  <a:rPr lang="en-IN" sz="1000" spc="-40" dirty="0">
                    <a:latin typeface="Tahoma"/>
                    <a:cs typeface="Tahoma"/>
                  </a:rPr>
                  <a:t> loss</a:t>
                </a:r>
                <a:r>
                  <a:rPr lang="en-IN" sz="1000" spc="-45" dirty="0">
                    <a:latin typeface="Tahoma"/>
                    <a:cs typeface="Tahoma"/>
                  </a:rPr>
                  <a:t> </a:t>
                </a:r>
                <a:r>
                  <a:rPr lang="en-IN" sz="1000" spc="-25" dirty="0">
                    <a:latin typeface="Tahoma"/>
                    <a:cs typeface="Tahoma"/>
                  </a:rPr>
                  <a:t>function</a:t>
                </a:r>
                <a:r>
                  <a:rPr lang="en-IN" sz="1000" spc="-40" dirty="0">
                    <a:latin typeface="Tahoma"/>
                    <a:cs typeface="Tahoma"/>
                  </a:rPr>
                  <a:t> </a:t>
                </a:r>
                <a:r>
                  <a:rPr lang="en-IN" sz="1000" i="1" dirty="0">
                    <a:latin typeface="Arial"/>
                    <a:cs typeface="Arial"/>
                  </a:rPr>
                  <a:t>L</a:t>
                </a:r>
                <a:r>
                  <a:rPr lang="en-IN" sz="1000" i="1" spc="-5" dirty="0">
                    <a:latin typeface="Arial"/>
                    <a:cs typeface="Arial"/>
                  </a:rPr>
                  <a:t> </a:t>
                </a:r>
                <a:r>
                  <a:rPr lang="en-IN" sz="1000" spc="-20" dirty="0">
                    <a:latin typeface="Tahoma"/>
                    <a:cs typeface="Tahoma"/>
                  </a:rPr>
                  <a:t>with </a:t>
                </a:r>
                <a:r>
                  <a:rPr lang="en-IN" sz="1000" spc="-40" dirty="0">
                    <a:latin typeface="Tahoma"/>
                    <a:cs typeface="Tahoma"/>
                  </a:rPr>
                  <a:t>respect</a:t>
                </a:r>
                <a:r>
                  <a:rPr lang="en-IN" sz="1000" spc="-10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to</a:t>
                </a:r>
                <a:r>
                  <a:rPr lang="en-IN" sz="1000" spc="20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all</a:t>
                </a:r>
                <a:r>
                  <a:rPr lang="en-IN" sz="1000" spc="15" dirty="0">
                    <a:latin typeface="Tahoma"/>
                    <a:cs typeface="Tahoma"/>
                  </a:rPr>
                  <a:t> </a:t>
                </a:r>
                <a:r>
                  <a:rPr lang="en-IN" sz="1000" spc="-35" dirty="0">
                    <a:latin typeface="Tahoma"/>
                    <a:cs typeface="Tahoma"/>
                  </a:rPr>
                  <a:t>model</a:t>
                </a:r>
                <a:r>
                  <a:rPr lang="en-IN" sz="1000" spc="15" dirty="0">
                    <a:latin typeface="Tahoma"/>
                    <a:cs typeface="Tahoma"/>
                  </a:rPr>
                  <a:t> </a:t>
                </a:r>
                <a:r>
                  <a:rPr lang="en-IN" sz="1000" spc="-50" dirty="0">
                    <a:latin typeface="Tahoma"/>
                    <a:cs typeface="Tahoma"/>
                  </a:rPr>
                  <a:t>parameters</a:t>
                </a:r>
                <a:r>
                  <a:rPr lang="en-IN" sz="1000" spc="15" dirty="0">
                    <a:latin typeface="Tahoma"/>
                    <a:cs typeface="Tahoma"/>
                  </a:rPr>
                  <a:t> </a:t>
                </a:r>
                <a:r>
                  <a:rPr lang="el-GR" sz="1000" i="1" dirty="0">
                    <a:latin typeface="Georgia"/>
                    <a:cs typeface="Georgia"/>
                  </a:rPr>
                  <a:t>θ</a:t>
                </a:r>
                <a:r>
                  <a:rPr lang="en-IN" sz="1000" i="1" baseline="-10416" dirty="0">
                    <a:latin typeface="Arial"/>
                    <a:cs typeface="Arial"/>
                  </a:rPr>
                  <a:t>j</a:t>
                </a:r>
                <a:r>
                  <a:rPr lang="en-IN" sz="1000" i="1" spc="300" baseline="-10416" dirty="0">
                    <a:latin typeface="Arial"/>
                    <a:cs typeface="Arial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=</a:t>
                </a:r>
                <a:r>
                  <a:rPr lang="en-IN" sz="1000" spc="-45" dirty="0">
                    <a:latin typeface="Tahoma"/>
                    <a:cs typeface="Tahoma"/>
                  </a:rPr>
                  <a:t> </a:t>
                </a:r>
                <a:r>
                  <a:rPr lang="en-IN" sz="1000" spc="80" dirty="0">
                    <a:latin typeface="Lucida Sans Unicode"/>
                    <a:cs typeface="Lucida Sans Unicode"/>
                  </a:rPr>
                  <a:t>{</a:t>
                </a:r>
                <a:r>
                  <a:rPr lang="en-IN" sz="1000" i="1" spc="80" dirty="0">
                    <a:latin typeface="Arial"/>
                    <a:cs typeface="Arial"/>
                  </a:rPr>
                  <a:t>A</a:t>
                </a:r>
                <a:r>
                  <a:rPr lang="en-IN" sz="1000" i="1" spc="120" baseline="-10416" dirty="0">
                    <a:latin typeface="Arial"/>
                    <a:cs typeface="Arial"/>
                  </a:rPr>
                  <a:t>j</a:t>
                </a:r>
                <a:r>
                  <a:rPr lang="en-IN" sz="1000" i="1" spc="80" dirty="0">
                    <a:latin typeface="Georgia"/>
                    <a:cs typeface="Georgia"/>
                  </a:rPr>
                  <a:t>,</a:t>
                </a:r>
                <a:r>
                  <a:rPr lang="en-IN" sz="1000" i="1" spc="-85" dirty="0">
                    <a:latin typeface="Georgia"/>
                    <a:cs typeface="Georgia"/>
                  </a:rPr>
                  <a:t> </a:t>
                </a:r>
                <a:r>
                  <a:rPr lang="en-IN" sz="1000" i="1" spc="-10" dirty="0">
                    <a:latin typeface="Arial"/>
                    <a:cs typeface="Arial"/>
                  </a:rPr>
                  <a:t>b</a:t>
                </a:r>
                <a:r>
                  <a:rPr lang="en-IN" sz="1000" i="1" spc="-15" baseline="-10416" dirty="0">
                    <a:latin typeface="Arial"/>
                    <a:cs typeface="Arial"/>
                  </a:rPr>
                  <a:t>j</a:t>
                </a:r>
                <a:r>
                  <a:rPr lang="en-IN" sz="1000" i="1" spc="-150" baseline="-10416" dirty="0">
                    <a:latin typeface="Arial"/>
                    <a:cs typeface="Arial"/>
                  </a:rPr>
                  <a:t> </a:t>
                </a:r>
                <a:r>
                  <a:rPr lang="en-IN" sz="1000" spc="90" dirty="0">
                    <a:latin typeface="Lucida Sans Unicode"/>
                    <a:cs typeface="Lucida Sans Unicode"/>
                  </a:rPr>
                  <a:t>}</a:t>
                </a:r>
                <a:r>
                  <a:rPr lang="en-IN" sz="1000" i="1" spc="90" dirty="0">
                    <a:latin typeface="Georgia"/>
                    <a:cs typeface="Georgia"/>
                  </a:rPr>
                  <a:t>,</a:t>
                </a:r>
                <a:r>
                  <a:rPr lang="en-IN" sz="1000" i="1" spc="-85" dirty="0">
                    <a:latin typeface="Georgia"/>
                    <a:cs typeface="Georgia"/>
                  </a:rPr>
                  <a:t> </a:t>
                </a:r>
                <a:r>
                  <a:rPr lang="en-IN" sz="1000" i="1" dirty="0">
                    <a:latin typeface="Arial"/>
                    <a:cs typeface="Arial"/>
                  </a:rPr>
                  <a:t>j</a:t>
                </a:r>
                <a:r>
                  <a:rPr lang="en-IN" sz="1000" i="1" spc="95" dirty="0">
                    <a:latin typeface="Arial"/>
                    <a:cs typeface="Arial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=</a:t>
                </a:r>
                <a:r>
                  <a:rPr lang="en-IN" sz="1000" spc="-45" dirty="0">
                    <a:latin typeface="Tahoma"/>
                    <a:cs typeface="Tahoma"/>
                  </a:rPr>
                  <a:t> </a:t>
                </a:r>
                <a:r>
                  <a:rPr lang="en-IN" sz="1000" spc="-40" dirty="0">
                    <a:latin typeface="Tahoma"/>
                    <a:cs typeface="Tahoma"/>
                  </a:rPr>
                  <a:t>1</a:t>
                </a:r>
                <a:r>
                  <a:rPr lang="en-IN" sz="1000" i="1" spc="-40" dirty="0">
                    <a:latin typeface="Georgia"/>
                    <a:cs typeface="Georgia"/>
                  </a:rPr>
                  <a:t>,</a:t>
                </a:r>
                <a:r>
                  <a:rPr lang="en-IN" sz="1000" i="1" spc="-85" dirty="0">
                    <a:latin typeface="Georgia"/>
                    <a:cs typeface="Georgia"/>
                  </a:rPr>
                  <a:t> </a:t>
                </a:r>
                <a:r>
                  <a:rPr lang="en-IN" sz="1000" spc="-400" dirty="0">
                    <a:latin typeface="Lucida Sans Unicode"/>
                    <a:cs typeface="Lucida Sans Unicode"/>
                  </a:rPr>
                  <a:t>·</a:t>
                </a:r>
                <a:r>
                  <a:rPr lang="en-IN" sz="1000" spc="-165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spc="-400" dirty="0">
                    <a:latin typeface="Lucida Sans Unicode"/>
                    <a:cs typeface="Lucida Sans Unicode"/>
                  </a:rPr>
                  <a:t>·</a:t>
                </a:r>
                <a:r>
                  <a:rPr lang="en-IN" sz="1000" spc="-170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spc="-400" dirty="0">
                    <a:latin typeface="Lucida Sans Unicode"/>
                    <a:cs typeface="Lucida Sans Unicode"/>
                  </a:rPr>
                  <a:t>·</a:t>
                </a:r>
                <a:r>
                  <a:rPr lang="en-IN" sz="1000" spc="15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i="1" dirty="0">
                    <a:latin typeface="Georgia"/>
                    <a:cs typeface="Georgia"/>
                  </a:rPr>
                  <a:t>,</a:t>
                </a:r>
                <a:r>
                  <a:rPr lang="en-IN" sz="1000" i="1" spc="-85" dirty="0">
                    <a:latin typeface="Georgia"/>
                    <a:cs typeface="Georgia"/>
                  </a:rPr>
                  <a:t> </a:t>
                </a:r>
                <a:r>
                  <a:rPr lang="en-IN" sz="1000" i="1" dirty="0">
                    <a:latin typeface="Arial"/>
                    <a:cs typeface="Arial"/>
                  </a:rPr>
                  <a:t>K</a:t>
                </a:r>
                <a:r>
                  <a:rPr lang="en-IN" sz="1000" i="1" spc="175" dirty="0">
                    <a:latin typeface="Arial"/>
                    <a:cs typeface="Arial"/>
                  </a:rPr>
                  <a:t> </a:t>
                </a:r>
                <a:r>
                  <a:rPr lang="en-IN" sz="1000" spc="-25" dirty="0">
                    <a:latin typeface="Tahoma"/>
                    <a:cs typeface="Tahoma"/>
                  </a:rPr>
                  <a:t>and inputs</a:t>
                </a:r>
                <a:r>
                  <a:rPr lang="en-IN" sz="1000" spc="-65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of</a:t>
                </a:r>
                <a:r>
                  <a:rPr lang="en-IN" sz="1000" spc="-40" dirty="0">
                    <a:latin typeface="Tahoma"/>
                    <a:cs typeface="Tahoma"/>
                  </a:rPr>
                  <a:t> each</a:t>
                </a:r>
                <a:r>
                  <a:rPr lang="en-IN" sz="1000" spc="-35" dirty="0">
                    <a:latin typeface="Tahoma"/>
                    <a:cs typeface="Tahoma"/>
                  </a:rPr>
                  <a:t> </a:t>
                </a:r>
                <a:r>
                  <a:rPr lang="en-IN" sz="1000" spc="-55" dirty="0">
                    <a:latin typeface="Tahoma"/>
                    <a:cs typeface="Tahoma"/>
                  </a:rPr>
                  <a:t>layer</a:t>
                </a:r>
                <a:r>
                  <a:rPr lang="en-IN" sz="1000" spc="-30" dirty="0">
                    <a:latin typeface="Tahoma"/>
                    <a:cs typeface="Tahoma"/>
                  </a:rPr>
                  <a:t> </a:t>
                </a:r>
                <a:r>
                  <a:rPr lang="en-IN" sz="1000" spc="-70" dirty="0">
                    <a:latin typeface="Tahoma"/>
                    <a:cs typeface="Tahoma"/>
                  </a:rPr>
                  <a:t>needs</a:t>
                </a:r>
                <a:r>
                  <a:rPr lang="en-IN" sz="1000" spc="-20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to</a:t>
                </a:r>
                <a:r>
                  <a:rPr lang="en-IN" sz="1000" spc="-40" dirty="0">
                    <a:latin typeface="Tahoma"/>
                    <a:cs typeface="Tahoma"/>
                  </a:rPr>
                  <a:t> </a:t>
                </a:r>
                <a:r>
                  <a:rPr lang="en-IN" sz="1000" spc="-10" dirty="0">
                    <a:latin typeface="Tahoma"/>
                    <a:cs typeface="Tahoma"/>
                  </a:rPr>
                  <a:t>be</a:t>
                </a:r>
                <a:r>
                  <a:rPr lang="en-IN" sz="1000" spc="-35" dirty="0">
                    <a:latin typeface="Tahoma"/>
                    <a:cs typeface="Tahoma"/>
                  </a:rPr>
                  <a:t> computed.</a:t>
                </a:r>
                <a:r>
                  <a:rPr lang="en-IN" sz="1000" spc="70" dirty="0">
                    <a:latin typeface="Tahoma"/>
                    <a:cs typeface="Tahoma"/>
                  </a:rPr>
                  <a:t> </a:t>
                </a:r>
                <a:r>
                  <a:rPr lang="en-IN" sz="1000" spc="-10" dirty="0">
                    <a:latin typeface="Tahoma"/>
                    <a:cs typeface="Tahoma"/>
                  </a:rPr>
                  <a:t>Consider</a:t>
                </a:r>
              </a:p>
              <a:p>
                <a:pPr marL="775335">
                  <a:lnSpc>
                    <a:spcPct val="100000"/>
                  </a:lnSpc>
                  <a:spcBef>
                    <a:spcPts val="1130"/>
                  </a:spcBef>
                  <a:tabLst>
                    <a:tab pos="1004569" algn="l"/>
                  </a:tabLst>
                </a:pPr>
                <a:r>
                  <a:rPr lang="en-IN" sz="1000" i="1" spc="-25" dirty="0">
                    <a:latin typeface="Arial"/>
                    <a:cs typeface="Arial"/>
                  </a:rPr>
                  <a:t>f</a:t>
                </a:r>
                <a:r>
                  <a:rPr lang="en-IN" sz="1000" spc="-37" baseline="-10416" dirty="0">
                    <a:latin typeface="Tahoma"/>
                    <a:cs typeface="Tahoma"/>
                  </a:rPr>
                  <a:t>0</a:t>
                </a:r>
                <a:r>
                  <a:rPr lang="en-IN" sz="1000" baseline="-10416" dirty="0">
                    <a:latin typeface="Tahoma"/>
                    <a:cs typeface="Tahoma"/>
                  </a:rPr>
                  <a:t>	</a:t>
                </a:r>
                <a:r>
                  <a:rPr lang="en-IN" sz="1000" dirty="0">
                    <a:latin typeface="Tahoma"/>
                    <a:cs typeface="Tahoma"/>
                  </a:rPr>
                  <a:t>:=</a:t>
                </a:r>
                <a:r>
                  <a:rPr lang="en-IN" sz="1000" spc="130" dirty="0">
                    <a:latin typeface="Tahoma"/>
                    <a:cs typeface="Tahoma"/>
                  </a:rPr>
                  <a:t>  </a:t>
                </a:r>
                <a:r>
                  <a:rPr lang="en-IN" sz="1000" i="1" spc="-50" dirty="0">
                    <a:latin typeface="Arial"/>
                    <a:cs typeface="Arial"/>
                  </a:rPr>
                  <a:t>x</a:t>
                </a:r>
                <a:endParaRPr lang="en-IN" sz="1000" dirty="0">
                  <a:latin typeface="Arial"/>
                  <a:cs typeface="Arial"/>
                </a:endParaRPr>
              </a:p>
              <a:p>
                <a:pPr marL="793750">
                  <a:lnSpc>
                    <a:spcPct val="100000"/>
                  </a:lnSpc>
                  <a:spcBef>
                    <a:spcPts val="335"/>
                  </a:spcBef>
                  <a:tabLst>
                    <a:tab pos="1004569" algn="l"/>
                  </a:tabLst>
                </a:pPr>
                <a:r>
                  <a:rPr lang="en-IN" sz="1000" i="1" spc="-25" dirty="0">
                    <a:latin typeface="Arial"/>
                    <a:cs typeface="Arial"/>
                  </a:rPr>
                  <a:t>f</a:t>
                </a:r>
                <a:r>
                  <a:rPr lang="en-IN" sz="1000" i="1" spc="-37" baseline="-10416" dirty="0">
                    <a:latin typeface="Arial"/>
                    <a:cs typeface="Arial"/>
                  </a:rPr>
                  <a:t>i</a:t>
                </a:r>
                <a:r>
                  <a:rPr lang="en-IN" sz="1000" i="1" baseline="-10416" dirty="0">
                    <a:latin typeface="Arial"/>
                    <a:cs typeface="Arial"/>
                  </a:rPr>
                  <a:t>	</a:t>
                </a:r>
                <a:r>
                  <a:rPr lang="en-IN" sz="1000" dirty="0">
                    <a:latin typeface="Tahoma"/>
                    <a:cs typeface="Tahoma"/>
                  </a:rPr>
                  <a:t>:=</a:t>
                </a:r>
                <a:r>
                  <a:rPr lang="en-IN" sz="1000" spc="190" dirty="0">
                    <a:latin typeface="Tahoma"/>
                    <a:cs typeface="Tahoma"/>
                  </a:rPr>
                  <a:t>  </a:t>
                </a:r>
                <a:r>
                  <a:rPr lang="el-GR" sz="1000" i="1" dirty="0">
                    <a:latin typeface="Georgia"/>
                    <a:cs typeface="Georgia"/>
                  </a:rPr>
                  <a:t>σ</a:t>
                </a:r>
                <a:r>
                  <a:rPr lang="en-IN" sz="1000" i="1" baseline="-10416" dirty="0">
                    <a:latin typeface="Arial"/>
                    <a:cs typeface="Arial"/>
                  </a:rPr>
                  <a:t>i</a:t>
                </a:r>
                <a:r>
                  <a:rPr lang="en-IN" sz="1000" i="1" spc="-135" baseline="-10416" dirty="0">
                    <a:latin typeface="Arial"/>
                    <a:cs typeface="Arial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(</a:t>
                </a:r>
                <a:r>
                  <a:rPr lang="en-IN" sz="1000" i="1" dirty="0">
                    <a:latin typeface="Arial"/>
                    <a:cs typeface="Arial"/>
                  </a:rPr>
                  <a:t>A</a:t>
                </a:r>
                <a:r>
                  <a:rPr lang="en-IN" sz="1000" i="1" baseline="-10416" dirty="0">
                    <a:latin typeface="Arial"/>
                    <a:cs typeface="Arial"/>
                  </a:rPr>
                  <a:t>i</a:t>
                </a:r>
                <a:r>
                  <a:rPr lang="en-IN" sz="1000" i="1" spc="-209" baseline="-10416" dirty="0">
                    <a:latin typeface="Arial"/>
                    <a:cs typeface="Arial"/>
                  </a:rPr>
                  <a:t> </a:t>
                </a:r>
                <a:r>
                  <a:rPr lang="en-IN" sz="1000" baseline="-10416" dirty="0">
                    <a:latin typeface="Lucida Sans Unicode"/>
                    <a:cs typeface="Lucida Sans Unicode"/>
                  </a:rPr>
                  <a:t>−</a:t>
                </a:r>
                <a:r>
                  <a:rPr lang="en-IN" sz="1000" baseline="-10416" dirty="0">
                    <a:latin typeface="Tahoma"/>
                    <a:cs typeface="Tahoma"/>
                  </a:rPr>
                  <a:t>1</a:t>
                </a:r>
                <a:r>
                  <a:rPr lang="en-IN" sz="1000" i="1" dirty="0">
                    <a:latin typeface="Arial"/>
                    <a:cs typeface="Arial"/>
                  </a:rPr>
                  <a:t>f</a:t>
                </a:r>
                <a:r>
                  <a:rPr lang="en-IN" sz="1000" i="1" baseline="-10416" dirty="0">
                    <a:latin typeface="Arial"/>
                    <a:cs typeface="Arial"/>
                  </a:rPr>
                  <a:t>i</a:t>
                </a:r>
                <a:r>
                  <a:rPr lang="en-IN" sz="1000" i="1" spc="-209" baseline="-10416" dirty="0">
                    <a:latin typeface="Arial"/>
                    <a:cs typeface="Arial"/>
                  </a:rPr>
                  <a:t> </a:t>
                </a:r>
                <a:r>
                  <a:rPr lang="en-IN" sz="1000" baseline="-10416" dirty="0">
                    <a:latin typeface="Lucida Sans Unicode"/>
                    <a:cs typeface="Lucida Sans Unicode"/>
                  </a:rPr>
                  <a:t>−</a:t>
                </a:r>
                <a:r>
                  <a:rPr lang="en-IN" sz="1000" baseline="-10416" dirty="0">
                    <a:latin typeface="Tahoma"/>
                    <a:cs typeface="Tahoma"/>
                  </a:rPr>
                  <a:t>1</a:t>
                </a:r>
                <a:r>
                  <a:rPr lang="en-IN" sz="1000" spc="89" baseline="-10416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+</a:t>
                </a:r>
                <a:r>
                  <a:rPr lang="en-IN" sz="1000" spc="-90" dirty="0">
                    <a:latin typeface="Tahoma"/>
                    <a:cs typeface="Tahoma"/>
                  </a:rPr>
                  <a:t> </a:t>
                </a:r>
                <a:r>
                  <a:rPr lang="en-IN" sz="1000" i="1" spc="-20" dirty="0">
                    <a:latin typeface="Arial"/>
                    <a:cs typeface="Arial"/>
                  </a:rPr>
                  <a:t>b</a:t>
                </a:r>
                <a:r>
                  <a:rPr lang="en-IN" sz="1000" i="1" spc="-30" baseline="-10416" dirty="0">
                    <a:latin typeface="Arial"/>
                    <a:cs typeface="Arial"/>
                  </a:rPr>
                  <a:t>i</a:t>
                </a:r>
                <a:r>
                  <a:rPr lang="en-IN" sz="1000" i="1" spc="-209" baseline="-10416" dirty="0">
                    <a:latin typeface="Arial"/>
                    <a:cs typeface="Arial"/>
                  </a:rPr>
                  <a:t> </a:t>
                </a:r>
                <a:r>
                  <a:rPr lang="en-IN" sz="1000" baseline="-10416" dirty="0">
                    <a:latin typeface="Lucida Sans Unicode"/>
                    <a:cs typeface="Lucida Sans Unicode"/>
                  </a:rPr>
                  <a:t>−</a:t>
                </a:r>
                <a:r>
                  <a:rPr lang="en-IN" sz="1000" baseline="-10416" dirty="0">
                    <a:latin typeface="Tahoma"/>
                    <a:cs typeface="Tahoma"/>
                  </a:rPr>
                  <a:t>1</a:t>
                </a:r>
                <a:r>
                  <a:rPr lang="en-IN" sz="1000" dirty="0">
                    <a:latin typeface="Tahoma"/>
                    <a:cs typeface="Tahoma"/>
                  </a:rPr>
                  <a:t>)</a:t>
                </a:r>
                <a:r>
                  <a:rPr lang="en-IN" sz="1000" i="1" dirty="0">
                    <a:latin typeface="Georgia"/>
                    <a:cs typeface="Georgia"/>
                  </a:rPr>
                  <a:t>,</a:t>
                </a:r>
                <a:r>
                  <a:rPr lang="en-IN" sz="1000" i="1" spc="-70" dirty="0">
                    <a:latin typeface="Georgia"/>
                    <a:cs typeface="Georgia"/>
                  </a:rPr>
                  <a:t> </a:t>
                </a:r>
                <a:r>
                  <a:rPr lang="en-IN" sz="1000" i="1" dirty="0">
                    <a:latin typeface="Arial"/>
                    <a:cs typeface="Arial"/>
                  </a:rPr>
                  <a:t>i</a:t>
                </a:r>
                <a:r>
                  <a:rPr lang="en-IN" sz="1000" i="1" spc="125" dirty="0">
                    <a:latin typeface="Arial"/>
                    <a:cs typeface="Arial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=</a:t>
                </a:r>
                <a:r>
                  <a:rPr lang="en-IN" sz="1000" spc="-20" dirty="0">
                    <a:latin typeface="Tahoma"/>
                    <a:cs typeface="Tahoma"/>
                  </a:rPr>
                  <a:t> </a:t>
                </a:r>
                <a:r>
                  <a:rPr lang="en-IN" sz="1000" spc="-40" dirty="0">
                    <a:latin typeface="Tahoma"/>
                    <a:cs typeface="Tahoma"/>
                  </a:rPr>
                  <a:t>1</a:t>
                </a:r>
                <a:r>
                  <a:rPr lang="en-IN" sz="1000" i="1" spc="-40" dirty="0">
                    <a:latin typeface="Georgia"/>
                    <a:cs typeface="Georgia"/>
                  </a:rPr>
                  <a:t>,</a:t>
                </a:r>
                <a:r>
                  <a:rPr lang="en-IN" sz="1000" i="1" spc="-75" dirty="0">
                    <a:latin typeface="Georgia"/>
                    <a:cs typeface="Georgia"/>
                  </a:rPr>
                  <a:t> </a:t>
                </a:r>
                <a:r>
                  <a:rPr lang="en-IN" sz="1000" spc="-400" dirty="0">
                    <a:latin typeface="Lucida Sans Unicode"/>
                    <a:cs typeface="Lucida Sans Unicode"/>
                  </a:rPr>
                  <a:t>·</a:t>
                </a:r>
                <a:r>
                  <a:rPr lang="en-IN" sz="1000" spc="-150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spc="-400" dirty="0">
                    <a:latin typeface="Lucida Sans Unicode"/>
                    <a:cs typeface="Lucida Sans Unicode"/>
                  </a:rPr>
                  <a:t>·</a:t>
                </a:r>
                <a:r>
                  <a:rPr lang="en-IN" sz="1000" spc="-160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spc="-400" dirty="0">
                    <a:latin typeface="Lucida Sans Unicode"/>
                    <a:cs typeface="Lucida Sans Unicode"/>
                  </a:rPr>
                  <a:t>·</a:t>
                </a:r>
                <a:r>
                  <a:rPr lang="en-IN" sz="1000" spc="40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i="1" dirty="0">
                    <a:latin typeface="Georgia"/>
                    <a:cs typeface="Georgia"/>
                  </a:rPr>
                  <a:t>,</a:t>
                </a:r>
                <a:r>
                  <a:rPr lang="en-IN" sz="1000" i="1" spc="-75" dirty="0">
                    <a:latin typeface="Georgia"/>
                    <a:cs typeface="Georgia"/>
                  </a:rPr>
                  <a:t> </a:t>
                </a:r>
                <a:r>
                  <a:rPr lang="en-IN" sz="1000" i="1" spc="45" dirty="0">
                    <a:latin typeface="Arial"/>
                    <a:cs typeface="Arial"/>
                  </a:rPr>
                  <a:t>K</a:t>
                </a:r>
                <a:r>
                  <a:rPr lang="en-IN" sz="1000" i="1" spc="45" dirty="0">
                    <a:latin typeface="Georgia"/>
                    <a:cs typeface="Georgia"/>
                  </a:rPr>
                  <a:t>.</a:t>
                </a:r>
              </a:p>
              <a:p>
                <a:pPr marL="76200" marR="6858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IN" sz="1000" dirty="0"/>
                  <a:t>Here x</a:t>
                </a:r>
                <a:r>
                  <a:rPr lang="en-IN" sz="1000" baseline="-25000" dirty="0"/>
                  <a:t>i-1</a:t>
                </a:r>
                <a:r>
                  <a:rPr lang="en-IN" sz="1000" dirty="0"/>
                  <a:t> is the output of layer i-1 and</a:t>
                </a:r>
                <a:r>
                  <a:rPr lang="en-IN" sz="1000" i="1" dirty="0">
                    <a:latin typeface="Georgia"/>
                    <a:cs typeface="Georgia"/>
                  </a:rPr>
                  <a:t> </a:t>
                </a:r>
                <a:r>
                  <a:rPr lang="el-GR" sz="1000" i="1" dirty="0">
                    <a:latin typeface="Georgia"/>
                    <a:cs typeface="Georgia"/>
                  </a:rPr>
                  <a:t>σ</a:t>
                </a:r>
                <a:r>
                  <a:rPr lang="en-IN" sz="1000" i="1" baseline="-10416" dirty="0">
                    <a:latin typeface="Arial"/>
                    <a:cs typeface="Arial"/>
                  </a:rPr>
                  <a:t>i  </a:t>
                </a:r>
                <a:r>
                  <a:rPr lang="en-IN" sz="1000" dirty="0"/>
                  <a:t> is an activation function, such as the logistic sigmoid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000" dirty="0"/>
                  <a:t> </a:t>
                </a:r>
                <a:r>
                  <a:rPr lang="ar-AE" sz="1000" dirty="0"/>
                  <a:t>,</a:t>
                </a:r>
                <a:r>
                  <a:rPr lang="en-IN" sz="1000" dirty="0"/>
                  <a:t>tanh or a rectified </a:t>
                </a:r>
                <a:r>
                  <a:rPr lang="en-IN" sz="1000" dirty="0" err="1"/>
                  <a:t>inear</a:t>
                </a:r>
                <a:r>
                  <a:rPr lang="en-IN" sz="1000" dirty="0"/>
                  <a:t> unit (ReLU).</a:t>
                </a:r>
                <a:endParaRPr lang="en-IN" sz="1000" dirty="0">
                  <a:latin typeface="Georgia"/>
                  <a:cs typeface="Georgia"/>
                </a:endParaRPr>
              </a:p>
              <a:p>
                <a:pPr marL="76200">
                  <a:lnSpc>
                    <a:spcPct val="100000"/>
                  </a:lnSpc>
                  <a:spcBef>
                    <a:spcPts val="1130"/>
                  </a:spcBef>
                </a:pPr>
                <a:r>
                  <a:rPr lang="en-IN" sz="1000" dirty="0">
                    <a:latin typeface="Tahoma"/>
                    <a:cs typeface="Tahoma"/>
                  </a:rPr>
                  <a:t>We</a:t>
                </a:r>
                <a:r>
                  <a:rPr lang="en-IN" sz="1000" spc="-60" dirty="0">
                    <a:latin typeface="Tahoma"/>
                    <a:cs typeface="Tahoma"/>
                  </a:rPr>
                  <a:t> </a:t>
                </a:r>
                <a:r>
                  <a:rPr lang="en-IN" sz="1000" spc="-55" dirty="0">
                    <a:latin typeface="Tahoma"/>
                    <a:cs typeface="Tahoma"/>
                  </a:rPr>
                  <a:t>have</a:t>
                </a:r>
                <a:r>
                  <a:rPr lang="en-IN" sz="1000" spc="10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to </a:t>
                </a:r>
                <a:r>
                  <a:rPr lang="en-IN" sz="1000" spc="-10" dirty="0">
                    <a:latin typeface="Tahoma"/>
                    <a:cs typeface="Tahoma"/>
                  </a:rPr>
                  <a:t>find</a:t>
                </a:r>
                <a:r>
                  <a:rPr lang="en-IN" sz="1000" spc="5" dirty="0">
                    <a:latin typeface="Tahoma"/>
                    <a:cs typeface="Tahoma"/>
                  </a:rPr>
                  <a:t> </a:t>
                </a:r>
                <a:r>
                  <a:rPr lang="el-GR" sz="1000" i="1" dirty="0">
                    <a:latin typeface="Georgia"/>
                    <a:cs typeface="Georgia"/>
                  </a:rPr>
                  <a:t>θ</a:t>
                </a:r>
                <a:r>
                  <a:rPr lang="en-IN" sz="1000" i="1" baseline="-10416" dirty="0">
                    <a:latin typeface="Arial"/>
                    <a:cs typeface="Arial"/>
                  </a:rPr>
                  <a:t>j</a:t>
                </a:r>
                <a:r>
                  <a:rPr lang="en-IN" sz="1000" i="1" spc="284" baseline="-10416" dirty="0">
                    <a:latin typeface="Arial"/>
                    <a:cs typeface="Arial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=</a:t>
                </a:r>
                <a:r>
                  <a:rPr lang="en-IN" sz="1000" spc="-50" dirty="0">
                    <a:latin typeface="Tahoma"/>
                    <a:cs typeface="Tahoma"/>
                  </a:rPr>
                  <a:t> </a:t>
                </a:r>
                <a:r>
                  <a:rPr lang="en-IN" sz="1000" spc="80" dirty="0">
                    <a:latin typeface="Lucida Sans Unicode"/>
                    <a:cs typeface="Lucida Sans Unicode"/>
                  </a:rPr>
                  <a:t>{</a:t>
                </a:r>
                <a:r>
                  <a:rPr lang="en-IN" sz="1000" i="1" spc="80" dirty="0">
                    <a:latin typeface="Arial"/>
                    <a:cs typeface="Arial"/>
                  </a:rPr>
                  <a:t>A</a:t>
                </a:r>
                <a:r>
                  <a:rPr lang="en-IN" sz="1000" i="1" spc="120" baseline="-10416" dirty="0">
                    <a:latin typeface="Arial"/>
                    <a:cs typeface="Arial"/>
                  </a:rPr>
                  <a:t>j</a:t>
                </a:r>
                <a:r>
                  <a:rPr lang="en-IN" sz="1000" i="1" spc="80" dirty="0">
                    <a:latin typeface="Georgia"/>
                    <a:cs typeface="Georgia"/>
                  </a:rPr>
                  <a:t>,</a:t>
                </a:r>
                <a:r>
                  <a:rPr lang="en-IN" sz="1000" i="1" spc="-85" dirty="0">
                    <a:latin typeface="Georgia"/>
                    <a:cs typeface="Georgia"/>
                  </a:rPr>
                  <a:t> </a:t>
                </a:r>
                <a:r>
                  <a:rPr lang="en-IN" sz="1000" i="1" spc="-10" dirty="0">
                    <a:latin typeface="Arial"/>
                    <a:cs typeface="Arial"/>
                  </a:rPr>
                  <a:t>b</a:t>
                </a:r>
                <a:r>
                  <a:rPr lang="en-IN" sz="1000" i="1" spc="-15" baseline="-10416" dirty="0">
                    <a:latin typeface="Arial"/>
                    <a:cs typeface="Arial"/>
                  </a:rPr>
                  <a:t>j</a:t>
                </a:r>
                <a:r>
                  <a:rPr lang="en-IN" sz="1000" i="1" spc="-150" baseline="-10416" dirty="0">
                    <a:latin typeface="Arial"/>
                    <a:cs typeface="Arial"/>
                  </a:rPr>
                  <a:t> </a:t>
                </a:r>
                <a:r>
                  <a:rPr lang="en-IN" sz="1000" spc="85" dirty="0">
                    <a:latin typeface="Lucida Sans Unicode"/>
                    <a:cs typeface="Lucida Sans Unicode"/>
                  </a:rPr>
                  <a:t>}</a:t>
                </a:r>
                <a:r>
                  <a:rPr lang="en-IN" sz="1000" i="1" spc="85" dirty="0">
                    <a:latin typeface="Georgia"/>
                    <a:cs typeface="Georgia"/>
                  </a:rPr>
                  <a:t>,</a:t>
                </a:r>
                <a:r>
                  <a:rPr lang="en-IN" sz="1000" i="1" spc="-85" dirty="0">
                    <a:latin typeface="Georgia"/>
                    <a:cs typeface="Georgia"/>
                  </a:rPr>
                  <a:t> </a:t>
                </a:r>
                <a:r>
                  <a:rPr lang="en-IN" sz="1000" i="1" dirty="0">
                    <a:latin typeface="Arial"/>
                    <a:cs typeface="Arial"/>
                  </a:rPr>
                  <a:t>j</a:t>
                </a:r>
                <a:r>
                  <a:rPr lang="en-IN" sz="1000" i="1" spc="80" dirty="0">
                    <a:latin typeface="Arial"/>
                    <a:cs typeface="Arial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=</a:t>
                </a:r>
                <a:r>
                  <a:rPr lang="en-IN" sz="1000" spc="-50" dirty="0">
                    <a:latin typeface="Tahoma"/>
                    <a:cs typeface="Tahoma"/>
                  </a:rPr>
                  <a:t> </a:t>
                </a:r>
                <a:r>
                  <a:rPr lang="en-IN" sz="1000" spc="-40" dirty="0">
                    <a:latin typeface="Tahoma"/>
                    <a:cs typeface="Tahoma"/>
                  </a:rPr>
                  <a:t>1</a:t>
                </a:r>
                <a:r>
                  <a:rPr lang="en-IN" sz="1000" i="1" spc="-40" dirty="0">
                    <a:latin typeface="Georgia"/>
                    <a:cs typeface="Georgia"/>
                  </a:rPr>
                  <a:t>,</a:t>
                </a:r>
                <a:r>
                  <a:rPr lang="en-IN" sz="1000" i="1" spc="-85" dirty="0">
                    <a:latin typeface="Georgia"/>
                    <a:cs typeface="Georgia"/>
                  </a:rPr>
                  <a:t> </a:t>
                </a:r>
                <a:r>
                  <a:rPr lang="en-IN" sz="1000" spc="-400" dirty="0">
                    <a:latin typeface="Lucida Sans Unicode"/>
                    <a:cs typeface="Lucida Sans Unicode"/>
                  </a:rPr>
                  <a:t>·</a:t>
                </a:r>
                <a:r>
                  <a:rPr lang="en-IN" sz="1000" spc="-165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spc="-400" dirty="0">
                    <a:latin typeface="Lucida Sans Unicode"/>
                    <a:cs typeface="Lucida Sans Unicode"/>
                  </a:rPr>
                  <a:t>·</a:t>
                </a:r>
                <a:r>
                  <a:rPr lang="en-IN" sz="1000" spc="-170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spc="-400" dirty="0">
                    <a:latin typeface="Lucida Sans Unicode"/>
                    <a:cs typeface="Lucida Sans Unicode"/>
                  </a:rPr>
                  <a:t>·</a:t>
                </a:r>
                <a:r>
                  <a:rPr lang="en-IN" sz="1000" spc="15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i="1" dirty="0">
                    <a:latin typeface="Georgia"/>
                    <a:cs typeface="Georgia"/>
                  </a:rPr>
                  <a:t>,</a:t>
                </a:r>
                <a:r>
                  <a:rPr lang="en-IN" sz="1000" i="1" spc="-85" dirty="0">
                    <a:latin typeface="Georgia"/>
                    <a:cs typeface="Georgia"/>
                  </a:rPr>
                  <a:t> </a:t>
                </a:r>
                <a:r>
                  <a:rPr lang="en-IN" sz="1000" i="1" dirty="0">
                    <a:latin typeface="Arial"/>
                    <a:cs typeface="Arial"/>
                  </a:rPr>
                  <a:t>K</a:t>
                </a:r>
                <a:r>
                  <a:rPr lang="en-IN" sz="1000" i="1" spc="55" dirty="0">
                    <a:latin typeface="Arial"/>
                    <a:cs typeface="Arial"/>
                  </a:rPr>
                  <a:t> </a:t>
                </a:r>
                <a:r>
                  <a:rPr lang="en-IN" sz="1000" spc="-35" dirty="0">
                    <a:latin typeface="Lucida Sans Unicode"/>
                    <a:cs typeface="Lucida Sans Unicode"/>
                  </a:rPr>
                  <a:t>−</a:t>
                </a:r>
                <a:r>
                  <a:rPr lang="en-IN" sz="1000" spc="-105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1 </a:t>
                </a:r>
                <a:r>
                  <a:rPr lang="en-IN" sz="1000" spc="-40" dirty="0">
                    <a:latin typeface="Tahoma"/>
                    <a:cs typeface="Tahoma"/>
                  </a:rPr>
                  <a:t>such</a:t>
                </a:r>
                <a:r>
                  <a:rPr lang="en-IN" sz="1000" spc="5" dirty="0">
                    <a:latin typeface="Tahoma"/>
                    <a:cs typeface="Tahoma"/>
                  </a:rPr>
                  <a:t> </a:t>
                </a:r>
                <a:r>
                  <a:rPr lang="en-IN" sz="1000" spc="-20" dirty="0">
                    <a:latin typeface="Tahoma"/>
                    <a:cs typeface="Tahoma"/>
                  </a:rPr>
                  <a:t>that</a:t>
                </a:r>
                <a:endParaRPr lang="en-IN" sz="1000" dirty="0">
                  <a:latin typeface="Tahoma"/>
                  <a:cs typeface="Tahoma"/>
                </a:endParaRPr>
              </a:p>
              <a:p>
                <a:pPr marL="194945" algn="ctr">
                  <a:lnSpc>
                    <a:spcPct val="100000"/>
                  </a:lnSpc>
                  <a:spcBef>
                    <a:spcPts val="1130"/>
                  </a:spcBef>
                </a:pPr>
                <a:r>
                  <a:rPr lang="en-IN" sz="1000" i="1" spc="-20" dirty="0">
                    <a:latin typeface="Arial"/>
                    <a:cs typeface="Arial"/>
                  </a:rPr>
                  <a:t>L</a:t>
                </a:r>
                <a:r>
                  <a:rPr lang="en-IN" sz="1000" spc="-20" dirty="0">
                    <a:latin typeface="Tahoma"/>
                    <a:cs typeface="Tahoma"/>
                  </a:rPr>
                  <a:t>(</a:t>
                </a:r>
                <a:r>
                  <a:rPr lang="el-GR" sz="1000" i="1" spc="-20" dirty="0">
                    <a:latin typeface="Georgia"/>
                    <a:cs typeface="Georgia"/>
                  </a:rPr>
                  <a:t>θ</a:t>
                </a:r>
                <a:r>
                  <a:rPr lang="el-GR" sz="1000" spc="-20" dirty="0">
                    <a:latin typeface="Tahoma"/>
                    <a:cs typeface="Tahoma"/>
                  </a:rPr>
                  <a:t>)</a:t>
                </a:r>
                <a:r>
                  <a:rPr lang="el-GR" sz="1000" spc="-25" dirty="0">
                    <a:latin typeface="Tahoma"/>
                    <a:cs typeface="Tahoma"/>
                  </a:rPr>
                  <a:t> </a:t>
                </a:r>
                <a:r>
                  <a:rPr lang="el-GR" sz="1000" dirty="0">
                    <a:latin typeface="Tahoma"/>
                    <a:cs typeface="Tahoma"/>
                  </a:rPr>
                  <a:t>=</a:t>
                </a:r>
                <a:r>
                  <a:rPr lang="el-GR" sz="1000" spc="-30" dirty="0">
                    <a:latin typeface="Tahoma"/>
                    <a:cs typeface="Tahoma"/>
                  </a:rPr>
                  <a:t> </a:t>
                </a:r>
                <a:r>
                  <a:rPr lang="el-GR" sz="1000" spc="-80" dirty="0">
                    <a:latin typeface="Lucida Sans Unicode"/>
                    <a:cs typeface="Lucida Sans Unicode"/>
                  </a:rPr>
                  <a:t>||</a:t>
                </a:r>
                <a:r>
                  <a:rPr lang="en-IN" sz="1000" i="1" spc="-80" dirty="0">
                    <a:latin typeface="Arial"/>
                    <a:cs typeface="Arial"/>
                  </a:rPr>
                  <a:t>y</a:t>
                </a:r>
                <a:r>
                  <a:rPr lang="en-IN" sz="1000" i="1" spc="75" dirty="0">
                    <a:latin typeface="Arial"/>
                    <a:cs typeface="Arial"/>
                  </a:rPr>
                  <a:t> </a:t>
                </a:r>
                <a:r>
                  <a:rPr lang="en-IN" sz="1000" spc="-35" dirty="0">
                    <a:latin typeface="Lucida Sans Unicode"/>
                    <a:cs typeface="Lucida Sans Unicode"/>
                  </a:rPr>
                  <a:t>−</a:t>
                </a:r>
                <a:r>
                  <a:rPr lang="en-IN" sz="1000" spc="-90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i="1" dirty="0">
                    <a:latin typeface="Arial"/>
                    <a:cs typeface="Arial"/>
                  </a:rPr>
                  <a:t>f</a:t>
                </a:r>
                <a:r>
                  <a:rPr lang="en-IN" sz="1000" i="1" baseline="-13888" dirty="0">
                    <a:latin typeface="Arial"/>
                    <a:cs typeface="Arial"/>
                  </a:rPr>
                  <a:t>K</a:t>
                </a:r>
                <a:r>
                  <a:rPr lang="en-IN" sz="1000" i="1" spc="-104" baseline="-13888" dirty="0">
                    <a:latin typeface="Arial"/>
                    <a:cs typeface="Arial"/>
                  </a:rPr>
                  <a:t> </a:t>
                </a:r>
                <a:r>
                  <a:rPr lang="en-IN" sz="1000" spc="-35" dirty="0">
                    <a:latin typeface="Tahoma"/>
                    <a:cs typeface="Tahoma"/>
                  </a:rPr>
                  <a:t>(</a:t>
                </a:r>
                <a:r>
                  <a:rPr lang="el-GR" sz="1000" i="1" spc="-35" dirty="0">
                    <a:latin typeface="Georgia"/>
                    <a:cs typeface="Georgia"/>
                  </a:rPr>
                  <a:t>θ,</a:t>
                </a:r>
                <a:r>
                  <a:rPr lang="el-GR" sz="1000" i="1" spc="-75" dirty="0">
                    <a:latin typeface="Georgia"/>
                    <a:cs typeface="Georgia"/>
                  </a:rPr>
                  <a:t> </a:t>
                </a:r>
                <a:r>
                  <a:rPr lang="en-IN" sz="1000" i="1" spc="-55" dirty="0">
                    <a:latin typeface="Arial"/>
                    <a:cs typeface="Arial"/>
                  </a:rPr>
                  <a:t>x</a:t>
                </a:r>
                <a:r>
                  <a:rPr lang="en-IN" sz="1000" i="1" spc="-204" dirty="0">
                    <a:latin typeface="Arial"/>
                    <a:cs typeface="Arial"/>
                  </a:rPr>
                  <a:t> </a:t>
                </a:r>
                <a:r>
                  <a:rPr lang="en-IN" sz="1000" spc="-20" dirty="0">
                    <a:latin typeface="Tahoma"/>
                    <a:cs typeface="Tahoma"/>
                  </a:rPr>
                  <a:t>)</a:t>
                </a:r>
                <a:r>
                  <a:rPr lang="en-IN" sz="1000" spc="-20" dirty="0">
                    <a:latin typeface="Lucida Sans Unicode"/>
                    <a:cs typeface="Lucida Sans Unicode"/>
                  </a:rPr>
                  <a:t>||</a:t>
                </a:r>
                <a:r>
                  <a:rPr lang="en-IN" sz="1000" spc="-30" baseline="31250" dirty="0">
                    <a:latin typeface="Tahoma"/>
                    <a:cs typeface="Tahoma"/>
                  </a:rPr>
                  <a:t>2</a:t>
                </a:r>
                <a:endParaRPr lang="en-IN" sz="1000" baseline="31250" dirty="0">
                  <a:latin typeface="Tahoma"/>
                  <a:cs typeface="Tahoma"/>
                </a:endParaRPr>
              </a:p>
              <a:p>
                <a:pPr marL="75565">
                  <a:lnSpc>
                    <a:spcPct val="100000"/>
                  </a:lnSpc>
                  <a:spcBef>
                    <a:spcPts val="1130"/>
                  </a:spcBef>
                </a:pPr>
                <a:r>
                  <a:rPr lang="en-IN" sz="1000" dirty="0">
                    <a:latin typeface="Tahoma"/>
                    <a:cs typeface="Tahoma"/>
                  </a:rPr>
                  <a:t>is</a:t>
                </a:r>
                <a:r>
                  <a:rPr lang="en-IN" sz="1000" spc="20" dirty="0">
                    <a:latin typeface="Tahoma"/>
                    <a:cs typeface="Tahoma"/>
                  </a:rPr>
                  <a:t> </a:t>
                </a:r>
                <a:r>
                  <a:rPr lang="en-IN" sz="1000" spc="-30" dirty="0">
                    <a:latin typeface="Tahoma"/>
                    <a:cs typeface="Tahoma"/>
                  </a:rPr>
                  <a:t>minimum</a:t>
                </a:r>
                <a:r>
                  <a:rPr lang="en-IN" sz="1000" spc="30" dirty="0">
                    <a:latin typeface="Tahoma"/>
                    <a:cs typeface="Tahoma"/>
                  </a:rPr>
                  <a:t> </a:t>
                </a:r>
                <a:r>
                  <a:rPr lang="en-IN" sz="1000" spc="-60" dirty="0">
                    <a:latin typeface="Tahoma"/>
                    <a:cs typeface="Tahoma"/>
                  </a:rPr>
                  <a:t>where</a:t>
                </a:r>
                <a:r>
                  <a:rPr lang="en-IN" sz="1000" spc="30" dirty="0">
                    <a:latin typeface="Tahoma"/>
                    <a:cs typeface="Tahoma"/>
                  </a:rPr>
                  <a:t> </a:t>
                </a:r>
                <a:r>
                  <a:rPr lang="el-GR" sz="1000" i="1" dirty="0">
                    <a:latin typeface="Georgia"/>
                    <a:cs typeface="Georgia"/>
                  </a:rPr>
                  <a:t>θ</a:t>
                </a:r>
                <a:r>
                  <a:rPr lang="el-GR" sz="1000" i="1" spc="75" dirty="0">
                    <a:latin typeface="Georgia"/>
                    <a:cs typeface="Georgia"/>
                  </a:rPr>
                  <a:t> </a:t>
                </a:r>
                <a:r>
                  <a:rPr lang="el-GR" sz="1000" dirty="0">
                    <a:latin typeface="Tahoma"/>
                    <a:cs typeface="Tahoma"/>
                  </a:rPr>
                  <a:t>=</a:t>
                </a:r>
                <a:r>
                  <a:rPr lang="el-GR" sz="1000" spc="-30" dirty="0">
                    <a:latin typeface="Tahoma"/>
                    <a:cs typeface="Tahoma"/>
                  </a:rPr>
                  <a:t> </a:t>
                </a:r>
                <a:r>
                  <a:rPr lang="el-GR" sz="1000" dirty="0">
                    <a:latin typeface="Lucida Sans Unicode"/>
                    <a:cs typeface="Lucida Sans Unicode"/>
                  </a:rPr>
                  <a:t>{</a:t>
                </a:r>
                <a:r>
                  <a:rPr lang="en-IN" sz="1000" i="1" dirty="0">
                    <a:latin typeface="Arial"/>
                    <a:cs typeface="Arial"/>
                  </a:rPr>
                  <a:t>A</a:t>
                </a:r>
                <a:r>
                  <a:rPr lang="en-IN" sz="1000" baseline="-10416" dirty="0">
                    <a:latin typeface="Tahoma"/>
                    <a:cs typeface="Tahoma"/>
                  </a:rPr>
                  <a:t>0</a:t>
                </a:r>
                <a:r>
                  <a:rPr lang="en-IN" sz="1000" i="1" dirty="0">
                    <a:latin typeface="Georgia"/>
                    <a:cs typeface="Georgia"/>
                  </a:rPr>
                  <a:t>,</a:t>
                </a:r>
                <a:r>
                  <a:rPr lang="en-IN" sz="1000" i="1" spc="-80" dirty="0">
                    <a:latin typeface="Georgia"/>
                    <a:cs typeface="Georgia"/>
                  </a:rPr>
                  <a:t> </a:t>
                </a:r>
                <a:r>
                  <a:rPr lang="en-IN" sz="1000" i="1" spc="-10" dirty="0">
                    <a:latin typeface="Arial"/>
                    <a:cs typeface="Arial"/>
                  </a:rPr>
                  <a:t>b</a:t>
                </a:r>
                <a:r>
                  <a:rPr lang="en-IN" sz="1000" spc="-15" baseline="-10416" dirty="0">
                    <a:latin typeface="Tahoma"/>
                    <a:cs typeface="Tahoma"/>
                  </a:rPr>
                  <a:t>0</a:t>
                </a:r>
                <a:r>
                  <a:rPr lang="en-IN" sz="1000" i="1" spc="-10" dirty="0">
                    <a:latin typeface="Georgia"/>
                    <a:cs typeface="Georgia"/>
                  </a:rPr>
                  <a:t>,</a:t>
                </a:r>
                <a:r>
                  <a:rPr lang="en-IN" sz="1000" i="1" spc="-80" dirty="0">
                    <a:latin typeface="Georgia"/>
                    <a:cs typeface="Georgia"/>
                  </a:rPr>
                  <a:t> </a:t>
                </a:r>
                <a:r>
                  <a:rPr lang="en-IN" sz="1000" spc="-400" dirty="0">
                    <a:latin typeface="Lucida Sans Unicode"/>
                    <a:cs typeface="Lucida Sans Unicode"/>
                  </a:rPr>
                  <a:t>·</a:t>
                </a:r>
                <a:r>
                  <a:rPr lang="en-IN" sz="1000" spc="-160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spc="-400" dirty="0">
                    <a:latin typeface="Lucida Sans Unicode"/>
                    <a:cs typeface="Lucida Sans Unicode"/>
                  </a:rPr>
                  <a:t>·</a:t>
                </a:r>
                <a:r>
                  <a:rPr lang="en-IN" sz="1000" spc="-165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spc="-400" dirty="0">
                    <a:latin typeface="Lucida Sans Unicode"/>
                    <a:cs typeface="Lucida Sans Unicode"/>
                  </a:rPr>
                  <a:t>·</a:t>
                </a:r>
                <a:r>
                  <a:rPr lang="en-IN" sz="1000" spc="25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i="1" dirty="0">
                    <a:latin typeface="Georgia"/>
                    <a:cs typeface="Georgia"/>
                  </a:rPr>
                  <a:t>,</a:t>
                </a:r>
                <a:r>
                  <a:rPr lang="en-IN" sz="1000" i="1" spc="-80" dirty="0">
                    <a:latin typeface="Georgia"/>
                    <a:cs typeface="Georgia"/>
                  </a:rPr>
                  <a:t> </a:t>
                </a:r>
                <a:r>
                  <a:rPr lang="en-IN" sz="1000" i="1" dirty="0">
                    <a:latin typeface="Arial"/>
                    <a:cs typeface="Arial"/>
                  </a:rPr>
                  <a:t>A</a:t>
                </a:r>
                <a:r>
                  <a:rPr lang="en-IN" sz="1000" i="1" baseline="-13888" dirty="0">
                    <a:latin typeface="Arial"/>
                    <a:cs typeface="Arial"/>
                  </a:rPr>
                  <a:t>K</a:t>
                </a:r>
                <a:r>
                  <a:rPr lang="en-IN" sz="1000" i="1" spc="-195" baseline="-13888" dirty="0">
                    <a:latin typeface="Arial"/>
                    <a:cs typeface="Arial"/>
                  </a:rPr>
                  <a:t> </a:t>
                </a:r>
                <a:r>
                  <a:rPr lang="en-IN" sz="1000" baseline="-13888" dirty="0">
                    <a:latin typeface="Lucida Sans Unicode"/>
                    <a:cs typeface="Lucida Sans Unicode"/>
                  </a:rPr>
                  <a:t>−</a:t>
                </a:r>
                <a:r>
                  <a:rPr lang="en-IN" sz="1000" baseline="-13888" dirty="0">
                    <a:latin typeface="Tahoma"/>
                    <a:cs typeface="Tahoma"/>
                  </a:rPr>
                  <a:t>1</a:t>
                </a:r>
                <a:r>
                  <a:rPr lang="en-IN" sz="1000" i="1" dirty="0">
                    <a:latin typeface="Georgia"/>
                    <a:cs typeface="Georgia"/>
                  </a:rPr>
                  <a:t>,</a:t>
                </a:r>
                <a:r>
                  <a:rPr lang="en-IN" sz="1000" i="1" spc="-80" dirty="0">
                    <a:latin typeface="Georgia"/>
                    <a:cs typeface="Georgia"/>
                  </a:rPr>
                  <a:t> </a:t>
                </a:r>
                <a:r>
                  <a:rPr lang="en-IN" sz="1000" i="1" spc="-10" dirty="0">
                    <a:latin typeface="Arial"/>
                    <a:cs typeface="Arial"/>
                  </a:rPr>
                  <a:t>b</a:t>
                </a:r>
                <a:r>
                  <a:rPr lang="en-IN" sz="1000" i="1" spc="-15" baseline="-13888" dirty="0">
                    <a:latin typeface="Arial"/>
                    <a:cs typeface="Arial"/>
                  </a:rPr>
                  <a:t>K</a:t>
                </a:r>
                <a:r>
                  <a:rPr lang="en-IN" sz="1000" i="1" spc="-187" baseline="-13888" dirty="0">
                    <a:latin typeface="Arial"/>
                    <a:cs typeface="Arial"/>
                  </a:rPr>
                  <a:t> </a:t>
                </a:r>
                <a:r>
                  <a:rPr lang="en-IN" sz="1000" spc="75" baseline="-13888" dirty="0">
                    <a:latin typeface="Lucida Sans Unicode"/>
                    <a:cs typeface="Lucida Sans Unicode"/>
                  </a:rPr>
                  <a:t>−</a:t>
                </a:r>
                <a:r>
                  <a:rPr lang="en-IN" sz="1000" spc="75" baseline="-13888" dirty="0">
                    <a:latin typeface="Tahoma"/>
                    <a:cs typeface="Tahoma"/>
                  </a:rPr>
                  <a:t>1</a:t>
                </a:r>
                <a:r>
                  <a:rPr lang="en-IN" sz="1000" spc="50" dirty="0">
                    <a:latin typeface="Lucida Sans Unicode"/>
                    <a:cs typeface="Lucida Sans Unicode"/>
                  </a:rPr>
                  <a:t>}</a:t>
                </a:r>
                <a:endParaRPr sz="1000" dirty="0">
                  <a:latin typeface="Lucida Sans Unicode"/>
                  <a:cs typeface="Lucida Sans Unicode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94" y="754263"/>
                <a:ext cx="3926256" cy="2409249"/>
              </a:xfrm>
              <a:prstGeom prst="rect">
                <a:avLst/>
              </a:prstGeom>
              <a:blipFill>
                <a:blip r:embed="rId2"/>
                <a:stretch>
                  <a:fillRect l="-155" t="-2025" b="-25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12700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0" dirty="0">
                <a:solidFill>
                  <a:srgbClr val="3333B2"/>
                </a:solidFill>
                <a:latin typeface="Tahoma"/>
                <a:cs typeface="Tahoma"/>
              </a:rPr>
              <a:t>Backpropagation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790942"/>
            <a:ext cx="1651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Using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chain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rule,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get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74003"/>
              </p:ext>
            </p:extLst>
          </p:nvPr>
        </p:nvGraphicFramePr>
        <p:xfrm>
          <a:off x="1128102" y="1120775"/>
          <a:ext cx="2396147" cy="144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965">
                <a:tc>
                  <a:txBody>
                    <a:bodyPr/>
                    <a:lstStyle/>
                    <a:p>
                      <a:pPr marR="27940" algn="ctr">
                        <a:lnSpc>
                          <a:spcPts val="1050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34290" algn="ctr">
                        <a:lnSpc>
                          <a:spcPts val="1305"/>
                        </a:lnSpc>
                        <a:spcBef>
                          <a:spcPts val="345"/>
                        </a:spcBef>
                      </a:pPr>
                      <a:r>
                        <a:rPr sz="1650" i="1" spc="-37" baseline="10101" dirty="0">
                          <a:latin typeface="Georgia"/>
                          <a:cs typeface="Georgia"/>
                        </a:rPr>
                        <a:t>∂θ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00" spc="-25" dirty="0">
                          <a:latin typeface="Tahoma"/>
                          <a:cs typeface="Tahoma"/>
                        </a:rPr>
                        <a:t>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1050"/>
                        </a:lnSpc>
                        <a:tabLst>
                          <a:tab pos="397510" algn="l"/>
                        </a:tabLst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200" i="1" spc="-37" baseline="-13888" dirty="0">
                          <a:latin typeface="Arial"/>
                          <a:cs typeface="Arial"/>
                        </a:rPr>
                        <a:t>K</a:t>
                      </a:r>
                      <a:endParaRPr sz="1200" baseline="-13888">
                        <a:latin typeface="Arial"/>
                        <a:cs typeface="Arial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200" i="1" baseline="-13888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1200" i="1" spc="34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∂θ</a:t>
                      </a:r>
                      <a:r>
                        <a:rPr sz="1200" i="1" spc="-37" baseline="-13888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1200" i="1" spc="-16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7" baseline="-13888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200" spc="-37" baseline="-13888" dirty="0">
                          <a:latin typeface="Tahoma"/>
                          <a:cs typeface="Tahoma"/>
                        </a:rPr>
                        <a:t>1</a:t>
                      </a:r>
                      <a:endParaRPr sz="1200" baseline="-13888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27940" algn="ctr">
                        <a:lnSpc>
                          <a:spcPts val="1155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34290" algn="ctr">
                        <a:lnSpc>
                          <a:spcPts val="1305"/>
                        </a:lnSpc>
                        <a:spcBef>
                          <a:spcPts val="340"/>
                        </a:spcBef>
                      </a:pPr>
                      <a:r>
                        <a:rPr sz="1650" i="1" spc="-37" baseline="10101" dirty="0">
                          <a:latin typeface="Georgia"/>
                          <a:cs typeface="Georgia"/>
                        </a:rPr>
                        <a:t>∂θ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00" spc="-25" dirty="0">
                          <a:latin typeface="Tahoma"/>
                          <a:cs typeface="Tahoma"/>
                        </a:rPr>
                        <a:t>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72390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1155"/>
                        </a:lnSpc>
                        <a:tabLst>
                          <a:tab pos="386080" algn="l"/>
                          <a:tab pos="631825" algn="l"/>
                        </a:tabLst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</a:t>
                      </a:r>
                      <a:r>
                        <a:rPr lang="en-IN" sz="11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a:t>∂</a:t>
                      </a:r>
                      <a:r>
                        <a:rPr sz="1100" i="1" spc="-25" dirty="0" err="1">
                          <a:latin typeface="Arial"/>
                          <a:cs typeface="Arial"/>
                        </a:rPr>
                        <a:t>f</a:t>
                      </a:r>
                      <a:r>
                        <a:rPr sz="1200" i="1" spc="-37" baseline="-13888" dirty="0" err="1">
                          <a:latin typeface="Arial"/>
                          <a:cs typeface="Arial"/>
                        </a:rPr>
                        <a:t>K</a:t>
                      </a:r>
                      <a:r>
                        <a:rPr sz="1200" i="1" baseline="-13888" dirty="0">
                          <a:latin typeface="Arial"/>
                          <a:cs typeface="Arial"/>
                        </a:rPr>
                        <a:t>	</a:t>
                      </a:r>
                      <a:r>
                        <a:rPr lang="en-IN" sz="1200" i="1" baseline="-13888" dirty="0">
                          <a:latin typeface="Arial"/>
                          <a:cs typeface="Arial"/>
                        </a:rPr>
                        <a:t>      </a:t>
                      </a: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200" i="1" baseline="-13888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1200" i="1" spc="-89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2" baseline="-13888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200" spc="-52" baseline="-13888" dirty="0">
                          <a:latin typeface="Tahoma"/>
                          <a:cs typeface="Tahoma"/>
                        </a:rPr>
                        <a:t>1</a:t>
                      </a:r>
                      <a:endParaRPr sz="1200" baseline="-13888" dirty="0">
                        <a:latin typeface="Tahoma"/>
                        <a:cs typeface="Tahoma"/>
                      </a:endParaRPr>
                    </a:p>
                    <a:p>
                      <a:pPr marL="70485">
                        <a:lnSpc>
                          <a:spcPts val="1305"/>
                        </a:lnSpc>
                        <a:spcBef>
                          <a:spcPts val="340"/>
                        </a:spcBef>
                      </a:pPr>
                      <a:r>
                        <a:rPr sz="1650" i="1" baseline="1010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650" i="1" baseline="10101" dirty="0" err="1">
                          <a:latin typeface="Arial"/>
                          <a:cs typeface="Arial"/>
                        </a:rPr>
                        <a:t>f</a:t>
                      </a:r>
                      <a:r>
                        <a:rPr sz="800" i="1" dirty="0" err="1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23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N" sz="800" i="1" spc="23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a:t>  </a:t>
                      </a:r>
                      <a:r>
                        <a:rPr lang="en-IN" sz="1650" i="1" baseline="1010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a:t>∂f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800" spc="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50" i="1" spc="-37" baseline="10101" dirty="0">
                          <a:latin typeface="Georgia"/>
                          <a:cs typeface="Georgia"/>
                        </a:rPr>
                        <a:t>∂θ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00" spc="-25" dirty="0">
                          <a:latin typeface="Tahoma"/>
                          <a:cs typeface="Tahoma"/>
                        </a:rPr>
                        <a:t>2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R="27940" algn="ctr">
                        <a:lnSpc>
                          <a:spcPts val="1155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34290" algn="ctr">
                        <a:lnSpc>
                          <a:spcPts val="1235"/>
                        </a:lnSpc>
                        <a:spcBef>
                          <a:spcPts val="345"/>
                        </a:spcBef>
                      </a:pPr>
                      <a:r>
                        <a:rPr sz="1650" i="1" spc="-37" baseline="10101" dirty="0">
                          <a:latin typeface="Georgia"/>
                          <a:cs typeface="Georgia"/>
                        </a:rPr>
                        <a:t>∂θ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00" spc="-25" dirty="0">
                          <a:latin typeface="Tahoma"/>
                          <a:cs typeface="Tahoma"/>
                        </a:rPr>
                        <a:t>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72390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1155"/>
                        </a:lnSpc>
                        <a:tabLst>
                          <a:tab pos="386080" algn="l"/>
                        </a:tabLst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</a:t>
                      </a:r>
                      <a:r>
                        <a:rPr lang="en-IN" sz="11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a:t>∂</a:t>
                      </a:r>
                      <a:r>
                        <a:rPr sz="1100" i="1" dirty="0" err="1">
                          <a:latin typeface="Arial"/>
                          <a:cs typeface="Arial"/>
                        </a:rPr>
                        <a:t>f</a:t>
                      </a:r>
                      <a:r>
                        <a:rPr sz="1200" i="1" baseline="-13888" dirty="0" err="1">
                          <a:latin typeface="Arial"/>
                          <a:cs typeface="Arial"/>
                        </a:rPr>
                        <a:t>K</a:t>
                      </a:r>
                      <a:r>
                        <a:rPr sz="1200" i="1" spc="465" baseline="-13888" dirty="0">
                          <a:latin typeface="Arial"/>
                          <a:cs typeface="Arial"/>
                        </a:rPr>
                        <a:t>  </a:t>
                      </a: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200" i="1" baseline="-13888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1200" i="1" spc="-16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aseline="-13888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200" baseline="-13888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200" spc="270" baseline="-13888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200" i="1" baseline="-13888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1200" i="1" spc="-17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7" baseline="-13888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200" spc="-37" baseline="-13888" dirty="0">
                          <a:latin typeface="Tahoma"/>
                          <a:cs typeface="Tahoma"/>
                        </a:rPr>
                        <a:t>2</a:t>
                      </a:r>
                      <a:endParaRPr sz="1200" baseline="-13888" dirty="0">
                        <a:latin typeface="Tahoma"/>
                        <a:cs typeface="Tahoma"/>
                      </a:endParaRPr>
                    </a:p>
                    <a:p>
                      <a:pPr marL="70485">
                        <a:lnSpc>
                          <a:spcPts val="1235"/>
                        </a:lnSpc>
                        <a:spcBef>
                          <a:spcPts val="345"/>
                        </a:spcBef>
                      </a:pPr>
                      <a:r>
                        <a:rPr sz="1650" i="1" baseline="1010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650" i="1" baseline="10101" dirty="0" err="1">
                          <a:latin typeface="Arial"/>
                          <a:cs typeface="Arial"/>
                        </a:rPr>
                        <a:t>f</a:t>
                      </a:r>
                      <a:r>
                        <a:rPr sz="800" i="1" dirty="0" err="1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23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N" sz="1650" i="1" baseline="1010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a:t>∂f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800" spc="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50" i="1" baseline="1010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650" i="1" baseline="1010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800" spc="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50" i="1" spc="-37" baseline="10101" dirty="0">
                          <a:latin typeface="Georgia"/>
                          <a:cs typeface="Georgia"/>
                        </a:rPr>
                        <a:t>∂θ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00" spc="-25" dirty="0">
                          <a:latin typeface="Tahoma"/>
                          <a:cs typeface="Tahoma"/>
                        </a:rPr>
                        <a:t>3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235585">
                        <a:lnSpc>
                          <a:spcPts val="1225"/>
                        </a:lnSpc>
                      </a:pPr>
                      <a:r>
                        <a:rPr sz="1100" i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∂θ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1280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25"/>
                        </a:lnSpc>
                        <a:tabLst>
                          <a:tab pos="386080" algn="l"/>
                          <a:tab pos="828040" algn="l"/>
                        </a:tabLst>
                      </a:pPr>
                      <a:r>
                        <a:rPr sz="1100" i="1" u="sng" spc="-70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 </a:t>
                      </a:r>
                      <a:r>
                        <a:rPr sz="1100" i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L</a:t>
                      </a:r>
                      <a:r>
                        <a:rPr sz="11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	</a:t>
                      </a:r>
                      <a:r>
                        <a:rPr lang="en-IN" sz="11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a:t>∂</a:t>
                      </a:r>
                      <a:r>
                        <a:rPr sz="1100" i="1" u="sng" dirty="0" err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f</a:t>
                      </a:r>
                      <a:r>
                        <a:rPr sz="1200" i="1" u="sng" baseline="-13888" dirty="0" err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K</a:t>
                      </a:r>
                      <a:r>
                        <a:rPr sz="1200" i="1" u="sng" spc="750" baseline="-13888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baseline="-13888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f</a:t>
                      </a:r>
                      <a:r>
                        <a:rPr sz="1200" i="1" u="sng" baseline="-10416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i</a:t>
                      </a:r>
                      <a:r>
                        <a:rPr sz="1200" u="sng" baseline="-10416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+2</a:t>
                      </a:r>
                      <a:r>
                        <a:rPr sz="1200" u="sng" spc="322" baseline="-10416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lang="en-IN" sz="1200" u="sng" spc="322" baseline="-10416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 </a:t>
                      </a:r>
                      <a:r>
                        <a:rPr sz="1100" i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f</a:t>
                      </a:r>
                      <a:r>
                        <a:rPr sz="1200" i="1" u="sng" spc="-30" baseline="-10416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i</a:t>
                      </a:r>
                      <a:r>
                        <a:rPr sz="1200" u="sng" spc="-30" baseline="-10416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+1</a:t>
                      </a:r>
                      <a:endParaRPr sz="1200" baseline="-10416" dirty="0">
                        <a:latin typeface="Tahoma"/>
                        <a:cs typeface="Tahoma"/>
                      </a:endParaRPr>
                    </a:p>
                    <a:p>
                      <a:pPr marL="70485">
                        <a:lnSpc>
                          <a:spcPts val="1200"/>
                        </a:lnSpc>
                        <a:spcBef>
                          <a:spcPts val="340"/>
                        </a:spcBef>
                      </a:pPr>
                      <a:r>
                        <a:rPr sz="1650" i="1" baseline="1010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650" i="1" baseline="10101" dirty="0" err="1">
                          <a:latin typeface="Arial"/>
                          <a:cs typeface="Arial"/>
                        </a:rPr>
                        <a:t>f</a:t>
                      </a:r>
                      <a:r>
                        <a:rPr sz="800" i="1" dirty="0" err="1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2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N" sz="1650" i="1" baseline="10101" dirty="0" err="1">
                          <a:latin typeface="Arial"/>
                          <a:cs typeface="Arial"/>
                        </a:rPr>
                        <a:t>f</a:t>
                      </a:r>
                      <a:r>
                        <a:rPr lang="en-IN" sz="1650" i="1" baseline="1010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a:t>∂f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800" spc="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600" baseline="47979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1650" spc="-217" baseline="47979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650" spc="-600" baseline="47979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1650" spc="-225" baseline="47979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650" spc="-600" baseline="47979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1650" spc="-22" baseline="47979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650" i="1" baseline="1010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650" i="1" baseline="1010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i="1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+1</a:t>
                      </a:r>
                      <a:r>
                        <a:rPr sz="800" spc="16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1650" i="1" spc="-37" baseline="10101" dirty="0">
                          <a:latin typeface="Georgia"/>
                          <a:cs typeface="Georgia"/>
                        </a:rPr>
                        <a:t>∂θ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i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222984" y="1276261"/>
            <a:ext cx="377190" cy="0"/>
          </a:xfrm>
          <a:custGeom>
            <a:avLst/>
            <a:gdLst/>
            <a:ahLst/>
            <a:cxnLst/>
            <a:rect l="l" t="t" r="r" b="b"/>
            <a:pathLst>
              <a:path w="377190">
                <a:moveTo>
                  <a:pt x="0" y="0"/>
                </a:moveTo>
                <a:lnTo>
                  <a:pt x="3766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990839" y="1273492"/>
            <a:ext cx="624205" cy="5715"/>
            <a:chOff x="1990839" y="1273492"/>
            <a:chExt cx="624205" cy="5715"/>
          </a:xfrm>
        </p:grpSpPr>
        <p:sp>
          <p:nvSpPr>
            <p:cNvPr id="7" name="object 7"/>
            <p:cNvSpPr/>
            <p:nvPr/>
          </p:nvSpPr>
          <p:spPr>
            <a:xfrm>
              <a:off x="1990839" y="1276261"/>
              <a:ext cx="217170" cy="0"/>
            </a:xfrm>
            <a:custGeom>
              <a:avLst/>
              <a:gdLst/>
              <a:ahLst/>
              <a:cxnLst/>
              <a:rect l="l" t="t" r="r" b="b"/>
              <a:pathLst>
                <a:path w="217169">
                  <a:moveTo>
                    <a:pt x="0" y="0"/>
                  </a:moveTo>
                  <a:lnTo>
                    <a:pt x="216547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37765" y="1276261"/>
              <a:ext cx="377190" cy="0"/>
            </a:xfrm>
            <a:custGeom>
              <a:avLst/>
              <a:gdLst/>
              <a:ahLst/>
              <a:cxnLst/>
              <a:rect l="l" t="t" r="r" b="b"/>
              <a:pathLst>
                <a:path w="377189">
                  <a:moveTo>
                    <a:pt x="0" y="0"/>
                  </a:moveTo>
                  <a:lnTo>
                    <a:pt x="376682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222984" y="1644967"/>
            <a:ext cx="377190" cy="0"/>
          </a:xfrm>
          <a:custGeom>
            <a:avLst/>
            <a:gdLst/>
            <a:ahLst/>
            <a:cxnLst/>
            <a:rect l="l" t="t" r="r" b="b"/>
            <a:pathLst>
              <a:path w="377190">
                <a:moveTo>
                  <a:pt x="0" y="0"/>
                </a:moveTo>
                <a:lnTo>
                  <a:pt x="3766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2077300" y="1642104"/>
            <a:ext cx="927100" cy="5715"/>
            <a:chOff x="1990839" y="1642198"/>
            <a:chExt cx="927100" cy="5715"/>
          </a:xfrm>
        </p:grpSpPr>
        <p:sp>
          <p:nvSpPr>
            <p:cNvPr id="11" name="object 11"/>
            <p:cNvSpPr/>
            <p:nvPr/>
          </p:nvSpPr>
          <p:spPr>
            <a:xfrm>
              <a:off x="1990839" y="1644967"/>
              <a:ext cx="217170" cy="0"/>
            </a:xfrm>
            <a:custGeom>
              <a:avLst/>
              <a:gdLst/>
              <a:ahLst/>
              <a:cxnLst/>
              <a:rect l="l" t="t" r="r" b="b"/>
              <a:pathLst>
                <a:path w="217169">
                  <a:moveTo>
                    <a:pt x="0" y="0"/>
                  </a:moveTo>
                  <a:lnTo>
                    <a:pt x="216547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37765" y="1644967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>
                  <a:moveTo>
                    <a:pt x="0" y="0"/>
                  </a:moveTo>
                  <a:lnTo>
                    <a:pt x="272719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40850" y="1644967"/>
              <a:ext cx="377190" cy="0"/>
            </a:xfrm>
            <a:custGeom>
              <a:avLst/>
              <a:gdLst/>
              <a:ahLst/>
              <a:cxnLst/>
              <a:rect l="l" t="t" r="r" b="b"/>
              <a:pathLst>
                <a:path w="377189">
                  <a:moveTo>
                    <a:pt x="0" y="0"/>
                  </a:moveTo>
                  <a:lnTo>
                    <a:pt x="376682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222984" y="2013661"/>
            <a:ext cx="377190" cy="0"/>
          </a:xfrm>
          <a:custGeom>
            <a:avLst/>
            <a:gdLst/>
            <a:ahLst/>
            <a:cxnLst/>
            <a:rect l="l" t="t" r="r" b="b"/>
            <a:pathLst>
              <a:path w="377190">
                <a:moveTo>
                  <a:pt x="0" y="0"/>
                </a:moveTo>
                <a:lnTo>
                  <a:pt x="3766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990839" y="2010892"/>
            <a:ext cx="1311275" cy="5715"/>
            <a:chOff x="1990839" y="2010892"/>
            <a:chExt cx="1311275" cy="5715"/>
          </a:xfrm>
        </p:grpSpPr>
        <p:sp>
          <p:nvSpPr>
            <p:cNvPr id="16" name="object 16"/>
            <p:cNvSpPr/>
            <p:nvPr/>
          </p:nvSpPr>
          <p:spPr>
            <a:xfrm>
              <a:off x="1990839" y="2013661"/>
              <a:ext cx="217170" cy="0"/>
            </a:xfrm>
            <a:custGeom>
              <a:avLst/>
              <a:gdLst/>
              <a:ahLst/>
              <a:cxnLst/>
              <a:rect l="l" t="t" r="r" b="b"/>
              <a:pathLst>
                <a:path w="217169">
                  <a:moveTo>
                    <a:pt x="0" y="0"/>
                  </a:moveTo>
                  <a:lnTo>
                    <a:pt x="216547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37765" y="2013661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>
                  <a:moveTo>
                    <a:pt x="0" y="0"/>
                  </a:moveTo>
                  <a:lnTo>
                    <a:pt x="272719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40850" y="2013661"/>
              <a:ext cx="354330" cy="0"/>
            </a:xfrm>
            <a:custGeom>
              <a:avLst/>
              <a:gdLst/>
              <a:ahLst/>
              <a:cxnLst/>
              <a:rect l="l" t="t" r="r" b="b"/>
              <a:pathLst>
                <a:path w="354330">
                  <a:moveTo>
                    <a:pt x="0" y="0"/>
                  </a:moveTo>
                  <a:lnTo>
                    <a:pt x="35397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25191" y="2013661"/>
              <a:ext cx="377190" cy="0"/>
            </a:xfrm>
            <a:custGeom>
              <a:avLst/>
              <a:gdLst/>
              <a:ahLst/>
              <a:cxnLst/>
              <a:rect l="l" t="t" r="r" b="b"/>
              <a:pathLst>
                <a:path w="377189">
                  <a:moveTo>
                    <a:pt x="0" y="0"/>
                  </a:moveTo>
                  <a:lnTo>
                    <a:pt x="376682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Backpropagation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932458"/>
            <a:ext cx="2880065" cy="10799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6016" y="2135541"/>
            <a:ext cx="3194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baseline="10416" dirty="0">
                <a:latin typeface="Sitka Text"/>
                <a:cs typeface="Sitka Text"/>
              </a:rPr>
              <a:t>∂θ</a:t>
            </a:r>
            <a:r>
              <a:rPr sz="600" i="1" dirty="0">
                <a:latin typeface="Arial"/>
                <a:cs typeface="Arial"/>
              </a:rPr>
              <a:t>i</a:t>
            </a:r>
            <a:r>
              <a:rPr sz="600" i="1" spc="-80" dirty="0">
                <a:latin typeface="Arial"/>
                <a:cs typeface="Arial"/>
              </a:rPr>
              <a:t> </a:t>
            </a:r>
            <a:r>
              <a:rPr sz="600" spc="-25" dirty="0">
                <a:latin typeface="Tahoma"/>
                <a:cs typeface="Tahoma"/>
              </a:rPr>
              <a:t>+1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894" y="2033281"/>
            <a:ext cx="39465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partial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derivatives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200" i="1" u="sng" spc="352" baseline="31250" dirty="0">
                <a:uFill>
                  <a:solidFill>
                    <a:srgbClr val="000000"/>
                  </a:solidFill>
                </a:uFill>
                <a:latin typeface="Sitka Text"/>
                <a:cs typeface="Sitka Text"/>
              </a:rPr>
              <a:t> </a:t>
            </a: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Sitka Text"/>
                <a:cs typeface="Sitka Text"/>
              </a:rPr>
              <a:t>∂</a:t>
            </a: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1200" i="1" u="sng" spc="307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spc="284" baseline="31250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computed,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computation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6483" y="2328721"/>
            <a:ext cx="20827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Sitka Text"/>
                <a:cs typeface="Sitka Text"/>
              </a:rPr>
              <a:t>∂θ</a:t>
            </a:r>
            <a:r>
              <a:rPr sz="900" i="1" spc="-37" baseline="-13888" dirty="0">
                <a:latin typeface="Arial"/>
                <a:cs typeface="Arial"/>
              </a:rPr>
              <a:t>i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1894" y="2243618"/>
            <a:ext cx="18402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reused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compute</a:t>
            </a:r>
            <a:r>
              <a:rPr sz="1100" spc="170" dirty="0">
                <a:latin typeface="Tahoma"/>
                <a:cs typeface="Tahoma"/>
              </a:rPr>
              <a:t> </a:t>
            </a: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Sitka Text"/>
                <a:cs typeface="Sitka Text"/>
              </a:rPr>
              <a:t>∂</a:t>
            </a: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1200" i="1" spc="-52" baseline="3125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6527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Example</a:t>
            </a:r>
          </a:p>
        </p:txBody>
      </p:sp>
      <p:sp>
        <p:nvSpPr>
          <p:cNvPr id="4" name="object 4"/>
          <p:cNvSpPr/>
          <p:nvPr/>
        </p:nvSpPr>
        <p:spPr>
          <a:xfrm>
            <a:off x="2528582" y="1573161"/>
            <a:ext cx="73660" cy="0"/>
          </a:xfrm>
          <a:custGeom>
            <a:avLst/>
            <a:gdLst/>
            <a:ahLst/>
            <a:cxnLst/>
            <a:rect l="l" t="t" r="r" b="b"/>
            <a:pathLst>
              <a:path w="73660">
                <a:moveTo>
                  <a:pt x="0" y="0"/>
                </a:moveTo>
                <a:lnTo>
                  <a:pt x="7312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71094" y="711147"/>
                <a:ext cx="4243756" cy="1143133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88900">
                  <a:lnSpc>
                    <a:spcPct val="100000"/>
                  </a:lnSpc>
                  <a:spcBef>
                    <a:spcPts val="35"/>
                  </a:spcBef>
                </a:pPr>
                <a:r>
                  <a:rPr lang="en-IN" sz="1200" spc="-100" dirty="0">
                    <a:cs typeface="Arial"/>
                  </a:rPr>
                  <a:t>Let us come back to the example given in slide 1 and see how the concept of backpropagation can be used. The given function  is</a:t>
                </a:r>
              </a:p>
              <a:p>
                <a:pPr marL="88900">
                  <a:lnSpc>
                    <a:spcPct val="100000"/>
                  </a:lnSpc>
                  <a:spcBef>
                    <a:spcPts val="35"/>
                  </a:spcBef>
                </a:pPr>
                <a:endParaRPr lang="en-IN" sz="1200" spc="-100" dirty="0">
                  <a:cs typeface="Arial"/>
                </a:endParaRPr>
              </a:p>
              <a:p>
                <a:pPr marL="88900">
                  <a:spcBef>
                    <a:spcPts val="35"/>
                  </a:spcBef>
                </a:pPr>
                <a:r>
                  <a:rPr lang="en-IN" sz="1200" i="1" dirty="0">
                    <a:solidFill>
                      <a:sysClr val="windowText" lastClr="000000"/>
                    </a:solidFill>
                    <a:latin typeface="Arial"/>
                    <a:cs typeface="Arial"/>
                  </a:rPr>
                  <a:t>f</a:t>
                </a:r>
                <a:r>
                  <a:rPr lang="en-IN" sz="1200" i="1" spc="-50" dirty="0">
                    <a:solidFill>
                      <a:sysClr val="windowText" lastClr="000000"/>
                    </a:solidFill>
                    <a:latin typeface="Arial"/>
                    <a:cs typeface="Arial"/>
                  </a:rPr>
                  <a:t> </a:t>
                </a:r>
                <a:r>
                  <a:rPr lang="en-IN" sz="1200" spc="-35" dirty="0">
                    <a:solidFill>
                      <a:sysClr val="windowText" lastClr="000000"/>
                    </a:solidFill>
                  </a:rPr>
                  <a:t>(</a:t>
                </a:r>
                <a:r>
                  <a:rPr lang="en-IN" sz="1200" i="1" spc="-35" dirty="0">
                    <a:solidFill>
                      <a:sysClr val="windowText" lastClr="000000"/>
                    </a:solidFill>
                    <a:latin typeface="Arial"/>
                    <a:cs typeface="Arial"/>
                  </a:rPr>
                  <a:t>x</a:t>
                </a:r>
                <a:r>
                  <a:rPr lang="en-IN" sz="1200" i="1" spc="-200" dirty="0">
                    <a:solidFill>
                      <a:sysClr val="windowText" lastClr="000000"/>
                    </a:solidFill>
                    <a:latin typeface="Arial"/>
                    <a:cs typeface="Arial"/>
                  </a:rPr>
                  <a:t> </a:t>
                </a:r>
                <a:r>
                  <a:rPr lang="en-IN" sz="1200" dirty="0">
                    <a:solidFill>
                      <a:sysClr val="windowText" lastClr="000000"/>
                    </a:solidFill>
                  </a:rPr>
                  <a:t>)</a:t>
                </a:r>
                <a:r>
                  <a:rPr lang="en-IN" sz="1200" spc="-5" dirty="0">
                    <a:solidFill>
                      <a:sysClr val="windowText" lastClr="000000"/>
                    </a:solidFill>
                  </a:rPr>
                  <a:t> </a:t>
                </a:r>
                <a:r>
                  <a:rPr lang="en-IN" sz="1200" dirty="0">
                    <a:solidFill>
                      <a:sysClr val="windowText" lastClr="000000"/>
                    </a:solidFill>
                  </a:rPr>
                  <a:t>=</a:t>
                </a:r>
                <a:r>
                  <a:rPr lang="en-IN" sz="1200" spc="-15" dirty="0">
                    <a:solidFill>
                      <a:sysClr val="windowText" lastClr="000000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1200" i="1" spc="17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radPr>
                      <m:deg/>
                      <m:e>
                        <m:r>
                          <a:rPr lang="ar-AE" sz="1200" i="1" spc="17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  <m:r>
                          <a:rPr lang="ar-AE" sz="1200" i="1" spc="-2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 </m:t>
                        </m:r>
                        <m:r>
                          <a:rPr lang="ar-AE" sz="1400" i="1" baseline="20833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1400" i="1" spc="104" baseline="20833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200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200" i="1" spc="-8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1200" i="1" spc="-55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exp</m:t>
                        </m:r>
                        <m:r>
                          <a:rPr lang="en-IN" sz="1200" i="1" spc="-55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⁡(</m:t>
                        </m:r>
                        <m:r>
                          <a:rPr lang="en-IN" sz="1200" i="1" spc="-55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  <m:r>
                          <a:rPr lang="en-IN" sz="1200" i="1" spc="-2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 </m:t>
                        </m:r>
                        <m:r>
                          <a:rPr lang="en-IN" sz="1400" i="1" baseline="20833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1200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ar-AE" sz="1200" dirty="0">
                    <a:solidFill>
                      <a:sysClr val="windowText" lastClr="000000"/>
                    </a:solidFill>
                  </a:rPr>
                  <a:t> +</a:t>
                </a:r>
                <a:r>
                  <a:rPr lang="ar-AE" sz="1200" spc="-80" dirty="0">
                    <a:solidFill>
                      <a:sysClr val="windowText" lastClr="000000"/>
                    </a:solidFill>
                  </a:rPr>
                  <a:t> </a:t>
                </a:r>
                <a:r>
                  <a:rPr lang="en-IN" sz="1200" i="1" spc="-55" dirty="0">
                    <a:solidFill>
                      <a:sysClr val="windowText" lastClr="000000"/>
                    </a:solidFill>
                    <a:latin typeface="Arial"/>
                    <a:cs typeface="Arial"/>
                  </a:rPr>
                  <a:t>cos</a:t>
                </a:r>
                <a:r>
                  <a:rPr lang="en-IN" sz="1200" spc="-55" dirty="0">
                    <a:solidFill>
                      <a:sysClr val="windowText" lastClr="00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400" baseline="31250" dirty="0">
                    <a:solidFill>
                      <a:sysClr val="windowText" lastClr="000000"/>
                    </a:solidFill>
                  </a:rPr>
                  <a:t>2</a:t>
                </a:r>
                <a:r>
                  <a:rPr lang="en-IN" sz="1400" spc="104" baseline="31250" dirty="0">
                    <a:solidFill>
                      <a:sysClr val="windowText" lastClr="000000"/>
                    </a:solidFill>
                  </a:rPr>
                  <a:t> </a:t>
                </a:r>
                <a:r>
                  <a:rPr lang="en-IN" sz="1200" dirty="0">
                    <a:solidFill>
                      <a:sysClr val="windowText" lastClr="000000"/>
                    </a:solidFill>
                  </a:rPr>
                  <a:t>+</a:t>
                </a:r>
                <a:r>
                  <a:rPr lang="en-IN" sz="1200" spc="-80" dirty="0">
                    <a:solidFill>
                      <a:sysClr val="windowText" lastClr="000000"/>
                    </a:solidFill>
                  </a:rPr>
                  <a:t> </a:t>
                </a:r>
                <a:r>
                  <a:rPr lang="en-IN" sz="1200" i="1" spc="-55" dirty="0">
                    <a:solidFill>
                      <a:sysClr val="windowText" lastClr="000000"/>
                    </a:solidFill>
                    <a:latin typeface="Arial"/>
                    <a:cs typeface="Arial"/>
                  </a:rPr>
                  <a:t>exp</a:t>
                </a:r>
                <a:r>
                  <a:rPr lang="en-IN" sz="1200" spc="-55" dirty="0">
                    <a:solidFill>
                      <a:sysClr val="windowText" lastClr="00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400" spc="-37" baseline="31250" dirty="0">
                    <a:solidFill>
                      <a:sysClr val="windowText" lastClr="000000"/>
                    </a:solidFill>
                  </a:rPr>
                  <a:t>2</a:t>
                </a:r>
                <a:r>
                  <a:rPr lang="en-IN" sz="1200" spc="-25" dirty="0">
                    <a:solidFill>
                      <a:sysClr val="windowText" lastClr="000000"/>
                    </a:solidFill>
                  </a:rPr>
                  <a:t>)) </a:t>
                </a:r>
                <a:endParaRPr lang="en-IN" sz="1200" spc="-15" dirty="0">
                  <a:solidFill>
                    <a:sysClr val="windowText" lastClr="000000"/>
                  </a:solidFill>
                </a:endParaRPr>
              </a:p>
              <a:p>
                <a:pPr marL="88900">
                  <a:lnSpc>
                    <a:spcPct val="100000"/>
                  </a:lnSpc>
                  <a:spcBef>
                    <a:spcPts val="35"/>
                  </a:spcBef>
                </a:pPr>
                <a:endParaRPr lang="en-IN" sz="1200" spc="-100" dirty="0">
                  <a:latin typeface="+mn-lt"/>
                  <a:cs typeface="Arial"/>
                </a:endParaRPr>
              </a:p>
              <a:p>
                <a:pPr marL="88900">
                  <a:lnSpc>
                    <a:spcPct val="100000"/>
                  </a:lnSpc>
                  <a:spcBef>
                    <a:spcPts val="35"/>
                  </a:spcBef>
                </a:pPr>
                <a:r>
                  <a:rPr lang="en-IN" i="1" spc="-100" dirty="0">
                    <a:latin typeface="Arial"/>
                    <a:cs typeface="Arial"/>
                  </a:rPr>
                  <a:t>Take </a:t>
                </a:r>
                <a:r>
                  <a:rPr i="1" spc="-100" dirty="0">
                    <a:latin typeface="Arial"/>
                    <a:cs typeface="Arial"/>
                  </a:rPr>
                  <a:t>a</a:t>
                </a:r>
                <a:r>
                  <a:rPr i="1" spc="15" dirty="0">
                    <a:latin typeface="Arial"/>
                    <a:cs typeface="Arial"/>
                  </a:rPr>
                  <a:t> </a:t>
                </a:r>
                <a:r>
                  <a:rPr dirty="0"/>
                  <a:t>=</a:t>
                </a:r>
                <a:r>
                  <a:rPr spc="-30" dirty="0"/>
                  <a:t> </a:t>
                </a:r>
                <a:r>
                  <a:rPr i="1" spc="-55" dirty="0">
                    <a:latin typeface="Arial"/>
                    <a:cs typeface="Arial"/>
                  </a:rPr>
                  <a:t>x</a:t>
                </a:r>
                <a:r>
                  <a:rPr i="1" spc="-210" dirty="0">
                    <a:latin typeface="Arial"/>
                    <a:cs typeface="Arial"/>
                  </a:rPr>
                  <a:t> </a:t>
                </a:r>
                <a:r>
                  <a:rPr sz="1200" baseline="27777" dirty="0"/>
                  <a:t>2</a:t>
                </a:r>
                <a:r>
                  <a:rPr sz="1100" i="1" dirty="0">
                    <a:latin typeface="Georgia"/>
                    <a:cs typeface="Georgia"/>
                  </a:rPr>
                  <a:t>,</a:t>
                </a:r>
                <a:r>
                  <a:rPr sz="1100" i="1" spc="-80" dirty="0">
                    <a:latin typeface="Georgia"/>
                    <a:cs typeface="Georgia"/>
                  </a:rPr>
                  <a:t> </a:t>
                </a:r>
                <a:r>
                  <a:rPr sz="1100" i="1" dirty="0">
                    <a:latin typeface="Arial"/>
                    <a:cs typeface="Arial"/>
                  </a:rPr>
                  <a:t>b</a:t>
                </a:r>
                <a:r>
                  <a:rPr sz="1100" i="1" spc="40" dirty="0">
                    <a:latin typeface="Arial"/>
                    <a:cs typeface="Arial"/>
                  </a:rPr>
                  <a:t> </a:t>
                </a:r>
                <a:r>
                  <a:rPr sz="1100" dirty="0"/>
                  <a:t>=</a:t>
                </a:r>
                <a:r>
                  <a:rPr sz="1100" spc="-30" dirty="0"/>
                  <a:t> </a:t>
                </a:r>
                <a:r>
                  <a:rPr sz="1100" i="1" spc="-50" dirty="0">
                    <a:latin typeface="Arial"/>
                    <a:cs typeface="Arial"/>
                  </a:rPr>
                  <a:t>exp</a:t>
                </a:r>
                <a:r>
                  <a:rPr sz="1100" spc="-50" dirty="0"/>
                  <a:t>(</a:t>
                </a:r>
                <a:r>
                  <a:rPr sz="1100" i="1" spc="-50" dirty="0">
                    <a:latin typeface="Arial"/>
                    <a:cs typeface="Arial"/>
                  </a:rPr>
                  <a:t>a</a:t>
                </a:r>
                <a:r>
                  <a:rPr sz="1100" spc="-50" dirty="0"/>
                  <a:t>)</a:t>
                </a:r>
                <a:r>
                  <a:rPr sz="1100" i="1" spc="-50" dirty="0">
                    <a:latin typeface="Georgia"/>
                    <a:cs typeface="Georgia"/>
                  </a:rPr>
                  <a:t>,</a:t>
                </a:r>
                <a:r>
                  <a:rPr sz="1100" i="1" spc="-75" dirty="0">
                    <a:latin typeface="Georgia"/>
                    <a:cs typeface="Georgia"/>
                  </a:rPr>
                  <a:t> </a:t>
                </a:r>
                <a:r>
                  <a:rPr sz="1100" i="1" dirty="0">
                    <a:latin typeface="Arial"/>
                    <a:cs typeface="Arial"/>
                  </a:rPr>
                  <a:t>c</a:t>
                </a:r>
                <a:r>
                  <a:rPr sz="1100" i="1" spc="95" dirty="0">
                    <a:latin typeface="Arial"/>
                    <a:cs typeface="Arial"/>
                  </a:rPr>
                  <a:t> </a:t>
                </a:r>
                <a:r>
                  <a:rPr sz="1100" dirty="0"/>
                  <a:t>=</a:t>
                </a:r>
                <a:r>
                  <a:rPr sz="1100" spc="-30" dirty="0"/>
                  <a:t> </a:t>
                </a:r>
                <a:r>
                  <a:rPr sz="1100" i="1" spc="-100" dirty="0">
                    <a:latin typeface="Arial"/>
                    <a:cs typeface="Arial"/>
                  </a:rPr>
                  <a:t>a</a:t>
                </a:r>
                <a:r>
                  <a:rPr sz="1100" i="1" spc="-45" dirty="0">
                    <a:latin typeface="Arial"/>
                    <a:cs typeface="Arial"/>
                  </a:rPr>
                  <a:t> </a:t>
                </a:r>
                <a:r>
                  <a:rPr sz="1100" dirty="0"/>
                  <a:t>+</a:t>
                </a:r>
                <a:r>
                  <a:rPr sz="1100" spc="-100" dirty="0"/>
                  <a:t> </a:t>
                </a:r>
                <a:r>
                  <a:rPr sz="1100" i="1" spc="-20" dirty="0">
                    <a:latin typeface="Arial"/>
                    <a:cs typeface="Arial"/>
                  </a:rPr>
                  <a:t>b</a:t>
                </a:r>
                <a:r>
                  <a:rPr sz="1100" i="1" spc="-20" dirty="0">
                    <a:latin typeface="Georgia"/>
                    <a:cs typeface="Georgia"/>
                  </a:rPr>
                  <a:t>,</a:t>
                </a:r>
                <a:r>
                  <a:rPr sz="1100" i="1" spc="-75" dirty="0">
                    <a:latin typeface="Georgia"/>
                    <a:cs typeface="Georgia"/>
                  </a:rPr>
                  <a:t> </a:t>
                </a:r>
                <a:r>
                  <a:rPr sz="1100" i="1" dirty="0">
                    <a:latin typeface="Arial"/>
                    <a:cs typeface="Arial"/>
                  </a:rPr>
                  <a:t>d</a:t>
                </a:r>
                <a:r>
                  <a:rPr sz="1100" i="1" spc="110" dirty="0">
                    <a:latin typeface="Arial"/>
                    <a:cs typeface="Arial"/>
                  </a:rPr>
                  <a:t> </a:t>
                </a:r>
                <a:r>
                  <a:rPr sz="1100" dirty="0"/>
                  <a:t>=</a:t>
                </a:r>
                <a:r>
                  <a:rPr sz="1100" spc="-30" dirty="0"/>
                  <a:t> </a:t>
                </a:r>
                <a:r>
                  <a:rPr lang="en-IN" sz="1100" spc="-3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√c</a:t>
                </a:r>
                <a:r>
                  <a:rPr sz="1100" i="1" spc="-80" dirty="0">
                    <a:latin typeface="Georgia"/>
                    <a:cs typeface="Georgia"/>
                  </a:rPr>
                  <a:t> </a:t>
                </a:r>
                <a:r>
                  <a:rPr lang="en-IN" sz="1100" i="1" spc="-80" dirty="0">
                    <a:latin typeface="Georgia"/>
                    <a:cs typeface="Georgia"/>
                  </a:rPr>
                  <a:t>,  </a:t>
                </a:r>
                <a:r>
                  <a:rPr sz="1100" i="1" dirty="0">
                    <a:latin typeface="Arial"/>
                    <a:cs typeface="Arial"/>
                  </a:rPr>
                  <a:t>e</a:t>
                </a:r>
                <a:r>
                  <a:rPr sz="1100" i="1" spc="85" dirty="0">
                    <a:latin typeface="Arial"/>
                    <a:cs typeface="Arial"/>
                  </a:rPr>
                  <a:t> </a:t>
                </a:r>
                <a:r>
                  <a:rPr sz="1100" dirty="0"/>
                  <a:t>=</a:t>
                </a:r>
                <a:r>
                  <a:rPr sz="1100" spc="-30" dirty="0"/>
                  <a:t> </a:t>
                </a:r>
                <a:r>
                  <a:rPr sz="1100" i="1" spc="-30" dirty="0">
                    <a:latin typeface="Arial"/>
                    <a:cs typeface="Arial"/>
                  </a:rPr>
                  <a:t>cos</a:t>
                </a:r>
                <a:r>
                  <a:rPr sz="1100" spc="-30" dirty="0"/>
                  <a:t>(</a:t>
                </a:r>
                <a:r>
                  <a:rPr sz="1100" i="1" spc="-30" dirty="0">
                    <a:latin typeface="Arial"/>
                    <a:cs typeface="Arial"/>
                  </a:rPr>
                  <a:t>c</a:t>
                </a:r>
                <a:r>
                  <a:rPr sz="1100" spc="-30" dirty="0"/>
                  <a:t>) </a:t>
                </a:r>
                <a:r>
                  <a:rPr sz="1100" dirty="0">
                    <a:latin typeface="Lucida Sans Unicode"/>
                    <a:cs typeface="Lucida Sans Unicode"/>
                  </a:rPr>
                  <a:t>⇒</a:t>
                </a:r>
                <a:r>
                  <a:rPr sz="1100" spc="-35" dirty="0">
                    <a:latin typeface="Lucida Sans Unicode"/>
                    <a:cs typeface="Lucida Sans Unicode"/>
                  </a:rPr>
                  <a:t> </a:t>
                </a:r>
                <a:r>
                  <a:rPr sz="1100" i="1" dirty="0">
                    <a:latin typeface="Arial"/>
                    <a:cs typeface="Arial"/>
                  </a:rPr>
                  <a:t>f</a:t>
                </a:r>
                <a:r>
                  <a:rPr sz="1100" i="1" spc="240" dirty="0">
                    <a:latin typeface="Arial"/>
                    <a:cs typeface="Arial"/>
                  </a:rPr>
                  <a:t> </a:t>
                </a:r>
                <a:r>
                  <a:rPr sz="1100" dirty="0"/>
                  <a:t>=</a:t>
                </a:r>
                <a:r>
                  <a:rPr sz="1100" spc="-30" dirty="0"/>
                  <a:t> </a:t>
                </a:r>
                <a:r>
                  <a:rPr sz="1100" i="1" dirty="0">
                    <a:latin typeface="Arial"/>
                    <a:cs typeface="Arial"/>
                  </a:rPr>
                  <a:t>d</a:t>
                </a:r>
                <a:r>
                  <a:rPr sz="1100" i="1" spc="50" dirty="0">
                    <a:latin typeface="Arial"/>
                    <a:cs typeface="Arial"/>
                  </a:rPr>
                  <a:t> </a:t>
                </a:r>
                <a:r>
                  <a:rPr sz="1100" dirty="0"/>
                  <a:t>+</a:t>
                </a:r>
                <a:r>
                  <a:rPr sz="1100" spc="-95" dirty="0"/>
                  <a:t> </a:t>
                </a:r>
                <a:r>
                  <a:rPr sz="1100" i="1" spc="-50" dirty="0">
                    <a:latin typeface="Arial"/>
                    <a:cs typeface="Arial"/>
                  </a:rPr>
                  <a:t>e</a:t>
                </a:r>
                <a:endParaRPr sz="11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71094" y="711147"/>
                <a:ext cx="4243756" cy="1143133"/>
              </a:xfrm>
              <a:prstGeom prst="rect">
                <a:avLst/>
              </a:prstGeom>
              <a:blipFill>
                <a:blip r:embed="rId2"/>
                <a:stretch>
                  <a:fillRect t="-3209" r="-2296" b="-74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1958975"/>
            <a:ext cx="2880008" cy="108004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6527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0" dirty="0">
                <a:solidFill>
                  <a:srgbClr val="3333B2"/>
                </a:solidFill>
                <a:latin typeface="Tahoma"/>
                <a:cs typeface="Tahoma"/>
              </a:rPr>
              <a:t>Example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0377" y="774762"/>
            <a:ext cx="1733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8746" y="985088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4">
                <a:moveTo>
                  <a:pt x="0" y="0"/>
                </a:moveTo>
                <a:lnTo>
                  <a:pt x="15783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78432" y="963522"/>
            <a:ext cx="414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aseline="37878" dirty="0">
                <a:latin typeface="Lucida Sans Unicode"/>
                <a:cs typeface="Lucida Sans Unicode"/>
              </a:rPr>
              <a:t>⇒</a:t>
            </a:r>
            <a:r>
              <a:rPr sz="1650" spc="172" baseline="37878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5588" y="868488"/>
            <a:ext cx="3930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175" dirty="0">
                <a:latin typeface="Tahoma"/>
                <a:cs typeface="Tahoma"/>
              </a:rPr>
              <a:t>  </a:t>
            </a:r>
            <a:r>
              <a:rPr sz="1100" spc="-30" dirty="0">
                <a:latin typeface="Tahoma"/>
                <a:cs typeface="Tahoma"/>
              </a:rPr>
              <a:t>2</a:t>
            </a:r>
            <a:r>
              <a:rPr sz="1100" i="1" spc="-3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268269"/>
              </p:ext>
            </p:extLst>
          </p:nvPr>
        </p:nvGraphicFramePr>
        <p:xfrm>
          <a:off x="1865070" y="1189092"/>
          <a:ext cx="1054100" cy="17300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40640">
                        <a:lnSpc>
                          <a:spcPts val="1050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b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44450">
                        <a:lnSpc>
                          <a:spcPts val="1300"/>
                        </a:lnSpc>
                        <a:spcBef>
                          <a:spcPts val="165"/>
                        </a:spcBef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100" i="1" spc="-10" dirty="0">
                          <a:latin typeface="Arial"/>
                          <a:cs typeface="Arial"/>
                        </a:rPr>
                        <a:t>exp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905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13">
                <a:tc>
                  <a:txBody>
                    <a:bodyPr/>
                    <a:lstStyle/>
                    <a:p>
                      <a:pPr marL="43180">
                        <a:lnSpc>
                          <a:spcPts val="1075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c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45720">
                        <a:lnSpc>
                          <a:spcPts val="1300"/>
                        </a:lnSpc>
                        <a:spcBef>
                          <a:spcPts val="165"/>
                        </a:spcBef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2230" marB="0"/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ts val="785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c</a:t>
                      </a:r>
                      <a:endParaRPr sz="1100" dirty="0">
                        <a:latin typeface="Arial"/>
                        <a:cs typeface="Arial"/>
                      </a:endParaRPr>
                    </a:p>
                    <a:p>
                      <a:pPr marL="62865">
                        <a:lnSpc>
                          <a:spcPts val="745"/>
                        </a:lnSpc>
                      </a:pPr>
                      <a:r>
                        <a:rPr sz="1100" spc="-6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 dirty="0">
                        <a:latin typeface="Tahoma"/>
                        <a:cs typeface="Tahoma"/>
                      </a:endParaRPr>
                    </a:p>
                    <a:p>
                      <a:pPr marL="332105">
                        <a:lnSpc>
                          <a:spcPts val="1015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b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060">
                <a:tc>
                  <a:txBody>
                    <a:bodyPr/>
                    <a:lstStyle/>
                    <a:p>
                      <a:pPr marL="31750">
                        <a:lnSpc>
                          <a:spcPts val="1075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d</a:t>
                      </a:r>
                      <a:endParaRPr sz="1100" dirty="0">
                        <a:latin typeface="Arial"/>
                        <a:cs typeface="Arial"/>
                      </a:endParaRPr>
                    </a:p>
                    <a:p>
                      <a:pPr marL="374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c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2230" marB="0"/>
                </a:tc>
                <a:tc>
                  <a:txBody>
                    <a:bodyPr/>
                    <a:lstStyle/>
                    <a:p>
                      <a:pPr marR="121285" algn="ctr">
                        <a:lnSpc>
                          <a:spcPts val="1075"/>
                        </a:lnSpc>
                      </a:pPr>
                      <a:r>
                        <a:rPr lang="en-IN" sz="1100" dirty="0">
                          <a:latin typeface="Arial"/>
                          <a:cs typeface="Arial"/>
                        </a:rPr>
                        <a:t>1/</a:t>
                      </a:r>
                      <a:r>
                        <a:rPr lang="en-IN" sz="11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a:t>√c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060">
                <a:tc>
                  <a:txBody>
                    <a:bodyPr/>
                    <a:lstStyle/>
                    <a:p>
                      <a:pPr marL="43815">
                        <a:lnSpc>
                          <a:spcPts val="1205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e</a:t>
                      </a:r>
                      <a:endParaRPr sz="1100" dirty="0">
                        <a:latin typeface="Arial"/>
                        <a:cs typeface="Arial"/>
                      </a:endParaRPr>
                    </a:p>
                    <a:p>
                      <a:pPr marL="43180">
                        <a:lnSpc>
                          <a:spcPts val="1315"/>
                        </a:lnSpc>
                        <a:spcBef>
                          <a:spcPts val="165"/>
                        </a:spcBef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c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spc="-1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sin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7874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37465">
                        <a:lnSpc>
                          <a:spcPts val="1065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f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ts val="1275"/>
                        </a:lnSpc>
                        <a:spcBef>
                          <a:spcPts val="165"/>
                        </a:spcBef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ts val="770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f</a:t>
                      </a:r>
                      <a:endParaRPr sz="1100" dirty="0">
                        <a:latin typeface="Arial"/>
                        <a:cs typeface="Arial"/>
                      </a:endParaRPr>
                    </a:p>
                    <a:p>
                      <a:pPr marL="62865">
                        <a:lnSpc>
                          <a:spcPts val="745"/>
                        </a:lnSpc>
                      </a:pPr>
                      <a:r>
                        <a:rPr sz="1100" spc="-6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 dirty="0">
                        <a:latin typeface="Tahoma"/>
                        <a:cs typeface="Tahoma"/>
                      </a:endParaRPr>
                    </a:p>
                    <a:p>
                      <a:pPr marL="332740">
                        <a:lnSpc>
                          <a:spcPts val="985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1909521" y="1320673"/>
            <a:ext cx="157480" cy="0"/>
          </a:xfrm>
          <a:custGeom>
            <a:avLst/>
            <a:gdLst/>
            <a:ahLst/>
            <a:cxnLst/>
            <a:rect l="l" t="t" r="r" b="b"/>
            <a:pathLst>
              <a:path w="157480">
                <a:moveTo>
                  <a:pt x="0" y="0"/>
                </a:moveTo>
                <a:lnTo>
                  <a:pt x="1570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12213" y="1656257"/>
            <a:ext cx="154940" cy="0"/>
          </a:xfrm>
          <a:custGeom>
            <a:avLst/>
            <a:gdLst/>
            <a:ahLst/>
            <a:cxnLst/>
            <a:rect l="l" t="t" r="r" b="b"/>
            <a:pathLst>
              <a:path w="154939">
                <a:moveTo>
                  <a:pt x="0" y="0"/>
                </a:moveTo>
                <a:lnTo>
                  <a:pt x="1543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11754" y="1656257"/>
            <a:ext cx="157480" cy="0"/>
          </a:xfrm>
          <a:custGeom>
            <a:avLst/>
            <a:gdLst/>
            <a:ahLst/>
            <a:cxnLst/>
            <a:rect l="l" t="t" r="r" b="b"/>
            <a:pathLst>
              <a:path w="157480">
                <a:moveTo>
                  <a:pt x="0" y="0"/>
                </a:moveTo>
                <a:lnTo>
                  <a:pt x="1570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0618" y="1991842"/>
            <a:ext cx="166370" cy="0"/>
          </a:xfrm>
          <a:custGeom>
            <a:avLst/>
            <a:gdLst/>
            <a:ahLst/>
            <a:cxnLst/>
            <a:rect l="l" t="t" r="r" b="b"/>
            <a:pathLst>
              <a:path w="166369">
                <a:moveTo>
                  <a:pt x="0" y="0"/>
                </a:moveTo>
                <a:lnTo>
                  <a:pt x="16597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12213" y="2361247"/>
            <a:ext cx="154940" cy="0"/>
          </a:xfrm>
          <a:custGeom>
            <a:avLst/>
            <a:gdLst/>
            <a:ahLst/>
            <a:cxnLst/>
            <a:rect l="l" t="t" r="r" b="b"/>
            <a:pathLst>
              <a:path w="154939">
                <a:moveTo>
                  <a:pt x="0" y="0"/>
                </a:moveTo>
                <a:lnTo>
                  <a:pt x="1543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00618" y="2696819"/>
            <a:ext cx="166370" cy="0"/>
          </a:xfrm>
          <a:custGeom>
            <a:avLst/>
            <a:gdLst/>
            <a:ahLst/>
            <a:cxnLst/>
            <a:rect l="l" t="t" r="r" b="b"/>
            <a:pathLst>
              <a:path w="166369">
                <a:moveTo>
                  <a:pt x="0" y="0"/>
                </a:moveTo>
                <a:lnTo>
                  <a:pt x="16597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11754" y="2696819"/>
            <a:ext cx="153670" cy="0"/>
          </a:xfrm>
          <a:custGeom>
            <a:avLst/>
            <a:gdLst/>
            <a:ahLst/>
            <a:cxnLst/>
            <a:rect l="l" t="t" r="r" b="b"/>
            <a:pathLst>
              <a:path w="153669">
                <a:moveTo>
                  <a:pt x="0" y="0"/>
                </a:moveTo>
                <a:lnTo>
                  <a:pt x="1536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6527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0" dirty="0">
                <a:solidFill>
                  <a:srgbClr val="3333B2"/>
                </a:solidFill>
                <a:latin typeface="Tahoma"/>
                <a:cs typeface="Tahoma"/>
              </a:rPr>
              <a:t>Example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801775"/>
            <a:ext cx="862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Thus,</a:t>
            </a:r>
            <a:r>
              <a:rPr sz="1100" spc="-90" dirty="0">
                <a:latin typeface="Tahoma"/>
                <a:cs typeface="Tahoma"/>
              </a:rPr>
              <a:t> 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have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47545" y="1113231"/>
          <a:ext cx="1506855" cy="133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35560">
                        <a:lnSpc>
                          <a:spcPts val="1050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f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34925">
                        <a:lnSpc>
                          <a:spcPts val="1300"/>
                        </a:lnSpc>
                        <a:spcBef>
                          <a:spcPts val="165"/>
                        </a:spcBef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c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ts val="755"/>
                        </a:lnSpc>
                        <a:tabLst>
                          <a:tab pos="595630" algn="l"/>
                        </a:tabLst>
                      </a:pP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1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67945" algn="ctr">
                        <a:lnSpc>
                          <a:spcPts val="74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+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32384" algn="ctr">
                        <a:lnSpc>
                          <a:spcPts val="1015"/>
                        </a:lnSpc>
                        <a:tabLst>
                          <a:tab pos="594995" algn="l"/>
                        </a:tabLst>
                      </a:pP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100" i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i="1" spc="-50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3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35" dirty="0">
                          <a:latin typeface="Arial"/>
                          <a:cs typeface="Arial"/>
                        </a:rPr>
                        <a:t>c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3655">
                        <a:lnSpc>
                          <a:spcPts val="1075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f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32384">
                        <a:lnSpc>
                          <a:spcPts val="1300"/>
                        </a:lnSpc>
                        <a:spcBef>
                          <a:spcPts val="165"/>
                        </a:spcBef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b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223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075"/>
                        </a:lnSpc>
                      </a:pP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c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70485">
                        <a:lnSpc>
                          <a:spcPts val="1300"/>
                        </a:lnSpc>
                        <a:spcBef>
                          <a:spcPts val="165"/>
                        </a:spcBef>
                      </a:pP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b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5560">
                        <a:lnSpc>
                          <a:spcPts val="1075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f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38100">
                        <a:lnSpc>
                          <a:spcPts val="1300"/>
                        </a:lnSpc>
                        <a:spcBef>
                          <a:spcPts val="165"/>
                        </a:spcBef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2230" marB="0"/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785"/>
                        </a:lnSpc>
                        <a:tabLst>
                          <a:tab pos="560070" algn="l"/>
                        </a:tabLst>
                      </a:pP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1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c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32384" algn="ctr">
                        <a:lnSpc>
                          <a:spcPts val="74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+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22860" algn="ctr">
                        <a:lnSpc>
                          <a:spcPts val="1015"/>
                        </a:lnSpc>
                        <a:tabLst>
                          <a:tab pos="567055" algn="l"/>
                        </a:tabLst>
                      </a:pP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1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33655">
                        <a:lnSpc>
                          <a:spcPts val="1075"/>
                        </a:lnSpc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f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ts val="1275"/>
                        </a:lnSpc>
                        <a:spcBef>
                          <a:spcPts val="165"/>
                        </a:spcBef>
                      </a:pP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2230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075"/>
                        </a:lnSpc>
                      </a:pPr>
                      <a:r>
                        <a:rPr sz="1100" i="1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a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73025">
                        <a:lnSpc>
                          <a:spcPts val="1275"/>
                        </a:lnSpc>
                        <a:spcBef>
                          <a:spcPts val="165"/>
                        </a:spcBef>
                      </a:pPr>
                      <a:r>
                        <a:rPr sz="1100" i="1" spc="-5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5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1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Georgia"/>
                          <a:cs typeface="Georgia"/>
                        </a:rPr>
                        <a:t>∂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582750" y="1277480"/>
            <a:ext cx="154940" cy="0"/>
          </a:xfrm>
          <a:custGeom>
            <a:avLst/>
            <a:gdLst/>
            <a:ahLst/>
            <a:cxnLst/>
            <a:rect l="l" t="t" r="r" b="b"/>
            <a:pathLst>
              <a:path w="154939">
                <a:moveTo>
                  <a:pt x="0" y="0"/>
                </a:moveTo>
                <a:lnTo>
                  <a:pt x="1543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128304" y="1274711"/>
            <a:ext cx="362585" cy="5715"/>
            <a:chOff x="2128304" y="1274711"/>
            <a:chExt cx="362585" cy="5715"/>
          </a:xfrm>
        </p:grpSpPr>
        <p:sp>
          <p:nvSpPr>
            <p:cNvPr id="7" name="object 7"/>
            <p:cNvSpPr/>
            <p:nvPr/>
          </p:nvSpPr>
          <p:spPr>
            <a:xfrm>
              <a:off x="2128304" y="1277480"/>
              <a:ext cx="166370" cy="0"/>
            </a:xfrm>
            <a:custGeom>
              <a:avLst/>
              <a:gdLst/>
              <a:ahLst/>
              <a:cxnLst/>
              <a:rect l="l" t="t" r="r" b="b"/>
              <a:pathLst>
                <a:path w="166369">
                  <a:moveTo>
                    <a:pt x="0" y="0"/>
                  </a:moveTo>
                  <a:lnTo>
                    <a:pt x="165976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24646" y="1277480"/>
              <a:ext cx="166370" cy="0"/>
            </a:xfrm>
            <a:custGeom>
              <a:avLst/>
              <a:gdLst/>
              <a:ahLst/>
              <a:cxnLst/>
              <a:rect l="l" t="t" r="r" b="b"/>
              <a:pathLst>
                <a:path w="166369">
                  <a:moveTo>
                    <a:pt x="0" y="0"/>
                  </a:moveTo>
                  <a:lnTo>
                    <a:pt x="165976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690317" y="1274711"/>
            <a:ext cx="338455" cy="5715"/>
            <a:chOff x="2690317" y="1274711"/>
            <a:chExt cx="338455" cy="5715"/>
          </a:xfrm>
        </p:grpSpPr>
        <p:sp>
          <p:nvSpPr>
            <p:cNvPr id="10" name="object 10"/>
            <p:cNvSpPr/>
            <p:nvPr/>
          </p:nvSpPr>
          <p:spPr>
            <a:xfrm>
              <a:off x="2690317" y="1277480"/>
              <a:ext cx="153670" cy="0"/>
            </a:xfrm>
            <a:custGeom>
              <a:avLst/>
              <a:gdLst/>
              <a:ahLst/>
              <a:cxnLst/>
              <a:rect l="l" t="t" r="r" b="b"/>
              <a:pathLst>
                <a:path w="153669">
                  <a:moveTo>
                    <a:pt x="0" y="0"/>
                  </a:moveTo>
                  <a:lnTo>
                    <a:pt x="153657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74340" y="1277480"/>
              <a:ext cx="154940" cy="0"/>
            </a:xfrm>
            <a:custGeom>
              <a:avLst/>
              <a:gdLst/>
              <a:ahLst/>
              <a:cxnLst/>
              <a:rect l="l" t="t" r="r" b="b"/>
              <a:pathLst>
                <a:path w="154939">
                  <a:moveTo>
                    <a:pt x="0" y="0"/>
                  </a:moveTo>
                  <a:lnTo>
                    <a:pt x="154381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1580057" y="1613065"/>
            <a:ext cx="157480" cy="0"/>
          </a:xfrm>
          <a:custGeom>
            <a:avLst/>
            <a:gdLst/>
            <a:ahLst/>
            <a:cxnLst/>
            <a:rect l="l" t="t" r="r" b="b"/>
            <a:pathLst>
              <a:path w="157480">
                <a:moveTo>
                  <a:pt x="0" y="0"/>
                </a:moveTo>
                <a:lnTo>
                  <a:pt x="1570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2128304" y="1610296"/>
            <a:ext cx="342265" cy="5715"/>
            <a:chOff x="2128304" y="1610296"/>
            <a:chExt cx="342265" cy="5715"/>
          </a:xfrm>
        </p:grpSpPr>
        <p:sp>
          <p:nvSpPr>
            <p:cNvPr id="14" name="object 14"/>
            <p:cNvSpPr/>
            <p:nvPr/>
          </p:nvSpPr>
          <p:spPr>
            <a:xfrm>
              <a:off x="2128304" y="1613065"/>
              <a:ext cx="154940" cy="0"/>
            </a:xfrm>
            <a:custGeom>
              <a:avLst/>
              <a:gdLst/>
              <a:ahLst/>
              <a:cxnLst/>
              <a:rect l="l" t="t" r="r" b="b"/>
              <a:pathLst>
                <a:path w="154939">
                  <a:moveTo>
                    <a:pt x="0" y="0"/>
                  </a:moveTo>
                  <a:lnTo>
                    <a:pt x="154381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13050" y="1613065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80">
                  <a:moveTo>
                    <a:pt x="0" y="0"/>
                  </a:moveTo>
                  <a:lnTo>
                    <a:pt x="157073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583474" y="1948650"/>
            <a:ext cx="153670" cy="0"/>
          </a:xfrm>
          <a:custGeom>
            <a:avLst/>
            <a:gdLst/>
            <a:ahLst/>
            <a:cxnLst/>
            <a:rect l="l" t="t" r="r" b="b"/>
            <a:pathLst>
              <a:path w="153669">
                <a:moveTo>
                  <a:pt x="0" y="0"/>
                </a:moveTo>
                <a:lnTo>
                  <a:pt x="1536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2128304" y="1945881"/>
            <a:ext cx="344805" cy="5715"/>
            <a:chOff x="2128304" y="1945881"/>
            <a:chExt cx="344805" cy="5715"/>
          </a:xfrm>
        </p:grpSpPr>
        <p:sp>
          <p:nvSpPr>
            <p:cNvPr id="18" name="object 18"/>
            <p:cNvSpPr/>
            <p:nvPr/>
          </p:nvSpPr>
          <p:spPr>
            <a:xfrm>
              <a:off x="2128304" y="1948650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80">
                  <a:moveTo>
                    <a:pt x="0" y="0"/>
                  </a:moveTo>
                  <a:lnTo>
                    <a:pt x="157073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15743" y="1948650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80">
                  <a:moveTo>
                    <a:pt x="0" y="0"/>
                  </a:moveTo>
                  <a:lnTo>
                    <a:pt x="157073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672511" y="1945881"/>
            <a:ext cx="339725" cy="5715"/>
            <a:chOff x="2672511" y="1945881"/>
            <a:chExt cx="339725" cy="5715"/>
          </a:xfrm>
        </p:grpSpPr>
        <p:sp>
          <p:nvSpPr>
            <p:cNvPr id="21" name="object 21"/>
            <p:cNvSpPr/>
            <p:nvPr/>
          </p:nvSpPr>
          <p:spPr>
            <a:xfrm>
              <a:off x="2672511" y="1948650"/>
              <a:ext cx="154940" cy="0"/>
            </a:xfrm>
            <a:custGeom>
              <a:avLst/>
              <a:gdLst/>
              <a:ahLst/>
              <a:cxnLst/>
              <a:rect l="l" t="t" r="r" b="b"/>
              <a:pathLst>
                <a:path w="154939">
                  <a:moveTo>
                    <a:pt x="0" y="0"/>
                  </a:moveTo>
                  <a:lnTo>
                    <a:pt x="154381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57246" y="1948650"/>
              <a:ext cx="154940" cy="0"/>
            </a:xfrm>
            <a:custGeom>
              <a:avLst/>
              <a:gdLst/>
              <a:ahLst/>
              <a:cxnLst/>
              <a:rect l="l" t="t" r="r" b="b"/>
              <a:pathLst>
                <a:path w="154939">
                  <a:moveTo>
                    <a:pt x="0" y="0"/>
                  </a:moveTo>
                  <a:lnTo>
                    <a:pt x="154381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1579295" y="2284234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4">
                <a:moveTo>
                  <a:pt x="0" y="0"/>
                </a:moveTo>
                <a:lnTo>
                  <a:pt x="15783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2128304" y="2281466"/>
            <a:ext cx="342265" cy="5715"/>
            <a:chOff x="2128304" y="2281466"/>
            <a:chExt cx="342265" cy="5715"/>
          </a:xfrm>
        </p:grpSpPr>
        <p:sp>
          <p:nvSpPr>
            <p:cNvPr id="25" name="object 25"/>
            <p:cNvSpPr/>
            <p:nvPr/>
          </p:nvSpPr>
          <p:spPr>
            <a:xfrm>
              <a:off x="2128304" y="2284234"/>
              <a:ext cx="153670" cy="0"/>
            </a:xfrm>
            <a:custGeom>
              <a:avLst/>
              <a:gdLst/>
              <a:ahLst/>
              <a:cxnLst/>
              <a:rect l="l" t="t" r="r" b="b"/>
              <a:pathLst>
                <a:path w="153669">
                  <a:moveTo>
                    <a:pt x="0" y="0"/>
                  </a:moveTo>
                  <a:lnTo>
                    <a:pt x="153657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12327" y="2284234"/>
              <a:ext cx="158115" cy="0"/>
            </a:xfrm>
            <a:custGeom>
              <a:avLst/>
              <a:gdLst/>
              <a:ahLst/>
              <a:cxnLst/>
              <a:rect l="l" t="t" r="r" b="b"/>
              <a:pathLst>
                <a:path w="158114">
                  <a:moveTo>
                    <a:pt x="0" y="0"/>
                  </a:moveTo>
                  <a:lnTo>
                    <a:pt x="157835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6527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35963"/>
            <a:ext cx="18364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Substituting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results,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get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9397" y="1121283"/>
            <a:ext cx="154940" cy="0"/>
          </a:xfrm>
          <a:custGeom>
            <a:avLst/>
            <a:gdLst/>
            <a:ahLst/>
            <a:cxnLst/>
            <a:rect l="l" t="t" r="r" b="b"/>
            <a:pathLst>
              <a:path w="154940">
                <a:moveTo>
                  <a:pt x="0" y="0"/>
                </a:moveTo>
                <a:lnTo>
                  <a:pt x="1543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68182" y="91095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86597" y="1118514"/>
            <a:ext cx="258445" cy="33655"/>
            <a:chOff x="2086597" y="1118514"/>
            <a:chExt cx="258445" cy="33655"/>
          </a:xfrm>
        </p:grpSpPr>
        <p:sp>
          <p:nvSpPr>
            <p:cNvPr id="7" name="object 7"/>
            <p:cNvSpPr/>
            <p:nvPr/>
          </p:nvSpPr>
          <p:spPr>
            <a:xfrm>
              <a:off x="2086597" y="1121283"/>
              <a:ext cx="258445" cy="0"/>
            </a:xfrm>
            <a:custGeom>
              <a:avLst/>
              <a:gdLst/>
              <a:ahLst/>
              <a:cxnLst/>
              <a:rect l="l" t="t" r="r" b="b"/>
              <a:pathLst>
                <a:path w="258444">
                  <a:moveTo>
                    <a:pt x="0" y="0"/>
                  </a:moveTo>
                  <a:lnTo>
                    <a:pt x="257848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71318" y="1148994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0" y="0"/>
                  </a:moveTo>
                  <a:lnTo>
                    <a:pt x="73126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37385" y="1004683"/>
            <a:ext cx="164846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150" dirty="0">
                <a:latin typeface="Tahoma"/>
                <a:cs typeface="Tahoma"/>
              </a:rPr>
              <a:t>  </a:t>
            </a:r>
            <a:r>
              <a:rPr sz="1100" spc="-30" dirty="0">
                <a:latin typeface="Tahoma"/>
                <a:cs typeface="Tahoma"/>
              </a:rPr>
              <a:t>1</a:t>
            </a:r>
            <a:r>
              <a:rPr sz="1100" i="1" spc="-30" dirty="0">
                <a:latin typeface="Georgia"/>
                <a:cs typeface="Georgia"/>
              </a:rPr>
              <a:t>.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spc="-220" dirty="0">
                <a:latin typeface="Tahoma"/>
                <a:cs typeface="Tahoma"/>
              </a:rPr>
              <a:t> </a:t>
            </a:r>
            <a:r>
              <a:rPr sz="1650" baseline="-37878" dirty="0">
                <a:latin typeface="Tahoma"/>
                <a:cs typeface="Tahoma"/>
              </a:rPr>
              <a:t>2</a:t>
            </a:r>
            <a:r>
              <a:rPr lang="en-IN" sz="1650" baseline="-37878" dirty="0">
                <a:latin typeface="Cambria Math" panose="02040503050406030204" pitchFamily="18" charset="0"/>
                <a:ea typeface="Cambria Math" panose="02040503050406030204" pitchFamily="18" charset="0"/>
                <a:cs typeface="Tahoma"/>
              </a:rPr>
              <a:t>√</a:t>
            </a:r>
            <a:r>
              <a:rPr sz="1650" i="1" baseline="-37878" dirty="0">
                <a:latin typeface="Arial"/>
                <a:cs typeface="Arial"/>
              </a:rPr>
              <a:t>c</a:t>
            </a:r>
            <a:r>
              <a:rPr sz="1650" i="1" spc="217" baseline="-3787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1)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spc="-10" dirty="0">
                <a:latin typeface="Lucida Sans Unicode"/>
                <a:cs typeface="Lucida Sans Unicode"/>
              </a:rPr>
              <a:t>−</a:t>
            </a:r>
            <a:r>
              <a:rPr sz="1100" i="1" spc="-10" dirty="0">
                <a:latin typeface="Arial"/>
                <a:cs typeface="Arial"/>
              </a:rPr>
              <a:t>sin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100" spc="-10" dirty="0">
                <a:latin typeface="Tahoma"/>
                <a:cs typeface="Tahoma"/>
              </a:rPr>
              <a:t>))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76705" y="1490687"/>
            <a:ext cx="157480" cy="0"/>
          </a:xfrm>
          <a:custGeom>
            <a:avLst/>
            <a:gdLst/>
            <a:ahLst/>
            <a:cxnLst/>
            <a:rect l="l" t="t" r="r" b="b"/>
            <a:pathLst>
              <a:path w="157480">
                <a:moveTo>
                  <a:pt x="0" y="0"/>
                </a:moveTo>
                <a:lnTo>
                  <a:pt x="1570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62785" y="137407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24951" y="1490687"/>
            <a:ext cx="154940" cy="0"/>
          </a:xfrm>
          <a:custGeom>
            <a:avLst/>
            <a:gdLst/>
            <a:ahLst/>
            <a:cxnLst/>
            <a:rect l="l" t="t" r="r" b="b"/>
            <a:pathLst>
              <a:path w="154939">
                <a:moveTo>
                  <a:pt x="0" y="0"/>
                </a:moveTo>
                <a:lnTo>
                  <a:pt x="1543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81809" y="137407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80121" y="1826272"/>
            <a:ext cx="153670" cy="0"/>
          </a:xfrm>
          <a:custGeom>
            <a:avLst/>
            <a:gdLst/>
            <a:ahLst/>
            <a:cxnLst/>
            <a:rect l="l" t="t" r="r" b="b"/>
            <a:pathLst>
              <a:path w="153669">
                <a:moveTo>
                  <a:pt x="0" y="0"/>
                </a:moveTo>
                <a:lnTo>
                  <a:pt x="1536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62785" y="1709660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24951" y="1826272"/>
            <a:ext cx="157480" cy="0"/>
          </a:xfrm>
          <a:custGeom>
            <a:avLst/>
            <a:gdLst/>
            <a:ahLst/>
            <a:cxnLst/>
            <a:rect l="l" t="t" r="r" b="b"/>
            <a:pathLst>
              <a:path w="157480">
                <a:moveTo>
                  <a:pt x="0" y="0"/>
                </a:moveTo>
                <a:lnTo>
                  <a:pt x="1570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647505" y="1615934"/>
            <a:ext cx="1492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f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59849" y="1826272"/>
            <a:ext cx="154940" cy="0"/>
          </a:xfrm>
          <a:custGeom>
            <a:avLst/>
            <a:gdLst/>
            <a:ahLst/>
            <a:cxnLst/>
            <a:rect l="l" t="t" r="r" b="b"/>
            <a:pathLst>
              <a:path w="154939">
                <a:moveTo>
                  <a:pt x="0" y="0"/>
                </a:moveTo>
                <a:lnTo>
                  <a:pt x="1543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647149" y="1804694"/>
            <a:ext cx="168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c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84501" y="1709660"/>
            <a:ext cx="865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4220" algn="l"/>
              </a:tabLst>
            </a:pPr>
            <a:r>
              <a:rPr sz="1100" i="1" spc="-55" dirty="0">
                <a:latin typeface="Arial"/>
                <a:cs typeface="Arial"/>
              </a:rPr>
              <a:t>exp</a:t>
            </a:r>
            <a:r>
              <a:rPr sz="1100" spc="-55" dirty="0">
                <a:latin typeface="Tahoma"/>
                <a:cs typeface="Tahoma"/>
              </a:rPr>
              <a:t>(</a:t>
            </a:r>
            <a:r>
              <a:rPr sz="1100" i="1" spc="-55" dirty="0">
                <a:latin typeface="Arial"/>
                <a:cs typeface="Arial"/>
              </a:rPr>
              <a:t>a</a:t>
            </a:r>
            <a:r>
              <a:rPr sz="1100" spc="-55" dirty="0">
                <a:latin typeface="Tahoma"/>
                <a:cs typeface="Tahoma"/>
              </a:rPr>
              <a:t>)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+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75943" y="2161857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5">
                <a:moveTo>
                  <a:pt x="0" y="0"/>
                </a:moveTo>
                <a:lnTo>
                  <a:pt x="15783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363243" y="888451"/>
            <a:ext cx="179705" cy="144399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65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f</a:t>
            </a:r>
            <a:endParaRPr sz="11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7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c</a:t>
            </a:r>
            <a:endParaRPr sz="1100" dirty="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f</a:t>
            </a:r>
            <a:endParaRPr sz="1100" dirty="0">
              <a:latin typeface="Arial"/>
              <a:cs typeface="Arial"/>
            </a:endParaRPr>
          </a:p>
          <a:p>
            <a:pPr marL="13335">
              <a:lnSpc>
                <a:spcPts val="1240"/>
              </a:lnSpc>
              <a:spcBef>
                <a:spcPts val="165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b</a:t>
            </a:r>
            <a:endParaRPr sz="1100" dirty="0">
              <a:latin typeface="Arial"/>
              <a:cs typeface="Arial"/>
            </a:endParaRPr>
          </a:p>
          <a:p>
            <a:pPr marL="16510">
              <a:lnSpc>
                <a:spcPts val="1240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f</a:t>
            </a:r>
            <a:endParaRPr sz="1100" dirty="0">
              <a:latin typeface="Arial"/>
              <a:cs typeface="Arial"/>
            </a:endParaRPr>
          </a:p>
          <a:p>
            <a:pPr marL="19050">
              <a:lnSpc>
                <a:spcPts val="1240"/>
              </a:lnSpc>
              <a:spcBef>
                <a:spcPts val="17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a</a:t>
            </a:r>
            <a:endParaRPr sz="1100" dirty="0">
              <a:latin typeface="Arial"/>
              <a:cs typeface="Arial"/>
            </a:endParaRPr>
          </a:p>
          <a:p>
            <a:pPr marL="14604">
              <a:lnSpc>
                <a:spcPts val="1240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f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x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62785" y="204524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24951" y="2161857"/>
            <a:ext cx="153670" cy="0"/>
          </a:xfrm>
          <a:custGeom>
            <a:avLst/>
            <a:gdLst/>
            <a:ahLst/>
            <a:cxnLst/>
            <a:rect l="l" t="t" r="r" b="b"/>
            <a:pathLst>
              <a:path w="153669">
                <a:moveTo>
                  <a:pt x="0" y="0"/>
                </a:moveTo>
                <a:lnTo>
                  <a:pt x="1536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912251" y="1257844"/>
            <a:ext cx="178435" cy="10744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f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ts val="1240"/>
              </a:lnSpc>
              <a:spcBef>
                <a:spcPts val="17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c</a:t>
            </a:r>
            <a:endParaRPr sz="1100" dirty="0">
              <a:latin typeface="Arial"/>
              <a:cs typeface="Arial"/>
            </a:endParaRPr>
          </a:p>
          <a:p>
            <a:pPr marL="13970">
              <a:lnSpc>
                <a:spcPts val="1240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f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ts val="1240"/>
              </a:lnSpc>
              <a:spcBef>
                <a:spcPts val="165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b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ts val="1240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f</a:t>
            </a:r>
            <a:endParaRPr sz="1100" dirty="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65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a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81098" y="2045244"/>
            <a:ext cx="1587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2</a:t>
            </a:r>
            <a:r>
              <a:rPr sz="1100" i="1" spc="-2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7294" y="2566529"/>
            <a:ext cx="375666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Thus,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computation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calculating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derivative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similar </a:t>
            </a:r>
            <a:r>
              <a:rPr sz="1100" spc="-35" dirty="0">
                <a:latin typeface="Tahoma"/>
                <a:cs typeface="Tahoma"/>
              </a:rPr>
              <a:t>complexity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computation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itself.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Formalization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Automatic</a:t>
            </a:r>
            <a:r>
              <a:rPr spc="-45" dirty="0"/>
              <a:t> </a:t>
            </a:r>
            <a:r>
              <a:rPr spc="-25" dirty="0"/>
              <a:t>Differentiation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1094" y="952701"/>
            <a:ext cx="3988435" cy="1503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Let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d</a:t>
            </a:r>
            <a:r>
              <a:rPr sz="1200" i="1" spc="209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10" dirty="0">
                <a:latin typeface="Tahoma"/>
                <a:cs typeface="Tahoma"/>
              </a:rPr>
              <a:t> input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variables.</a:t>
            </a:r>
            <a:endParaRPr sz="1100">
              <a:latin typeface="Tahoma"/>
              <a:cs typeface="Tahoma"/>
            </a:endParaRPr>
          </a:p>
          <a:p>
            <a:pPr marL="88900">
              <a:lnSpc>
                <a:spcPct val="100000"/>
              </a:lnSpc>
              <a:spcBef>
                <a:spcPts val="35"/>
              </a:spcBef>
            </a:pPr>
            <a:r>
              <a:rPr sz="1100" i="1" spc="-40" dirty="0">
                <a:latin typeface="Arial"/>
                <a:cs typeface="Arial"/>
              </a:rPr>
              <a:t>x</a:t>
            </a:r>
            <a:r>
              <a:rPr sz="1200" i="1" spc="-60" baseline="-13888" dirty="0">
                <a:latin typeface="Arial"/>
                <a:cs typeface="Arial"/>
              </a:rPr>
              <a:t>d</a:t>
            </a:r>
            <a:r>
              <a:rPr sz="1200" i="1" spc="-225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Tahoma"/>
                <a:cs typeface="Tahoma"/>
              </a:rPr>
              <a:t>+1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0" dirty="0">
                <a:latin typeface="Georgia"/>
                <a:cs typeface="Georgi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2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0" dirty="0">
                <a:latin typeface="Georgia"/>
                <a:cs typeface="Georgi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D</a:t>
            </a:r>
            <a:r>
              <a:rPr sz="1200" baseline="-13888" dirty="0">
                <a:latin typeface="Lucida Sans Unicode"/>
                <a:cs typeface="Lucida Sans Unicode"/>
              </a:rPr>
              <a:t>−</a:t>
            </a:r>
            <a:r>
              <a:rPr sz="1200" baseline="-13888" dirty="0">
                <a:latin typeface="Tahoma"/>
                <a:cs typeface="Tahoma"/>
              </a:rPr>
              <a:t>1</a:t>
            </a:r>
            <a:r>
              <a:rPr sz="1200" spc="172" baseline="-13888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intermediate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variables.</a:t>
            </a:r>
            <a:endParaRPr sz="1100">
              <a:latin typeface="Tahoma"/>
              <a:cs typeface="Tahoma"/>
            </a:endParaRPr>
          </a:p>
          <a:p>
            <a:pPr marL="889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D</a:t>
            </a:r>
            <a:r>
              <a:rPr sz="1200" i="1" spc="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variable,</a:t>
            </a:r>
            <a:r>
              <a:rPr sz="1100" spc="-25" dirty="0">
                <a:latin typeface="Tahoma"/>
                <a:cs typeface="Tahoma"/>
              </a:rPr>
              <a:t> then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have,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ahoma"/>
              <a:cs typeface="Tahoma"/>
            </a:endParaRPr>
          </a:p>
          <a:p>
            <a:pPr marL="77470" algn="ctr">
              <a:lnSpc>
                <a:spcPct val="100000"/>
              </a:lnSpc>
            </a:pPr>
            <a:r>
              <a:rPr sz="1650" i="1" baseline="10101" dirty="0">
                <a:latin typeface="Arial"/>
                <a:cs typeface="Arial"/>
              </a:rPr>
              <a:t>x</a:t>
            </a:r>
            <a:r>
              <a:rPr sz="1200" i="1" baseline="3472" dirty="0">
                <a:latin typeface="Arial"/>
                <a:cs typeface="Arial"/>
              </a:rPr>
              <a:t>i</a:t>
            </a:r>
            <a:r>
              <a:rPr sz="1200" i="1" spc="359" baseline="3472" dirty="0">
                <a:latin typeface="Arial"/>
                <a:cs typeface="Arial"/>
              </a:rPr>
              <a:t> </a:t>
            </a:r>
            <a:r>
              <a:rPr sz="1650" baseline="10101" dirty="0">
                <a:latin typeface="Tahoma"/>
                <a:cs typeface="Tahoma"/>
              </a:rPr>
              <a:t>=</a:t>
            </a:r>
            <a:r>
              <a:rPr sz="1650" spc="-22" baseline="10101" dirty="0">
                <a:latin typeface="Tahoma"/>
                <a:cs typeface="Tahoma"/>
              </a:rPr>
              <a:t> </a:t>
            </a:r>
            <a:r>
              <a:rPr sz="1650" i="1" spc="-44" baseline="10101" dirty="0">
                <a:latin typeface="Arial"/>
                <a:cs typeface="Arial"/>
              </a:rPr>
              <a:t>g</a:t>
            </a:r>
            <a:r>
              <a:rPr sz="1200" i="1" spc="-44" baseline="3472" dirty="0">
                <a:latin typeface="Arial"/>
                <a:cs typeface="Arial"/>
              </a:rPr>
              <a:t>i</a:t>
            </a:r>
            <a:r>
              <a:rPr sz="1200" i="1" spc="-127" baseline="3472" dirty="0">
                <a:latin typeface="Arial"/>
                <a:cs typeface="Arial"/>
              </a:rPr>
              <a:t> </a:t>
            </a:r>
            <a:r>
              <a:rPr sz="1650" spc="-30" baseline="10101" dirty="0">
                <a:latin typeface="Tahoma"/>
                <a:cs typeface="Tahoma"/>
              </a:rPr>
              <a:t>(</a:t>
            </a:r>
            <a:r>
              <a:rPr sz="1650" i="1" spc="-30" baseline="10101" dirty="0">
                <a:latin typeface="Arial"/>
                <a:cs typeface="Arial"/>
              </a:rPr>
              <a:t>x</a:t>
            </a:r>
            <a:r>
              <a:rPr sz="800" i="1" spc="-20" dirty="0">
                <a:latin typeface="Arial"/>
                <a:cs typeface="Arial"/>
              </a:rPr>
              <a:t>Pa</a:t>
            </a:r>
            <a:r>
              <a:rPr sz="800" spc="-20" dirty="0">
                <a:latin typeface="Tahoma"/>
                <a:cs typeface="Tahoma"/>
              </a:rPr>
              <a:t>(</a:t>
            </a:r>
            <a:r>
              <a:rPr sz="800" i="1" spc="-20" dirty="0">
                <a:latin typeface="Arial"/>
                <a:cs typeface="Arial"/>
              </a:rPr>
              <a:t>x</a:t>
            </a:r>
            <a:r>
              <a:rPr sz="900" i="1" spc="-30" baseline="-13888" dirty="0">
                <a:latin typeface="Arial"/>
                <a:cs typeface="Arial"/>
              </a:rPr>
              <a:t>i</a:t>
            </a:r>
            <a:r>
              <a:rPr sz="900" i="1" spc="-82" baseline="-13888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)</a:t>
            </a:r>
            <a:r>
              <a:rPr sz="1650" spc="-37" baseline="10101" dirty="0">
                <a:latin typeface="Tahoma"/>
                <a:cs typeface="Tahoma"/>
              </a:rPr>
              <a:t>)</a:t>
            </a:r>
            <a:endParaRPr sz="1650" baseline="10101">
              <a:latin typeface="Tahoma"/>
              <a:cs typeface="Tahoma"/>
            </a:endParaRPr>
          </a:p>
          <a:p>
            <a:pPr marL="88900" marR="43180">
              <a:lnSpc>
                <a:spcPct val="102600"/>
              </a:lnSpc>
              <a:spcBef>
                <a:spcPts val="875"/>
              </a:spcBef>
            </a:pPr>
            <a:r>
              <a:rPr sz="1100" dirty="0">
                <a:latin typeface="Tahoma"/>
                <a:cs typeface="Tahoma"/>
              </a:rPr>
              <a:t>Note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g</a:t>
            </a:r>
            <a:r>
              <a:rPr sz="1200" i="1" spc="-44" baseline="-10416" dirty="0">
                <a:latin typeface="Arial"/>
                <a:cs typeface="Arial"/>
              </a:rPr>
              <a:t>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elementary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functions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also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as </a:t>
            </a:r>
            <a:r>
              <a:rPr sz="1100" spc="-50" dirty="0">
                <a:latin typeface="Tahoma"/>
                <a:cs typeface="Tahoma"/>
              </a:rPr>
              <a:t>forward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propagation</a:t>
            </a:r>
            <a:r>
              <a:rPr sz="1100" spc="-25" dirty="0">
                <a:latin typeface="Tahoma"/>
                <a:cs typeface="Tahoma"/>
              </a:rPr>
              <a:t> function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3888" dirty="0">
                <a:latin typeface="Arial"/>
                <a:cs typeface="Arial"/>
              </a:rPr>
              <a:t>Pa</a:t>
            </a:r>
            <a:r>
              <a:rPr sz="1200" spc="-37" baseline="-13888" dirty="0">
                <a:latin typeface="Tahoma"/>
                <a:cs typeface="Tahoma"/>
              </a:rPr>
              <a:t>(</a:t>
            </a:r>
            <a:r>
              <a:rPr sz="1200" i="1" spc="-37" baseline="-13888" dirty="0">
                <a:latin typeface="Arial"/>
                <a:cs typeface="Arial"/>
              </a:rPr>
              <a:t>x</a:t>
            </a:r>
            <a:r>
              <a:rPr sz="900" i="1" spc="-37" baseline="-32407" dirty="0">
                <a:latin typeface="Arial"/>
                <a:cs typeface="Arial"/>
              </a:rPr>
              <a:t>i</a:t>
            </a:r>
            <a:r>
              <a:rPr sz="900" i="1" spc="-89" baseline="-32407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Tahoma"/>
                <a:cs typeface="Tahoma"/>
              </a:rPr>
              <a:t>)</a:t>
            </a:r>
            <a:r>
              <a:rPr sz="1200" spc="165" baseline="-13888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parent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nodes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variable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9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graph.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Formalization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Automatic</a:t>
            </a:r>
            <a:r>
              <a:rPr spc="-45" dirty="0"/>
              <a:t> </a:t>
            </a:r>
            <a:r>
              <a:rPr spc="-25" dirty="0"/>
              <a:t>Differentiation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347294" y="792173"/>
                <a:ext cx="3634156" cy="287066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IN" sz="1100" spc="-30" dirty="0">
                    <a:latin typeface="Tahoma"/>
                    <a:cs typeface="Tahoma"/>
                  </a:rPr>
                  <a:t>Now, </a:t>
                </a:r>
                <a14:m>
                  <m:oMath xmlns:m="http://schemas.openxmlformats.org/officeDocument/2006/math">
                    <m:r>
                      <a:rPr lang="en-IN" sz="1100" b="0" i="1" spc="-30" smtClean="0">
                        <a:latin typeface="Cambria Math" panose="02040503050406030204" pitchFamily="18" charset="0"/>
                        <a:cs typeface="Tahoma"/>
                      </a:rPr>
                      <m:t>𝑓</m:t>
                    </m:r>
                    <m:r>
                      <a:rPr lang="en-IN" sz="1100" b="0" i="1" spc="-30" smtClean="0">
                        <a:latin typeface="Cambria Math" panose="02040503050406030204" pitchFamily="18" charset="0"/>
                        <a:cs typeface="Tahoma"/>
                      </a:rPr>
                      <m:t>=</m:t>
                    </m:r>
                    <m:sSub>
                      <m:sSubPr>
                        <m:ctrlPr>
                          <a:rPr lang="en-IN" sz="1100" b="0" i="1" spc="-30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IN" sz="1100" b="0" i="1" spc="-30" smtClean="0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b>
                        <m:r>
                          <a:rPr lang="en-IN" sz="1100" b="0" i="1" spc="-30" smtClean="0">
                            <a:latin typeface="Cambria Math" panose="02040503050406030204" pitchFamily="18" charset="0"/>
                            <a:cs typeface="Tahoma"/>
                          </a:rPr>
                          <m:t>𝐷</m:t>
                        </m:r>
                      </m:sub>
                    </m:sSub>
                    <m:r>
                      <a:rPr lang="en-IN" sz="1100" b="0" i="1" spc="-30" smtClean="0">
                        <a:latin typeface="Cambria Math" panose="02040503050406030204" pitchFamily="18" charset="0"/>
                        <a:cs typeface="Tahoma"/>
                      </a:rPr>
                      <m:t> </m:t>
                    </m:r>
                    <m:r>
                      <a:rPr lang="en-IN" sz="1100" b="0" i="1" spc="-30" smtClean="0">
                        <a:latin typeface="Cambria Math" panose="02040503050406030204" pitchFamily="18" charset="0"/>
                        <a:cs typeface="Tahoma"/>
                      </a:rPr>
                      <m:t>𝑖𝑚𝑝𝑙𝑖𝑒𝑠</m:t>
                    </m:r>
                    <m:r>
                      <a:rPr lang="en-IN" sz="1100" b="0" i="1" spc="-30" smtClean="0">
                        <a:latin typeface="Cambria Math" panose="02040503050406030204" pitchFamily="18" charset="0"/>
                        <a:cs typeface="Tahoma"/>
                      </a:rPr>
                      <m:t> </m:t>
                    </m:r>
                    <m:f>
                      <m:fPr>
                        <m:ctrlPr>
                          <a:rPr lang="en-IN" sz="1100" b="0" i="1" spc="-30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fPr>
                      <m:num>
                        <m:r>
                          <a:rPr lang="en-IN" sz="1100" b="0" i="1" spc="-3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/>
                          </a:rPr>
                          <m:t>𝜕</m:t>
                        </m:r>
                        <m:r>
                          <a:rPr lang="en-IN" sz="1100" b="0" i="1" spc="-3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/>
                          </a:rPr>
                          <m:t>𝑓</m:t>
                        </m:r>
                      </m:num>
                      <m:den>
                        <m:r>
                          <a:rPr lang="en-IN" sz="1100" b="0" i="1" spc="-3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/>
                          </a:rPr>
                          <m:t>𝜕</m:t>
                        </m:r>
                        <m:sSub>
                          <m:sSubPr>
                            <m:ctrlPr>
                              <a:rPr lang="en-IN" sz="1100" b="0" i="1" spc="-3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ahoma"/>
                              </a:rPr>
                            </m:ctrlPr>
                          </m:sSubPr>
                          <m:e>
                            <m:r>
                              <a:rPr lang="en-IN" sz="1100" b="0" i="1" spc="-3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100" b="0" i="1" spc="-3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ahoma"/>
                              </a:rPr>
                              <m:t>𝐷</m:t>
                            </m:r>
                          </m:sub>
                        </m:sSub>
                      </m:den>
                    </m:f>
                    <m:r>
                      <a:rPr lang="en-IN" sz="1100" b="0" i="1" spc="-30" smtClean="0">
                        <a:latin typeface="Cambria Math" panose="02040503050406030204" pitchFamily="18" charset="0"/>
                        <a:cs typeface="Tahoma"/>
                      </a:rPr>
                      <m:t>=1.</m:t>
                    </m:r>
                  </m:oMath>
                </a14:m>
                <a:r>
                  <a:rPr lang="en-IN" sz="1100" spc="-30" dirty="0">
                    <a:latin typeface="Tahoma"/>
                    <a:cs typeface="Tahoma"/>
                  </a:rPr>
                  <a:t> </a:t>
                </a:r>
                <a:endParaRPr sz="1100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94" y="792173"/>
                <a:ext cx="3634156" cy="287066"/>
              </a:xfrm>
              <a:prstGeom prst="rect">
                <a:avLst/>
              </a:prstGeom>
              <a:blipFill>
                <a:blip r:embed="rId2"/>
                <a:stretch>
                  <a:fillRect l="-2181" b="-106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347294" y="1143411"/>
            <a:ext cx="2556510" cy="353943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335915" algn="r">
              <a:lnSpc>
                <a:spcPct val="100000"/>
              </a:lnSpc>
              <a:spcBef>
                <a:spcPts val="280"/>
              </a:spcBef>
            </a:pPr>
            <a:endParaRPr sz="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variables,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chain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rule,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get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8641" y="1597404"/>
            <a:ext cx="424815" cy="381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4610">
              <a:lnSpc>
                <a:spcPts val="1030"/>
              </a:lnSpc>
              <a:spcBef>
                <a:spcPts val="90"/>
              </a:spcBef>
            </a:pP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∂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</a:t>
            </a:r>
            <a:r>
              <a:rPr sz="1100" i="1" u="sng" spc="5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  <a:p>
            <a:pPr marL="278765">
              <a:lnSpc>
                <a:spcPts val="745"/>
              </a:lnSpc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ts val="1035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48738" y="1574899"/>
            <a:ext cx="6470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265"/>
              </a:spcBef>
            </a:pP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∂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</a:t>
            </a:r>
            <a:r>
              <a:rPr sz="1100" i="1" u="sng" spc="3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∂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1200" i="1" u="sng" baseline="-1041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</a:t>
            </a:r>
            <a:r>
              <a:rPr sz="1200" i="1" spc="502" baseline="-10416" dirty="0">
                <a:latin typeface="Arial"/>
                <a:cs typeface="Arial"/>
              </a:rPr>
              <a:t> </a:t>
            </a:r>
            <a:r>
              <a:rPr sz="1650" spc="-75" baseline="-37878" dirty="0">
                <a:latin typeface="Tahoma"/>
                <a:cs typeface="Tahoma"/>
              </a:rPr>
              <a:t>=</a:t>
            </a:r>
            <a:endParaRPr sz="1650" baseline="-37878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sz="1100" i="1" dirty="0">
                <a:latin typeface="Georgia"/>
                <a:cs typeface="Georgia"/>
              </a:rPr>
              <a:t>∂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217" baseline="-10416" dirty="0">
                <a:latin typeface="Arial"/>
                <a:cs typeface="Arial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3456" y="1622150"/>
            <a:ext cx="1593063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14755" algn="l"/>
              </a:tabLst>
            </a:pPr>
            <a:r>
              <a:rPr lang="en-IN" sz="1100" spc="869" dirty="0">
                <a:latin typeface="Lucida Sans Unicode"/>
                <a:cs typeface="Lucida Sans Unicode"/>
              </a:rPr>
              <a:t> </a:t>
            </a:r>
            <a:r>
              <a:rPr sz="1100" spc="869" dirty="0">
                <a:latin typeface="Lucida Sans Unicode"/>
                <a:cs typeface="Lucida Sans Unicode"/>
              </a:rPr>
              <a:t>Σ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lang="en-IN" sz="1100" dirty="0">
                <a:latin typeface="Lucida Sans Unicode"/>
                <a:cs typeface="Lucida Sans Unicode"/>
              </a:rPr>
              <a:t>   </a:t>
            </a:r>
            <a:r>
              <a:rPr sz="1100" spc="860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2974" y="1903665"/>
            <a:ext cx="18586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252855" algn="l"/>
              </a:tabLst>
            </a:pPr>
            <a:r>
              <a:rPr sz="800" i="1" dirty="0">
                <a:latin typeface="Arial"/>
                <a:cs typeface="Arial"/>
              </a:rPr>
              <a:t>x</a:t>
            </a:r>
            <a:r>
              <a:rPr sz="900" i="1" baseline="-13888" dirty="0">
                <a:latin typeface="Arial"/>
                <a:cs typeface="Arial"/>
              </a:rPr>
              <a:t>j</a:t>
            </a:r>
            <a:r>
              <a:rPr sz="900" i="1" spc="-60" baseline="-13888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:</a:t>
            </a:r>
            <a:r>
              <a:rPr sz="800" i="1" spc="-25" dirty="0">
                <a:latin typeface="Arial"/>
                <a:cs typeface="Arial"/>
              </a:rPr>
              <a:t>x</a:t>
            </a:r>
            <a:r>
              <a:rPr sz="900" i="1" spc="-37" baseline="-13888" dirty="0">
                <a:latin typeface="Arial"/>
                <a:cs typeface="Arial"/>
              </a:rPr>
              <a:t>i</a:t>
            </a:r>
            <a:r>
              <a:rPr sz="900" i="1" spc="-52" baseline="-13888" dirty="0">
                <a:latin typeface="Arial"/>
                <a:cs typeface="Arial"/>
              </a:rPr>
              <a:t> 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Arial"/>
                <a:cs typeface="Arial"/>
              </a:rPr>
              <a:t>Pa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x</a:t>
            </a:r>
            <a:r>
              <a:rPr sz="900" i="1" spc="-37" baseline="-13888" dirty="0">
                <a:latin typeface="Arial"/>
                <a:cs typeface="Arial"/>
              </a:rPr>
              <a:t>j</a:t>
            </a:r>
            <a:r>
              <a:rPr sz="900" i="1" spc="-52" baseline="-13888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i="1" dirty="0">
                <a:latin typeface="Arial"/>
                <a:cs typeface="Arial"/>
              </a:rPr>
              <a:t>x</a:t>
            </a:r>
            <a:r>
              <a:rPr sz="900" i="1" baseline="-13888" dirty="0">
                <a:latin typeface="Arial"/>
                <a:cs typeface="Arial"/>
              </a:rPr>
              <a:t>j</a:t>
            </a:r>
            <a:r>
              <a:rPr sz="900" i="1" spc="-60" baseline="-13888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:</a:t>
            </a:r>
            <a:r>
              <a:rPr sz="800" i="1" spc="-25" dirty="0">
                <a:latin typeface="Arial"/>
                <a:cs typeface="Arial"/>
              </a:rPr>
              <a:t>x</a:t>
            </a:r>
            <a:r>
              <a:rPr sz="900" i="1" spc="-37" baseline="-13888" dirty="0">
                <a:latin typeface="Arial"/>
                <a:cs typeface="Arial"/>
              </a:rPr>
              <a:t>i</a:t>
            </a:r>
            <a:r>
              <a:rPr sz="900" i="1" spc="-52" baseline="-13888" dirty="0">
                <a:latin typeface="Arial"/>
                <a:cs typeface="Arial"/>
              </a:rPr>
              <a:t> 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Arial"/>
                <a:cs typeface="Arial"/>
              </a:rPr>
              <a:t>Pa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x</a:t>
            </a:r>
            <a:r>
              <a:rPr sz="900" i="1" spc="-37" baseline="-13888" dirty="0">
                <a:latin typeface="Arial"/>
                <a:cs typeface="Arial"/>
              </a:rPr>
              <a:t>j</a:t>
            </a:r>
            <a:r>
              <a:rPr sz="900" i="1" spc="-52" baseline="-13888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0882" y="1574899"/>
            <a:ext cx="47244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265"/>
              </a:spcBef>
            </a:pP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∂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</a:t>
            </a:r>
            <a:r>
              <a:rPr sz="1100" i="1" u="sng" spc="3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∂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</a:t>
            </a:r>
            <a:r>
              <a:rPr sz="1200" i="1" u="sng" spc="-37" baseline="-1041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sz="1100" i="1" dirty="0">
                <a:latin typeface="Georgia"/>
                <a:cs typeface="Georgia"/>
              </a:rPr>
              <a:t>∂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232" baseline="-10416" dirty="0">
                <a:latin typeface="Arial"/>
                <a:cs typeface="Arial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7294" y="2160154"/>
            <a:ext cx="384937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back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propagation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through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computation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graph.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neural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network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training,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back </a:t>
            </a:r>
            <a:r>
              <a:rPr sz="1100" spc="-50" dirty="0">
                <a:latin typeface="Tahoma"/>
                <a:cs typeface="Tahoma"/>
              </a:rPr>
              <a:t>propagate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error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prediction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respect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label.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37E30-9656-E4E1-C772-10DE2C26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555365" cy="215444"/>
          </a:xfrm>
        </p:spPr>
        <p:txBody>
          <a:bodyPr/>
          <a:lstStyle/>
          <a:p>
            <a:r>
              <a:rPr lang="en-IN" dirty="0"/>
              <a:t>Linearization of a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B02E7-E9E8-9201-0090-079F13073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00" y="815975"/>
            <a:ext cx="4267150" cy="199676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 gradient f of a function f is often used for a locally linear approximation of f around x</a:t>
            </a:r>
            <a:r>
              <a:rPr lang="en-US" baseline="-25000" dirty="0"/>
              <a:t>0</a:t>
            </a:r>
            <a:r>
              <a:rPr lang="en-US" dirty="0"/>
              <a:t>: </a:t>
            </a:r>
          </a:p>
          <a:p>
            <a:pPr>
              <a:lnSpc>
                <a:spcPct val="150000"/>
              </a:lnSpc>
            </a:pPr>
            <a:r>
              <a:rPr lang="en-US" dirty="0"/>
              <a:t>   f(x)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≈</a:t>
            </a:r>
            <a:r>
              <a:rPr lang="en-US" dirty="0"/>
              <a:t> f(x</a:t>
            </a:r>
            <a:r>
              <a:rPr lang="en-US" baseline="-25000" dirty="0"/>
              <a:t>0</a:t>
            </a:r>
            <a:r>
              <a:rPr lang="en-US" dirty="0"/>
              <a:t>) +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∇</a:t>
            </a:r>
            <a:r>
              <a:rPr lang="en-US" dirty="0"/>
              <a:t>f(x</a:t>
            </a:r>
            <a:r>
              <a:rPr lang="en-US" baseline="-25000" dirty="0"/>
              <a:t>0</a:t>
            </a:r>
            <a:r>
              <a:rPr lang="en-US" dirty="0"/>
              <a:t>) (x – x</a:t>
            </a:r>
            <a:r>
              <a:rPr lang="en-US" baseline="-25000" dirty="0"/>
              <a:t>0</a:t>
            </a:r>
            <a:r>
              <a:rPr lang="en-US" dirty="0"/>
              <a:t>)    </a:t>
            </a:r>
          </a:p>
          <a:p>
            <a:pPr>
              <a:lnSpc>
                <a:spcPct val="150000"/>
              </a:lnSpc>
            </a:pPr>
            <a:r>
              <a:rPr lang="en-US" dirty="0"/>
              <a:t>Here 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∇</a:t>
            </a:r>
            <a:r>
              <a:rPr lang="en-US" dirty="0"/>
              <a:t>f(x</a:t>
            </a:r>
            <a:r>
              <a:rPr lang="en-US" baseline="-25000" dirty="0"/>
              <a:t>0</a:t>
            </a:r>
            <a:r>
              <a:rPr lang="en-US" dirty="0"/>
              <a:t>) is the gradient of f with respect to x, evaluated at x</a:t>
            </a:r>
            <a:r>
              <a:rPr lang="en-US" baseline="-25000" dirty="0"/>
              <a:t>0</a:t>
            </a:r>
            <a:r>
              <a:rPr lang="en-US" dirty="0"/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Here the original function is approximated by a straight line.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This approximation is locally accurate, but the farther we move away from x</a:t>
            </a:r>
            <a:r>
              <a:rPr lang="en-US" baseline="-25000" dirty="0"/>
              <a:t>0</a:t>
            </a:r>
            <a:r>
              <a:rPr lang="en-US" dirty="0"/>
              <a:t> the worse the approximation gets.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Note that they are first two terms of the Taylor series of f(x).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835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29C2-5E27-6025-794F-D80309561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555365" cy="215444"/>
          </a:xfrm>
        </p:spPr>
        <p:txBody>
          <a:bodyPr/>
          <a:lstStyle/>
          <a:p>
            <a:r>
              <a:rPr lang="en-IN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EB84522-1915-5536-302A-9FF1C526AD2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71094" y="711148"/>
                <a:ext cx="4002773" cy="2272738"/>
              </a:xfrm>
            </p:spPr>
            <p:txBody>
              <a:bodyPr/>
              <a:lstStyle/>
              <a:p>
                <a:r>
                  <a:rPr lang="en-IN" dirty="0"/>
                  <a:t>1. Find the linearization of the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+9</m:t>
                        </m:r>
                      </m:e>
                    </m:rad>
                  </m:oMath>
                </a14:m>
                <a:r>
                  <a:rPr lang="en-IN" dirty="0"/>
                  <a:t> around the point -4.</a:t>
                </a:r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                    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=5−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+4</m:t>
                        </m:r>
                      </m:e>
                    </m:d>
                  </m:oMath>
                </a14:m>
                <a:endParaRPr lang="en-IN" b="0" dirty="0"/>
              </a:p>
              <a:p>
                <a:endParaRPr lang="en-IN" dirty="0"/>
              </a:p>
              <a:p>
                <a:r>
                  <a:rPr lang="en-IN" b="0" dirty="0"/>
                  <a:t>2. Find the linearization of the function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unc>
                      <m:func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around the point (0,0).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                    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=1+1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−0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+0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−0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IN" b="0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EB84522-1915-5536-302A-9FF1C526A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71094" y="711148"/>
                <a:ext cx="4002773" cy="2272738"/>
              </a:xfrm>
              <a:blipFill>
                <a:blip r:embed="rId2"/>
                <a:stretch>
                  <a:fillRect l="-2131" t="-13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386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96F4-56E8-555F-3DFB-AA1F44E9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555365" cy="215444"/>
          </a:xfrm>
        </p:spPr>
        <p:txBody>
          <a:bodyPr/>
          <a:lstStyle/>
          <a:p>
            <a:r>
              <a:rPr lang="en-IN" dirty="0"/>
              <a:t>Problem1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6A4B5-E309-7858-7583-B76BD6F05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6424B-F735-87D1-62E7-6E48D857F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73" y="711148"/>
            <a:ext cx="3816179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74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B851-6D5B-40B4-EB31-7FBC425E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555365" cy="215444"/>
          </a:xfrm>
        </p:spPr>
        <p:txBody>
          <a:bodyPr/>
          <a:lstStyle/>
          <a:p>
            <a:r>
              <a:rPr lang="en-IN" dirty="0"/>
              <a:t>Problem2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05ADF-78F7-B598-0387-4D95083DC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00" y="711148"/>
            <a:ext cx="4178567" cy="203447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AF270D-7856-7293-5417-179E06D50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7" y="711148"/>
            <a:ext cx="4438650" cy="179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937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32" ma:contentTypeDescription="Create a new document." ma:contentTypeScope="" ma:versionID="62c7be92337541b430aa89ae92170225">
  <xsd:schema xmlns:xsd="http://www.w3.org/2001/XMLSchema" xmlns:xs="http://www.w3.org/2001/XMLSchema" xmlns:p="http://schemas.microsoft.com/office/2006/metadata/properties" xmlns:ns2="0a2451e9-b2b7-43a3-aada-52e3e0c35c47" xmlns:ns3="7007aa70-762f-4b31-aded-bfa7aca65826" targetNamespace="http://schemas.microsoft.com/office/2006/metadata/properties" ma:root="true" ma:fieldsID="6bf9aa7f290f016ad30c1f432a629028" ns2:_="" ns3:_="">
    <xsd:import namespace="0a2451e9-b2b7-43a3-aada-52e3e0c35c47"/>
    <xsd:import namespace="7007aa70-762f-4b31-aded-bfa7aca6582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7aa70-762f-4b31-aded-bfa7aca65826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61294dec-a7db-4640-b18d-273187c9ed97}" ma:internalName="TaxCatchAll" ma:showField="CatchAllData" ma:web="7007aa70-762f-4b31-aded-bfa7aca658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lcf76f155ced4ddcb4097134ff3c332f xmlns="0a2451e9-b2b7-43a3-aada-52e3e0c35c47">
      <Terms xmlns="http://schemas.microsoft.com/office/infopath/2007/PartnerControls"/>
    </lcf76f155ced4ddcb4097134ff3c332f>
    <TaxCatchAll xmlns="7007aa70-762f-4b31-aded-bfa7aca65826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2A7A32EC-922E-482B-BCC6-D6EF01802BB6}"/>
</file>

<file path=customXml/itemProps2.xml><?xml version="1.0" encoding="utf-8"?>
<ds:datastoreItem xmlns:ds="http://schemas.openxmlformats.org/officeDocument/2006/customXml" ds:itemID="{8340A4CA-1554-4142-AAEE-C7C6D0B18C0D}"/>
</file>

<file path=customXml/itemProps3.xml><?xml version="1.0" encoding="utf-8"?>
<ds:datastoreItem xmlns:ds="http://schemas.openxmlformats.org/officeDocument/2006/customXml" ds:itemID="{463D3DAF-38D0-4ABA-BCE6-85C303DB865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</TotalTime>
  <Words>1211</Words>
  <Application>Microsoft Office PowerPoint</Application>
  <PresentationFormat>Custom</PresentationFormat>
  <Paragraphs>180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Cambria Math</vt:lpstr>
      <vt:lpstr>Georgia</vt:lpstr>
      <vt:lpstr>Lucida Sans Unicode</vt:lpstr>
      <vt:lpstr>Sitka Text</vt:lpstr>
      <vt:lpstr>Tahoma</vt:lpstr>
      <vt:lpstr>Wingdings</vt:lpstr>
      <vt:lpstr>Office Theme</vt:lpstr>
      <vt:lpstr>PowerPoint Presentation</vt:lpstr>
      <vt:lpstr>Introduction</vt:lpstr>
      <vt:lpstr>Backpropagation and Automatic Differentiation </vt:lpstr>
      <vt:lpstr>Motivation</vt:lpstr>
      <vt:lpstr>Backpropagation and Automatic Differentiation</vt:lpstr>
      <vt:lpstr>Backpropagation</vt:lpstr>
      <vt:lpstr>PowerPoint Presentation</vt:lpstr>
      <vt:lpstr>Backpropagation</vt:lpstr>
      <vt:lpstr>Example</vt:lpstr>
      <vt:lpstr>PowerPoint Presentation</vt:lpstr>
      <vt:lpstr>PowerPoint Presentation</vt:lpstr>
      <vt:lpstr>Example</vt:lpstr>
      <vt:lpstr>Formalization of Automatic Differentiation</vt:lpstr>
      <vt:lpstr>Formalization of Automatic Differentiation</vt:lpstr>
      <vt:lpstr>Linearization of a function</vt:lpstr>
      <vt:lpstr>Examples</vt:lpstr>
      <vt:lpstr>Problem1</vt:lpstr>
      <vt:lpstr>Problem2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whiteLecture 7</dc:title>
  <dc:creator>white Math Foundations Team</dc:creator>
  <cp:lastModifiedBy>Michael Alphonse</cp:lastModifiedBy>
  <cp:revision>7</cp:revision>
  <dcterms:created xsi:type="dcterms:W3CDTF">2025-06-19T05:02:01Z</dcterms:created>
  <dcterms:modified xsi:type="dcterms:W3CDTF">2025-09-04T13:12:49Z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2022-12-22T00:00:00Z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2025-06-19T00:00:00Z</vt:filetime>
  </property>
  <property fmtid="{D5CDD505-2E9C-101B-9397-08002B2CF9AE}" pid="5" name="PTEX.Fullbanner">
    <vt:lpwstr>This is MiKTeX-pdfTeX 4.13.0 (1.40.24)</vt:lpwstr>
  </property>
  <property fmtid="{D5CDD505-2E9C-101B-9397-08002B2CF9AE}" pid="6" name="Producer">
    <vt:lpwstr>MiKTeX pdfTeX-1.40.24</vt:lpwstr>
  </property>
  <property fmtid="{D5CDD505-2E9C-101B-9397-08002B2CF9AE}" pid="7" name="ContentTypeId">
    <vt:lpwstr>0x0101000A75E3588147654284604D4E812B6D70</vt:lpwstr>
  </property>
</Properties>
</file>