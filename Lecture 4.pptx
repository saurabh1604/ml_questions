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  <p:sldMasterId id="2147483678" r:id="rId3"/>
    <p:sldMasterId id="2147483690" r:id="rId4"/>
  </p:sldMasterIdLst>
  <p:notesMasterIdLst>
    <p:notesMasterId r:id="rId35"/>
  </p:notesMasterIdLst>
  <p:sldIdLst>
    <p:sldId id="256" r:id="rId5"/>
    <p:sldId id="257" r:id="rId6"/>
    <p:sldId id="282" r:id="rId7"/>
    <p:sldId id="283" r:id="rId8"/>
    <p:sldId id="292" r:id="rId9"/>
    <p:sldId id="284" r:id="rId10"/>
    <p:sldId id="291" r:id="rId11"/>
    <p:sldId id="290" r:id="rId12"/>
    <p:sldId id="293" r:id="rId13"/>
    <p:sldId id="279" r:id="rId14"/>
    <p:sldId id="294" r:id="rId15"/>
    <p:sldId id="276" r:id="rId16"/>
    <p:sldId id="277" r:id="rId17"/>
    <p:sldId id="278" r:id="rId18"/>
    <p:sldId id="281" r:id="rId19"/>
    <p:sldId id="286" r:id="rId20"/>
    <p:sldId id="285" r:id="rId21"/>
    <p:sldId id="399" r:id="rId22"/>
    <p:sldId id="400" r:id="rId23"/>
    <p:sldId id="401" r:id="rId24"/>
    <p:sldId id="402" r:id="rId25"/>
    <p:sldId id="403" r:id="rId26"/>
    <p:sldId id="404" r:id="rId27"/>
    <p:sldId id="405" r:id="rId28"/>
    <p:sldId id="265" r:id="rId29"/>
    <p:sldId id="266" r:id="rId30"/>
    <p:sldId id="267" r:id="rId31"/>
    <p:sldId id="268" r:id="rId32"/>
    <p:sldId id="273" r:id="rId33"/>
    <p:sldId id="274" r:id="rId34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51" d="100"/>
          <a:sy n="151" d="100"/>
        </p:scale>
        <p:origin x="1637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customXml" Target="../customXml/item3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40" Type="http://schemas.openxmlformats.org/officeDocument/2006/relationships/customXml" Target="../customXml/item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611438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731A13-98E6-4818-8DF6-48866A490AD9}" type="datetimeFigureOut">
              <a:rPr lang="en-IN" smtClean="0"/>
              <a:t>04-09-2025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27175" y="433388"/>
            <a:ext cx="1555750" cy="1166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611438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01079A-A8AD-462A-B226-70BDCD6364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13321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01079A-A8AD-462A-B226-70BDCD63640B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48844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3333B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3333B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3333B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3333B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2018" y="14"/>
            <a:ext cx="4319985" cy="345598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5AB06C2-9587-3F38-8E45-BEAE745D26F8}"/>
              </a:ext>
            </a:extLst>
          </p:cNvPr>
          <p:cNvSpPr/>
          <p:nvPr userDrawn="1"/>
        </p:nvSpPr>
        <p:spPr>
          <a:xfrm>
            <a:off x="0" y="1691922"/>
            <a:ext cx="4379595" cy="13843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150E5D-BA43-4C01-E843-16C43C17BFA8}"/>
              </a:ext>
            </a:extLst>
          </p:cNvPr>
          <p:cNvSpPr/>
          <p:nvPr userDrawn="1"/>
        </p:nvSpPr>
        <p:spPr>
          <a:xfrm>
            <a:off x="1459865" y="3076222"/>
            <a:ext cx="1459865" cy="38453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F37E87-265B-80B8-CA1A-BF82928634FC}"/>
              </a:ext>
            </a:extLst>
          </p:cNvPr>
          <p:cNvSpPr/>
          <p:nvPr userDrawn="1"/>
        </p:nvSpPr>
        <p:spPr>
          <a:xfrm>
            <a:off x="0" y="3076222"/>
            <a:ext cx="1459865" cy="38453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ABFCF6-A193-00FE-9364-9F69102DB6EC}"/>
              </a:ext>
            </a:extLst>
          </p:cNvPr>
          <p:cNvSpPr/>
          <p:nvPr userDrawn="1"/>
        </p:nvSpPr>
        <p:spPr>
          <a:xfrm>
            <a:off x="2919730" y="3076222"/>
            <a:ext cx="1459865" cy="38453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6" name="Picture 10" descr="BITS_university_logo_whitevert.png">
            <a:extLst>
              <a:ext uri="{FF2B5EF4-FFF2-40B4-BE49-F238E27FC236}">
                <a16:creationId xmlns:a16="http://schemas.microsoft.com/office/drawing/2014/main" id="{F44E275A-047A-B369-9316-79FC4DA2C00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38417" y="1691923"/>
            <a:ext cx="1037273" cy="998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A0CE0C2-0DFE-161E-788E-2229F2046C5A}"/>
              </a:ext>
            </a:extLst>
          </p:cNvPr>
          <p:cNvSpPr txBox="1"/>
          <p:nvPr userDrawn="1"/>
        </p:nvSpPr>
        <p:spPr>
          <a:xfrm>
            <a:off x="-38418" y="2653242"/>
            <a:ext cx="1114108" cy="31733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62" b="1" spc="-76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1462" spc="-76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58B501-9DD3-4CBF-A9BE-D06D91840CD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6835" y="2859926"/>
            <a:ext cx="960438" cy="18543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605">
                <a:solidFill>
                  <a:srgbClr val="FFFFFF"/>
                </a:solidFill>
              </a:rPr>
              <a:t>Pilani Campus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267777" y="1922639"/>
            <a:ext cx="3034983" cy="769056"/>
          </a:xfrm>
        </p:spPr>
        <p:txBody>
          <a:bodyPr anchorCtr="0">
            <a:noAutofit/>
          </a:bodyPr>
          <a:lstStyle>
            <a:lvl1pPr algn="l">
              <a:lnSpc>
                <a:spcPts val="2017"/>
              </a:lnSpc>
              <a:defRPr sz="2218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6905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DC2A878-BE89-65EE-E640-89299F4EDEA1}"/>
              </a:ext>
            </a:extLst>
          </p:cNvPr>
          <p:cNvSpPr/>
          <p:nvPr userDrawn="1"/>
        </p:nvSpPr>
        <p:spPr>
          <a:xfrm>
            <a:off x="0" y="1691922"/>
            <a:ext cx="4379595" cy="13843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B3E562-F198-7854-8B4E-C05295753CD8}"/>
              </a:ext>
            </a:extLst>
          </p:cNvPr>
          <p:cNvSpPr/>
          <p:nvPr userDrawn="1"/>
        </p:nvSpPr>
        <p:spPr>
          <a:xfrm>
            <a:off x="1459865" y="3076222"/>
            <a:ext cx="1459865" cy="38453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8CAC15-1693-F4FA-A086-420EA809E10F}"/>
              </a:ext>
            </a:extLst>
          </p:cNvPr>
          <p:cNvSpPr/>
          <p:nvPr userDrawn="1"/>
        </p:nvSpPr>
        <p:spPr>
          <a:xfrm>
            <a:off x="0" y="3076222"/>
            <a:ext cx="1459865" cy="38453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EA2F2A-0645-C09D-C81B-DECFC66395D5}"/>
              </a:ext>
            </a:extLst>
          </p:cNvPr>
          <p:cNvSpPr/>
          <p:nvPr userDrawn="1"/>
        </p:nvSpPr>
        <p:spPr>
          <a:xfrm>
            <a:off x="2919730" y="3076222"/>
            <a:ext cx="1459865" cy="38453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8" name="Picture 10" descr="BITS_university_logo_whitevert.png">
            <a:extLst>
              <a:ext uri="{FF2B5EF4-FFF2-40B4-BE49-F238E27FC236}">
                <a16:creationId xmlns:a16="http://schemas.microsoft.com/office/drawing/2014/main" id="{2482E494-5F9A-9D88-4ECC-02454D65F0D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38417" y="1691923"/>
            <a:ext cx="1037273" cy="998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FFC5439-D3D2-A5B0-DA9B-974B8666169B}"/>
              </a:ext>
            </a:extLst>
          </p:cNvPr>
          <p:cNvSpPr txBox="1"/>
          <p:nvPr userDrawn="1"/>
        </p:nvSpPr>
        <p:spPr>
          <a:xfrm>
            <a:off x="-38418" y="2653242"/>
            <a:ext cx="1114108" cy="31733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62" b="1" spc="-76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1462" spc="-76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6E281B-3098-764E-EE50-4AB7DE25F7E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6835" y="2859926"/>
            <a:ext cx="960438" cy="18543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605">
                <a:solidFill>
                  <a:srgbClr val="FFFFFF"/>
                </a:solidFill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1267777" y="2730147"/>
            <a:ext cx="3034983" cy="269169"/>
          </a:xfrm>
        </p:spPr>
        <p:txBody>
          <a:bodyPr anchor="b">
            <a:noAutofit/>
          </a:bodyPr>
          <a:lstStyle>
            <a:lvl1pPr marL="0" indent="0" algn="r">
              <a:lnSpc>
                <a:spcPts val="908"/>
              </a:lnSpc>
              <a:spcBef>
                <a:spcPts val="0"/>
              </a:spcBef>
              <a:buNone/>
              <a:defRPr sz="908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7777" y="1922639"/>
            <a:ext cx="3034983" cy="769056"/>
          </a:xfrm>
        </p:spPr>
        <p:txBody>
          <a:bodyPr anchorCtr="0">
            <a:noAutofit/>
          </a:bodyPr>
          <a:lstStyle>
            <a:lvl1pPr algn="l">
              <a:lnSpc>
                <a:spcPts val="2017"/>
              </a:lnSpc>
              <a:defRPr sz="2218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5752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\\Server\D\jyoti\FI023_BITS_v1\styleguide img\IMG_5627_b.jpg">
            <a:extLst>
              <a:ext uri="{FF2B5EF4-FFF2-40B4-BE49-F238E27FC236}">
                <a16:creationId xmlns:a16="http://schemas.microsoft.com/office/drawing/2014/main" id="{3D072758-128B-FB44-BA51-5B02B38CFD5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610100" cy="346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B3F8116-209F-B63B-70A4-04783B88D747}"/>
              </a:ext>
            </a:extLst>
          </p:cNvPr>
          <p:cNvSpPr/>
          <p:nvPr userDrawn="1"/>
        </p:nvSpPr>
        <p:spPr>
          <a:xfrm>
            <a:off x="0" y="2160566"/>
            <a:ext cx="4610100" cy="1300184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4" name="Picture 8" descr="Picture 7.png">
            <a:extLst>
              <a:ext uri="{FF2B5EF4-FFF2-40B4-BE49-F238E27FC236}">
                <a16:creationId xmlns:a16="http://schemas.microsoft.com/office/drawing/2014/main" id="{2C8A5C40-1D5E-E873-6B60-B33205EC7BB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B1CC498-1CD8-0A6C-D9E2-744A6A9100B3}"/>
              </a:ext>
            </a:extLst>
          </p:cNvPr>
          <p:cNvSpPr/>
          <p:nvPr userDrawn="1"/>
        </p:nvSpPr>
        <p:spPr>
          <a:xfrm>
            <a:off x="1453462" y="3419093"/>
            <a:ext cx="1459865" cy="38453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2D3EB5-75C8-E20D-913D-E3719175350C}"/>
              </a:ext>
            </a:extLst>
          </p:cNvPr>
          <p:cNvSpPr/>
          <p:nvPr userDrawn="1"/>
        </p:nvSpPr>
        <p:spPr>
          <a:xfrm>
            <a:off x="-6403" y="3419093"/>
            <a:ext cx="1459865" cy="38453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BC6149-7CD8-5938-0A1A-71AC9A434AB3}"/>
              </a:ext>
            </a:extLst>
          </p:cNvPr>
          <p:cNvSpPr/>
          <p:nvPr userDrawn="1"/>
        </p:nvSpPr>
        <p:spPr>
          <a:xfrm>
            <a:off x="2913327" y="3419093"/>
            <a:ext cx="1459865" cy="38453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78588D-E92E-AFB4-5B53-C5E79B97CC7D}"/>
              </a:ext>
            </a:extLst>
          </p:cNvPr>
          <p:cNvSpPr txBox="1"/>
          <p:nvPr userDrawn="1"/>
        </p:nvSpPr>
        <p:spPr>
          <a:xfrm>
            <a:off x="3457575" y="384528"/>
            <a:ext cx="1114108" cy="31733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62" b="1" spc="-76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1462" spc="-76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5D1C25-2D76-7894-6761-310AE59053F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572827" y="591212"/>
            <a:ext cx="960438" cy="18543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605">
                <a:solidFill>
                  <a:srgbClr val="FFFFFF"/>
                </a:solidFill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153670" y="2345620"/>
            <a:ext cx="4264343" cy="807508"/>
          </a:xfrm>
        </p:spPr>
        <p:txBody>
          <a:bodyPr>
            <a:noAutofit/>
          </a:bodyPr>
          <a:lstStyle>
            <a:lvl1pPr marL="0" indent="0">
              <a:lnSpc>
                <a:spcPts val="2118"/>
              </a:lnSpc>
              <a:spcBef>
                <a:spcPts val="0"/>
              </a:spcBef>
              <a:buNone/>
              <a:defRPr sz="2017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882076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54CB6D-2E03-97CC-F04E-B202EA760C8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4" name="Group 11">
            <a:extLst>
              <a:ext uri="{FF2B5EF4-FFF2-40B4-BE49-F238E27FC236}">
                <a16:creationId xmlns:a16="http://schemas.microsoft.com/office/drawing/2014/main" id="{F0D5EE81-65C0-27E1-4CD4-2CF4B18E80DF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50879" y="3305337"/>
            <a:ext cx="3559221" cy="24834"/>
            <a:chOff x="2083888" y="6550671"/>
            <a:chExt cx="7060112" cy="4866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B3B75D3-643A-6ADF-AB2D-46E1253D7C0B}"/>
                </a:ext>
              </a:extLst>
            </p:cNvPr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AA337A1-2EE4-FD12-5AE6-5BDA458929F1}"/>
                </a:ext>
              </a:extLst>
            </p:cNvPr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E7B39B5-4500-4BFB-EF29-FA8D4C77E94D}"/>
                </a:ext>
              </a:extLst>
            </p:cNvPr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8" name="Picture 11" descr="Picture 7.png">
            <a:extLst>
              <a:ext uri="{FF2B5EF4-FFF2-40B4-BE49-F238E27FC236}">
                <a16:creationId xmlns:a16="http://schemas.microsoft.com/office/drawing/2014/main" id="{F19E8AC2-7AA0-C87D-713D-79C258C759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18">
            <a:extLst>
              <a:ext uri="{FF2B5EF4-FFF2-40B4-BE49-F238E27FC236}">
                <a16:creationId xmlns:a16="http://schemas.microsoft.com/office/drawing/2014/main" id="{F9A3C37F-01F8-ABF6-BDAA-C1C1BD7565F6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D1F6A90-475D-B12D-F6F1-DBEE00560B74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88CE957-DB42-F02F-AD7D-EC1552221779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544667F-DD38-C590-3922-D8274F15D3CE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3" name="Group 22">
            <a:extLst>
              <a:ext uri="{FF2B5EF4-FFF2-40B4-BE49-F238E27FC236}">
                <a16:creationId xmlns:a16="http://schemas.microsoft.com/office/drawing/2014/main" id="{B61F297F-5534-559D-E76A-E3AAD407F51D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79AAFAD-209F-22BE-79F5-FFE7FADB6664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483A43D-AF06-19D7-8F10-A3B49B7FB92A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E129335-06EB-D599-2DCA-6DF9B3FEA164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670" y="753835"/>
            <a:ext cx="4149090" cy="2283935"/>
          </a:xfrm>
        </p:spPr>
        <p:txBody>
          <a:bodyPr/>
          <a:lstStyle>
            <a:lvl1pPr marL="172890" marR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210">
                <a:latin typeface="Arial" pitchFamily="34" charset="0"/>
                <a:cs typeface="Arial" pitchFamily="34" charset="0"/>
              </a:defRPr>
            </a:lvl1pPr>
            <a:lvl2pPr marL="374595" marR="0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807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82415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Picture 7.png">
            <a:extLst>
              <a:ext uri="{FF2B5EF4-FFF2-40B4-BE49-F238E27FC236}">
                <a16:creationId xmlns:a16="http://schemas.microsoft.com/office/drawing/2014/main" id="{5230CD93-9FF0-074F-7F89-EEEA0E48FE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19">
            <a:extLst>
              <a:ext uri="{FF2B5EF4-FFF2-40B4-BE49-F238E27FC236}">
                <a16:creationId xmlns:a16="http://schemas.microsoft.com/office/drawing/2014/main" id="{59A75F3E-5968-A6E4-F33D-B71AEEAD9DC5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2B9AC56-CBA0-4863-F7E4-E2D641DF0483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079679B-01C8-F253-704C-20BCCDC34404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7B1C866-C183-4002-FB7C-4036764348B7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9" name="Group 28">
            <a:extLst>
              <a:ext uri="{FF2B5EF4-FFF2-40B4-BE49-F238E27FC236}">
                <a16:creationId xmlns:a16="http://schemas.microsoft.com/office/drawing/2014/main" id="{6F2BE467-79B9-47C5-AB5D-866CF0FA620B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A035021-6BF4-638E-FF3D-AD2C37F3CD36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89D292F-0637-1EB9-BA02-B1F6BB06D745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8FFCBA8-745B-AA71-0D62-0AF05E255667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A14247D9-9809-070A-A690-D0A73986F6D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0505" y="807509"/>
            <a:ext cx="2036128" cy="2283935"/>
          </a:xfrm>
        </p:spPr>
        <p:txBody>
          <a:bodyPr/>
          <a:lstStyle>
            <a:lvl1pPr marL="172890" marR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412"/>
            </a:lvl1pPr>
            <a:lvl2pPr marL="374595" marR="0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807"/>
            </a:lvl2pPr>
            <a:lvl3pPr>
              <a:defRPr sz="1008"/>
            </a:lvl3pPr>
            <a:lvl4pPr>
              <a:defRPr sz="908"/>
            </a:lvl4pPr>
            <a:lvl5pPr>
              <a:defRPr sz="908"/>
            </a:lvl5pPr>
            <a:lvl6pPr>
              <a:defRPr sz="908"/>
            </a:lvl6pPr>
            <a:lvl7pPr>
              <a:defRPr sz="908"/>
            </a:lvl7pPr>
            <a:lvl8pPr>
              <a:defRPr sz="908"/>
            </a:lvl8pPr>
            <a:lvl9pPr>
              <a:defRPr sz="908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97137" y="807509"/>
            <a:ext cx="2036128" cy="2283935"/>
          </a:xfrm>
        </p:spPr>
        <p:txBody>
          <a:bodyPr/>
          <a:lstStyle>
            <a:lvl1pPr marL="172890" marR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412"/>
            </a:lvl1pPr>
            <a:lvl2pPr marL="374595" marR="0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807">
                <a:latin typeface="Arial" pitchFamily="34" charset="0"/>
                <a:cs typeface="Arial" pitchFamily="34" charset="0"/>
              </a:defRPr>
            </a:lvl2pPr>
            <a:lvl3pPr>
              <a:defRPr sz="1008"/>
            </a:lvl3pPr>
            <a:lvl4pPr>
              <a:defRPr sz="908"/>
            </a:lvl4pPr>
            <a:lvl5pPr>
              <a:defRPr sz="908"/>
            </a:lvl5pPr>
            <a:lvl6pPr>
              <a:defRPr sz="908"/>
            </a:lvl6pPr>
            <a:lvl7pPr>
              <a:defRPr sz="908"/>
            </a:lvl7pPr>
            <a:lvl8pPr>
              <a:defRPr sz="908"/>
            </a:lvl8pPr>
            <a:lvl9pPr>
              <a:defRPr sz="908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54336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0">
            <a:extLst>
              <a:ext uri="{FF2B5EF4-FFF2-40B4-BE49-F238E27FC236}">
                <a16:creationId xmlns:a16="http://schemas.microsoft.com/office/drawing/2014/main" id="{A7972411-9BC3-74E5-733D-6316256A2A05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6021552-4542-D593-D88A-B3C41D811D78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60EBFCD-DFF5-F10A-ABDA-BD6DAC5E851C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891AC8-6F9C-B838-3C77-1AC77870E189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1" name="Group 15">
            <a:extLst>
              <a:ext uri="{FF2B5EF4-FFF2-40B4-BE49-F238E27FC236}">
                <a16:creationId xmlns:a16="http://schemas.microsoft.com/office/drawing/2014/main" id="{8494846F-7D19-6BE4-BB91-09AC2F676572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2A9AE45-9941-F662-0103-451FDE67D0B6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E7912F4-1B70-F1F0-1D8C-B889A82D09F1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A33B65A-3F52-0B9C-FCF5-EDE147AD72DF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15" name="Picture 13" descr="Picture 7.png">
            <a:extLst>
              <a:ext uri="{FF2B5EF4-FFF2-40B4-BE49-F238E27FC236}">
                <a16:creationId xmlns:a16="http://schemas.microsoft.com/office/drawing/2014/main" id="{1B0E5F3F-54DA-7CC8-E002-66C9BC7F5F1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9A8BEAA-54EB-4D6E-71CE-5D60767DB20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Deemed to be University under Section 3 of UGC Act, 1956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0505" y="774663"/>
            <a:ext cx="2036928" cy="417373"/>
          </a:xfrm>
        </p:spPr>
        <p:txBody>
          <a:bodyPr anchor="b"/>
          <a:lstStyle>
            <a:lvl1pPr marL="0" indent="0">
              <a:buNone/>
              <a:defRPr sz="1210" b="1"/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0505" y="1192036"/>
            <a:ext cx="2036928" cy="1899407"/>
          </a:xfrm>
        </p:spPr>
        <p:txBody>
          <a:bodyPr/>
          <a:lstStyle>
            <a:lvl1pPr>
              <a:defRPr sz="1210"/>
            </a:lvl1pPr>
            <a:lvl2pPr>
              <a:defRPr sz="1008"/>
            </a:lvl2pPr>
            <a:lvl3pPr>
              <a:defRPr sz="908"/>
            </a:lvl3pPr>
            <a:lvl4pPr>
              <a:defRPr sz="807"/>
            </a:lvl4pPr>
            <a:lvl5pPr>
              <a:defRPr sz="807"/>
            </a:lvl5pPr>
            <a:lvl6pPr>
              <a:defRPr sz="807"/>
            </a:lvl6pPr>
            <a:lvl7pPr>
              <a:defRPr sz="807"/>
            </a:lvl7pPr>
            <a:lvl8pPr>
              <a:defRPr sz="807"/>
            </a:lvl8pPr>
            <a:lvl9pPr>
              <a:defRPr sz="80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41867" y="774663"/>
            <a:ext cx="2037728" cy="417373"/>
          </a:xfrm>
        </p:spPr>
        <p:txBody>
          <a:bodyPr anchor="b"/>
          <a:lstStyle>
            <a:lvl1pPr marL="0" indent="0">
              <a:buNone/>
              <a:defRPr sz="1210" b="1"/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41867" y="1192036"/>
            <a:ext cx="2037728" cy="1899407"/>
          </a:xfrm>
        </p:spPr>
        <p:txBody>
          <a:bodyPr/>
          <a:lstStyle>
            <a:lvl1pPr>
              <a:defRPr sz="1210"/>
            </a:lvl1pPr>
            <a:lvl2pPr>
              <a:defRPr sz="1008"/>
            </a:lvl2pPr>
            <a:lvl3pPr>
              <a:defRPr sz="908"/>
            </a:lvl3pPr>
            <a:lvl4pPr>
              <a:defRPr sz="807"/>
            </a:lvl4pPr>
            <a:lvl5pPr>
              <a:defRPr sz="807"/>
            </a:lvl5pPr>
            <a:lvl6pPr>
              <a:defRPr sz="807"/>
            </a:lvl6pPr>
            <a:lvl7pPr>
              <a:defRPr sz="807"/>
            </a:lvl7pPr>
            <a:lvl8pPr>
              <a:defRPr sz="807"/>
            </a:lvl8pPr>
            <a:lvl9pPr>
              <a:defRPr sz="80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059971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>
            <a:extLst>
              <a:ext uri="{FF2B5EF4-FFF2-40B4-BE49-F238E27FC236}">
                <a16:creationId xmlns:a16="http://schemas.microsoft.com/office/drawing/2014/main" id="{5A5BDA65-10DA-AD6B-CE03-A91BEC0949F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83C328C-4F50-322F-AF5B-363DABCA3B5F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FDA1733-1CFD-AB97-DB43-26966C6A2438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60D9071-17E3-D70D-17D7-2F64E0490354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7" name="Group 10">
            <a:extLst>
              <a:ext uri="{FF2B5EF4-FFF2-40B4-BE49-F238E27FC236}">
                <a16:creationId xmlns:a16="http://schemas.microsoft.com/office/drawing/2014/main" id="{2E540A17-AF67-6EE1-7852-F9951748A9EB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5322766-28BE-6719-003F-6CD75CB6CD50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9FAA0F8-A109-B0E0-99FE-B294A2C383F0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8823A19-27A5-7273-A205-53260FF5BE87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11" name="Picture 14" descr="Picture 7.png">
            <a:extLst>
              <a:ext uri="{FF2B5EF4-FFF2-40B4-BE49-F238E27FC236}">
                <a16:creationId xmlns:a16="http://schemas.microsoft.com/office/drawing/2014/main" id="{7F54FDFB-176E-0086-0EB9-5D1655594AA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FD43FB2-44E9-C3E9-E544-43179DDA7AA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Deemed to be University under Section 3 of UGC Act, 1956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530914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>
            <a:extLst>
              <a:ext uri="{FF2B5EF4-FFF2-40B4-BE49-F238E27FC236}">
                <a16:creationId xmlns:a16="http://schemas.microsoft.com/office/drawing/2014/main" id="{293008DA-7792-EABC-ACD7-92B902406688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EC007FF-0B4E-8414-EAFC-540B50A3E4B9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DFECDE6-2F7D-92BE-6FD1-F1528A321495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360BF0E-6F5F-ACE5-044B-56E700D2597B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9" name="Group 13">
            <a:extLst>
              <a:ext uri="{FF2B5EF4-FFF2-40B4-BE49-F238E27FC236}">
                <a16:creationId xmlns:a16="http://schemas.microsoft.com/office/drawing/2014/main" id="{4DF0AA56-19E4-4A2C-1E5D-A8F72F06CFCB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6DD708-A228-9380-CE5C-FB727F594022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A3C1F46-A39D-2191-DF08-D2B106D8DDC8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E49D59B-A4A1-F904-58AB-55691C368BFF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13" name="Picture 14" descr="Picture 7.png">
            <a:extLst>
              <a:ext uri="{FF2B5EF4-FFF2-40B4-BE49-F238E27FC236}">
                <a16:creationId xmlns:a16="http://schemas.microsoft.com/office/drawing/2014/main" id="{D97720FB-5592-E7A4-100C-08C45B9454A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67F0143-A046-474A-5619-48E8D6A81E0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2421" y="807509"/>
            <a:ext cx="2577174" cy="2283935"/>
          </a:xfrm>
        </p:spPr>
        <p:txBody>
          <a:bodyPr/>
          <a:lstStyle>
            <a:lvl1pPr>
              <a:defRPr sz="1613"/>
            </a:lvl1pPr>
            <a:lvl2pPr>
              <a:defRPr sz="1412"/>
            </a:lvl2pPr>
            <a:lvl3pPr>
              <a:defRPr sz="1210"/>
            </a:lvl3pPr>
            <a:lvl4pPr>
              <a:defRPr sz="1008"/>
            </a:lvl4pPr>
            <a:lvl5pPr>
              <a:defRPr sz="1008"/>
            </a:lvl5pPr>
            <a:lvl6pPr>
              <a:defRPr sz="1008"/>
            </a:lvl6pPr>
            <a:lvl7pPr>
              <a:defRPr sz="1008"/>
            </a:lvl7pPr>
            <a:lvl8pPr>
              <a:defRPr sz="1008"/>
            </a:lvl8pPr>
            <a:lvl9pPr>
              <a:defRPr sz="100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0505" y="807509"/>
            <a:ext cx="1516691" cy="2283935"/>
          </a:xfrm>
        </p:spPr>
        <p:txBody>
          <a:bodyPr/>
          <a:lstStyle>
            <a:lvl1pPr marL="0" indent="0">
              <a:buNone/>
              <a:defRPr sz="706"/>
            </a:lvl1pPr>
            <a:lvl2pPr marL="230520" indent="0">
              <a:buNone/>
              <a:defRPr sz="605"/>
            </a:lvl2pPr>
            <a:lvl3pPr marL="461040" indent="0">
              <a:buNone/>
              <a:defRPr sz="504"/>
            </a:lvl3pPr>
            <a:lvl4pPr marL="691561" indent="0">
              <a:buNone/>
              <a:defRPr sz="454"/>
            </a:lvl4pPr>
            <a:lvl5pPr marL="922081" indent="0">
              <a:buNone/>
              <a:defRPr sz="454"/>
            </a:lvl5pPr>
            <a:lvl6pPr marL="1152601" indent="0">
              <a:buNone/>
              <a:defRPr sz="454"/>
            </a:lvl6pPr>
            <a:lvl7pPr marL="1383121" indent="0">
              <a:buNone/>
              <a:defRPr sz="454"/>
            </a:lvl7pPr>
            <a:lvl8pPr marL="1613642" indent="0">
              <a:buNone/>
              <a:defRPr sz="454"/>
            </a:lvl8pPr>
            <a:lvl9pPr marL="1844162" indent="0">
              <a:buNone/>
              <a:defRPr sz="4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316314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>
            <a:extLst>
              <a:ext uri="{FF2B5EF4-FFF2-40B4-BE49-F238E27FC236}">
                <a16:creationId xmlns:a16="http://schemas.microsoft.com/office/drawing/2014/main" id="{8CE7FE32-DB96-2313-EFF9-3913A2810B7A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FF9EDDD-B41D-B7D3-1B37-00AC464BC143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51EB5C4-3AE3-AA7F-8FE6-A1FEE93060B8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078D876-DF8A-0FC0-9F85-D8AD00EC4DB9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A994739-6811-6544-ACC4-9173C9435415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141FCB2-CAA9-98BA-0611-0826070C1C08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6BAD775-2D8D-BB48-4FBD-724FC2C66E19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ACD245C-B270-84DD-D15E-AE2E79DF4597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14" name="Picture 14" descr="Picture 7.png">
            <a:extLst>
              <a:ext uri="{FF2B5EF4-FFF2-40B4-BE49-F238E27FC236}">
                <a16:creationId xmlns:a16="http://schemas.microsoft.com/office/drawing/2014/main" id="{B826909E-9DAC-A485-FD73-6AC07DE9796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6D8C070-38E3-BE4F-E37D-DA00B4FAC44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Pilani Campus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3612" y="2728545"/>
            <a:ext cx="2766060" cy="153811"/>
          </a:xfrm>
        </p:spPr>
        <p:txBody>
          <a:bodyPr anchor="b"/>
          <a:lstStyle>
            <a:lvl1pPr algn="l">
              <a:defRPr sz="908" b="1" spc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903612" y="922867"/>
            <a:ext cx="2766060" cy="1730375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>
            <a:normAutofit/>
          </a:bodyPr>
          <a:lstStyle>
            <a:lvl1pPr marL="0" indent="0">
              <a:buNone/>
              <a:defRPr sz="1613"/>
            </a:lvl1pPr>
            <a:lvl2pPr marL="230520" indent="0">
              <a:buNone/>
              <a:defRPr sz="1412"/>
            </a:lvl2pPr>
            <a:lvl3pPr marL="461040" indent="0">
              <a:buNone/>
              <a:defRPr sz="1210"/>
            </a:lvl3pPr>
            <a:lvl4pPr marL="691561" indent="0">
              <a:buNone/>
              <a:defRPr sz="1008"/>
            </a:lvl4pPr>
            <a:lvl5pPr marL="922081" indent="0">
              <a:buNone/>
              <a:defRPr sz="1008"/>
            </a:lvl5pPr>
            <a:lvl6pPr marL="1152601" indent="0">
              <a:buNone/>
              <a:defRPr sz="1008"/>
            </a:lvl6pPr>
            <a:lvl7pPr marL="1383121" indent="0">
              <a:buNone/>
              <a:defRPr sz="1008"/>
            </a:lvl7pPr>
            <a:lvl8pPr marL="1613642" indent="0">
              <a:buNone/>
              <a:defRPr sz="1008"/>
            </a:lvl8pPr>
            <a:lvl9pPr marL="1844162" indent="0">
              <a:buNone/>
              <a:defRPr sz="1008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3612" y="2882356"/>
            <a:ext cx="2766060" cy="153811"/>
          </a:xfrm>
        </p:spPr>
        <p:txBody>
          <a:bodyPr>
            <a:normAutofit/>
          </a:bodyPr>
          <a:lstStyle>
            <a:lvl1pPr marL="0" indent="0">
              <a:buNone/>
              <a:defRPr sz="807"/>
            </a:lvl1pPr>
            <a:lvl2pPr marL="230520" indent="0">
              <a:buNone/>
              <a:defRPr sz="605"/>
            </a:lvl2pPr>
            <a:lvl3pPr marL="461040" indent="0">
              <a:buNone/>
              <a:defRPr sz="504"/>
            </a:lvl3pPr>
            <a:lvl4pPr marL="691561" indent="0">
              <a:buNone/>
              <a:defRPr sz="454"/>
            </a:lvl4pPr>
            <a:lvl5pPr marL="922081" indent="0">
              <a:buNone/>
              <a:defRPr sz="454"/>
            </a:lvl5pPr>
            <a:lvl6pPr marL="1152601" indent="0">
              <a:buNone/>
              <a:defRPr sz="454"/>
            </a:lvl6pPr>
            <a:lvl7pPr marL="1383121" indent="0">
              <a:buNone/>
              <a:defRPr sz="454"/>
            </a:lvl7pPr>
            <a:lvl8pPr marL="1613642" indent="0">
              <a:buNone/>
              <a:defRPr sz="454"/>
            </a:lvl8pPr>
            <a:lvl9pPr marL="1844162" indent="0">
              <a:buNone/>
              <a:defRPr sz="454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893470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9">
            <a:extLst>
              <a:ext uri="{FF2B5EF4-FFF2-40B4-BE49-F238E27FC236}">
                <a16:creationId xmlns:a16="http://schemas.microsoft.com/office/drawing/2014/main" id="{C31B466C-39FA-EA5F-8585-E3DB7DB34F02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A9A6BD0-7239-456F-F08B-7FA3A3A0D3F3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3D87A29-5B31-9002-146E-8D8A208DA133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20BE3D3-0E54-C627-7ECD-718D4C8775DF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7" name="Group 24">
            <a:extLst>
              <a:ext uri="{FF2B5EF4-FFF2-40B4-BE49-F238E27FC236}">
                <a16:creationId xmlns:a16="http://schemas.microsoft.com/office/drawing/2014/main" id="{B5A242B6-362C-BC0E-E31E-26D87D43EC85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A92F29F-4D6E-E99C-6BE1-4C5914941216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1ACBE6F-37F3-5FF8-86B4-FD96ABA2179F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B837B9D-8598-7366-4EA7-0C3336E789A4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11" name="Picture 14" descr="Picture 7.png">
            <a:extLst>
              <a:ext uri="{FF2B5EF4-FFF2-40B4-BE49-F238E27FC236}">
                <a16:creationId xmlns:a16="http://schemas.microsoft.com/office/drawing/2014/main" id="{CE0FB14F-75EE-91DD-494E-757CEEA8E7E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9F24DF4-ED1D-E754-FD93-7BDF15549D6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798244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id="{53B0E754-E86C-7D86-0F03-B6B9ED52DE3D}"/>
              </a:ext>
            </a:extLst>
          </p:cNvPr>
          <p:cNvGrpSpPr>
            <a:grpSpLocks/>
          </p:cNvGrpSpPr>
          <p:nvPr userDrawn="1"/>
        </p:nvGrpSpPr>
        <p:grpSpPr bwMode="auto">
          <a:xfrm rot="5400000">
            <a:off x="2522751" y="1295789"/>
            <a:ext cx="2614789" cy="23210"/>
            <a:chOff x="1905000" y="6553200"/>
            <a:chExt cx="7010400" cy="4571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CCF650D-90BB-93B7-AC29-5EB6B605588B}"/>
                </a:ext>
              </a:extLst>
            </p:cNvPr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78CD780-DF00-1368-43CA-69E660AB05CD}"/>
                </a:ext>
              </a:extLst>
            </p:cNvPr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5628FB8-61EF-7326-15DC-05D234B04CE4}"/>
                </a:ext>
              </a:extLst>
            </p:cNvPr>
            <p:cNvSpPr/>
            <p:nvPr userDrawn="1"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8" name="Picture 10" descr="Picture 7.png">
            <a:extLst>
              <a:ext uri="{FF2B5EF4-FFF2-40B4-BE49-F238E27FC236}">
                <a16:creationId xmlns:a16="http://schemas.microsoft.com/office/drawing/2014/main" id="{1D5D21E3-1BEE-AF67-10EF-8A6261AEB8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36" t="1923"/>
          <a:stretch>
            <a:fillRect/>
          </a:stretch>
        </p:blipFill>
        <p:spPr bwMode="auto">
          <a:xfrm>
            <a:off x="-4002" y="192264"/>
            <a:ext cx="348959" cy="1107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E1913D1-13BA-87DF-FF0E-A031A60412B7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1410400" y="1899206"/>
            <a:ext cx="2960864" cy="162224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454" b="1">
                <a:solidFill>
                  <a:srgbClr val="101141"/>
                </a:solidFill>
              </a:rPr>
              <a:t>BITS </a:t>
            </a:r>
            <a:r>
              <a:rPr lang="en-US" altLang="en-US" sz="454">
                <a:solidFill>
                  <a:srgbClr val="101141"/>
                </a:solidFill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4680" y="192264"/>
            <a:ext cx="3034983" cy="295285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/>
          </p:nvPr>
        </p:nvSpPr>
        <p:spPr>
          <a:xfrm rot="5400000">
            <a:off x="2726284" y="1384564"/>
            <a:ext cx="2960864" cy="576263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78364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3E9DA1-ECCF-2B2B-88DF-ED7DE2158578}"/>
              </a:ext>
            </a:extLst>
          </p:cNvPr>
          <p:cNvSpPr/>
          <p:nvPr userDrawn="1"/>
        </p:nvSpPr>
        <p:spPr>
          <a:xfrm>
            <a:off x="0" y="1691922"/>
            <a:ext cx="4379595" cy="13843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944446-70A7-9AE2-141D-F46BA03D6093}"/>
              </a:ext>
            </a:extLst>
          </p:cNvPr>
          <p:cNvSpPr/>
          <p:nvPr userDrawn="1"/>
        </p:nvSpPr>
        <p:spPr>
          <a:xfrm>
            <a:off x="1459865" y="3076222"/>
            <a:ext cx="1459865" cy="38453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93EB54-7020-615E-310D-070CE5B4952D}"/>
              </a:ext>
            </a:extLst>
          </p:cNvPr>
          <p:cNvSpPr/>
          <p:nvPr userDrawn="1"/>
        </p:nvSpPr>
        <p:spPr>
          <a:xfrm>
            <a:off x="0" y="3076222"/>
            <a:ext cx="1459865" cy="38453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F0256B-30FA-B939-EF41-E362040BD80B}"/>
              </a:ext>
            </a:extLst>
          </p:cNvPr>
          <p:cNvSpPr/>
          <p:nvPr userDrawn="1"/>
        </p:nvSpPr>
        <p:spPr>
          <a:xfrm>
            <a:off x="2919730" y="3076222"/>
            <a:ext cx="1459865" cy="38453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6" name="Picture 10" descr="BITS_university_logo_whitevert.png">
            <a:extLst>
              <a:ext uri="{FF2B5EF4-FFF2-40B4-BE49-F238E27FC236}">
                <a16:creationId xmlns:a16="http://schemas.microsoft.com/office/drawing/2014/main" id="{9FAD52B3-13F4-383D-3516-D9D32E3CD58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38417" y="1691923"/>
            <a:ext cx="1037273" cy="998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69AB258-EDE0-01CF-559E-93AE93FD2EB7}"/>
              </a:ext>
            </a:extLst>
          </p:cNvPr>
          <p:cNvSpPr txBox="1"/>
          <p:nvPr userDrawn="1"/>
        </p:nvSpPr>
        <p:spPr>
          <a:xfrm>
            <a:off x="-38418" y="2653242"/>
            <a:ext cx="1114108" cy="31733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62" b="1" spc="-76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1462" spc="-76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EA5EBA-3A69-3816-4A46-2EA2C57DBFE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6835" y="2859926"/>
            <a:ext cx="960438" cy="18543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605">
                <a:solidFill>
                  <a:srgbClr val="FFFFFF"/>
                </a:solidFill>
              </a:rPr>
              <a:t>Pilani Campus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267777" y="1922639"/>
            <a:ext cx="3034983" cy="769056"/>
          </a:xfrm>
        </p:spPr>
        <p:txBody>
          <a:bodyPr anchorCtr="0">
            <a:noAutofit/>
          </a:bodyPr>
          <a:lstStyle>
            <a:lvl1pPr algn="l">
              <a:lnSpc>
                <a:spcPts val="2017"/>
              </a:lnSpc>
              <a:defRPr sz="2218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1149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475B5C1-ACA5-F28B-09A6-7ACAFE5E31E0}"/>
              </a:ext>
            </a:extLst>
          </p:cNvPr>
          <p:cNvSpPr/>
          <p:nvPr userDrawn="1"/>
        </p:nvSpPr>
        <p:spPr>
          <a:xfrm>
            <a:off x="0" y="1691922"/>
            <a:ext cx="4379595" cy="13843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AC6542-AD7E-06A4-41D5-99F32C371185}"/>
              </a:ext>
            </a:extLst>
          </p:cNvPr>
          <p:cNvSpPr/>
          <p:nvPr userDrawn="1"/>
        </p:nvSpPr>
        <p:spPr>
          <a:xfrm>
            <a:off x="1459865" y="3076222"/>
            <a:ext cx="1459865" cy="38453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AACCC9-98F9-8B2F-C75B-5A3F675D3B7E}"/>
              </a:ext>
            </a:extLst>
          </p:cNvPr>
          <p:cNvSpPr/>
          <p:nvPr userDrawn="1"/>
        </p:nvSpPr>
        <p:spPr>
          <a:xfrm>
            <a:off x="0" y="3076222"/>
            <a:ext cx="1459865" cy="38453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FD0608-71AD-F539-9ACC-ADE30C726D0F}"/>
              </a:ext>
            </a:extLst>
          </p:cNvPr>
          <p:cNvSpPr/>
          <p:nvPr userDrawn="1"/>
        </p:nvSpPr>
        <p:spPr>
          <a:xfrm>
            <a:off x="2919730" y="3076222"/>
            <a:ext cx="1459865" cy="38453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8" name="Picture 10" descr="BITS_university_logo_whitevert.png">
            <a:extLst>
              <a:ext uri="{FF2B5EF4-FFF2-40B4-BE49-F238E27FC236}">
                <a16:creationId xmlns:a16="http://schemas.microsoft.com/office/drawing/2014/main" id="{11B29096-78E0-EE0C-0665-19DE8FDF028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38417" y="1691923"/>
            <a:ext cx="1037273" cy="998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4F8E294-1DE1-25A7-23F1-B22BE4D6D40B}"/>
              </a:ext>
            </a:extLst>
          </p:cNvPr>
          <p:cNvSpPr txBox="1"/>
          <p:nvPr userDrawn="1"/>
        </p:nvSpPr>
        <p:spPr>
          <a:xfrm>
            <a:off x="-38418" y="2653242"/>
            <a:ext cx="1114108" cy="31733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62" b="1" spc="-76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1462" spc="-76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BFD395-5BC5-6998-0F62-21D70E5330F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6835" y="2859926"/>
            <a:ext cx="960438" cy="18543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605">
                <a:solidFill>
                  <a:srgbClr val="FFFFFF"/>
                </a:solidFill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1267777" y="2730147"/>
            <a:ext cx="3034983" cy="269169"/>
          </a:xfrm>
        </p:spPr>
        <p:txBody>
          <a:bodyPr anchor="b">
            <a:noAutofit/>
          </a:bodyPr>
          <a:lstStyle>
            <a:lvl1pPr marL="0" indent="0" algn="r">
              <a:lnSpc>
                <a:spcPts val="908"/>
              </a:lnSpc>
              <a:spcBef>
                <a:spcPts val="0"/>
              </a:spcBef>
              <a:buNone/>
              <a:defRPr sz="908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7777" y="1922639"/>
            <a:ext cx="3034983" cy="769056"/>
          </a:xfrm>
        </p:spPr>
        <p:txBody>
          <a:bodyPr anchorCtr="0">
            <a:noAutofit/>
          </a:bodyPr>
          <a:lstStyle>
            <a:lvl1pPr algn="l">
              <a:lnSpc>
                <a:spcPts val="2017"/>
              </a:lnSpc>
              <a:defRPr sz="2218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11543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\\Server\D\jyoti\FI023_BITS_v1\styleguide img\IMG_5627_b.jpg">
            <a:extLst>
              <a:ext uri="{FF2B5EF4-FFF2-40B4-BE49-F238E27FC236}">
                <a16:creationId xmlns:a16="http://schemas.microsoft.com/office/drawing/2014/main" id="{CCA0F3D1-0F66-18EA-E930-BC22D8ACC0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610100" cy="346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496943A-6560-44ED-FDCE-363FAE6307E6}"/>
              </a:ext>
            </a:extLst>
          </p:cNvPr>
          <p:cNvSpPr/>
          <p:nvPr userDrawn="1"/>
        </p:nvSpPr>
        <p:spPr>
          <a:xfrm>
            <a:off x="0" y="2160566"/>
            <a:ext cx="4610100" cy="1300184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4" name="Picture 8" descr="Picture 7.png">
            <a:extLst>
              <a:ext uri="{FF2B5EF4-FFF2-40B4-BE49-F238E27FC236}">
                <a16:creationId xmlns:a16="http://schemas.microsoft.com/office/drawing/2014/main" id="{6FCA151A-DE82-8E01-1A95-BBC8BC7386B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08F253F-FFD6-39F7-28A5-DDDE84EB8601}"/>
              </a:ext>
            </a:extLst>
          </p:cNvPr>
          <p:cNvSpPr/>
          <p:nvPr userDrawn="1"/>
        </p:nvSpPr>
        <p:spPr>
          <a:xfrm>
            <a:off x="1453462" y="3419093"/>
            <a:ext cx="1459865" cy="38453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0D0DDF-50CB-3D44-527A-C2B607A6036D}"/>
              </a:ext>
            </a:extLst>
          </p:cNvPr>
          <p:cNvSpPr/>
          <p:nvPr userDrawn="1"/>
        </p:nvSpPr>
        <p:spPr>
          <a:xfrm>
            <a:off x="-6403" y="3419093"/>
            <a:ext cx="1459865" cy="38453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07D696-6EBA-424F-3070-B78F19FDEDAD}"/>
              </a:ext>
            </a:extLst>
          </p:cNvPr>
          <p:cNvSpPr/>
          <p:nvPr userDrawn="1"/>
        </p:nvSpPr>
        <p:spPr>
          <a:xfrm>
            <a:off x="2913327" y="3419093"/>
            <a:ext cx="1459865" cy="38453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443DB4-542B-6784-2101-D67ECEF50A27}"/>
              </a:ext>
            </a:extLst>
          </p:cNvPr>
          <p:cNvSpPr txBox="1"/>
          <p:nvPr userDrawn="1"/>
        </p:nvSpPr>
        <p:spPr>
          <a:xfrm>
            <a:off x="3457575" y="384528"/>
            <a:ext cx="1114108" cy="31733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62" b="1" spc="-76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1462" spc="-76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C67A61-7EBF-5166-04BC-C25A4DE1481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572827" y="591212"/>
            <a:ext cx="960438" cy="18543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605">
                <a:solidFill>
                  <a:srgbClr val="FFFFFF"/>
                </a:solidFill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153670" y="2345620"/>
            <a:ext cx="4264343" cy="807508"/>
          </a:xfrm>
        </p:spPr>
        <p:txBody>
          <a:bodyPr>
            <a:noAutofit/>
          </a:bodyPr>
          <a:lstStyle>
            <a:lvl1pPr marL="0" indent="0">
              <a:lnSpc>
                <a:spcPts val="2118"/>
              </a:lnSpc>
              <a:spcBef>
                <a:spcPts val="0"/>
              </a:spcBef>
              <a:buNone/>
              <a:defRPr sz="2017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8449436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848D5C-2870-7DC1-B6D6-D319D889D4E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4" name="Group 11">
            <a:extLst>
              <a:ext uri="{FF2B5EF4-FFF2-40B4-BE49-F238E27FC236}">
                <a16:creationId xmlns:a16="http://schemas.microsoft.com/office/drawing/2014/main" id="{4FDA09E5-4FA1-D4E1-B876-33AE8E63EC0F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50879" y="3305337"/>
            <a:ext cx="3559221" cy="24834"/>
            <a:chOff x="2083888" y="6550671"/>
            <a:chExt cx="7060112" cy="4866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5C12A29-C1F6-9538-60B6-1F3A66BB8002}"/>
                </a:ext>
              </a:extLst>
            </p:cNvPr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7DF512A-1591-6E1D-4614-A45D24AACC7A}"/>
                </a:ext>
              </a:extLst>
            </p:cNvPr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AF63365-621A-7A83-134E-8B4B0375E48A}"/>
                </a:ext>
              </a:extLst>
            </p:cNvPr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8" name="Picture 11" descr="Picture 7.png">
            <a:extLst>
              <a:ext uri="{FF2B5EF4-FFF2-40B4-BE49-F238E27FC236}">
                <a16:creationId xmlns:a16="http://schemas.microsoft.com/office/drawing/2014/main" id="{CFBDE0BA-3D5E-6008-1EBB-11080A4C47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18">
            <a:extLst>
              <a:ext uri="{FF2B5EF4-FFF2-40B4-BE49-F238E27FC236}">
                <a16:creationId xmlns:a16="http://schemas.microsoft.com/office/drawing/2014/main" id="{3DE00EEE-6A90-A126-D368-8353D0BD2738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4C38142-FA8E-19AB-AD8F-6B1B74FE4518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7EFEE6F-86D4-E0EF-449B-4B132581F8A3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21D9EA0-8570-E290-4731-103A9B3ADD74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3" name="Group 22">
            <a:extLst>
              <a:ext uri="{FF2B5EF4-FFF2-40B4-BE49-F238E27FC236}">
                <a16:creationId xmlns:a16="http://schemas.microsoft.com/office/drawing/2014/main" id="{E4E4DF91-3EDD-5442-363D-32596D0AC8BF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A8AD348-2BA5-A116-59ED-C7E82D870807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C571EDF-8993-40CD-E556-4102D03D3B18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CDDE3F7-3EC6-3E0B-ED19-460B343EB7C1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670" y="753835"/>
            <a:ext cx="4149090" cy="2283935"/>
          </a:xfrm>
        </p:spPr>
        <p:txBody>
          <a:bodyPr/>
          <a:lstStyle>
            <a:lvl1pPr marL="172890" marR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210">
                <a:latin typeface="Arial" pitchFamily="34" charset="0"/>
                <a:cs typeface="Arial" pitchFamily="34" charset="0"/>
              </a:defRPr>
            </a:lvl1pPr>
            <a:lvl2pPr marL="374595" marR="0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807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0191518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Picture 7.png">
            <a:extLst>
              <a:ext uri="{FF2B5EF4-FFF2-40B4-BE49-F238E27FC236}">
                <a16:creationId xmlns:a16="http://schemas.microsoft.com/office/drawing/2014/main" id="{4FF73FB8-70FB-D3C7-D54E-27E670DE29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19">
            <a:extLst>
              <a:ext uri="{FF2B5EF4-FFF2-40B4-BE49-F238E27FC236}">
                <a16:creationId xmlns:a16="http://schemas.microsoft.com/office/drawing/2014/main" id="{3D030689-6224-7C5C-141F-A42FF6B8E1EE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673036D-D21A-4597-3F1A-FE2E6ABC173A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0E32841-ACDF-D112-840C-E2C4EAB77AD7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E07149F-22D7-B885-CED1-1F80C6F50F9C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9" name="Group 28">
            <a:extLst>
              <a:ext uri="{FF2B5EF4-FFF2-40B4-BE49-F238E27FC236}">
                <a16:creationId xmlns:a16="http://schemas.microsoft.com/office/drawing/2014/main" id="{0073A11A-0D81-9E3A-4C1E-69ABD713E70E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06ED506-EABD-49DD-4245-54EC15390BBC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C6818A1-0EA5-F95A-FA20-016C31830490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07F98C9-CEF7-880C-11F4-5F9BC729A91A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FA48D434-555B-0654-F56B-44D1C9CB54A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0505" y="807509"/>
            <a:ext cx="2036128" cy="2283935"/>
          </a:xfrm>
        </p:spPr>
        <p:txBody>
          <a:bodyPr/>
          <a:lstStyle>
            <a:lvl1pPr marL="172890" marR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412"/>
            </a:lvl1pPr>
            <a:lvl2pPr marL="374595" marR="0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807"/>
            </a:lvl2pPr>
            <a:lvl3pPr>
              <a:defRPr sz="1008"/>
            </a:lvl3pPr>
            <a:lvl4pPr>
              <a:defRPr sz="908"/>
            </a:lvl4pPr>
            <a:lvl5pPr>
              <a:defRPr sz="908"/>
            </a:lvl5pPr>
            <a:lvl6pPr>
              <a:defRPr sz="908"/>
            </a:lvl6pPr>
            <a:lvl7pPr>
              <a:defRPr sz="908"/>
            </a:lvl7pPr>
            <a:lvl8pPr>
              <a:defRPr sz="908"/>
            </a:lvl8pPr>
            <a:lvl9pPr>
              <a:defRPr sz="908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97137" y="807509"/>
            <a:ext cx="2036128" cy="2283935"/>
          </a:xfrm>
        </p:spPr>
        <p:txBody>
          <a:bodyPr/>
          <a:lstStyle>
            <a:lvl1pPr marL="172890" marR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412"/>
            </a:lvl1pPr>
            <a:lvl2pPr marL="374595" marR="0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807">
                <a:latin typeface="Arial" pitchFamily="34" charset="0"/>
                <a:cs typeface="Arial" pitchFamily="34" charset="0"/>
              </a:defRPr>
            </a:lvl2pPr>
            <a:lvl3pPr>
              <a:defRPr sz="1008"/>
            </a:lvl3pPr>
            <a:lvl4pPr>
              <a:defRPr sz="908"/>
            </a:lvl4pPr>
            <a:lvl5pPr>
              <a:defRPr sz="908"/>
            </a:lvl5pPr>
            <a:lvl6pPr>
              <a:defRPr sz="908"/>
            </a:lvl6pPr>
            <a:lvl7pPr>
              <a:defRPr sz="908"/>
            </a:lvl7pPr>
            <a:lvl8pPr>
              <a:defRPr sz="908"/>
            </a:lvl8pPr>
            <a:lvl9pPr>
              <a:defRPr sz="908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446692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0">
            <a:extLst>
              <a:ext uri="{FF2B5EF4-FFF2-40B4-BE49-F238E27FC236}">
                <a16:creationId xmlns:a16="http://schemas.microsoft.com/office/drawing/2014/main" id="{A5AE3D38-ACB2-37EE-D928-72318D59BD4C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B6EB82F-3B1C-0796-DF40-BFB3133675CC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61F580A-96D6-9CA7-199E-355E98B833FB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46DE2CB-E158-A57A-BBF9-6EDD6B7C339B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1" name="Group 15">
            <a:extLst>
              <a:ext uri="{FF2B5EF4-FFF2-40B4-BE49-F238E27FC236}">
                <a16:creationId xmlns:a16="http://schemas.microsoft.com/office/drawing/2014/main" id="{65833C62-1CBC-40A4-4951-C96740CC6112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E450FE5-6911-BDF0-6E7E-417687EA5C5A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A2F4772-2B91-A760-7737-C0EA3FDA8A45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838AB7E-F0CE-D16E-FD62-26F9BBAFE10D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15" name="Picture 13" descr="Picture 7.png">
            <a:extLst>
              <a:ext uri="{FF2B5EF4-FFF2-40B4-BE49-F238E27FC236}">
                <a16:creationId xmlns:a16="http://schemas.microsoft.com/office/drawing/2014/main" id="{98BC0545-A929-5887-B3C4-846590832B1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E5A2B84-F83F-E10C-C9FF-5A7F8A33E75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Deemed to be University under Section 3 of UGC Act, 1956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0505" y="774663"/>
            <a:ext cx="2036928" cy="417373"/>
          </a:xfrm>
        </p:spPr>
        <p:txBody>
          <a:bodyPr anchor="b"/>
          <a:lstStyle>
            <a:lvl1pPr marL="0" indent="0">
              <a:buNone/>
              <a:defRPr sz="1210" b="1"/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0505" y="1192036"/>
            <a:ext cx="2036928" cy="1899407"/>
          </a:xfrm>
        </p:spPr>
        <p:txBody>
          <a:bodyPr/>
          <a:lstStyle>
            <a:lvl1pPr>
              <a:defRPr sz="1210"/>
            </a:lvl1pPr>
            <a:lvl2pPr>
              <a:defRPr sz="1008"/>
            </a:lvl2pPr>
            <a:lvl3pPr>
              <a:defRPr sz="908"/>
            </a:lvl3pPr>
            <a:lvl4pPr>
              <a:defRPr sz="807"/>
            </a:lvl4pPr>
            <a:lvl5pPr>
              <a:defRPr sz="807"/>
            </a:lvl5pPr>
            <a:lvl6pPr>
              <a:defRPr sz="807"/>
            </a:lvl6pPr>
            <a:lvl7pPr>
              <a:defRPr sz="807"/>
            </a:lvl7pPr>
            <a:lvl8pPr>
              <a:defRPr sz="807"/>
            </a:lvl8pPr>
            <a:lvl9pPr>
              <a:defRPr sz="80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41867" y="774663"/>
            <a:ext cx="2037728" cy="417373"/>
          </a:xfrm>
        </p:spPr>
        <p:txBody>
          <a:bodyPr anchor="b"/>
          <a:lstStyle>
            <a:lvl1pPr marL="0" indent="0">
              <a:buNone/>
              <a:defRPr sz="1210" b="1"/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41867" y="1192036"/>
            <a:ext cx="2037728" cy="1899407"/>
          </a:xfrm>
        </p:spPr>
        <p:txBody>
          <a:bodyPr/>
          <a:lstStyle>
            <a:lvl1pPr>
              <a:defRPr sz="1210"/>
            </a:lvl1pPr>
            <a:lvl2pPr>
              <a:defRPr sz="1008"/>
            </a:lvl2pPr>
            <a:lvl3pPr>
              <a:defRPr sz="908"/>
            </a:lvl3pPr>
            <a:lvl4pPr>
              <a:defRPr sz="807"/>
            </a:lvl4pPr>
            <a:lvl5pPr>
              <a:defRPr sz="807"/>
            </a:lvl5pPr>
            <a:lvl6pPr>
              <a:defRPr sz="807"/>
            </a:lvl6pPr>
            <a:lvl7pPr>
              <a:defRPr sz="807"/>
            </a:lvl7pPr>
            <a:lvl8pPr>
              <a:defRPr sz="807"/>
            </a:lvl8pPr>
            <a:lvl9pPr>
              <a:defRPr sz="80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589711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>
            <a:extLst>
              <a:ext uri="{FF2B5EF4-FFF2-40B4-BE49-F238E27FC236}">
                <a16:creationId xmlns:a16="http://schemas.microsoft.com/office/drawing/2014/main" id="{98CDB6D7-0738-3CF0-5F9D-02F1E6FEE4AB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9F5497C-A379-08DA-CE6E-E28A617F11C3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DB2A60A-0C68-E919-76A2-0F9E4386D741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3637D16-12B4-815B-10F2-2F540C22DBDB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7" name="Group 10">
            <a:extLst>
              <a:ext uri="{FF2B5EF4-FFF2-40B4-BE49-F238E27FC236}">
                <a16:creationId xmlns:a16="http://schemas.microsoft.com/office/drawing/2014/main" id="{BE412120-6BA8-51E7-BAA7-8E5DBD7B1B55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BC7421A-72ED-5387-E04D-37C5FE6D0A52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FE35D36-CC45-35D1-6D93-86A5D3136F22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1DED984-9F1B-FD55-022B-972D5DF85C32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11" name="Picture 14" descr="Picture 7.png">
            <a:extLst>
              <a:ext uri="{FF2B5EF4-FFF2-40B4-BE49-F238E27FC236}">
                <a16:creationId xmlns:a16="http://schemas.microsoft.com/office/drawing/2014/main" id="{747759AA-1D37-A82A-F275-A6711508ECE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7C8A931-8B5C-1545-1F7F-06F6E2B6CF5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Deemed to be University under Section 3 of UGC Act, 1956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87055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>
            <a:extLst>
              <a:ext uri="{FF2B5EF4-FFF2-40B4-BE49-F238E27FC236}">
                <a16:creationId xmlns:a16="http://schemas.microsoft.com/office/drawing/2014/main" id="{5DB892A8-BEB2-1D68-1C83-0D00B70ABC2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791316B-E24C-8881-482F-DC7CB4A4FDE0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D85D191-3B81-95A7-E092-082E435D4817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6A769B2-4061-FD94-E59A-9522DFAA427E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9" name="Group 13">
            <a:extLst>
              <a:ext uri="{FF2B5EF4-FFF2-40B4-BE49-F238E27FC236}">
                <a16:creationId xmlns:a16="http://schemas.microsoft.com/office/drawing/2014/main" id="{A5F29F70-F933-EEEC-67DB-86D489B3EED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AF7F0BC-715A-B99B-7E89-C2C0B21C94F9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8643D17-7639-3503-9F69-441BE022F2CD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26ED1F7-F6D4-F604-102E-0A6AA44053A8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13" name="Picture 14" descr="Picture 7.png">
            <a:extLst>
              <a:ext uri="{FF2B5EF4-FFF2-40B4-BE49-F238E27FC236}">
                <a16:creationId xmlns:a16="http://schemas.microsoft.com/office/drawing/2014/main" id="{30F641B0-BD59-A738-2F26-3D6550D56C0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0F31E69-10DD-9268-C088-23EB54747F2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2421" y="807509"/>
            <a:ext cx="2577174" cy="2283935"/>
          </a:xfrm>
        </p:spPr>
        <p:txBody>
          <a:bodyPr/>
          <a:lstStyle>
            <a:lvl1pPr>
              <a:defRPr sz="1613"/>
            </a:lvl1pPr>
            <a:lvl2pPr>
              <a:defRPr sz="1412"/>
            </a:lvl2pPr>
            <a:lvl3pPr>
              <a:defRPr sz="1210"/>
            </a:lvl3pPr>
            <a:lvl4pPr>
              <a:defRPr sz="1008"/>
            </a:lvl4pPr>
            <a:lvl5pPr>
              <a:defRPr sz="1008"/>
            </a:lvl5pPr>
            <a:lvl6pPr>
              <a:defRPr sz="1008"/>
            </a:lvl6pPr>
            <a:lvl7pPr>
              <a:defRPr sz="1008"/>
            </a:lvl7pPr>
            <a:lvl8pPr>
              <a:defRPr sz="1008"/>
            </a:lvl8pPr>
            <a:lvl9pPr>
              <a:defRPr sz="100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0505" y="807509"/>
            <a:ext cx="1516691" cy="2283935"/>
          </a:xfrm>
        </p:spPr>
        <p:txBody>
          <a:bodyPr/>
          <a:lstStyle>
            <a:lvl1pPr marL="0" indent="0">
              <a:buNone/>
              <a:defRPr sz="706"/>
            </a:lvl1pPr>
            <a:lvl2pPr marL="230520" indent="0">
              <a:buNone/>
              <a:defRPr sz="605"/>
            </a:lvl2pPr>
            <a:lvl3pPr marL="461040" indent="0">
              <a:buNone/>
              <a:defRPr sz="504"/>
            </a:lvl3pPr>
            <a:lvl4pPr marL="691561" indent="0">
              <a:buNone/>
              <a:defRPr sz="454"/>
            </a:lvl4pPr>
            <a:lvl5pPr marL="922081" indent="0">
              <a:buNone/>
              <a:defRPr sz="454"/>
            </a:lvl5pPr>
            <a:lvl6pPr marL="1152601" indent="0">
              <a:buNone/>
              <a:defRPr sz="454"/>
            </a:lvl6pPr>
            <a:lvl7pPr marL="1383121" indent="0">
              <a:buNone/>
              <a:defRPr sz="454"/>
            </a:lvl7pPr>
            <a:lvl8pPr marL="1613642" indent="0">
              <a:buNone/>
              <a:defRPr sz="454"/>
            </a:lvl8pPr>
            <a:lvl9pPr marL="1844162" indent="0">
              <a:buNone/>
              <a:defRPr sz="4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5079996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>
            <a:extLst>
              <a:ext uri="{FF2B5EF4-FFF2-40B4-BE49-F238E27FC236}">
                <a16:creationId xmlns:a16="http://schemas.microsoft.com/office/drawing/2014/main" id="{263F6621-1038-DA17-4B05-6DF2CB524D4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69C1F85-8DE1-349D-2831-96989E7D6202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1527A9E-48B7-237F-5DFC-18FDC9F3C26A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8A95CF9-514F-28FA-5690-FF4E5DDF125B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7A8CAD45-BF4E-1425-CF15-4D219BD469C6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8CC3780-ED16-5E6F-99AD-C16303F991F1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3BFC8EE-3E0D-4D8B-FABD-67775A87875D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5F15609-2E2C-A176-CBBD-71E43A8A688B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14" name="Picture 14" descr="Picture 7.png">
            <a:extLst>
              <a:ext uri="{FF2B5EF4-FFF2-40B4-BE49-F238E27FC236}">
                <a16:creationId xmlns:a16="http://schemas.microsoft.com/office/drawing/2014/main" id="{476716DB-470C-187D-5D8D-11C950F2EF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A03BCD9-0AD5-F11B-E553-DB68A10E4E4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Pilani Campus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3612" y="2728545"/>
            <a:ext cx="2766060" cy="153811"/>
          </a:xfrm>
        </p:spPr>
        <p:txBody>
          <a:bodyPr anchor="b"/>
          <a:lstStyle>
            <a:lvl1pPr algn="l">
              <a:defRPr sz="908" b="1" spc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903612" y="922867"/>
            <a:ext cx="2766060" cy="1730375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>
            <a:normAutofit/>
          </a:bodyPr>
          <a:lstStyle>
            <a:lvl1pPr marL="0" indent="0">
              <a:buNone/>
              <a:defRPr sz="1613"/>
            </a:lvl1pPr>
            <a:lvl2pPr marL="230520" indent="0">
              <a:buNone/>
              <a:defRPr sz="1412"/>
            </a:lvl2pPr>
            <a:lvl3pPr marL="461040" indent="0">
              <a:buNone/>
              <a:defRPr sz="1210"/>
            </a:lvl3pPr>
            <a:lvl4pPr marL="691561" indent="0">
              <a:buNone/>
              <a:defRPr sz="1008"/>
            </a:lvl4pPr>
            <a:lvl5pPr marL="922081" indent="0">
              <a:buNone/>
              <a:defRPr sz="1008"/>
            </a:lvl5pPr>
            <a:lvl6pPr marL="1152601" indent="0">
              <a:buNone/>
              <a:defRPr sz="1008"/>
            </a:lvl6pPr>
            <a:lvl7pPr marL="1383121" indent="0">
              <a:buNone/>
              <a:defRPr sz="1008"/>
            </a:lvl7pPr>
            <a:lvl8pPr marL="1613642" indent="0">
              <a:buNone/>
              <a:defRPr sz="1008"/>
            </a:lvl8pPr>
            <a:lvl9pPr marL="1844162" indent="0">
              <a:buNone/>
              <a:defRPr sz="1008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3612" y="2882356"/>
            <a:ext cx="2766060" cy="153811"/>
          </a:xfrm>
        </p:spPr>
        <p:txBody>
          <a:bodyPr>
            <a:normAutofit/>
          </a:bodyPr>
          <a:lstStyle>
            <a:lvl1pPr marL="0" indent="0">
              <a:buNone/>
              <a:defRPr sz="807"/>
            </a:lvl1pPr>
            <a:lvl2pPr marL="230520" indent="0">
              <a:buNone/>
              <a:defRPr sz="605"/>
            </a:lvl2pPr>
            <a:lvl3pPr marL="461040" indent="0">
              <a:buNone/>
              <a:defRPr sz="504"/>
            </a:lvl3pPr>
            <a:lvl4pPr marL="691561" indent="0">
              <a:buNone/>
              <a:defRPr sz="454"/>
            </a:lvl4pPr>
            <a:lvl5pPr marL="922081" indent="0">
              <a:buNone/>
              <a:defRPr sz="454"/>
            </a:lvl5pPr>
            <a:lvl6pPr marL="1152601" indent="0">
              <a:buNone/>
              <a:defRPr sz="454"/>
            </a:lvl6pPr>
            <a:lvl7pPr marL="1383121" indent="0">
              <a:buNone/>
              <a:defRPr sz="454"/>
            </a:lvl7pPr>
            <a:lvl8pPr marL="1613642" indent="0">
              <a:buNone/>
              <a:defRPr sz="454"/>
            </a:lvl8pPr>
            <a:lvl9pPr marL="1844162" indent="0">
              <a:buNone/>
              <a:defRPr sz="454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4985766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9">
            <a:extLst>
              <a:ext uri="{FF2B5EF4-FFF2-40B4-BE49-F238E27FC236}">
                <a16:creationId xmlns:a16="http://schemas.microsoft.com/office/drawing/2014/main" id="{FF17C660-3394-69C7-F51C-0577F9BE51DB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993F591-62DE-72E2-6EA8-2E782748C283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B59157F-8D54-1228-1893-3A87BD8C6A6C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EE24F12-1DFF-855F-FD6A-4BF78086753D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7" name="Group 24">
            <a:extLst>
              <a:ext uri="{FF2B5EF4-FFF2-40B4-BE49-F238E27FC236}">
                <a16:creationId xmlns:a16="http://schemas.microsoft.com/office/drawing/2014/main" id="{1200DBA6-1229-9702-9B30-A8C4B68F809C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43A3B8A-DE3D-629A-49FE-937D9CAC0431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E296C7F-2970-95C4-ACAF-47C1A2BDA85B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83DE727-FC4C-3A19-9D1F-4B546CF36139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11" name="Picture 14" descr="Picture 7.png">
            <a:extLst>
              <a:ext uri="{FF2B5EF4-FFF2-40B4-BE49-F238E27FC236}">
                <a16:creationId xmlns:a16="http://schemas.microsoft.com/office/drawing/2014/main" id="{F6E7E1AE-1B00-579D-DFB5-507C9D7EE8A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87106A9-DEBB-1552-E419-E31051304AA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8480148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id="{43D93B69-8023-D92E-6285-2114C6C42AF7}"/>
              </a:ext>
            </a:extLst>
          </p:cNvPr>
          <p:cNvGrpSpPr>
            <a:grpSpLocks/>
          </p:cNvGrpSpPr>
          <p:nvPr userDrawn="1"/>
        </p:nvGrpSpPr>
        <p:grpSpPr bwMode="auto">
          <a:xfrm rot="5400000">
            <a:off x="2522751" y="1295789"/>
            <a:ext cx="2614789" cy="23210"/>
            <a:chOff x="1905000" y="6553200"/>
            <a:chExt cx="7010400" cy="4571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84D6FCE-E3EC-B1C8-ECCF-F1D17E7F3969}"/>
                </a:ext>
              </a:extLst>
            </p:cNvPr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3D7D628-A5DD-76CE-F3D5-BC29181E7657}"/>
                </a:ext>
              </a:extLst>
            </p:cNvPr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77675E5-88F4-2051-4ECA-C9ECB6725FE3}"/>
                </a:ext>
              </a:extLst>
            </p:cNvPr>
            <p:cNvSpPr/>
            <p:nvPr userDrawn="1"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8" name="Picture 10" descr="Picture 7.png">
            <a:extLst>
              <a:ext uri="{FF2B5EF4-FFF2-40B4-BE49-F238E27FC236}">
                <a16:creationId xmlns:a16="http://schemas.microsoft.com/office/drawing/2014/main" id="{75848D6A-447A-EBF6-CB9D-B654B250C0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36" t="1923"/>
          <a:stretch>
            <a:fillRect/>
          </a:stretch>
        </p:blipFill>
        <p:spPr bwMode="auto">
          <a:xfrm>
            <a:off x="-4002" y="192264"/>
            <a:ext cx="348959" cy="1107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B5CD5EE-A438-BAF4-D170-9608120895A6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1410400" y="1899206"/>
            <a:ext cx="2960864" cy="162224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454" b="1">
                <a:solidFill>
                  <a:srgbClr val="101141"/>
                </a:solidFill>
              </a:rPr>
              <a:t>BITS </a:t>
            </a:r>
            <a:r>
              <a:rPr lang="en-US" altLang="en-US" sz="454">
                <a:solidFill>
                  <a:srgbClr val="101141"/>
                </a:solidFill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4680" y="192264"/>
            <a:ext cx="3034983" cy="295285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/>
          </p:nvPr>
        </p:nvSpPr>
        <p:spPr>
          <a:xfrm rot="5400000">
            <a:off x="2726284" y="1384564"/>
            <a:ext cx="2960864" cy="576263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3470453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4610100" cy="230716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2401" y="0"/>
            <a:ext cx="4607700" cy="2307167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2879" y="2503032"/>
            <a:ext cx="2938939" cy="738293"/>
          </a:xfrm>
        </p:spPr>
        <p:txBody>
          <a:bodyPr anchor="ctr">
            <a:normAutofit/>
          </a:bodyPr>
          <a:lstStyle>
            <a:lvl1pPr algn="r">
              <a:defRPr sz="2218" spc="101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55883" y="2503032"/>
            <a:ext cx="1210151" cy="738293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807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230520" indent="0" algn="ctr">
              <a:buNone/>
              <a:defRPr sz="807"/>
            </a:lvl2pPr>
            <a:lvl3pPr marL="461040" indent="0" algn="ctr">
              <a:buNone/>
              <a:defRPr sz="807"/>
            </a:lvl3pPr>
            <a:lvl4pPr marL="691561" indent="0" algn="ctr">
              <a:buNone/>
              <a:defRPr sz="807"/>
            </a:lvl4pPr>
            <a:lvl5pPr marL="922081" indent="0" algn="ctr">
              <a:buNone/>
              <a:defRPr sz="807"/>
            </a:lvl5pPr>
            <a:lvl6pPr marL="1152601" indent="0" algn="ctr">
              <a:buNone/>
              <a:defRPr sz="807"/>
            </a:lvl6pPr>
            <a:lvl7pPr marL="1383121" indent="0" algn="ctr">
              <a:buNone/>
              <a:defRPr sz="807"/>
            </a:lvl7pPr>
            <a:lvl8pPr marL="1613642" indent="0" algn="ctr">
              <a:buNone/>
              <a:defRPr sz="807"/>
            </a:lvl8pPr>
            <a:lvl9pPr marL="1844162" indent="0" algn="ctr">
              <a:buNone/>
              <a:defRPr sz="80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24/7/2013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AAOC </a:t>
            </a:r>
            <a:r>
              <a:rPr lang="en-US"/>
              <a:t>ZC222 Optimization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3171275" y="2656424"/>
            <a:ext cx="0" cy="461433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2499986"/>
      </p:ext>
    </p:extLst>
  </p:cSld>
  <p:clrMapOvr>
    <a:masterClrMapping/>
  </p:clrMapOvr>
  <p:hf hdr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24/7/2013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AAOC </a:t>
            </a:r>
            <a:r>
              <a:rPr lang="en-US"/>
              <a:t>ZC222 Optimization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688648"/>
      </p:ext>
    </p:extLst>
  </p:cSld>
  <p:clrMapOvr>
    <a:masterClrMapping/>
  </p:clrMapOvr>
  <p:hf hdr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4610100" cy="2307167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2401" y="0"/>
            <a:ext cx="4607700" cy="2307167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879" y="2503032"/>
            <a:ext cx="2938939" cy="738293"/>
          </a:xfrm>
        </p:spPr>
        <p:txBody>
          <a:bodyPr anchor="ctr">
            <a:normAutofit/>
          </a:bodyPr>
          <a:lstStyle>
            <a:lvl1pPr algn="r">
              <a:defRPr sz="2218" b="0" spc="101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55883" y="2503032"/>
            <a:ext cx="1210151" cy="738293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07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230520" indent="0">
              <a:buNone/>
              <a:defRPr sz="807">
                <a:solidFill>
                  <a:schemeClr val="tx1">
                    <a:tint val="75000"/>
                  </a:schemeClr>
                </a:solidFill>
              </a:defRPr>
            </a:lvl2pPr>
            <a:lvl3pPr marL="461040" indent="0">
              <a:buNone/>
              <a:defRPr sz="807">
                <a:solidFill>
                  <a:schemeClr val="tx1">
                    <a:tint val="75000"/>
                  </a:schemeClr>
                </a:solidFill>
              </a:defRPr>
            </a:lvl3pPr>
            <a:lvl4pPr marL="69156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4pPr>
            <a:lvl5pPr marL="92208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5pPr>
            <a:lvl6pPr marL="115260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6pPr>
            <a:lvl7pPr marL="138312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7pPr>
            <a:lvl8pPr marL="1613642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8pPr>
            <a:lvl9pPr marL="1844162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24/7/2013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AAOC </a:t>
            </a:r>
            <a:r>
              <a:rPr lang="en-US"/>
              <a:t>ZC222 Optimization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3171275" y="2656424"/>
            <a:ext cx="0" cy="461433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7795765"/>
      </p:ext>
    </p:extLst>
  </p:cSld>
  <p:clrMapOvr>
    <a:masterClrMapping/>
  </p:clrMapOvr>
  <p:hf hdr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7249" y="295317"/>
            <a:ext cx="3675402" cy="7567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7248" y="1153583"/>
            <a:ext cx="1797939" cy="20303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64712" y="1153583"/>
            <a:ext cx="1797939" cy="20303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24/7/2013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AAOC </a:t>
            </a:r>
            <a:r>
              <a:rPr lang="en-US"/>
              <a:t>ZC222 Optimization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097643"/>
      </p:ext>
    </p:extLst>
  </p:cSld>
  <p:clrMapOvr>
    <a:masterClrMapping/>
  </p:clrMapOvr>
  <p:hf hdr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387249" y="295317"/>
            <a:ext cx="3675402" cy="7567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7248" y="1099909"/>
            <a:ext cx="1797939" cy="41529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109" b="0" cap="none" baseline="0">
                <a:solidFill>
                  <a:schemeClr val="accent1"/>
                </a:solidFill>
                <a:latin typeface="+mn-lt"/>
              </a:defRPr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7248" y="1497634"/>
            <a:ext cx="1797939" cy="1686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64712" y="1099909"/>
            <a:ext cx="1797939" cy="41529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109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marL="0" lvl="0" indent="0" algn="l" defTabSz="461040" rtl="0" eaLnBrk="1" latinLnBrk="0" hangingPunct="1">
              <a:lnSpc>
                <a:spcPct val="90000"/>
              </a:lnSpc>
              <a:spcBef>
                <a:spcPts val="908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64712" y="1497634"/>
            <a:ext cx="1797939" cy="1686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24/7/2013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AAOC </a:t>
            </a:r>
            <a:r>
              <a:rPr lang="en-US"/>
              <a:t>ZC222 Optimization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649840"/>
      </p:ext>
    </p:extLst>
  </p:cSld>
  <p:clrMapOvr>
    <a:masterClrMapping/>
  </p:clrMapOvr>
  <p:hf hdr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24/7/2013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AAOC </a:t>
            </a:r>
            <a:r>
              <a:rPr lang="en-US"/>
              <a:t>ZC222 Optimization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108886"/>
      </p:ext>
    </p:extLst>
  </p:cSld>
  <p:clrMapOvr>
    <a:masterClrMapping/>
  </p:clrMapOvr>
  <p:hf hdr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24/7/2013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AAOC </a:t>
            </a:r>
            <a:r>
              <a:rPr lang="en-US"/>
              <a:t>ZC222 Optimization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190737"/>
      </p:ext>
    </p:extLst>
  </p:cSld>
  <p:clrMapOvr>
    <a:masterClrMapping/>
  </p:clrMapOvr>
  <p:hf hdr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87248" y="237938"/>
            <a:ext cx="1659636" cy="876723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181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60984" y="415290"/>
            <a:ext cx="2147154" cy="2616327"/>
          </a:xfrm>
        </p:spPr>
        <p:txBody>
          <a:bodyPr>
            <a:normAutofit/>
          </a:bodyPr>
          <a:lstStyle>
            <a:lvl1pPr>
              <a:defRPr sz="1008"/>
            </a:lvl1pPr>
            <a:lvl2pPr>
              <a:defRPr sz="807"/>
            </a:lvl2pPr>
            <a:lvl3pPr>
              <a:defRPr sz="605"/>
            </a:lvl3pPr>
            <a:lvl4pPr>
              <a:defRPr sz="605"/>
            </a:lvl4pPr>
            <a:lvl5pPr>
              <a:defRPr sz="605"/>
            </a:lvl5pPr>
            <a:lvl6pPr>
              <a:defRPr sz="605"/>
            </a:lvl6pPr>
            <a:lvl7pPr>
              <a:defRPr sz="605"/>
            </a:lvl7pPr>
            <a:lvl8pPr>
              <a:defRPr sz="605"/>
            </a:lvl8pPr>
            <a:lvl9pPr>
              <a:defRPr sz="6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7248" y="1139204"/>
            <a:ext cx="1659636" cy="1898565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303"/>
              </a:spcBef>
              <a:buNone/>
              <a:defRPr sz="807"/>
            </a:lvl1pPr>
            <a:lvl2pPr marL="230520" indent="0">
              <a:buNone/>
              <a:defRPr sz="605"/>
            </a:lvl2pPr>
            <a:lvl3pPr marL="461040" indent="0">
              <a:buNone/>
              <a:defRPr sz="504"/>
            </a:lvl3pPr>
            <a:lvl4pPr marL="691561" indent="0">
              <a:buNone/>
              <a:defRPr sz="454"/>
            </a:lvl4pPr>
            <a:lvl5pPr marL="922081" indent="0">
              <a:buNone/>
              <a:defRPr sz="454"/>
            </a:lvl5pPr>
            <a:lvl6pPr marL="1152601" indent="0">
              <a:buNone/>
              <a:defRPr sz="454"/>
            </a:lvl6pPr>
            <a:lvl7pPr marL="1383121" indent="0">
              <a:buNone/>
              <a:defRPr sz="454"/>
            </a:lvl7pPr>
            <a:lvl8pPr marL="1613642" indent="0">
              <a:buNone/>
              <a:defRPr sz="454"/>
            </a:lvl8pPr>
            <a:lvl9pPr marL="1844162" indent="0">
              <a:buNone/>
              <a:defRPr sz="4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24/7/2013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AAOC </a:t>
            </a:r>
            <a:r>
              <a:rPr lang="en-US"/>
              <a:t>ZC222 Optimization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596706"/>
      </p:ext>
    </p:extLst>
  </p:cSld>
  <p:clrMapOvr>
    <a:masterClrMapping/>
  </p:clrMapOvr>
  <p:hf hdr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879" y="2503033"/>
            <a:ext cx="2938939" cy="738293"/>
          </a:xfrm>
        </p:spPr>
        <p:txBody>
          <a:bodyPr anchor="ctr">
            <a:normAutofit/>
          </a:bodyPr>
          <a:lstStyle>
            <a:lvl1pPr algn="r">
              <a:defRPr sz="2218" spc="101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4608947" cy="2307167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1210"/>
            </a:lvl1pPr>
            <a:lvl2pPr marL="172890" indent="0">
              <a:buNone/>
              <a:defRPr sz="1059"/>
            </a:lvl2pPr>
            <a:lvl3pPr marL="345780" indent="0">
              <a:buNone/>
              <a:defRPr sz="908"/>
            </a:lvl3pPr>
            <a:lvl4pPr marL="518671" indent="0">
              <a:buNone/>
              <a:defRPr sz="756"/>
            </a:lvl4pPr>
            <a:lvl5pPr marL="691561" indent="0">
              <a:buNone/>
              <a:defRPr sz="756"/>
            </a:lvl5pPr>
            <a:lvl6pPr marL="864451" indent="0">
              <a:buNone/>
              <a:defRPr sz="756"/>
            </a:lvl6pPr>
            <a:lvl7pPr marL="1037341" indent="0">
              <a:buNone/>
              <a:defRPr sz="756"/>
            </a:lvl7pPr>
            <a:lvl8pPr marL="1210231" indent="0">
              <a:buNone/>
              <a:defRPr sz="756"/>
            </a:lvl8pPr>
            <a:lvl9pPr marL="1383121" indent="0">
              <a:buNone/>
              <a:defRPr sz="756"/>
            </a:lvl9pPr>
          </a:lstStyle>
          <a:p>
            <a:r>
              <a:rPr lang="en-US" dirty="0"/>
              <a:t>Click icon </a:t>
            </a:r>
            <a:r>
              <a:rPr lang="en-US"/>
              <a:t>to add </a:t>
            </a:r>
            <a:r>
              <a:rPr lang="en-US" dirty="0"/>
              <a:t>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55883" y="2503033"/>
            <a:ext cx="1210151" cy="738293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07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172890" indent="0">
              <a:buNone/>
              <a:defRPr sz="529"/>
            </a:lvl2pPr>
            <a:lvl3pPr marL="345780" indent="0">
              <a:buNone/>
              <a:defRPr sz="454"/>
            </a:lvl3pPr>
            <a:lvl4pPr marL="518671" indent="0">
              <a:buNone/>
              <a:defRPr sz="378"/>
            </a:lvl4pPr>
            <a:lvl5pPr marL="691561" indent="0">
              <a:buNone/>
              <a:defRPr sz="378"/>
            </a:lvl5pPr>
            <a:lvl6pPr marL="864451" indent="0">
              <a:buNone/>
              <a:defRPr sz="378"/>
            </a:lvl6pPr>
            <a:lvl7pPr marL="1037341" indent="0">
              <a:buNone/>
              <a:defRPr sz="378"/>
            </a:lvl7pPr>
            <a:lvl8pPr marL="1210231" indent="0">
              <a:buNone/>
              <a:defRPr sz="378"/>
            </a:lvl8pPr>
            <a:lvl9pPr marL="1383121" indent="0">
              <a:buNone/>
              <a:defRPr sz="3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24/7/2013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AAOC </a:t>
            </a:r>
            <a:r>
              <a:rPr lang="en-US"/>
              <a:t>ZC222 Optimization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3171275" y="2656424"/>
            <a:ext cx="0" cy="461433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5657189"/>
      </p:ext>
    </p:extLst>
  </p:cSld>
  <p:clrMapOvr>
    <a:masterClrMapping/>
  </p:clrMapOvr>
  <p:hf hdr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24/7/2013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AAOC </a:t>
            </a:r>
            <a:r>
              <a:rPr lang="en-US"/>
              <a:t>ZC222 Optimization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162182"/>
      </p:ext>
    </p:extLst>
  </p:cSld>
  <p:clrMapOvr>
    <a:masterClrMapping/>
  </p:clrMapOvr>
  <p:hf hdr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99103" y="384528"/>
            <a:ext cx="994053" cy="2730147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4571" y="384528"/>
            <a:ext cx="2866906" cy="273014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24/7/2013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AAOC </a:t>
            </a:r>
            <a:r>
              <a:rPr lang="en-US"/>
              <a:t>ZC222 Optimization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3803333" y="87744"/>
            <a:ext cx="0" cy="345758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5504397"/>
      </p:ext>
    </p:extLst>
  </p:cSld>
  <p:clrMapOvr>
    <a:masterClrMapping/>
  </p:clrMapOvr>
  <p:hf hdr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rotWithShape="1"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1691922"/>
            <a:ext cx="4379595" cy="13843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1459865" y="3076222"/>
            <a:ext cx="1459865" cy="38453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0" y="3076222"/>
            <a:ext cx="1459865" cy="38453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2919730" y="3076222"/>
            <a:ext cx="1459865" cy="38453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1267777" y="2730147"/>
            <a:ext cx="3034983" cy="269169"/>
          </a:xfrm>
        </p:spPr>
        <p:txBody>
          <a:bodyPr anchor="b" anchorCtr="0">
            <a:noAutofit/>
          </a:bodyPr>
          <a:lstStyle>
            <a:lvl1pPr marL="0" indent="0" algn="r">
              <a:lnSpc>
                <a:spcPts val="908"/>
              </a:lnSpc>
              <a:spcBef>
                <a:spcPts val="0"/>
              </a:spcBef>
              <a:buNone/>
              <a:defRPr sz="908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Presenter details comes here</a:t>
            </a:r>
          </a:p>
          <a:p>
            <a:pPr lvl="0"/>
            <a:r>
              <a:rPr lang="en-GB" dirty="0"/>
              <a:t>Date and other details can come here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67777" y="1922639"/>
            <a:ext cx="3034983" cy="769056"/>
          </a:xfrm>
        </p:spPr>
        <p:txBody>
          <a:bodyPr anchor="ctr" anchorCtr="0">
            <a:noAutofit/>
          </a:bodyPr>
          <a:lstStyle>
            <a:lvl1pPr algn="l">
              <a:lnSpc>
                <a:spcPts val="2017"/>
              </a:lnSpc>
              <a:defRPr sz="2218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Please enter the presentation title here</a:t>
            </a:r>
            <a:endParaRPr lang="en-US" dirty="0"/>
          </a:p>
        </p:txBody>
      </p:sp>
      <p:pic>
        <p:nvPicPr>
          <p:cNvPr id="13" name="Picture 12" descr="BITS_university_logo_whitevert.png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38417" y="1691922"/>
            <a:ext cx="1037273" cy="999167"/>
          </a:xfrm>
          <a:prstGeom prst="rect">
            <a:avLst/>
          </a:prstGeom>
        </p:spPr>
      </p:pic>
      <p:sp>
        <p:nvSpPr>
          <p:cNvPr id="14" name="TextBox 13"/>
          <p:cNvSpPr txBox="1"/>
          <p:nvPr userDrawn="1"/>
        </p:nvSpPr>
        <p:spPr>
          <a:xfrm>
            <a:off x="-38418" y="2653242"/>
            <a:ext cx="1114108" cy="317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62" b="1" spc="-76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1462" spc="-76">
                <a:solidFill>
                  <a:schemeClr val="bg1"/>
                </a:solidFill>
                <a:latin typeface="Arial"/>
                <a:cs typeface="Arial"/>
              </a:rPr>
              <a:t> Pilani</a:t>
            </a:r>
            <a:endParaRPr lang="en-US" sz="1462" spc="-76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16" name="TextBox 15"/>
          <p:cNvSpPr txBox="1"/>
          <p:nvPr userDrawn="1"/>
        </p:nvSpPr>
        <p:spPr>
          <a:xfrm>
            <a:off x="76835" y="2859535"/>
            <a:ext cx="960438" cy="185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605" spc="0">
                <a:solidFill>
                  <a:srgbClr val="FFFFFF"/>
                </a:solidFill>
                <a:latin typeface="Arial"/>
                <a:cs typeface="Arial"/>
              </a:rPr>
              <a:t>Hyderabad </a:t>
            </a:r>
            <a:r>
              <a:rPr lang="en-US" sz="605" spc="0" baseline="0">
                <a:solidFill>
                  <a:srgbClr val="FFFFFF"/>
                </a:solidFill>
                <a:latin typeface="Arial"/>
                <a:cs typeface="Arial"/>
              </a:rPr>
              <a:t>Campus</a:t>
            </a:r>
            <a:endParaRPr lang="en-US" sz="605" spc="0" dirty="0">
              <a:solidFill>
                <a:srgbClr val="FFFFFF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2245935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53670" y="753835"/>
            <a:ext cx="4149090" cy="2283935"/>
          </a:xfrm>
        </p:spPr>
        <p:txBody>
          <a:bodyPr/>
          <a:lstStyle>
            <a:lvl1pPr marL="172890" marR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210">
                <a:latin typeface="Arial" pitchFamily="34" charset="0"/>
                <a:cs typeface="Arial" pitchFamily="34" charset="0"/>
              </a:defRPr>
            </a:lvl1pPr>
            <a:lvl2pPr marL="374595" marR="0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807">
                <a:latin typeface="Arial" pitchFamily="34" charset="0"/>
                <a:cs typeface="Arial" pitchFamily="34" charset="0"/>
              </a:defRPr>
            </a:lvl2pPr>
          </a:lstStyle>
          <a:p>
            <a:pPr marL="172890" marR="0" lvl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21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121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72890" marR="0" lvl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21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72890" marR="0" lvl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21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72890" marR="0" lvl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21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1651952" y="3328734"/>
            <a:ext cx="2958148" cy="177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555" b="1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555">
                <a:solidFill>
                  <a:srgbClr val="101141"/>
                </a:solidFill>
                <a:latin typeface="Arial"/>
                <a:cs typeface="Arial"/>
              </a:rPr>
              <a:t>Pilani, Hyderabad Campus</a:t>
            </a:r>
            <a:endParaRPr lang="en-US" sz="555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1050627" y="3305663"/>
            <a:ext cx="3559473" cy="24558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3342323" y="0"/>
            <a:ext cx="1105735" cy="349555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1075690" y="3306939"/>
            <a:ext cx="3534410" cy="23071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653698"/>
            <a:ext cx="3534410" cy="23071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153670" y="76905"/>
            <a:ext cx="3188653" cy="576792"/>
          </a:xfrm>
        </p:spPr>
        <p:txBody>
          <a:bodyPr anchor="ctr" anchorCtr="0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</p:spTree>
    <p:extLst>
      <p:ext uri="{BB962C8B-B14F-4D97-AF65-F5344CB8AC3E}">
        <p14:creationId xmlns:p14="http://schemas.microsoft.com/office/powerpoint/2010/main" val="159668492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blipFill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691922"/>
            <a:ext cx="4379595" cy="13843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l"/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Rectangle 21"/>
          <p:cNvSpPr/>
          <p:nvPr userDrawn="1"/>
        </p:nvSpPr>
        <p:spPr>
          <a:xfrm>
            <a:off x="1459865" y="3076222"/>
            <a:ext cx="1459865" cy="38453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 userDrawn="1"/>
        </p:nvSpPr>
        <p:spPr>
          <a:xfrm>
            <a:off x="0" y="3076222"/>
            <a:ext cx="1459865" cy="38453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 userDrawn="1"/>
        </p:nvSpPr>
        <p:spPr>
          <a:xfrm>
            <a:off x="2919730" y="3076222"/>
            <a:ext cx="1459865" cy="38453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 descr="BITS_university_logo_whitevert.png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38417" y="1691922"/>
            <a:ext cx="1037273" cy="999167"/>
          </a:xfrm>
          <a:prstGeom prst="rect">
            <a:avLst/>
          </a:prstGeom>
        </p:spPr>
      </p:pic>
      <p:sp>
        <p:nvSpPr>
          <p:cNvPr id="30" name="TextBox 29"/>
          <p:cNvSpPr txBox="1"/>
          <p:nvPr userDrawn="1"/>
        </p:nvSpPr>
        <p:spPr>
          <a:xfrm>
            <a:off x="-38418" y="2653242"/>
            <a:ext cx="1114108" cy="317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62" b="1" spc="-76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1462" spc="-76">
                <a:solidFill>
                  <a:schemeClr val="bg1"/>
                </a:solidFill>
                <a:latin typeface="Arial"/>
                <a:cs typeface="Arial"/>
              </a:rPr>
              <a:t> Pilani</a:t>
            </a:r>
            <a:endParaRPr lang="en-US" sz="1462" spc="-76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31" name="TextBox 30"/>
          <p:cNvSpPr txBox="1"/>
          <p:nvPr userDrawn="1"/>
        </p:nvSpPr>
        <p:spPr>
          <a:xfrm>
            <a:off x="76835" y="2859535"/>
            <a:ext cx="960438" cy="185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605" spc="0">
                <a:solidFill>
                  <a:srgbClr val="FFFFFF"/>
                </a:solidFill>
                <a:latin typeface="Arial"/>
                <a:cs typeface="Arial"/>
              </a:rPr>
              <a:t>Hyderabad </a:t>
            </a:r>
            <a:r>
              <a:rPr lang="en-US" sz="605" spc="0" baseline="0">
                <a:solidFill>
                  <a:srgbClr val="FFFFFF"/>
                </a:solidFill>
                <a:latin typeface="Arial"/>
                <a:cs typeface="Arial"/>
              </a:rPr>
              <a:t>Campus</a:t>
            </a:r>
            <a:endParaRPr lang="en-US" sz="605" spc="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1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1267777" y="1922639"/>
            <a:ext cx="3034983" cy="769056"/>
          </a:xfrm>
        </p:spPr>
        <p:txBody>
          <a:bodyPr anchor="ctr" anchorCtr="0">
            <a:noAutofit/>
          </a:bodyPr>
          <a:lstStyle>
            <a:lvl1pPr algn="l">
              <a:lnSpc>
                <a:spcPts val="2017"/>
              </a:lnSpc>
              <a:defRPr sz="2218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Please enter the presentation title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432311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Server\D\jyoti\FI023_BITS_v1\styleguide img\IMG_5627_b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4610100" cy="3460750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 userDrawn="1"/>
        </p:nvSpPr>
        <p:spPr>
          <a:xfrm>
            <a:off x="0" y="2160916"/>
            <a:ext cx="4610100" cy="1299834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3342323" y="0"/>
            <a:ext cx="1105735" cy="349555"/>
          </a:xfrm>
          <a:prstGeom prst="rect">
            <a:avLst/>
          </a:prstGeom>
        </p:spPr>
      </p:pic>
      <p:sp>
        <p:nvSpPr>
          <p:cNvPr id="17" name="Content Placeholder 16"/>
          <p:cNvSpPr>
            <a:spLocks noGrp="1"/>
          </p:cNvSpPr>
          <p:nvPr>
            <p:ph sz="quarter" idx="10" hasCustomPrompt="1"/>
          </p:nvPr>
        </p:nvSpPr>
        <p:spPr>
          <a:xfrm>
            <a:off x="153670" y="2345620"/>
            <a:ext cx="4264343" cy="807508"/>
          </a:xfrm>
        </p:spPr>
        <p:txBody>
          <a:bodyPr>
            <a:noAutofit/>
          </a:bodyPr>
          <a:lstStyle>
            <a:lvl1pPr marL="0" indent="0">
              <a:lnSpc>
                <a:spcPts val="2118"/>
              </a:lnSpc>
              <a:spcBef>
                <a:spcPts val="0"/>
              </a:spcBef>
              <a:buNone/>
              <a:defRPr sz="2017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Topic headings here </a:t>
            </a:r>
          </a:p>
          <a:p>
            <a:pPr lvl="0"/>
            <a:r>
              <a:rPr lang="en-US" dirty="0"/>
              <a:t>(separator - can run in two lines)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1453462" y="3419093"/>
            <a:ext cx="1459865" cy="38453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 userDrawn="1"/>
        </p:nvSpPr>
        <p:spPr>
          <a:xfrm>
            <a:off x="-6403" y="3419093"/>
            <a:ext cx="1459865" cy="38453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 userDrawn="1"/>
        </p:nvSpPr>
        <p:spPr>
          <a:xfrm>
            <a:off x="2913327" y="3419093"/>
            <a:ext cx="1459865" cy="38453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 userDrawn="1"/>
        </p:nvSpPr>
        <p:spPr>
          <a:xfrm>
            <a:off x="3457575" y="384528"/>
            <a:ext cx="1114108" cy="317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62" b="1" spc="-76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1462" spc="-76">
                <a:solidFill>
                  <a:schemeClr val="bg1"/>
                </a:solidFill>
                <a:latin typeface="Arial"/>
                <a:cs typeface="Arial"/>
              </a:rPr>
              <a:t> Pilani</a:t>
            </a:r>
            <a:endParaRPr lang="en-US" sz="1462" spc="-76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20" name="TextBox 19"/>
          <p:cNvSpPr txBox="1"/>
          <p:nvPr userDrawn="1"/>
        </p:nvSpPr>
        <p:spPr>
          <a:xfrm>
            <a:off x="3572827" y="590821"/>
            <a:ext cx="960438" cy="185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605" spc="0">
                <a:solidFill>
                  <a:srgbClr val="FFFFFF"/>
                </a:solidFill>
                <a:latin typeface="Arial"/>
                <a:cs typeface="Arial"/>
              </a:rPr>
              <a:t>Hyderabad </a:t>
            </a:r>
            <a:r>
              <a:rPr lang="en-US" sz="605" spc="0" baseline="0">
                <a:solidFill>
                  <a:srgbClr val="FFFFFF"/>
                </a:solidFill>
                <a:latin typeface="Arial"/>
                <a:cs typeface="Arial"/>
              </a:rPr>
              <a:t>Campus</a:t>
            </a:r>
            <a:endParaRPr lang="en-US" sz="605" spc="0" dirty="0">
              <a:solidFill>
                <a:srgbClr val="FFFFFF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5614990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3342323" y="0"/>
            <a:ext cx="1105735" cy="349555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 userDrawn="1">
            <p:ph sz="half" idx="1" hasCustomPrompt="1"/>
          </p:nvPr>
        </p:nvSpPr>
        <p:spPr>
          <a:xfrm>
            <a:off x="230505" y="807509"/>
            <a:ext cx="2036128" cy="2283935"/>
          </a:xfrm>
        </p:spPr>
        <p:txBody>
          <a:bodyPr/>
          <a:lstStyle>
            <a:lvl1pPr marL="172890" marR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412"/>
            </a:lvl1pPr>
            <a:lvl2pPr marL="374595" marR="0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807"/>
            </a:lvl2pPr>
            <a:lvl3pPr>
              <a:defRPr sz="1008"/>
            </a:lvl3pPr>
            <a:lvl4pPr>
              <a:defRPr sz="908"/>
            </a:lvl4pPr>
            <a:lvl5pPr>
              <a:defRPr sz="908"/>
            </a:lvl5pPr>
            <a:lvl6pPr>
              <a:defRPr sz="908"/>
            </a:lvl6pPr>
            <a:lvl7pPr>
              <a:defRPr sz="908"/>
            </a:lvl7pPr>
            <a:lvl8pPr>
              <a:defRPr sz="908"/>
            </a:lvl8pPr>
            <a:lvl9pPr>
              <a:defRPr sz="908"/>
            </a:lvl9pPr>
          </a:lstStyle>
          <a:p>
            <a:pPr marL="172890" marR="0" lvl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21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121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72890" marR="0" lvl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21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172890" marR="0" lvl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21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/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 userDrawn="1">
            <p:ph sz="half" idx="2" hasCustomPrompt="1"/>
          </p:nvPr>
        </p:nvSpPr>
        <p:spPr>
          <a:xfrm>
            <a:off x="2497137" y="807509"/>
            <a:ext cx="2036128" cy="2283935"/>
          </a:xfrm>
        </p:spPr>
        <p:txBody>
          <a:bodyPr/>
          <a:lstStyle>
            <a:lvl1pPr marL="172890" marR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412"/>
            </a:lvl1pPr>
            <a:lvl2pPr marL="374595" marR="0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807">
                <a:latin typeface="Arial" pitchFamily="34" charset="0"/>
                <a:cs typeface="Arial" pitchFamily="34" charset="0"/>
              </a:defRPr>
            </a:lvl2pPr>
            <a:lvl3pPr>
              <a:defRPr sz="1008"/>
            </a:lvl3pPr>
            <a:lvl4pPr>
              <a:defRPr sz="908"/>
            </a:lvl4pPr>
            <a:lvl5pPr>
              <a:defRPr sz="908"/>
            </a:lvl5pPr>
            <a:lvl6pPr>
              <a:defRPr sz="908"/>
            </a:lvl6pPr>
            <a:lvl7pPr>
              <a:defRPr sz="908"/>
            </a:lvl7pPr>
            <a:lvl8pPr>
              <a:defRPr sz="908"/>
            </a:lvl8pPr>
            <a:lvl9pPr>
              <a:defRPr sz="908"/>
            </a:lvl9pPr>
          </a:lstStyle>
          <a:p>
            <a:pPr marL="172890" marR="0" lvl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21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r>
              <a:rPr lang="en-US" dirty="0"/>
              <a:t>Second level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121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72890" marR="0" lvl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21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172890" marR="0" lvl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21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 userDrawn="1">
            <p:ph sz="quarter" idx="10" hasCustomPrompt="1"/>
          </p:nvPr>
        </p:nvSpPr>
        <p:spPr>
          <a:xfrm>
            <a:off x="153670" y="76905"/>
            <a:ext cx="3188653" cy="576792"/>
          </a:xfrm>
        </p:spPr>
        <p:txBody>
          <a:bodyPr anchor="ctr" anchorCtr="0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0" y="653698"/>
            <a:ext cx="3534410" cy="23071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/>
          <p:cNvGrpSpPr/>
          <p:nvPr userDrawn="1"/>
        </p:nvGrpSpPr>
        <p:grpSpPr>
          <a:xfrm>
            <a:off x="1075690" y="3306939"/>
            <a:ext cx="3534410" cy="23071"/>
            <a:chOff x="1905000" y="6553200"/>
            <a:chExt cx="7010400" cy="45719"/>
          </a:xfrm>
        </p:grpSpPr>
        <p:sp>
          <p:nvSpPr>
            <p:cNvPr id="30" name="Rectangle 2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6" name="TextBox 35"/>
          <p:cNvSpPr txBox="1"/>
          <p:nvPr userDrawn="1"/>
        </p:nvSpPr>
        <p:spPr>
          <a:xfrm>
            <a:off x="1651952" y="3328734"/>
            <a:ext cx="2958148" cy="177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555" b="1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555">
                <a:solidFill>
                  <a:srgbClr val="101141"/>
                </a:solidFill>
                <a:latin typeface="Arial"/>
                <a:cs typeface="Arial"/>
              </a:rPr>
              <a:t>Pilani, Hyderabad Campus</a:t>
            </a:r>
            <a:endParaRPr lang="en-US" sz="555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270532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0505" y="774663"/>
            <a:ext cx="2036928" cy="417373"/>
          </a:xfrm>
        </p:spPr>
        <p:txBody>
          <a:bodyPr anchor="b"/>
          <a:lstStyle>
            <a:lvl1pPr marL="0" indent="0">
              <a:buNone/>
              <a:defRPr sz="1210" b="1"/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0505" y="1192036"/>
            <a:ext cx="2036928" cy="1899407"/>
          </a:xfrm>
        </p:spPr>
        <p:txBody>
          <a:bodyPr/>
          <a:lstStyle>
            <a:lvl1pPr>
              <a:defRPr sz="1210"/>
            </a:lvl1pPr>
            <a:lvl2pPr>
              <a:defRPr sz="1008"/>
            </a:lvl2pPr>
            <a:lvl3pPr>
              <a:defRPr sz="908"/>
            </a:lvl3pPr>
            <a:lvl4pPr>
              <a:defRPr sz="807"/>
            </a:lvl4pPr>
            <a:lvl5pPr>
              <a:defRPr sz="807"/>
            </a:lvl5pPr>
            <a:lvl6pPr>
              <a:defRPr sz="807"/>
            </a:lvl6pPr>
            <a:lvl7pPr>
              <a:defRPr sz="807"/>
            </a:lvl7pPr>
            <a:lvl8pPr>
              <a:defRPr sz="807"/>
            </a:lvl8pPr>
            <a:lvl9pPr>
              <a:defRPr sz="80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41867" y="774663"/>
            <a:ext cx="2037728" cy="417373"/>
          </a:xfrm>
        </p:spPr>
        <p:txBody>
          <a:bodyPr anchor="b"/>
          <a:lstStyle>
            <a:lvl1pPr marL="0" indent="0">
              <a:buNone/>
              <a:defRPr sz="1210" b="1"/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41867" y="1192036"/>
            <a:ext cx="2037728" cy="1899407"/>
          </a:xfrm>
        </p:spPr>
        <p:txBody>
          <a:bodyPr/>
          <a:lstStyle>
            <a:lvl1pPr>
              <a:defRPr sz="1210"/>
            </a:lvl1pPr>
            <a:lvl2pPr>
              <a:defRPr sz="1008"/>
            </a:lvl2pPr>
            <a:lvl3pPr>
              <a:defRPr sz="908"/>
            </a:lvl3pPr>
            <a:lvl4pPr>
              <a:defRPr sz="807"/>
            </a:lvl4pPr>
            <a:lvl5pPr>
              <a:defRPr sz="807"/>
            </a:lvl5pPr>
            <a:lvl6pPr>
              <a:defRPr sz="807"/>
            </a:lvl6pPr>
            <a:lvl7pPr>
              <a:defRPr sz="807"/>
            </a:lvl7pPr>
            <a:lvl8pPr>
              <a:defRPr sz="807"/>
            </a:lvl8pPr>
            <a:lvl9pPr>
              <a:defRPr sz="80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153670" y="76905"/>
            <a:ext cx="3188653" cy="576792"/>
          </a:xfrm>
        </p:spPr>
        <p:txBody>
          <a:bodyPr anchor="ctr" anchorCtr="0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0" y="653698"/>
            <a:ext cx="3534410" cy="23071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/>
          <p:cNvGrpSpPr/>
          <p:nvPr userDrawn="1"/>
        </p:nvGrpSpPr>
        <p:grpSpPr>
          <a:xfrm>
            <a:off x="1075690" y="3306939"/>
            <a:ext cx="3534410" cy="23071"/>
            <a:chOff x="1905000" y="6553200"/>
            <a:chExt cx="7010400" cy="45719"/>
          </a:xfrm>
        </p:grpSpPr>
        <p:sp>
          <p:nvSpPr>
            <p:cNvPr id="17" name="Rectangle 1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0" name="Picture 19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3342323" y="0"/>
            <a:ext cx="1105735" cy="349555"/>
          </a:xfrm>
          <a:prstGeom prst="rect">
            <a:avLst/>
          </a:prstGeom>
        </p:spPr>
      </p:pic>
      <p:sp>
        <p:nvSpPr>
          <p:cNvPr id="23" name="TextBox 22"/>
          <p:cNvSpPr txBox="1"/>
          <p:nvPr userDrawn="1"/>
        </p:nvSpPr>
        <p:spPr>
          <a:xfrm>
            <a:off x="1651952" y="3328734"/>
            <a:ext cx="2958148" cy="177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555" b="1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555">
                <a:solidFill>
                  <a:srgbClr val="101141"/>
                </a:solidFill>
                <a:latin typeface="Arial"/>
                <a:cs typeface="Arial"/>
              </a:rPr>
              <a:t>Pilani, Hyderabad Campus</a:t>
            </a:r>
            <a:endParaRPr lang="en-US" sz="555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0456360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153670" y="76905"/>
            <a:ext cx="3188653" cy="576792"/>
          </a:xfrm>
        </p:spPr>
        <p:txBody>
          <a:bodyPr anchor="ctr" anchorCtr="0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653698"/>
            <a:ext cx="3534410" cy="23071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/>
          <p:cNvGrpSpPr/>
          <p:nvPr userDrawn="1"/>
        </p:nvGrpSpPr>
        <p:grpSpPr>
          <a:xfrm>
            <a:off x="1075690" y="3306939"/>
            <a:ext cx="3534410" cy="23071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3342323" y="0"/>
            <a:ext cx="1105735" cy="349555"/>
          </a:xfrm>
          <a:prstGeom prst="rect">
            <a:avLst/>
          </a:prstGeom>
        </p:spPr>
      </p:pic>
      <p:sp>
        <p:nvSpPr>
          <p:cNvPr id="18" name="TextBox 17"/>
          <p:cNvSpPr txBox="1"/>
          <p:nvPr userDrawn="1"/>
        </p:nvSpPr>
        <p:spPr>
          <a:xfrm>
            <a:off x="1651952" y="3328734"/>
            <a:ext cx="2958148" cy="177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555" b="1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555">
                <a:solidFill>
                  <a:srgbClr val="101141"/>
                </a:solidFill>
                <a:latin typeface="Arial"/>
                <a:cs typeface="Arial"/>
              </a:rPr>
              <a:t>Pilani, Hyderabad Campus</a:t>
            </a:r>
            <a:endParaRPr lang="en-US" sz="555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3608189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2421" y="807509"/>
            <a:ext cx="2577174" cy="2283935"/>
          </a:xfrm>
        </p:spPr>
        <p:txBody>
          <a:bodyPr/>
          <a:lstStyle>
            <a:lvl1pPr>
              <a:defRPr sz="1613"/>
            </a:lvl1pPr>
            <a:lvl2pPr>
              <a:defRPr sz="1412"/>
            </a:lvl2pPr>
            <a:lvl3pPr>
              <a:defRPr sz="1210"/>
            </a:lvl3pPr>
            <a:lvl4pPr>
              <a:defRPr sz="1008"/>
            </a:lvl4pPr>
            <a:lvl5pPr>
              <a:defRPr sz="1008"/>
            </a:lvl5pPr>
            <a:lvl6pPr>
              <a:defRPr sz="1008"/>
            </a:lvl6pPr>
            <a:lvl7pPr>
              <a:defRPr sz="1008"/>
            </a:lvl7pPr>
            <a:lvl8pPr>
              <a:defRPr sz="1008"/>
            </a:lvl8pPr>
            <a:lvl9pPr>
              <a:defRPr sz="100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0505" y="807509"/>
            <a:ext cx="1516691" cy="2283935"/>
          </a:xfrm>
        </p:spPr>
        <p:txBody>
          <a:bodyPr/>
          <a:lstStyle>
            <a:lvl1pPr marL="0" indent="0">
              <a:buNone/>
              <a:defRPr sz="706"/>
            </a:lvl1pPr>
            <a:lvl2pPr marL="230520" indent="0">
              <a:buNone/>
              <a:defRPr sz="605"/>
            </a:lvl2pPr>
            <a:lvl3pPr marL="461040" indent="0">
              <a:buNone/>
              <a:defRPr sz="504"/>
            </a:lvl3pPr>
            <a:lvl4pPr marL="691561" indent="0">
              <a:buNone/>
              <a:defRPr sz="454"/>
            </a:lvl4pPr>
            <a:lvl5pPr marL="922081" indent="0">
              <a:buNone/>
              <a:defRPr sz="454"/>
            </a:lvl5pPr>
            <a:lvl6pPr marL="1152601" indent="0">
              <a:buNone/>
              <a:defRPr sz="454"/>
            </a:lvl6pPr>
            <a:lvl7pPr marL="1383121" indent="0">
              <a:buNone/>
              <a:defRPr sz="454"/>
            </a:lvl7pPr>
            <a:lvl8pPr marL="1613642" indent="0">
              <a:buNone/>
              <a:defRPr sz="454"/>
            </a:lvl8pPr>
            <a:lvl9pPr marL="1844162" indent="0">
              <a:buNone/>
              <a:defRPr sz="4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 hasCustomPrompt="1"/>
          </p:nvPr>
        </p:nvSpPr>
        <p:spPr>
          <a:xfrm>
            <a:off x="153670" y="76905"/>
            <a:ext cx="3188653" cy="576792"/>
          </a:xfrm>
        </p:spPr>
        <p:txBody>
          <a:bodyPr anchor="ctr" anchorCtr="0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9" name="Group 8"/>
          <p:cNvGrpSpPr/>
          <p:nvPr userDrawn="1"/>
        </p:nvGrpSpPr>
        <p:grpSpPr>
          <a:xfrm>
            <a:off x="0" y="653698"/>
            <a:ext cx="3534410" cy="23071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/>
          <p:cNvGrpSpPr/>
          <p:nvPr userDrawn="1"/>
        </p:nvGrpSpPr>
        <p:grpSpPr>
          <a:xfrm>
            <a:off x="1075690" y="3306939"/>
            <a:ext cx="3534410" cy="23071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8" name="Picture 17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3342323" y="0"/>
            <a:ext cx="1105735" cy="349555"/>
          </a:xfrm>
          <a:prstGeom prst="rect">
            <a:avLst/>
          </a:prstGeom>
        </p:spPr>
      </p:pic>
      <p:sp>
        <p:nvSpPr>
          <p:cNvPr id="22" name="TextBox 21"/>
          <p:cNvSpPr txBox="1"/>
          <p:nvPr userDrawn="1"/>
        </p:nvSpPr>
        <p:spPr>
          <a:xfrm>
            <a:off x="1651952" y="3328734"/>
            <a:ext cx="2958148" cy="177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555" b="1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555">
                <a:solidFill>
                  <a:srgbClr val="101141"/>
                </a:solidFill>
                <a:latin typeface="Arial"/>
                <a:cs typeface="Arial"/>
              </a:rPr>
              <a:t>Pilani, Hyderabad Campus</a:t>
            </a:r>
            <a:endParaRPr lang="en-US" sz="555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5668815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3612" y="2728545"/>
            <a:ext cx="2766060" cy="153811"/>
          </a:xfrm>
        </p:spPr>
        <p:txBody>
          <a:bodyPr anchor="b">
            <a:normAutofit/>
          </a:bodyPr>
          <a:lstStyle>
            <a:lvl1pPr algn="l">
              <a:defRPr sz="908" b="1" spc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903612" y="922867"/>
            <a:ext cx="2766060" cy="1730375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/>
          <a:lstStyle>
            <a:lvl1pPr marL="0" indent="0">
              <a:buNone/>
              <a:defRPr sz="1613"/>
            </a:lvl1pPr>
            <a:lvl2pPr marL="230520" indent="0">
              <a:buNone/>
              <a:defRPr sz="1412"/>
            </a:lvl2pPr>
            <a:lvl3pPr marL="461040" indent="0">
              <a:buNone/>
              <a:defRPr sz="1210"/>
            </a:lvl3pPr>
            <a:lvl4pPr marL="691561" indent="0">
              <a:buNone/>
              <a:defRPr sz="1008"/>
            </a:lvl4pPr>
            <a:lvl5pPr marL="922081" indent="0">
              <a:buNone/>
              <a:defRPr sz="1008"/>
            </a:lvl5pPr>
            <a:lvl6pPr marL="1152601" indent="0">
              <a:buNone/>
              <a:defRPr sz="1008"/>
            </a:lvl6pPr>
            <a:lvl7pPr marL="1383121" indent="0">
              <a:buNone/>
              <a:defRPr sz="1008"/>
            </a:lvl7pPr>
            <a:lvl8pPr marL="1613642" indent="0">
              <a:buNone/>
              <a:defRPr sz="1008"/>
            </a:lvl8pPr>
            <a:lvl9pPr marL="1844162" indent="0">
              <a:buNone/>
              <a:defRPr sz="1008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3612" y="2882356"/>
            <a:ext cx="2766060" cy="153811"/>
          </a:xfrm>
        </p:spPr>
        <p:txBody>
          <a:bodyPr>
            <a:normAutofit/>
          </a:bodyPr>
          <a:lstStyle>
            <a:lvl1pPr marL="0" indent="0">
              <a:buNone/>
              <a:defRPr sz="807"/>
            </a:lvl1pPr>
            <a:lvl2pPr marL="230520" indent="0">
              <a:buNone/>
              <a:defRPr sz="605"/>
            </a:lvl2pPr>
            <a:lvl3pPr marL="461040" indent="0">
              <a:buNone/>
              <a:defRPr sz="504"/>
            </a:lvl3pPr>
            <a:lvl4pPr marL="691561" indent="0">
              <a:buNone/>
              <a:defRPr sz="454"/>
            </a:lvl4pPr>
            <a:lvl5pPr marL="922081" indent="0">
              <a:buNone/>
              <a:defRPr sz="454"/>
            </a:lvl5pPr>
            <a:lvl6pPr marL="1152601" indent="0">
              <a:buNone/>
              <a:defRPr sz="454"/>
            </a:lvl6pPr>
            <a:lvl7pPr marL="1383121" indent="0">
              <a:buNone/>
              <a:defRPr sz="454"/>
            </a:lvl7pPr>
            <a:lvl8pPr marL="1613642" indent="0">
              <a:buNone/>
              <a:defRPr sz="454"/>
            </a:lvl8pPr>
            <a:lvl9pPr marL="1844162" indent="0">
              <a:buNone/>
              <a:defRPr sz="454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153670" y="76905"/>
            <a:ext cx="3188653" cy="576792"/>
          </a:xfrm>
        </p:spPr>
        <p:txBody>
          <a:bodyPr anchor="ctr" anchorCtr="0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653698"/>
            <a:ext cx="3534410" cy="23071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/>
          <p:cNvGrpSpPr/>
          <p:nvPr userDrawn="1"/>
        </p:nvGrpSpPr>
        <p:grpSpPr>
          <a:xfrm>
            <a:off x="1075690" y="3306939"/>
            <a:ext cx="3534410" cy="23071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3342323" y="0"/>
            <a:ext cx="1105735" cy="349555"/>
          </a:xfrm>
          <a:prstGeom prst="rect">
            <a:avLst/>
          </a:prstGeom>
        </p:spPr>
      </p:pic>
      <p:sp>
        <p:nvSpPr>
          <p:cNvPr id="19" name="TextBox 18"/>
          <p:cNvSpPr txBox="1"/>
          <p:nvPr userDrawn="1"/>
        </p:nvSpPr>
        <p:spPr>
          <a:xfrm>
            <a:off x="1651952" y="3328734"/>
            <a:ext cx="2958148" cy="177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555" b="1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555">
                <a:solidFill>
                  <a:srgbClr val="101141"/>
                </a:solidFill>
                <a:latin typeface="Arial"/>
                <a:cs typeface="Arial"/>
              </a:rPr>
              <a:t>Pilani, Hyderabad Campus</a:t>
            </a:r>
            <a:endParaRPr lang="en-US" sz="555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6159485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153670" y="76905"/>
            <a:ext cx="3188653" cy="576792"/>
          </a:xfrm>
        </p:spPr>
        <p:txBody>
          <a:bodyPr anchor="ctr" anchorCtr="0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0" y="653698"/>
            <a:ext cx="3534410" cy="23071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/>
          <p:cNvGrpSpPr/>
          <p:nvPr userDrawn="1"/>
        </p:nvGrpSpPr>
        <p:grpSpPr>
          <a:xfrm>
            <a:off x="1075690" y="3306939"/>
            <a:ext cx="3534410" cy="23071"/>
            <a:chOff x="1905000" y="6553200"/>
            <a:chExt cx="7010400" cy="45719"/>
          </a:xfrm>
        </p:grpSpPr>
        <p:sp>
          <p:nvSpPr>
            <p:cNvPr id="26" name="Rectangle 25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9" name="Picture 28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3342323" y="0"/>
            <a:ext cx="1105735" cy="349555"/>
          </a:xfrm>
          <a:prstGeom prst="rect">
            <a:avLst/>
          </a:prstGeom>
        </p:spPr>
      </p:pic>
      <p:sp>
        <p:nvSpPr>
          <p:cNvPr id="33" name="TextBox 32"/>
          <p:cNvSpPr txBox="1"/>
          <p:nvPr userDrawn="1"/>
        </p:nvSpPr>
        <p:spPr>
          <a:xfrm>
            <a:off x="1651952" y="3328734"/>
            <a:ext cx="2958148" cy="177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555" b="1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555">
                <a:solidFill>
                  <a:srgbClr val="101141"/>
                </a:solidFill>
                <a:latin typeface="Arial"/>
                <a:cs typeface="Arial"/>
              </a:rPr>
              <a:t>Pilani, Hyderabad Campus</a:t>
            </a:r>
            <a:endParaRPr lang="en-US" sz="555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0084574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4680" y="192264"/>
            <a:ext cx="3034983" cy="295285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 hasCustomPrompt="1"/>
          </p:nvPr>
        </p:nvSpPr>
        <p:spPr>
          <a:xfrm rot="5400000">
            <a:off x="2726284" y="1384564"/>
            <a:ext cx="2960864" cy="576263"/>
          </a:xfrm>
        </p:spPr>
        <p:txBody>
          <a:bodyPr anchor="ctr" anchorCtr="0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8" name="Group 7"/>
          <p:cNvGrpSpPr/>
          <p:nvPr userDrawn="1"/>
        </p:nvGrpSpPr>
        <p:grpSpPr>
          <a:xfrm rot="5400000">
            <a:off x="2522830" y="1295869"/>
            <a:ext cx="2614789" cy="23050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 rot="5400000">
            <a:off x="-383026" y="571022"/>
            <a:ext cx="1106750" cy="349235"/>
          </a:xfrm>
          <a:prstGeom prst="rect">
            <a:avLst/>
          </a:prstGeom>
        </p:spPr>
      </p:pic>
      <p:sp>
        <p:nvSpPr>
          <p:cNvPr id="18" name="TextBox 17"/>
          <p:cNvSpPr txBox="1"/>
          <p:nvPr userDrawn="1"/>
        </p:nvSpPr>
        <p:spPr>
          <a:xfrm rot="5400000">
            <a:off x="-1410216" y="1899206"/>
            <a:ext cx="2960864" cy="1622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54" b="1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454">
                <a:solidFill>
                  <a:srgbClr val="101141"/>
                </a:solidFill>
                <a:latin typeface="Arial"/>
                <a:cs typeface="Arial"/>
              </a:rPr>
              <a:t>Pilani, Hyderabad</a:t>
            </a:r>
            <a:r>
              <a:rPr lang="en-US" sz="454" baseline="0">
                <a:solidFill>
                  <a:srgbClr val="101141"/>
                </a:solidFill>
                <a:latin typeface="Arial"/>
                <a:cs typeface="Arial"/>
              </a:rPr>
              <a:t> </a:t>
            </a:r>
            <a:r>
              <a:rPr lang="en-US" sz="454">
                <a:solidFill>
                  <a:srgbClr val="101141"/>
                </a:solidFill>
                <a:latin typeface="Arial"/>
                <a:cs typeface="Arial"/>
              </a:rPr>
              <a:t>Campus</a:t>
            </a:r>
            <a:endParaRPr lang="en-US" sz="454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67731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40.xml"/><Relationship Id="rId1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30.xml"/><Relationship Id="rId21" Type="http://schemas.openxmlformats.org/officeDocument/2006/relationships/slideLayout" Target="../slideLayouts/slideLayout48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17" Type="http://schemas.openxmlformats.org/officeDocument/2006/relationships/slideLayout" Target="../slideLayouts/slideLayout44.xml"/><Relationship Id="rId2" Type="http://schemas.openxmlformats.org/officeDocument/2006/relationships/slideLayout" Target="../slideLayouts/slideLayout29.xml"/><Relationship Id="rId16" Type="http://schemas.openxmlformats.org/officeDocument/2006/relationships/slideLayout" Target="../slideLayouts/slideLayout43.xml"/><Relationship Id="rId20" Type="http://schemas.openxmlformats.org/officeDocument/2006/relationships/slideLayout" Target="../slideLayouts/slideLayout47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5" Type="http://schemas.openxmlformats.org/officeDocument/2006/relationships/slideLayout" Target="../slideLayouts/slideLayout42.xml"/><Relationship Id="rId23" Type="http://schemas.openxmlformats.org/officeDocument/2006/relationships/theme" Target="../theme/theme4.xml"/><Relationship Id="rId10" Type="http://schemas.openxmlformats.org/officeDocument/2006/relationships/slideLayout" Target="../slideLayouts/slideLayout37.xml"/><Relationship Id="rId19" Type="http://schemas.openxmlformats.org/officeDocument/2006/relationships/slideLayout" Target="../slideLayouts/slideLayout46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70380"/>
            <a:ext cx="4571961" cy="3218993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3069083" y="3371227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989465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167268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323614" y="3360914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260445" y="3367264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620326" y="33736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531425" y="3367265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607626" y="336091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3878593" y="3360914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3802393" y="3367265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3878593" y="3399015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700"/>
                </a:moveTo>
                <a:lnTo>
                  <a:pt x="50800" y="127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4149573" y="336091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4451033" y="3391395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4423969" y="3364900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4329112" y="3360914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72527"/>
            <a:ext cx="294703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3333B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21957" y="697114"/>
            <a:ext cx="3815715" cy="21609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319272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6187FF-7AB4-342F-EC7D-9D4E22ACE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505" y="138590"/>
            <a:ext cx="4149090" cy="5767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3E717491-3201-0A9D-B577-3374B97A5CE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230505" y="807509"/>
            <a:ext cx="4149090" cy="22839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D0DF8D-E089-390E-3A3A-2C7F83A78E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0505" y="3207603"/>
            <a:ext cx="1075690" cy="1842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605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BE3C61EF-9191-4147-BC20-CCB0549477E0}" type="datetimeFigureOut">
              <a:rPr lang="en-US"/>
              <a:pPr>
                <a:defRPr/>
              </a:pPr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8CCBE6-720B-19E5-C7FD-F2E2EA61AD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75118" y="3207603"/>
            <a:ext cx="1459865" cy="1842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605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E5491-F9B5-F421-F2A5-B5A7D3315C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03905" y="3207603"/>
            <a:ext cx="1075690" cy="18425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605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4C55BC58-3BB3-4918-8D06-AE45A425448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8497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017" b="1" kern="1200" spc="-76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17" b="1">
          <a:solidFill>
            <a:schemeClr val="tx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17" b="1">
          <a:solidFill>
            <a:schemeClr val="tx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17" b="1">
          <a:solidFill>
            <a:schemeClr val="tx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17" b="1">
          <a:solidFill>
            <a:schemeClr val="tx1"/>
          </a:solidFill>
          <a:latin typeface="Arial" charset="0"/>
          <a:cs typeface="Arial" charset="0"/>
        </a:defRPr>
      </a:lvl5pPr>
      <a:lvl6pPr marL="230520" algn="l" rtl="0" fontAlgn="base">
        <a:spcBef>
          <a:spcPct val="0"/>
        </a:spcBef>
        <a:spcAft>
          <a:spcPct val="0"/>
        </a:spcAft>
        <a:defRPr sz="2017" b="1">
          <a:solidFill>
            <a:schemeClr val="tx1"/>
          </a:solidFill>
          <a:latin typeface="Arial" charset="0"/>
          <a:cs typeface="Arial" charset="0"/>
        </a:defRPr>
      </a:lvl6pPr>
      <a:lvl7pPr marL="461040" algn="l" rtl="0" fontAlgn="base">
        <a:spcBef>
          <a:spcPct val="0"/>
        </a:spcBef>
        <a:spcAft>
          <a:spcPct val="0"/>
        </a:spcAft>
        <a:defRPr sz="2017" b="1">
          <a:solidFill>
            <a:schemeClr val="tx1"/>
          </a:solidFill>
          <a:latin typeface="Arial" charset="0"/>
          <a:cs typeface="Arial" charset="0"/>
        </a:defRPr>
      </a:lvl7pPr>
      <a:lvl8pPr marL="691561" algn="l" rtl="0" fontAlgn="base">
        <a:spcBef>
          <a:spcPct val="0"/>
        </a:spcBef>
        <a:spcAft>
          <a:spcPct val="0"/>
        </a:spcAft>
        <a:defRPr sz="2017" b="1">
          <a:solidFill>
            <a:schemeClr val="tx1"/>
          </a:solidFill>
          <a:latin typeface="Arial" charset="0"/>
          <a:cs typeface="Arial" charset="0"/>
        </a:defRPr>
      </a:lvl8pPr>
      <a:lvl9pPr marL="922081" algn="l" rtl="0" fontAlgn="base">
        <a:spcBef>
          <a:spcPct val="0"/>
        </a:spcBef>
        <a:spcAft>
          <a:spcPct val="0"/>
        </a:spcAft>
        <a:defRPr sz="2017" b="1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172890" indent="-17289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613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374595" indent="-14407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412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576301" indent="-11526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21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806821" indent="-11526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008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1037341" indent="-11526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008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1267861" indent="-115260" algn="l" defTabSz="461040" rtl="0" eaLnBrk="1" latinLnBrk="0" hangingPunct="1">
        <a:spcBef>
          <a:spcPct val="20000"/>
        </a:spcBef>
        <a:buFont typeface="Arial" pitchFamily="34" charset="0"/>
        <a:buChar char="•"/>
        <a:defRPr sz="1008" kern="1200">
          <a:solidFill>
            <a:schemeClr val="tx1"/>
          </a:solidFill>
          <a:latin typeface="+mn-lt"/>
          <a:ea typeface="+mn-ea"/>
          <a:cs typeface="+mn-cs"/>
        </a:defRPr>
      </a:lvl6pPr>
      <a:lvl7pPr marL="1498382" indent="-115260" algn="l" defTabSz="461040" rtl="0" eaLnBrk="1" latinLnBrk="0" hangingPunct="1">
        <a:spcBef>
          <a:spcPct val="20000"/>
        </a:spcBef>
        <a:buFont typeface="Arial" pitchFamily="34" charset="0"/>
        <a:buChar char="•"/>
        <a:defRPr sz="1008" kern="1200">
          <a:solidFill>
            <a:schemeClr val="tx1"/>
          </a:solidFill>
          <a:latin typeface="+mn-lt"/>
          <a:ea typeface="+mn-ea"/>
          <a:cs typeface="+mn-cs"/>
        </a:defRPr>
      </a:lvl7pPr>
      <a:lvl8pPr marL="1728902" indent="-115260" algn="l" defTabSz="461040" rtl="0" eaLnBrk="1" latinLnBrk="0" hangingPunct="1">
        <a:spcBef>
          <a:spcPct val="20000"/>
        </a:spcBef>
        <a:buFont typeface="Arial" pitchFamily="34" charset="0"/>
        <a:buChar char="•"/>
        <a:defRPr sz="1008" kern="1200">
          <a:solidFill>
            <a:schemeClr val="tx1"/>
          </a:solidFill>
          <a:latin typeface="+mn-lt"/>
          <a:ea typeface="+mn-ea"/>
          <a:cs typeface="+mn-cs"/>
        </a:defRPr>
      </a:lvl8pPr>
      <a:lvl9pPr marL="1959422" indent="-115260" algn="l" defTabSz="461040" rtl="0" eaLnBrk="1" latinLnBrk="0" hangingPunct="1">
        <a:spcBef>
          <a:spcPct val="20000"/>
        </a:spcBef>
        <a:buFont typeface="Arial" pitchFamily="34" charset="0"/>
        <a:buChar char="•"/>
        <a:defRPr sz="100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1pPr>
      <a:lvl2pPr marL="23052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2pPr>
      <a:lvl3pPr marL="46104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3pPr>
      <a:lvl4pPr marL="69156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4pPr>
      <a:lvl5pPr marL="92208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5pPr>
      <a:lvl6pPr marL="115260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6pPr>
      <a:lvl7pPr marL="138312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7pPr>
      <a:lvl8pPr marL="1613642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8pPr>
      <a:lvl9pPr marL="1844162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845396-44B7-FCD4-4837-37E7871DA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505" y="138590"/>
            <a:ext cx="4149090" cy="5767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E8DB7E1A-0C40-7876-E87A-13DC8F2CFA2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230505" y="807509"/>
            <a:ext cx="4149090" cy="22839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507353-ADED-1D93-3C14-9E6AC687BF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0505" y="3207603"/>
            <a:ext cx="1075690" cy="1842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605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B9F57C85-430D-4D1D-A8E5-4908AA3205DF}" type="datetimeFigureOut">
              <a:rPr lang="en-US"/>
              <a:pPr>
                <a:defRPr/>
              </a:pPr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0A2C18-366D-26D8-BB8A-39C58891BF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75118" y="3207603"/>
            <a:ext cx="1459865" cy="1842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605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580ADE-0BF3-C6B4-46C5-F79F1EA3E0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03905" y="3207603"/>
            <a:ext cx="1075690" cy="18425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605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8064DF96-4785-4FE7-A3C9-70E1473D5D4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96759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017" b="1" kern="1200" spc="-76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17" b="1">
          <a:solidFill>
            <a:schemeClr val="tx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17" b="1">
          <a:solidFill>
            <a:schemeClr val="tx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17" b="1">
          <a:solidFill>
            <a:schemeClr val="tx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17" b="1">
          <a:solidFill>
            <a:schemeClr val="tx1"/>
          </a:solidFill>
          <a:latin typeface="Arial" charset="0"/>
          <a:cs typeface="Arial" charset="0"/>
        </a:defRPr>
      </a:lvl5pPr>
      <a:lvl6pPr marL="230520" algn="l" rtl="0" fontAlgn="base">
        <a:spcBef>
          <a:spcPct val="0"/>
        </a:spcBef>
        <a:spcAft>
          <a:spcPct val="0"/>
        </a:spcAft>
        <a:defRPr sz="2017" b="1">
          <a:solidFill>
            <a:schemeClr val="tx1"/>
          </a:solidFill>
          <a:latin typeface="Arial" charset="0"/>
          <a:cs typeface="Arial" charset="0"/>
        </a:defRPr>
      </a:lvl6pPr>
      <a:lvl7pPr marL="461040" algn="l" rtl="0" fontAlgn="base">
        <a:spcBef>
          <a:spcPct val="0"/>
        </a:spcBef>
        <a:spcAft>
          <a:spcPct val="0"/>
        </a:spcAft>
        <a:defRPr sz="2017" b="1">
          <a:solidFill>
            <a:schemeClr val="tx1"/>
          </a:solidFill>
          <a:latin typeface="Arial" charset="0"/>
          <a:cs typeface="Arial" charset="0"/>
        </a:defRPr>
      </a:lvl7pPr>
      <a:lvl8pPr marL="691561" algn="l" rtl="0" fontAlgn="base">
        <a:spcBef>
          <a:spcPct val="0"/>
        </a:spcBef>
        <a:spcAft>
          <a:spcPct val="0"/>
        </a:spcAft>
        <a:defRPr sz="2017" b="1">
          <a:solidFill>
            <a:schemeClr val="tx1"/>
          </a:solidFill>
          <a:latin typeface="Arial" charset="0"/>
          <a:cs typeface="Arial" charset="0"/>
        </a:defRPr>
      </a:lvl8pPr>
      <a:lvl9pPr marL="922081" algn="l" rtl="0" fontAlgn="base">
        <a:spcBef>
          <a:spcPct val="0"/>
        </a:spcBef>
        <a:spcAft>
          <a:spcPct val="0"/>
        </a:spcAft>
        <a:defRPr sz="2017" b="1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172890" indent="-17289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613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374595" indent="-14407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412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576301" indent="-11526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21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806821" indent="-11526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008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1037341" indent="-11526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008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1267861" indent="-115260" algn="l" defTabSz="461040" rtl="0" eaLnBrk="1" latinLnBrk="0" hangingPunct="1">
        <a:spcBef>
          <a:spcPct val="20000"/>
        </a:spcBef>
        <a:buFont typeface="Arial" pitchFamily="34" charset="0"/>
        <a:buChar char="•"/>
        <a:defRPr sz="1008" kern="1200">
          <a:solidFill>
            <a:schemeClr val="tx1"/>
          </a:solidFill>
          <a:latin typeface="+mn-lt"/>
          <a:ea typeface="+mn-ea"/>
          <a:cs typeface="+mn-cs"/>
        </a:defRPr>
      </a:lvl6pPr>
      <a:lvl7pPr marL="1498382" indent="-115260" algn="l" defTabSz="461040" rtl="0" eaLnBrk="1" latinLnBrk="0" hangingPunct="1">
        <a:spcBef>
          <a:spcPct val="20000"/>
        </a:spcBef>
        <a:buFont typeface="Arial" pitchFamily="34" charset="0"/>
        <a:buChar char="•"/>
        <a:defRPr sz="1008" kern="1200">
          <a:solidFill>
            <a:schemeClr val="tx1"/>
          </a:solidFill>
          <a:latin typeface="+mn-lt"/>
          <a:ea typeface="+mn-ea"/>
          <a:cs typeface="+mn-cs"/>
        </a:defRPr>
      </a:lvl7pPr>
      <a:lvl8pPr marL="1728902" indent="-115260" algn="l" defTabSz="461040" rtl="0" eaLnBrk="1" latinLnBrk="0" hangingPunct="1">
        <a:spcBef>
          <a:spcPct val="20000"/>
        </a:spcBef>
        <a:buFont typeface="Arial" pitchFamily="34" charset="0"/>
        <a:buChar char="•"/>
        <a:defRPr sz="1008" kern="1200">
          <a:solidFill>
            <a:schemeClr val="tx1"/>
          </a:solidFill>
          <a:latin typeface="+mn-lt"/>
          <a:ea typeface="+mn-ea"/>
          <a:cs typeface="+mn-cs"/>
        </a:defRPr>
      </a:lvl8pPr>
      <a:lvl9pPr marL="1959422" indent="-115260" algn="l" defTabSz="461040" rtl="0" eaLnBrk="1" latinLnBrk="0" hangingPunct="1">
        <a:spcBef>
          <a:spcPct val="20000"/>
        </a:spcBef>
        <a:buFont typeface="Arial" pitchFamily="34" charset="0"/>
        <a:buChar char="•"/>
        <a:defRPr sz="100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1pPr>
      <a:lvl2pPr marL="23052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2pPr>
      <a:lvl3pPr marL="46104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3pPr>
      <a:lvl4pPr marL="69156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4pPr>
      <a:lvl5pPr marL="92208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5pPr>
      <a:lvl6pPr marL="115260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6pPr>
      <a:lvl7pPr marL="138312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7pPr>
      <a:lvl8pPr marL="1613642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8pPr>
      <a:lvl9pPr marL="1844162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7249" y="295317"/>
            <a:ext cx="3675402" cy="7567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7249" y="1153583"/>
            <a:ext cx="3675403" cy="2030307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7249" y="3265309"/>
            <a:ext cx="814535" cy="1384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4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24/7/2013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31234" y="3265309"/>
            <a:ext cx="2231489" cy="1384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04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AAOC </a:t>
            </a:r>
            <a:r>
              <a:rPr lang="en-US"/>
              <a:t>ZC222 Optimization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097867" y="3265309"/>
            <a:ext cx="368168" cy="1384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4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288131" y="416988"/>
            <a:ext cx="0" cy="461433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2883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  <p:sldLayoutId id="2147483708" r:id="rId18"/>
    <p:sldLayoutId id="2147483709" r:id="rId19"/>
    <p:sldLayoutId id="2147483710" r:id="rId20"/>
    <p:sldLayoutId id="2147483711" r:id="rId21"/>
    <p:sldLayoutId id="2147483712" r:id="rId22"/>
  </p:sldLayoutIdLst>
  <p:hf hdr="0"/>
  <p:txStyles>
    <p:titleStyle>
      <a:lvl1pPr algn="l" defTabSz="461040" rtl="0" eaLnBrk="1" latinLnBrk="0" hangingPunct="1">
        <a:lnSpc>
          <a:spcPct val="80000"/>
        </a:lnSpc>
        <a:spcBef>
          <a:spcPct val="0"/>
        </a:spcBef>
        <a:buNone/>
        <a:defRPr sz="2218" kern="1200" cap="all" spc="5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46104" indent="-46104" algn="l" defTabSz="461040" rtl="0" eaLnBrk="1" latinLnBrk="0" hangingPunct="1">
        <a:lnSpc>
          <a:spcPct val="90000"/>
        </a:lnSpc>
        <a:spcBef>
          <a:spcPts val="605"/>
        </a:spcBef>
        <a:spcAft>
          <a:spcPts val="101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1008" kern="1200">
          <a:solidFill>
            <a:schemeClr val="tx1"/>
          </a:solidFill>
          <a:latin typeface="+mn-lt"/>
          <a:ea typeface="+mn-ea"/>
          <a:cs typeface="+mn-cs"/>
        </a:defRPr>
      </a:lvl1pPr>
      <a:lvl2pPr marL="133702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807" kern="1200">
          <a:solidFill>
            <a:schemeClr val="tx1"/>
          </a:solidFill>
          <a:latin typeface="+mn-lt"/>
          <a:ea typeface="+mn-ea"/>
          <a:cs typeface="+mn-cs"/>
        </a:defRPr>
      </a:lvl2pPr>
      <a:lvl3pPr marL="225910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3pPr>
      <a:lvl4pPr marL="299676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4pPr>
      <a:lvl5pPr marL="391884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5pPr>
      <a:lvl6pPr marL="461040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6pPr>
      <a:lvl7pPr marL="534807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7pPr>
      <a:lvl8pPr marL="613184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8pPr>
      <a:lvl9pPr marL="686950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1pPr>
      <a:lvl2pPr marL="23052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2pPr>
      <a:lvl3pPr marL="46104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3pPr>
      <a:lvl4pPr marL="69156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4pPr>
      <a:lvl5pPr marL="92208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5pPr>
      <a:lvl6pPr marL="115260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6pPr>
      <a:lvl7pPr marL="138312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7pPr>
      <a:lvl8pPr marL="1613642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8pPr>
      <a:lvl9pPr marL="1844162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4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4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4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4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40.xml"/><Relationship Id="rId4" Type="http://schemas.openxmlformats.org/officeDocument/2006/relationships/image" Target="../media/image35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4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40.xml"/><Relationship Id="rId4" Type="http://schemas.openxmlformats.org/officeDocument/2006/relationships/image" Target="../media/image40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78559" y="1772688"/>
            <a:ext cx="1450975" cy="68516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40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50" dirty="0">
                <a:solidFill>
                  <a:srgbClr val="FFFFFF"/>
                </a:solidFill>
                <a:latin typeface="Tahoma"/>
                <a:cs typeface="Tahoma"/>
              </a:rPr>
              <a:t>4</a:t>
            </a: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14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Math</a:t>
            </a:r>
            <a:r>
              <a:rPr sz="110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FFFFFF"/>
                </a:solidFill>
                <a:latin typeface="Tahoma"/>
                <a:cs typeface="Tahoma"/>
              </a:rPr>
              <a:t>Foundations</a:t>
            </a:r>
            <a:r>
              <a:rPr sz="1100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Tahoma"/>
                <a:cs typeface="Tahoma"/>
              </a:rPr>
              <a:t>Team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Matrix</a:t>
            </a:r>
            <a:r>
              <a:rPr spc="65" dirty="0"/>
              <a:t> </a:t>
            </a:r>
            <a:r>
              <a:rPr spc="-45" dirty="0"/>
              <a:t>decompositions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1957" y="972437"/>
            <a:ext cx="3865245" cy="1851276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4629" marR="83185" indent="-177165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dirty="0">
                <a:latin typeface="Tahoma"/>
                <a:cs typeface="Tahoma"/>
              </a:rPr>
              <a:t>We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studied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vectors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how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manipulate</a:t>
            </a:r>
            <a:r>
              <a:rPr sz="1100" spc="-25" dirty="0">
                <a:latin typeface="Tahoma"/>
                <a:cs typeface="Tahoma"/>
              </a:rPr>
              <a:t> them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preceding </a:t>
            </a:r>
            <a:r>
              <a:rPr sz="1100" spc="-10" dirty="0">
                <a:latin typeface="Tahoma"/>
                <a:cs typeface="Tahoma"/>
              </a:rPr>
              <a:t>lectures.</a:t>
            </a:r>
            <a:endParaRPr sz="1100" dirty="0">
              <a:latin typeface="Tahoma"/>
              <a:cs typeface="Tahoma"/>
            </a:endParaRPr>
          </a:p>
          <a:p>
            <a:pPr marL="214629" marR="90170" indent="-177165">
              <a:lnSpc>
                <a:spcPct val="102699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spc="-25" dirty="0">
                <a:latin typeface="Tahoma"/>
                <a:cs typeface="Tahoma"/>
              </a:rPr>
              <a:t>Mappings</a:t>
            </a:r>
            <a:r>
              <a:rPr sz="1100" spc="-35" dirty="0">
                <a:latin typeface="Tahoma"/>
                <a:cs typeface="Tahoma"/>
              </a:rPr>
              <a:t> 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transformations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vectors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conveniently </a:t>
            </a:r>
            <a:r>
              <a:rPr sz="1100" spc="-45" dirty="0">
                <a:latin typeface="Tahoma"/>
                <a:cs typeface="Tahoma"/>
              </a:rPr>
              <a:t>described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terms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operations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performed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by </a:t>
            </a:r>
            <a:r>
              <a:rPr sz="1100" spc="-10" dirty="0">
                <a:latin typeface="Tahoma"/>
                <a:cs typeface="Tahoma"/>
              </a:rPr>
              <a:t>matrices.</a:t>
            </a:r>
            <a:endParaRPr sz="1100" dirty="0">
              <a:latin typeface="Tahoma"/>
              <a:cs typeface="Tahoma"/>
            </a:endParaRPr>
          </a:p>
          <a:p>
            <a:pPr marL="214629" marR="3048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spc="-6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this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lecture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shall</a:t>
            </a:r>
            <a:r>
              <a:rPr sz="1100" spc="-30" dirty="0">
                <a:latin typeface="Tahoma"/>
                <a:cs typeface="Tahoma"/>
              </a:rPr>
              <a:t> study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three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aspects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matrices:</a:t>
            </a:r>
            <a:r>
              <a:rPr sz="1100" spc="7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how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summarize</a:t>
            </a:r>
            <a:r>
              <a:rPr sz="1100" spc="-35" dirty="0">
                <a:latin typeface="Tahoma"/>
                <a:cs typeface="Tahoma"/>
              </a:rPr>
              <a:t> matrices, </a:t>
            </a:r>
            <a:r>
              <a:rPr sz="1100" spc="-65" dirty="0">
                <a:latin typeface="Tahoma"/>
                <a:cs typeface="Tahoma"/>
              </a:rPr>
              <a:t>how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matrices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can be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decomposed,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and </a:t>
            </a:r>
            <a:r>
              <a:rPr sz="1100" spc="-55" dirty="0">
                <a:latin typeface="Tahoma"/>
                <a:cs typeface="Tahoma"/>
              </a:rPr>
              <a:t>how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decompositions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used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matrix approximations.</a:t>
            </a:r>
            <a:endParaRPr lang="en-IN" sz="1100" spc="-10" dirty="0">
              <a:latin typeface="Tahoma"/>
              <a:cs typeface="Tahoma"/>
            </a:endParaRPr>
          </a:p>
          <a:p>
            <a:pPr marL="214629" marR="3048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lang="en-IN" sz="1100" spc="-10" dirty="0">
                <a:latin typeface="Tahoma"/>
                <a:cs typeface="Tahoma"/>
              </a:rPr>
              <a:t>Towards this first we focus our attention on eigen values and eigen vectors</a:t>
            </a:r>
            <a:endParaRPr sz="1100" dirty="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Content Placeholder 4">
            <a:extLst>
              <a:ext uri="{FF2B5EF4-FFF2-40B4-BE49-F238E27FC236}">
                <a16:creationId xmlns:a16="http://schemas.microsoft.com/office/drawing/2014/main" id="{34B05064-98D3-82B8-09AD-09D3124E364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835" y="731520"/>
            <a:ext cx="4149090" cy="777954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AE40E-6E8C-7547-9F1B-A951D3195B4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Definition of Eigen Values and Eigen Vectors</a:t>
            </a:r>
          </a:p>
        </p:txBody>
      </p:sp>
      <p:pic>
        <p:nvPicPr>
          <p:cNvPr id="17412" name="Picture 5">
            <a:extLst>
              <a:ext uri="{FF2B5EF4-FFF2-40B4-BE49-F238E27FC236}">
                <a16:creationId xmlns:a16="http://schemas.microsoft.com/office/drawing/2014/main" id="{4797C9EC-8254-CE35-5D58-3D06498BDD0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340" y="1509475"/>
            <a:ext cx="3844151" cy="1577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Content Placeholder 3">
            <a:extLst>
              <a:ext uri="{FF2B5EF4-FFF2-40B4-BE49-F238E27FC236}">
                <a16:creationId xmlns:a16="http://schemas.microsoft.com/office/drawing/2014/main" id="{D84AC92C-B603-A2E6-48C1-B9DCC6D76CC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5250" y="749249"/>
            <a:ext cx="3649663" cy="1567114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3F13F-3832-3D57-39FE-CBF8972431D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Geometrical </a:t>
            </a:r>
            <a:r>
              <a:rPr lang="en-US" dirty="0" err="1"/>
              <a:t>Interpertation</a:t>
            </a:r>
            <a:r>
              <a:rPr lang="en-US" dirty="0"/>
              <a:t> of Eigen Values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33A920-A872-73C3-3B10-AAFD1F1AD599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12307" y="2470418"/>
            <a:ext cx="2930943" cy="665003"/>
          </a:xfrm>
          <a:prstGeom prst="rect">
            <a:avLst/>
          </a:prstGeom>
          <a:blipFill>
            <a:blip r:embed="rId3"/>
            <a:stretch>
              <a:fillRect r="-42182"/>
            </a:stretch>
          </a:blipFill>
        </p:spPr>
        <p:txBody>
          <a:bodyPr/>
          <a:lstStyle/>
          <a:p>
            <a:pPr algn="l" defTabSz="461040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IN" sz="908" kern="1200">
                <a:noFill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182B1A9-CC4E-95A6-FBA8-A3135C6B71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000" dirty="0"/>
              <a:t>There are lot of applications of Eigen values and Eigen vectors in weather prediction, population estimation, and so on.</a:t>
            </a:r>
          </a:p>
          <a:p>
            <a:r>
              <a:rPr lang="en-IN" sz="1000" dirty="0"/>
              <a:t>In ML there are many areas where eigen values and eigen vectors are used.</a:t>
            </a:r>
          </a:p>
          <a:p>
            <a:r>
              <a:rPr lang="en-IN" sz="1000" dirty="0"/>
              <a:t>To </a:t>
            </a:r>
            <a:r>
              <a:rPr lang="en-IN" sz="1000" dirty="0" err="1"/>
              <a:t>analize</a:t>
            </a:r>
            <a:r>
              <a:rPr lang="en-IN" sz="1000" dirty="0"/>
              <a:t> the data, we require the matrix decomposition.</a:t>
            </a:r>
          </a:p>
          <a:p>
            <a:r>
              <a:rPr lang="en-IN" sz="1000" dirty="0"/>
              <a:t>In matrix decompositions such as eigen decomposition, singular decomposition are based on eigen values and eigen vectors.</a:t>
            </a:r>
          </a:p>
          <a:p>
            <a:r>
              <a:rPr lang="en-IN" sz="1000" dirty="0"/>
              <a:t>Later we will study the concept of dimensionality reduction. The methods used here such as PCA uses eigen values</a:t>
            </a:r>
            <a:r>
              <a:rPr lang="en-IN" dirty="0"/>
              <a:t>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F4CAD4-DA3B-7B45-CD7C-AC469D05083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Why do we study Eigen Values</a:t>
            </a:r>
          </a:p>
        </p:txBody>
      </p:sp>
    </p:spTree>
    <p:extLst>
      <p:ext uri="{BB962C8B-B14F-4D97-AF65-F5344CB8AC3E}">
        <p14:creationId xmlns:p14="http://schemas.microsoft.com/office/powerpoint/2010/main" val="1418068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Content Placeholder 3">
            <a:extLst>
              <a:ext uri="{FF2B5EF4-FFF2-40B4-BE49-F238E27FC236}">
                <a16:creationId xmlns:a16="http://schemas.microsoft.com/office/drawing/2014/main" id="{5A16A3F2-0F8E-8E85-84BB-71A7A4950CA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8519" y="669092"/>
            <a:ext cx="3237474" cy="2479529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0EAD9-3734-3AC7-A61B-741D3A0EAA4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Example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0920CB3-4803-928F-7548-B47712ECCD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    </a:t>
            </a:r>
            <a:r>
              <a:rPr lang="en-US" sz="1000" b="1" i="0" dirty="0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A triangular matrix</a:t>
            </a:r>
            <a:r>
              <a:rPr lang="en-US" sz="1000" b="0" i="0" dirty="0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 is a special case of a square matrix, where all elements above or below the principal diagonal are zeros. An </a:t>
            </a:r>
            <a:r>
              <a:rPr lang="en-US" sz="1000" b="1" i="0" dirty="0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upper triangular matrix </a:t>
            </a:r>
            <a:r>
              <a:rPr lang="en-US" sz="1000" b="0" i="0" dirty="0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is a square matrix, whose all elements below the principal diagonal are zeros. A </a:t>
            </a:r>
            <a:r>
              <a:rPr lang="en-US" sz="1000" b="1" i="0" dirty="0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lower triangular matrix </a:t>
            </a:r>
            <a:r>
              <a:rPr lang="en-US" sz="1000" b="0" i="0" dirty="0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is a square matrix, whose all elements above the principal diagonal are zeros. </a:t>
            </a:r>
            <a:endParaRPr lang="en-IN" sz="1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C075B7-6AA3-B9E0-5559-309D4C09CB3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Triangular Matrices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A518BB-DB6B-F633-4FF1-1820FA0449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340" y="1693415"/>
            <a:ext cx="3524250" cy="1582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4281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Content Placeholder 3">
            <a:extLst>
              <a:ext uri="{FF2B5EF4-FFF2-40B4-BE49-F238E27FC236}">
                <a16:creationId xmlns:a16="http://schemas.microsoft.com/office/drawing/2014/main" id="{2DFBDED0-127D-61DE-EC25-63D48DD3415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041" b="9604"/>
          <a:stretch>
            <a:fillRect/>
          </a:stretch>
        </p:blipFill>
        <p:spPr>
          <a:xfrm>
            <a:off x="76834" y="693102"/>
            <a:ext cx="4285591" cy="1723073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30CDD-3116-C88A-93CD-ABF8565BFB2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Eigen Values of a triangular Matrix</a:t>
            </a:r>
          </a:p>
        </p:txBody>
      </p:sp>
      <p:sp>
        <p:nvSpPr>
          <p:cNvPr id="23556" name="TextBox 4">
            <a:extLst>
              <a:ext uri="{FF2B5EF4-FFF2-40B4-BE49-F238E27FC236}">
                <a16:creationId xmlns:a16="http://schemas.microsoft.com/office/drawing/2014/main" id="{E3655225-991C-0888-69B5-EED2C144D8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650" y="2492375"/>
            <a:ext cx="3803333" cy="651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defTabSz="461040" rtl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908" kern="1200" dirty="0">
                <a:solidFill>
                  <a:prstClr val="black"/>
                </a:solidFill>
                <a:ea typeface="+mn-ea"/>
              </a:rPr>
              <a:t>If </a:t>
            </a:r>
            <a:r>
              <a:rPr lang="el-GR" altLang="en-US" sz="908" kern="1200" dirty="0">
                <a:solidFill>
                  <a:prstClr val="black"/>
                </a:solidFill>
                <a:latin typeface="Cambria Math" panose="02040503050406030204" pitchFamily="18" charset="0"/>
                <a:ea typeface="+mn-ea"/>
              </a:rPr>
              <a:t>λ</a:t>
            </a:r>
            <a:r>
              <a:rPr lang="en-US" altLang="en-US" sz="908" kern="1200" dirty="0">
                <a:solidFill>
                  <a:prstClr val="black"/>
                </a:solidFill>
                <a:latin typeface="Cambria Math" panose="02040503050406030204" pitchFamily="18" charset="0"/>
                <a:ea typeface="+mn-ea"/>
              </a:rPr>
              <a:t> = a</a:t>
            </a:r>
            <a:r>
              <a:rPr lang="en-US" altLang="en-US" sz="908" kern="1200" baseline="-25000" dirty="0">
                <a:solidFill>
                  <a:prstClr val="black"/>
                </a:solidFill>
                <a:latin typeface="Cambria Math" panose="02040503050406030204" pitchFamily="18" charset="0"/>
                <a:ea typeface="+mn-ea"/>
              </a:rPr>
              <a:t>11</a:t>
            </a:r>
            <a:r>
              <a:rPr lang="en-US" altLang="en-US" sz="908" kern="1200" dirty="0">
                <a:solidFill>
                  <a:prstClr val="black"/>
                </a:solidFill>
                <a:latin typeface="Cambria Math" panose="02040503050406030204" pitchFamily="18" charset="0"/>
                <a:ea typeface="+mn-ea"/>
              </a:rPr>
              <a:t> or a</a:t>
            </a:r>
            <a:r>
              <a:rPr lang="en-US" altLang="en-US" sz="908" kern="1200" baseline="-25000" dirty="0">
                <a:solidFill>
                  <a:prstClr val="black"/>
                </a:solidFill>
                <a:latin typeface="Cambria Math" panose="02040503050406030204" pitchFamily="18" charset="0"/>
                <a:ea typeface="+mn-ea"/>
              </a:rPr>
              <a:t>22</a:t>
            </a:r>
            <a:r>
              <a:rPr lang="en-US" altLang="en-US" sz="908" kern="1200" dirty="0">
                <a:solidFill>
                  <a:prstClr val="black"/>
                </a:solidFill>
                <a:latin typeface="Cambria Math" panose="02040503050406030204" pitchFamily="18" charset="0"/>
                <a:ea typeface="+mn-ea"/>
              </a:rPr>
              <a:t> or a</a:t>
            </a:r>
            <a:r>
              <a:rPr lang="en-US" altLang="en-US" sz="908" kern="1200" baseline="-25000" dirty="0">
                <a:solidFill>
                  <a:prstClr val="black"/>
                </a:solidFill>
                <a:latin typeface="Cambria Math" panose="02040503050406030204" pitchFamily="18" charset="0"/>
                <a:ea typeface="+mn-ea"/>
              </a:rPr>
              <a:t>33</a:t>
            </a:r>
            <a:r>
              <a:rPr lang="en-US" altLang="en-US" sz="908" kern="1200" dirty="0">
                <a:solidFill>
                  <a:prstClr val="black"/>
                </a:solidFill>
                <a:latin typeface="Cambria Math" panose="02040503050406030204" pitchFamily="18" charset="0"/>
                <a:ea typeface="+mn-ea"/>
              </a:rPr>
              <a:t>, then at least one column will not have a pivot element and  hence the system of homogenous equations (A – </a:t>
            </a:r>
            <a:r>
              <a:rPr lang="el-GR" altLang="en-US" sz="908" kern="1200" dirty="0">
                <a:solidFill>
                  <a:prstClr val="black"/>
                </a:solidFill>
                <a:latin typeface="Cambria Math" panose="02040503050406030204" pitchFamily="18" charset="0"/>
                <a:ea typeface="+mn-ea"/>
              </a:rPr>
              <a:t>λ</a:t>
            </a:r>
            <a:r>
              <a:rPr lang="en-US" altLang="en-US" sz="908" kern="1200" dirty="0">
                <a:solidFill>
                  <a:prstClr val="black"/>
                </a:solidFill>
                <a:latin typeface="Cambria Math" panose="02040503050406030204" pitchFamily="18" charset="0"/>
                <a:ea typeface="+mn-ea"/>
              </a:rPr>
              <a:t>I)X = 0 has a non-trivial solution. This means all diagonal element are Eigen values of A.</a:t>
            </a:r>
            <a:endParaRPr lang="en-IN" altLang="en-US" sz="908" kern="1200" dirty="0">
              <a:solidFill>
                <a:prstClr val="black"/>
              </a:solidFill>
              <a:ea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8B44038-9873-FE05-B49E-191FDD88C4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Now  let us see how to find the eigen values of a matrix.</a:t>
            </a:r>
          </a:p>
          <a:p>
            <a:r>
              <a:rPr lang="en-IN" dirty="0"/>
              <a:t>In order to find the eigen values of a </a:t>
            </a:r>
            <a:r>
              <a:rPr lang="en-IN" dirty="0" err="1"/>
              <a:t>amatrix</a:t>
            </a:r>
            <a:r>
              <a:rPr lang="en-IN" dirty="0"/>
              <a:t> A we will solve an equation called characteristic equation : det(A – </a:t>
            </a:r>
            <a:r>
              <a:rPr lang="el-GR" dirty="0">
                <a:latin typeface="Cambria Math" panose="02040503050406030204" pitchFamily="18" charset="0"/>
                <a:ea typeface="Cambria Math" panose="02040503050406030204" pitchFamily="18" charset="0"/>
              </a:rPr>
              <a:t>λ</a:t>
            </a: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I) = 0.</a:t>
            </a:r>
            <a:r>
              <a:rPr lang="en-IN" dirty="0"/>
              <a:t> </a:t>
            </a:r>
          </a:p>
          <a:p>
            <a:r>
              <a:rPr lang="en-IN" dirty="0"/>
              <a:t>In this context we require to study the determinant of a matrix.</a:t>
            </a:r>
          </a:p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78EB0-7904-FC40-ABD3-ADEE0A68397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How to find the eigen values of a matrix</a:t>
            </a:r>
          </a:p>
        </p:txBody>
      </p:sp>
    </p:spTree>
    <p:extLst>
      <p:ext uri="{BB962C8B-B14F-4D97-AF65-F5344CB8AC3E}">
        <p14:creationId xmlns:p14="http://schemas.microsoft.com/office/powerpoint/2010/main" val="19934513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748BD-E0F2-0CF3-0A12-99006A470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72527"/>
            <a:ext cx="2947035" cy="215444"/>
          </a:xfrm>
        </p:spPr>
        <p:txBody>
          <a:bodyPr/>
          <a:lstStyle/>
          <a:p>
            <a:r>
              <a:rPr lang="en-IN" dirty="0"/>
              <a:t>Minor and cofactor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A0B03A-7C25-9424-9F86-91681BA83C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A4D8F1-FF07-60F2-F8D9-31EB597524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957" y="697114"/>
            <a:ext cx="3581400" cy="67553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F83C87F-12D1-60A8-8322-FAD4895D13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517" y="1589661"/>
            <a:ext cx="3601066" cy="384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0994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BBFBB-B588-BD2B-A1C1-1414D698C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72527"/>
            <a:ext cx="2947035" cy="215444"/>
          </a:xfrm>
        </p:spPr>
        <p:txBody>
          <a:bodyPr/>
          <a:lstStyle/>
          <a:p>
            <a:r>
              <a:rPr lang="en-IN" dirty="0"/>
              <a:t>Definition of Determinant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7C6BE4-D463-B7A5-6EA8-439A7BC921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54F787-BBC2-000E-457F-4B53D31D6F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706885"/>
            <a:ext cx="3483293" cy="746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4446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A948B-D3AB-1018-5E5B-9246C68B2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72527"/>
            <a:ext cx="2947035" cy="215444"/>
          </a:xfrm>
        </p:spPr>
        <p:txBody>
          <a:bodyPr/>
          <a:lstStyle/>
          <a:p>
            <a:r>
              <a:rPr lang="en-IN" dirty="0"/>
              <a:t>Determinant of a 2x2 matrix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92B58A-4C2E-69F1-A676-9DE4EDFB54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75C21E-DC8D-E5F0-D5E5-9F046AF62C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957" y="697114"/>
            <a:ext cx="3544111" cy="86756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0426B1B-80A4-8CCB-8249-A8860649194E}"/>
                  </a:ext>
                </a:extLst>
              </p:cNvPr>
              <p:cNvSpPr txBox="1"/>
              <p:nvPr/>
            </p:nvSpPr>
            <p:spPr>
              <a:xfrm>
                <a:off x="513540" y="1564683"/>
                <a:ext cx="3583022" cy="5216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00" dirty="0"/>
                  <a:t>If </a:t>
                </a:r>
                <a14:m>
                  <m:oMath xmlns:m="http://schemas.openxmlformats.org/officeDocument/2006/math">
                    <m:r>
                      <a:rPr lang="en-IN" sz="1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1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1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10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IN" sz="1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1000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</m:mr>
                          <m:mr>
                            <m:e>
                              <m:r>
                                <a:rPr lang="en-IN" sz="1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10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IN" sz="1000" dirty="0"/>
                  <a:t> then </a:t>
                </a: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IN" sz="1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N" sz="1000" b="0" i="0" smtClean="0">
                            <a:latin typeface="Cambria Math" panose="02040503050406030204" pitchFamily="18" charset="0"/>
                          </a:rPr>
                          <m:t>det</m:t>
                        </m:r>
                      </m:fName>
                      <m:e>
                        <m:d>
                          <m:dPr>
                            <m:ctrlPr>
                              <a:rPr lang="en-IN" sz="1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10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</m:func>
                    <m:r>
                      <a:rPr lang="en-IN" sz="1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IN" sz="1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000" b="0" i="1" smtClean="0">
                            <a:latin typeface="Cambria Math" panose="02040503050406030204" pitchFamily="18" charset="0"/>
                          </a:rPr>
                          <m:t>1∗4</m:t>
                        </m:r>
                      </m:e>
                    </m:d>
                    <m:r>
                      <a:rPr lang="en-IN" sz="1000" b="0" i="1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IN" sz="1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IN" sz="1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1000" b="0" i="1" smtClean="0">
                                <a:latin typeface="Cambria Math" panose="02040503050406030204" pitchFamily="18" charset="0"/>
                              </a:rPr>
                              <m:t>−3</m:t>
                            </m:r>
                          </m:e>
                        </m:d>
                        <m:r>
                          <a:rPr lang="en-IN" sz="1000" b="0" i="1" smtClean="0">
                            <a:latin typeface="Cambria Math" panose="02040503050406030204" pitchFamily="18" charset="0"/>
                          </a:rPr>
                          <m:t>∗2</m:t>
                        </m:r>
                      </m:e>
                    </m:d>
                    <m:r>
                      <a:rPr lang="en-IN" sz="1000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IN" sz="1000" dirty="0"/>
                  <a:t> 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0426B1B-80A4-8CCB-8249-A886064919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540" y="1564683"/>
                <a:ext cx="3583022" cy="52168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D8E2EAD7-32C0-EE71-0CED-432B260066BA}"/>
              </a:ext>
            </a:extLst>
          </p:cNvPr>
          <p:cNvSpPr txBox="1"/>
          <p:nvPr/>
        </p:nvSpPr>
        <p:spPr>
          <a:xfrm>
            <a:off x="513540" y="2187575"/>
            <a:ext cx="34525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In the above matrix A find minor and cofactor of each entry.</a:t>
            </a:r>
          </a:p>
        </p:txBody>
      </p:sp>
    </p:spTree>
    <p:extLst>
      <p:ext uri="{BB962C8B-B14F-4D97-AF65-F5344CB8AC3E}">
        <p14:creationId xmlns:p14="http://schemas.microsoft.com/office/powerpoint/2010/main" val="11706317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1F63A-1E65-C2BB-E9CA-0D2BBB65E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72527"/>
            <a:ext cx="2947035" cy="215444"/>
          </a:xfrm>
        </p:spPr>
        <p:txBody>
          <a:bodyPr/>
          <a:lstStyle/>
          <a:p>
            <a:r>
              <a:rPr lang="en-IN" dirty="0"/>
              <a:t>Theorem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42AB10-2BD9-C337-09A3-E846DBD484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CE7206-AFAB-17B7-7224-C739768363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" t="3820" r="413"/>
          <a:stretch/>
        </p:blipFill>
        <p:spPr>
          <a:xfrm>
            <a:off x="272414" y="762003"/>
            <a:ext cx="4114800" cy="1936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1589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8E607-FCCF-9549-972D-44A6EA31F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72527"/>
            <a:ext cx="2947035" cy="215444"/>
          </a:xfrm>
        </p:spPr>
        <p:txBody>
          <a:bodyPr/>
          <a:lstStyle/>
          <a:p>
            <a:r>
              <a:rPr lang="en-IN" dirty="0"/>
              <a:t>Determinant of 3x3 matrix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FD2B8C-5B91-6CCD-16DB-D0FBD4EB1A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6251" y="739775"/>
            <a:ext cx="3810000" cy="2237105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AA4914-E8F3-D720-F471-D592B96205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45" y="723528"/>
            <a:ext cx="3279005" cy="9740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CD3C0FE-02C9-3125-0796-93F902FF6B59}"/>
                  </a:ext>
                </a:extLst>
              </p:cNvPr>
              <p:cNvSpPr txBox="1"/>
              <p:nvPr/>
            </p:nvSpPr>
            <p:spPr>
              <a:xfrm>
                <a:off x="476250" y="1697609"/>
                <a:ext cx="3545721" cy="12687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IN" sz="1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sz="1000" b="0" i="0" smtClean="0">
                              <a:latin typeface="Cambria Math" panose="02040503050406030204" pitchFamily="18" charset="0"/>
                            </a:rPr>
                            <m:t>det</m:t>
                          </m:r>
                        </m:fName>
                        <m:e>
                          <m:d>
                            <m:dPr>
                              <m:ctrlPr>
                                <a:rPr lang="en-IN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10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e>
                      </m:func>
                      <m:r>
                        <a:rPr lang="en-IN" sz="1000" b="0" i="1" smtClean="0">
                          <a:latin typeface="Cambria Math" panose="02040503050406030204" pitchFamily="18" charset="0"/>
                        </a:rPr>
                        <m:t>=3</m:t>
                      </m:r>
                      <m:func>
                        <m:funcPr>
                          <m:ctrlPr>
                            <a:rPr lang="en-IN" sz="1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sz="1000" b="0" i="0" smtClean="0">
                              <a:latin typeface="Cambria Math" panose="02040503050406030204" pitchFamily="18" charset="0"/>
                            </a:rPr>
                            <m:t>det</m:t>
                          </m:r>
                        </m:fName>
                        <m:e>
                          <m:d>
                            <m:dPr>
                              <m:ctrlPr>
                                <a:rPr lang="en-IN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IN" sz="1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IN" sz="1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IN" sz="1000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IN" sz="1000" b="0" i="1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e>
                                      <m:e>
                                        <m:r>
                                          <a:rPr lang="en-IN" sz="10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IN" sz="1000" b="0" i="1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e>
                                      <m:e>
                                        <m:r>
                                          <a:rPr lang="en-IN" sz="1000" b="0" i="1" smtClean="0">
                                            <a:latin typeface="Cambria Math" panose="02040503050406030204" pitchFamily="18" charset="0"/>
                                          </a:rPr>
                                          <m:t>−2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</m:e>
                          </m:d>
                        </m:e>
                      </m:func>
                      <m:r>
                        <a:rPr lang="en-IN" sz="1000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IN" sz="1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0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func>
                        <m:funcPr>
                          <m:ctrlPr>
                            <a:rPr lang="en-IN" sz="1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sz="1000" b="0" i="0" smtClean="0">
                              <a:latin typeface="Cambria Math" panose="02040503050406030204" pitchFamily="18" charset="0"/>
                            </a:rPr>
                            <m:t>det</m:t>
                          </m:r>
                        </m:fName>
                        <m:e>
                          <m:d>
                            <m:dPr>
                              <m:ctrlPr>
                                <a:rPr lang="en-IN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IN" sz="1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IN" sz="1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IN" sz="10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  <m:e>
                                        <m:r>
                                          <a:rPr lang="en-IN" sz="1000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IN" sz="1000" b="0" i="1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e>
                                      <m:e>
                                        <m:r>
                                          <a:rPr lang="en-IN" sz="1000" b="0" i="1" smtClean="0">
                                            <a:latin typeface="Cambria Math" panose="02040503050406030204" pitchFamily="18" charset="0"/>
                                          </a:rPr>
                                          <m:t>−2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</m:e>
                          </m:d>
                        </m:e>
                      </m:func>
                      <m:r>
                        <a:rPr lang="en-IN" sz="1000" b="0" i="0" smtClean="0">
                          <a:latin typeface="Cambria Math" panose="02040503050406030204" pitchFamily="18" charset="0"/>
                        </a:rPr>
                        <m:t>+5</m:t>
                      </m:r>
                      <m:func>
                        <m:funcPr>
                          <m:ctrlPr>
                            <a:rPr lang="en-IN" sz="1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sz="1000" b="0" i="0" smtClean="0">
                              <a:latin typeface="Cambria Math" panose="02040503050406030204" pitchFamily="18" charset="0"/>
                            </a:rPr>
                            <m:t>det</m:t>
                          </m:r>
                        </m:fName>
                        <m:e>
                          <m:d>
                            <m:dPr>
                              <m:ctrlPr>
                                <a:rPr lang="en-IN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IN" sz="1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IN" sz="1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IN" sz="10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  <m:e>
                                        <m:r>
                                          <a:rPr lang="en-IN" sz="1000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IN" sz="1000" b="0" i="1" smtClean="0">
                                            <a:latin typeface="Cambria Math" panose="02040503050406030204" pitchFamily="18" charset="0"/>
                                          </a:rPr>
                                          <m:t>−4</m:t>
                                        </m:r>
                                      </m:e>
                                      <m:e>
                                        <m:r>
                                          <a:rPr lang="en-IN" sz="10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IN" sz="1000" dirty="0"/>
              </a:p>
              <a:p>
                <a:endParaRPr lang="en-IN" sz="1000" dirty="0"/>
              </a:p>
              <a:p>
                <a:r>
                  <a:rPr lang="en-IN" sz="1000" dirty="0"/>
                  <a:t>= (3*(-4)) + (2*(-2)) + (5*3) = -1</a:t>
                </a:r>
              </a:p>
              <a:p>
                <a:endParaRPr lang="en-IN" sz="1000" dirty="0"/>
              </a:p>
              <a:p>
                <a:r>
                  <a:rPr lang="en-IN" sz="1000" dirty="0"/>
                  <a:t>Ex:  Evaluate det(A) by cofactor expansion along the first row.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CD3C0FE-02C9-3125-0796-93F902FF6B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250" y="1697609"/>
                <a:ext cx="3545721" cy="1268745"/>
              </a:xfrm>
              <a:prstGeom prst="rect">
                <a:avLst/>
              </a:prstGeom>
              <a:blipFill>
                <a:blip r:embed="rId3"/>
                <a:stretch>
                  <a:fillRect b="-95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39658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1C812-D11C-2F8A-C072-8366F95EA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72527"/>
            <a:ext cx="2947035" cy="430887"/>
          </a:xfrm>
        </p:spPr>
        <p:txBody>
          <a:bodyPr/>
          <a:lstStyle/>
          <a:p>
            <a:r>
              <a:rPr lang="en-IN" dirty="0"/>
              <a:t>Determinant and Elementary Row operations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343CEC-01BD-5096-DC8C-2A263161DF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1450" y="815975"/>
            <a:ext cx="4267199" cy="2369880"/>
          </a:xfrm>
        </p:spPr>
        <p:txBody>
          <a:bodyPr/>
          <a:lstStyle/>
          <a:p>
            <a:r>
              <a:rPr lang="en-IN" dirty="0"/>
              <a:t> 1. Let A be an </a:t>
            </a:r>
            <a:r>
              <a:rPr lang="en-IN" dirty="0" err="1"/>
              <a:t>nxn</a:t>
            </a:r>
            <a:r>
              <a:rPr lang="en-IN" dirty="0"/>
              <a:t> matrix and B be the matrix obtained from A by interchanging any two rows of A. Then det(B) = -det(A).</a:t>
            </a:r>
          </a:p>
          <a:p>
            <a:endParaRPr lang="en-IN" dirty="0"/>
          </a:p>
          <a:p>
            <a:r>
              <a:rPr lang="en-IN" dirty="0"/>
              <a:t>2. Let A be an </a:t>
            </a:r>
            <a:r>
              <a:rPr lang="en-IN" dirty="0" err="1"/>
              <a:t>nxn</a:t>
            </a:r>
            <a:r>
              <a:rPr lang="en-IN" dirty="0"/>
              <a:t> matrix and B be the matrix obtained from A by multiplying a row by a non zero constant c. Then det(B) = c det(A).</a:t>
            </a:r>
          </a:p>
          <a:p>
            <a:endParaRPr lang="en-IN" dirty="0"/>
          </a:p>
          <a:p>
            <a:r>
              <a:rPr lang="en-IN" dirty="0"/>
              <a:t>3. </a:t>
            </a:r>
            <a:r>
              <a:rPr lang="en-US" dirty="0"/>
              <a:t>Let A be an </a:t>
            </a:r>
            <a:r>
              <a:rPr lang="en-US" dirty="0" err="1"/>
              <a:t>n×n</a:t>
            </a:r>
            <a:r>
              <a:rPr lang="en-US" dirty="0"/>
              <a:t> matrix and let B be the matrix which results from adding a multiple of a row to another row. Then det(A)=det(B)</a:t>
            </a:r>
          </a:p>
          <a:p>
            <a:endParaRPr lang="en-US" dirty="0"/>
          </a:p>
          <a:p>
            <a:r>
              <a:rPr lang="en-US" dirty="0"/>
              <a:t>Note that when we compute the echelon form (Not </a:t>
            </a:r>
            <a:r>
              <a:rPr lang="en-US" dirty="0" err="1"/>
              <a:t>rref</a:t>
            </a:r>
            <a:r>
              <a:rPr lang="en-US" dirty="0"/>
              <a:t>) of a matrix, we use only the elementary operations 1 and 3. So we can redefine the determinant in the following way. </a:t>
            </a:r>
          </a:p>
          <a:p>
            <a:r>
              <a:rPr lang="en-US" dirty="0"/>
              <a:t>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54688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Content Placeholder 1">
            <a:extLst>
              <a:ext uri="{FF2B5EF4-FFF2-40B4-BE49-F238E27FC236}">
                <a16:creationId xmlns:a16="http://schemas.microsoft.com/office/drawing/2014/main" id="{7C34CC2D-C32A-D106-EAF4-C830D74BC4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670" y="754731"/>
            <a:ext cx="4149090" cy="2281839"/>
          </a:xfrm>
        </p:spPr>
        <p:txBody>
          <a:bodyPr/>
          <a:lstStyle/>
          <a:p>
            <a:pPr fontAlgn="base">
              <a:spcAft>
                <a:spcPct val="0"/>
              </a:spcAft>
            </a:pPr>
            <a:r>
              <a:rPr lang="en-US" altLang="en-US" sz="1000" dirty="0"/>
              <a:t> Definition: Let A be an </a:t>
            </a:r>
            <a:r>
              <a:rPr lang="en-US" altLang="en-US" sz="1000" dirty="0" err="1"/>
              <a:t>nxn</a:t>
            </a:r>
            <a:r>
              <a:rPr lang="en-US" altLang="en-US" sz="1000" dirty="0"/>
              <a:t> matrix and U be the Echelon form of A.</a:t>
            </a:r>
          </a:p>
          <a:p>
            <a:pPr fontAlgn="base">
              <a:spcAft>
                <a:spcPct val="0"/>
              </a:spcAft>
            </a:pPr>
            <a:r>
              <a:rPr lang="en-US" altLang="en-US" sz="1000" dirty="0"/>
              <a:t> Then the product  (-1)</a:t>
            </a:r>
            <a:r>
              <a:rPr lang="en-US" altLang="en-US" sz="1000" baseline="30000" dirty="0"/>
              <a:t>r</a:t>
            </a:r>
            <a:r>
              <a:rPr lang="en-US" altLang="en-US" sz="1000" dirty="0"/>
              <a:t> u</a:t>
            </a:r>
            <a:r>
              <a:rPr lang="en-US" altLang="en-US" sz="1000" baseline="-25000" dirty="0"/>
              <a:t>11</a:t>
            </a:r>
            <a:r>
              <a:rPr lang="en-US" altLang="en-US" sz="1000" dirty="0"/>
              <a:t>u</a:t>
            </a:r>
            <a:r>
              <a:rPr lang="en-US" altLang="en-US" sz="1000" baseline="-25000" dirty="0"/>
              <a:t>22</a:t>
            </a:r>
            <a:r>
              <a:rPr lang="en-US" altLang="en-US" sz="1000" dirty="0"/>
              <a:t>…</a:t>
            </a:r>
            <a:r>
              <a:rPr lang="en-US" altLang="en-US" sz="1000" dirty="0" err="1"/>
              <a:t>u</a:t>
            </a:r>
            <a:r>
              <a:rPr lang="en-US" altLang="en-US" sz="1000" baseline="-25000" dirty="0" err="1"/>
              <a:t>nn</a:t>
            </a:r>
            <a:r>
              <a:rPr lang="en-US" altLang="en-US" sz="1000" dirty="0"/>
              <a:t> is called determinant of A. Here r is</a:t>
            </a:r>
          </a:p>
          <a:p>
            <a:pPr fontAlgn="base">
              <a:spcAft>
                <a:spcPct val="0"/>
              </a:spcAft>
            </a:pPr>
            <a:r>
              <a:rPr lang="en-US" altLang="en-US" sz="1000" dirty="0"/>
              <a:t> number of times we exchange the rows.</a:t>
            </a:r>
          </a:p>
          <a:p>
            <a:pPr fontAlgn="base">
              <a:spcAft>
                <a:spcPct val="0"/>
              </a:spcAft>
            </a:pPr>
            <a:endParaRPr lang="en-US" altLang="en-US" sz="1000" dirty="0"/>
          </a:p>
          <a:p>
            <a:pPr fontAlgn="base">
              <a:spcAft>
                <a:spcPct val="0"/>
              </a:spcAft>
            </a:pPr>
            <a:endParaRPr lang="en-US" altLang="en-US" sz="1000" dirty="0"/>
          </a:p>
          <a:p>
            <a:pPr fontAlgn="base">
              <a:spcAft>
                <a:spcPct val="0"/>
              </a:spcAft>
            </a:pPr>
            <a:endParaRPr lang="en-US" altLang="en-US" sz="1000" dirty="0"/>
          </a:p>
          <a:p>
            <a:pPr fontAlgn="base">
              <a:spcAft>
                <a:spcPct val="0"/>
              </a:spcAft>
            </a:pPr>
            <a:endParaRPr lang="en-US" altLang="en-US" sz="1000" dirty="0"/>
          </a:p>
          <a:p>
            <a:pPr fontAlgn="base">
              <a:spcAft>
                <a:spcPct val="0"/>
              </a:spcAft>
            </a:pPr>
            <a:endParaRPr lang="en-I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E1569-00BE-EE94-4922-942A9418B0F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Alternating way of defining determinant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42418-E441-78D0-3B26-DCB630283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72527"/>
            <a:ext cx="2947035" cy="430887"/>
          </a:xfrm>
        </p:spPr>
        <p:txBody>
          <a:bodyPr/>
          <a:lstStyle/>
          <a:p>
            <a:r>
              <a:rPr lang="en-IN" dirty="0"/>
              <a:t>Theorem (Equivalent conditions of det(A) </a:t>
            </a: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≠ 0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E0252B-EC55-6751-1546-AD79D78426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428" y="1777566"/>
            <a:ext cx="3657917" cy="1054699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EE0883-C036-3FD5-75B7-0545C0767E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7380" y="649922"/>
            <a:ext cx="3815715" cy="2160905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DD1C45-6B12-AC40-60BE-7E2D32029A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3110" b="49748"/>
          <a:stretch/>
        </p:blipFill>
        <p:spPr>
          <a:xfrm>
            <a:off x="400050" y="689134"/>
            <a:ext cx="3429000" cy="1119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227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lum contrast="40000"/>
          </a:blip>
          <a:stretch>
            <a:fillRect/>
          </a:stretch>
        </p:blipFill>
        <p:spPr>
          <a:xfrm>
            <a:off x="230505" y="846773"/>
            <a:ext cx="3611245" cy="1310951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How to compute Eigen values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7340" y="2345055"/>
            <a:ext cx="2842895" cy="371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461040" rtl="0"/>
            <a:r>
              <a:rPr lang="en-US" sz="908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+mn-cs"/>
              </a:rPr>
              <a:t>|A – </a:t>
            </a:r>
            <a:r>
              <a:rPr lang="el-GR" sz="908" kern="1200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λ</a:t>
            </a:r>
            <a:r>
              <a:rPr lang="en-US" sz="908" kern="1200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I</a:t>
            </a:r>
            <a:r>
              <a:rPr lang="en-US" sz="908" kern="1200" baseline="-25000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n</a:t>
            </a:r>
            <a:r>
              <a:rPr lang="en-US" sz="908" kern="1200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| is called characteristic polynomial.</a:t>
            </a:r>
          </a:p>
          <a:p>
            <a:pPr algn="l" defTabSz="461040" rtl="0"/>
            <a:r>
              <a:rPr lang="en-US" sz="908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+mn-cs"/>
              </a:rPr>
              <a:t>|A – </a:t>
            </a:r>
            <a:r>
              <a:rPr lang="el-GR" sz="908" kern="1200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λ</a:t>
            </a:r>
            <a:r>
              <a:rPr lang="en-US" sz="908" kern="1200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I</a:t>
            </a:r>
            <a:r>
              <a:rPr lang="en-US" sz="908" kern="1200" baseline="-25000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n</a:t>
            </a:r>
            <a:r>
              <a:rPr lang="en-US" sz="908" kern="1200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| = 0 is called characteristic equation.</a:t>
            </a:r>
            <a:endParaRPr lang="en-US" sz="908" kern="1200" dirty="0">
              <a:solidFill>
                <a:prstClr val="black"/>
              </a:solidFill>
              <a:latin typeface="Tw Cen MT" panose="020B06020201040206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1204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lum contrast="40000"/>
          </a:blip>
          <a:stretch>
            <a:fillRect/>
          </a:stretch>
        </p:blipFill>
        <p:spPr>
          <a:xfrm>
            <a:off x="1997710" y="769938"/>
            <a:ext cx="713032" cy="287351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Example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670" y="769938"/>
            <a:ext cx="1959293" cy="371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461040" rtl="0"/>
            <a:r>
              <a:rPr lang="en-US" sz="908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+mn-cs"/>
              </a:rPr>
              <a:t>Find the eigen values and  eigen vectors of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lum contrast="40000"/>
          </a:blip>
          <a:stretch>
            <a:fillRect/>
          </a:stretch>
        </p:blipFill>
        <p:spPr>
          <a:xfrm>
            <a:off x="176905" y="1230948"/>
            <a:ext cx="3641610" cy="187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2188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lum contrast="40000"/>
          </a:blip>
          <a:stretch>
            <a:fillRect/>
          </a:stretch>
        </p:blipFill>
        <p:spPr>
          <a:xfrm>
            <a:off x="307340" y="808355"/>
            <a:ext cx="3682685" cy="2036128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Example 1 </a:t>
            </a:r>
            <a:r>
              <a:rPr lang="en-US" dirty="0" err="1"/>
              <a:t>Ctd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59981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lum contrast="40000"/>
          </a:blip>
          <a:stretch>
            <a:fillRect/>
          </a:stretch>
        </p:blipFill>
        <p:spPr>
          <a:xfrm>
            <a:off x="268922" y="846773"/>
            <a:ext cx="3897755" cy="199771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Example 1 </a:t>
            </a:r>
            <a:r>
              <a:rPr lang="en-US" dirty="0" err="1"/>
              <a:t>Ctd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8913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2791" y="846773"/>
            <a:ext cx="3538080" cy="46101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Eigen Space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lum contrast="40000"/>
          </a:blip>
          <a:stretch>
            <a:fillRect/>
          </a:stretch>
        </p:blipFill>
        <p:spPr>
          <a:xfrm>
            <a:off x="3150235" y="1414096"/>
            <a:ext cx="841012" cy="39225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8076" y="1481925"/>
            <a:ext cx="2510561" cy="371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461040" rtl="0"/>
            <a:r>
              <a:rPr lang="en-US" sz="908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+mn-cs"/>
              </a:rPr>
              <a:t>Find the Eigen values and Eigen Space of the matrix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>
            <a:lum contrast="40000"/>
          </a:blip>
          <a:srcRect l="1528" t="-60" r="-1234" b="43647"/>
          <a:stretch/>
        </p:blipFill>
        <p:spPr>
          <a:xfrm>
            <a:off x="739053" y="1806353"/>
            <a:ext cx="3102697" cy="80762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25283" y="2834263"/>
            <a:ext cx="3530237" cy="371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461040" rtl="0"/>
            <a:r>
              <a:rPr lang="en-US" sz="908" kern="1200" dirty="0" err="1">
                <a:solidFill>
                  <a:prstClr val="black"/>
                </a:solidFill>
                <a:latin typeface="Tw Cen MT" panose="020B0602020104020603"/>
                <a:ea typeface="+mn-ea"/>
                <a:cs typeface="+mn-cs"/>
              </a:rPr>
              <a:t>Charateristic</a:t>
            </a:r>
            <a:r>
              <a:rPr lang="en-US" sz="908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+mn-cs"/>
              </a:rPr>
              <a:t> equation is  (</a:t>
            </a:r>
            <a:r>
              <a:rPr lang="el-GR" sz="908" kern="1200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λ</a:t>
            </a:r>
            <a:r>
              <a:rPr lang="en-US" sz="908" kern="1200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-1)</a:t>
            </a:r>
            <a:r>
              <a:rPr lang="en-US" sz="908" kern="1200" baseline="30000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2</a:t>
            </a:r>
            <a:r>
              <a:rPr lang="en-US" sz="908" kern="1200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 (</a:t>
            </a:r>
            <a:r>
              <a:rPr lang="el-GR" sz="908" kern="1200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λ</a:t>
            </a:r>
            <a:r>
              <a:rPr lang="en-US" sz="908" kern="1200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-10) = 0</a:t>
            </a:r>
          </a:p>
          <a:p>
            <a:pPr algn="l" defTabSz="461040" rtl="0"/>
            <a:r>
              <a:rPr lang="en-US" sz="908" kern="1200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Eigen values are 1 (repeated twice) and 10.</a:t>
            </a:r>
            <a:endParaRPr lang="en-US" sz="908" kern="1200" dirty="0">
              <a:solidFill>
                <a:prstClr val="black"/>
              </a:solidFill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487626" y="2305729"/>
            <a:ext cx="1302022" cy="232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461040" rtl="0"/>
            <a:r>
              <a:rPr lang="en-US" sz="908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+mn-cs"/>
              </a:rPr>
              <a:t>= -(</a:t>
            </a:r>
            <a:r>
              <a:rPr lang="el-GR" sz="908" kern="1200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λ</a:t>
            </a:r>
            <a:r>
              <a:rPr lang="en-US" sz="908" kern="1200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-1)</a:t>
            </a:r>
            <a:r>
              <a:rPr lang="en-US" sz="908" kern="1200" baseline="30000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2</a:t>
            </a:r>
            <a:r>
              <a:rPr lang="en-US" sz="908" kern="1200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 (</a:t>
            </a:r>
            <a:r>
              <a:rPr lang="el-GR" sz="908" kern="1200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λ</a:t>
            </a:r>
            <a:r>
              <a:rPr lang="en-US" sz="908" kern="1200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-10)</a:t>
            </a:r>
            <a:endParaRPr lang="en-US" sz="908" kern="1200" dirty="0">
              <a:solidFill>
                <a:prstClr val="black"/>
              </a:solidFill>
              <a:latin typeface="Tw Cen MT" panose="020B06020201040206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02002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lum contrast="40000"/>
          </a:blip>
          <a:stretch>
            <a:fillRect/>
          </a:stretch>
        </p:blipFill>
        <p:spPr>
          <a:xfrm>
            <a:off x="230505" y="731520"/>
            <a:ext cx="3569141" cy="1651953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Example 2 </a:t>
            </a:r>
            <a:r>
              <a:rPr lang="en-US" dirty="0" err="1"/>
              <a:t>Ctd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45757" y="2306638"/>
                <a:ext cx="3880168" cy="11104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defTabSz="461040" rtl="0"/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90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en-US" sz="90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𝑟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908" i="1" kern="1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908" i="1" kern="12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908" i="1" kern="1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908" i="1" kern="1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908" i="1" kern="1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a:rPr lang="en-US" sz="90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:</m:t>
                        </m:r>
                        <m:r>
                          <a:rPr lang="en-US" sz="90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𝑟</m:t>
                        </m:r>
                        <m:r>
                          <a:rPr lang="en-US" sz="90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≠0</m:t>
                        </m:r>
                      </m:e>
                    </m:d>
                  </m:oMath>
                </a14:m>
                <a:r>
                  <a:rPr lang="en-US" sz="908" kern="1200" dirty="0">
                    <a:solidFill>
                      <a:prstClr val="black"/>
                    </a:solidFill>
                    <a:latin typeface="Tw Cen MT" panose="020B0602020104020603"/>
                    <a:ea typeface="+mn-ea"/>
                    <a:cs typeface="+mn-cs"/>
                  </a:rPr>
                  <a:t> is the set of all eigen vectors corresponding to the eigen </a:t>
                </a:r>
                <a:r>
                  <a:rPr lang="en-US" sz="908" kern="1200" dirty="0" err="1">
                    <a:solidFill>
                      <a:prstClr val="black"/>
                    </a:solidFill>
                    <a:latin typeface="Tw Cen MT" panose="020B0602020104020603"/>
                    <a:ea typeface="+mn-ea"/>
                    <a:cs typeface="+mn-cs"/>
                  </a:rPr>
                  <a:t>velue</a:t>
                </a:r>
                <a:r>
                  <a:rPr lang="en-US" sz="908" kern="1200" dirty="0">
                    <a:solidFill>
                      <a:prstClr val="black"/>
                    </a:solidFill>
                    <a:latin typeface="Tw Cen MT" panose="020B0602020104020603"/>
                    <a:ea typeface="+mn-ea"/>
                    <a:cs typeface="+mn-cs"/>
                  </a:rPr>
                  <a:t> 10.</a:t>
                </a:r>
              </a:p>
              <a:p>
                <a:pPr algn="l" defTabSz="461040" rtl="0"/>
                <a:endParaRPr lang="en-US" sz="908" kern="1200" dirty="0">
                  <a:solidFill>
                    <a:prstClr val="black"/>
                  </a:solidFill>
                  <a:latin typeface="Tw Cen MT" panose="020B0602020104020603"/>
                  <a:ea typeface="+mn-ea"/>
                  <a:cs typeface="+mn-cs"/>
                </a:endParaRPr>
              </a:p>
              <a:p>
                <a:pPr algn="l" defTabSz="461040" rtl="0"/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90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en-US" sz="90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𝑟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908" i="1" kern="1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908" i="1" kern="12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908" i="1" kern="1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908" i="1" kern="1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908" i="1" kern="1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a:rPr lang="en-US" sz="90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:</m:t>
                        </m:r>
                        <m:r>
                          <a:rPr lang="en-US" sz="90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𝑟</m:t>
                        </m:r>
                        <m:r>
                          <a:rPr lang="en-US" sz="90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∈</m:t>
                        </m:r>
                        <m:r>
                          <a:rPr lang="en-US" sz="90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𝑅</m:t>
                        </m:r>
                      </m:e>
                    </m:d>
                    <m:r>
                      <a:rPr lang="en-US" sz="908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 </m:t>
                    </m:r>
                  </m:oMath>
                </a14:m>
                <a:r>
                  <a:rPr lang="en-US" sz="908" kern="1200" dirty="0">
                    <a:solidFill>
                      <a:prstClr val="black"/>
                    </a:solidFill>
                    <a:latin typeface="Tw Cen MT" panose="020B0602020104020603"/>
                    <a:ea typeface="+mn-ea"/>
                    <a:cs typeface="+mn-cs"/>
                  </a:rPr>
                  <a:t>is the eigen space corresponding to the eigen </a:t>
                </a:r>
                <a:r>
                  <a:rPr lang="en-US" sz="908" kern="1200" dirty="0" err="1">
                    <a:solidFill>
                      <a:prstClr val="black"/>
                    </a:solidFill>
                    <a:latin typeface="Tw Cen MT" panose="020B0602020104020603"/>
                    <a:ea typeface="+mn-ea"/>
                    <a:cs typeface="+mn-cs"/>
                  </a:rPr>
                  <a:t>velue</a:t>
                </a:r>
                <a:r>
                  <a:rPr lang="en-US" sz="908" kern="1200" dirty="0">
                    <a:solidFill>
                      <a:prstClr val="black"/>
                    </a:solidFill>
                    <a:latin typeface="Tw Cen MT" panose="020B0602020104020603"/>
                    <a:ea typeface="+mn-ea"/>
                    <a:cs typeface="+mn-cs"/>
                  </a:rPr>
                  <a:t> 10.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757" y="2306638"/>
                <a:ext cx="3880168" cy="11104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23187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lum contrast="40000"/>
          </a:blip>
          <a:stretch>
            <a:fillRect/>
          </a:stretch>
        </p:blipFill>
        <p:spPr>
          <a:xfrm>
            <a:off x="230505" y="808355"/>
            <a:ext cx="2151380" cy="802419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Example 2 </a:t>
            </a:r>
            <a:r>
              <a:rPr lang="en-US" dirty="0" err="1"/>
              <a:t>Ctd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lum contrast="40000"/>
          </a:blip>
          <a:stretch>
            <a:fillRect/>
          </a:stretch>
        </p:blipFill>
        <p:spPr>
          <a:xfrm>
            <a:off x="140623" y="1610774"/>
            <a:ext cx="3654544" cy="97131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30505" y="2582084"/>
                <a:ext cx="3841750" cy="5950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defTabSz="461040" rtl="0"/>
                <a:r>
                  <a:rPr lang="en-US" sz="908" kern="1200" dirty="0">
                    <a:solidFill>
                      <a:prstClr val="black"/>
                    </a:solidFill>
                    <a:latin typeface="Tw Cen MT" panose="020B0602020104020603"/>
                    <a:ea typeface="+mn-ea"/>
                    <a:cs typeface="+mn-cs"/>
                  </a:rPr>
                  <a:t>The eigen space corresponding to the eigen value 1 is </a:t>
                </a:r>
              </a:p>
              <a:p>
                <a:pPr algn="l" defTabSz="461040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90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908" i="1" kern="1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908" i="1" kern="1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908" i="1" kern="120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−</m:t>
                                    </m:r>
                                    <m:r>
                                      <a:rPr lang="en-US" sz="908" i="1" kern="120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𝑠</m:t>
                                    </m:r>
                                    <m:r>
                                      <a:rPr lang="en-US" sz="908" i="1" kern="120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−</m:t>
                                    </m:r>
                                    <m:r>
                                      <a:rPr lang="en-US" sz="908" i="1" kern="120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𝑡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908" i="1" kern="120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𝑠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908" i="1" kern="120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n-US" sz="90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:</m:t>
                          </m:r>
                          <m:r>
                            <a:rPr lang="en-US" sz="90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𝑠</m:t>
                          </m:r>
                          <m:r>
                            <a:rPr lang="en-US" sz="90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 </m:t>
                          </m:r>
                          <m:r>
                            <a:rPr lang="en-US" sz="90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  <m:r>
                            <a:rPr lang="en-US" sz="90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∈</m:t>
                          </m:r>
                          <m:r>
                            <a:rPr lang="en-US" sz="90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𝑅</m:t>
                          </m:r>
                        </m:e>
                      </m:d>
                    </m:oMath>
                  </m:oMathPara>
                </a14:m>
                <a:endParaRPr lang="en-US" sz="908" kern="1200" dirty="0">
                  <a:solidFill>
                    <a:prstClr val="black"/>
                  </a:solidFill>
                  <a:latin typeface="Tw Cen MT" panose="020B0602020104020603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505" y="2582084"/>
                <a:ext cx="3841750" cy="59503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85370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Some</a:t>
            </a:r>
            <a:r>
              <a:rPr spc="-50" dirty="0"/>
              <a:t> </a:t>
            </a:r>
            <a:r>
              <a:rPr spc="-25" dirty="0"/>
              <a:t>additional</a:t>
            </a:r>
            <a:r>
              <a:rPr spc="-45" dirty="0"/>
              <a:t> </a:t>
            </a:r>
            <a:r>
              <a:rPr spc="-50" dirty="0"/>
              <a:t>properties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1157" y="834782"/>
            <a:ext cx="3942079" cy="181673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65430" marR="81280" indent="-177165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Font typeface="Lucida Sans Unicode"/>
              <a:buChar char="►"/>
              <a:tabLst>
                <a:tab pos="265430" algn="l"/>
              </a:tabLst>
            </a:pPr>
            <a:r>
              <a:rPr sz="1100" spc="55" dirty="0">
                <a:latin typeface="Tahoma"/>
                <a:cs typeface="Tahoma"/>
              </a:rPr>
              <a:t>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matrix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its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transpose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have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same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eigenvalues.</a:t>
            </a:r>
            <a:r>
              <a:rPr sz="1100" spc="7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see </a:t>
            </a:r>
            <a:r>
              <a:rPr sz="1100" spc="-10" dirty="0">
                <a:latin typeface="Tahoma"/>
                <a:cs typeface="Tahoma"/>
              </a:rPr>
              <a:t>this,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first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note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det(</a:t>
            </a:r>
            <a:r>
              <a:rPr sz="1050" spc="-10" dirty="0">
                <a:latin typeface="Times New Roman"/>
                <a:cs typeface="Times New Roman"/>
              </a:rPr>
              <a:t>A</a:t>
            </a:r>
            <a:r>
              <a:rPr sz="1100" spc="-10" dirty="0">
                <a:latin typeface="Tahoma"/>
                <a:cs typeface="Tahoma"/>
              </a:rPr>
              <a:t>)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det(</a:t>
            </a:r>
            <a:r>
              <a:rPr sz="1050" spc="-10" dirty="0">
                <a:latin typeface="Times New Roman"/>
                <a:cs typeface="Times New Roman"/>
              </a:rPr>
              <a:t>A</a:t>
            </a:r>
            <a:r>
              <a:rPr sz="1200" i="1" spc="-15" baseline="27777" dirty="0">
                <a:latin typeface="Arial"/>
                <a:cs typeface="Arial"/>
              </a:rPr>
              <a:t>T</a:t>
            </a:r>
            <a:r>
              <a:rPr sz="1200" i="1" spc="-104" baseline="27777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).</a:t>
            </a:r>
            <a:r>
              <a:rPr sz="1100" spc="9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Then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det(</a:t>
            </a:r>
            <a:r>
              <a:rPr sz="1050" spc="-20" dirty="0">
                <a:latin typeface="Times New Roman"/>
                <a:cs typeface="Times New Roman"/>
              </a:rPr>
              <a:t>A</a:t>
            </a:r>
            <a:r>
              <a:rPr sz="1050" spc="-45" dirty="0">
                <a:latin typeface="Times New Roman"/>
                <a:cs typeface="Times New Roman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spc="-10" dirty="0">
                <a:latin typeface="Verdana"/>
                <a:cs typeface="Verdana"/>
              </a:rPr>
              <a:t>λ</a:t>
            </a:r>
            <a:r>
              <a:rPr sz="1100" i="1" spc="-10" dirty="0">
                <a:latin typeface="Arial"/>
                <a:cs typeface="Arial"/>
              </a:rPr>
              <a:t>I</a:t>
            </a:r>
            <a:r>
              <a:rPr sz="1100" i="1" spc="-16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= </a:t>
            </a:r>
            <a:r>
              <a:rPr sz="1100" spc="-20" dirty="0">
                <a:latin typeface="Tahoma"/>
                <a:cs typeface="Tahoma"/>
              </a:rPr>
              <a:t>det((</a:t>
            </a:r>
            <a:r>
              <a:rPr sz="1050" spc="-20" dirty="0">
                <a:latin typeface="Times New Roman"/>
                <a:cs typeface="Times New Roman"/>
              </a:rPr>
              <a:t>A</a:t>
            </a:r>
            <a:r>
              <a:rPr sz="1050" spc="-25" dirty="0">
                <a:latin typeface="Times New Roman"/>
                <a:cs typeface="Times New Roman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0" dirty="0">
                <a:latin typeface="Lucida Sans Unicode"/>
                <a:cs typeface="Lucida Sans Unicode"/>
              </a:rPr>
              <a:t> </a:t>
            </a:r>
            <a:r>
              <a:rPr sz="1100" i="1" spc="-10" dirty="0">
                <a:latin typeface="Verdana"/>
                <a:cs typeface="Verdana"/>
              </a:rPr>
              <a:t>λ</a:t>
            </a:r>
            <a:r>
              <a:rPr sz="1050" spc="-10" dirty="0">
                <a:latin typeface="Times New Roman"/>
                <a:cs typeface="Times New Roman"/>
              </a:rPr>
              <a:t>I</a:t>
            </a:r>
            <a:r>
              <a:rPr sz="1050" spc="-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200" i="1" baseline="27777" dirty="0">
                <a:latin typeface="Arial"/>
                <a:cs typeface="Arial"/>
              </a:rPr>
              <a:t>T</a:t>
            </a:r>
            <a:r>
              <a:rPr sz="1200" i="1" spc="-97" baseline="27777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det(</a:t>
            </a:r>
            <a:r>
              <a:rPr sz="1050" dirty="0">
                <a:latin typeface="Times New Roman"/>
                <a:cs typeface="Times New Roman"/>
              </a:rPr>
              <a:t>A</a:t>
            </a:r>
            <a:r>
              <a:rPr sz="1200" i="1" baseline="27777" dirty="0">
                <a:latin typeface="Arial"/>
                <a:cs typeface="Arial"/>
              </a:rPr>
              <a:t>T</a:t>
            </a:r>
            <a:r>
              <a:rPr sz="1200" i="1" spc="277" baseline="27777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0" dirty="0">
                <a:latin typeface="Lucida Sans Unicode"/>
                <a:cs typeface="Lucida Sans Unicode"/>
              </a:rPr>
              <a:t> </a:t>
            </a:r>
            <a:r>
              <a:rPr sz="1100" i="1" spc="-10" dirty="0">
                <a:latin typeface="Verdana"/>
                <a:cs typeface="Verdana"/>
              </a:rPr>
              <a:t>λ</a:t>
            </a:r>
            <a:r>
              <a:rPr sz="1050" spc="-10" dirty="0">
                <a:latin typeface="Times New Roman"/>
                <a:cs typeface="Times New Roman"/>
              </a:rPr>
              <a:t>I</a:t>
            </a:r>
            <a:r>
              <a:rPr sz="1050" spc="-120" dirty="0">
                <a:latin typeface="Times New Roman"/>
                <a:cs typeface="Times New Roman"/>
              </a:rPr>
              <a:t> </a:t>
            </a:r>
            <a:r>
              <a:rPr sz="1200" i="1" spc="127" baseline="27777" dirty="0">
                <a:latin typeface="Arial"/>
                <a:cs typeface="Arial"/>
              </a:rPr>
              <a:t>T</a:t>
            </a:r>
            <a:r>
              <a:rPr sz="1200" i="1" spc="-97" baseline="27777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det(</a:t>
            </a:r>
            <a:r>
              <a:rPr sz="1050" dirty="0">
                <a:latin typeface="Times New Roman"/>
                <a:cs typeface="Times New Roman"/>
              </a:rPr>
              <a:t>A</a:t>
            </a:r>
            <a:r>
              <a:rPr sz="1200" i="1" baseline="27777" dirty="0">
                <a:latin typeface="Arial"/>
                <a:cs typeface="Arial"/>
              </a:rPr>
              <a:t>T</a:t>
            </a:r>
            <a:r>
              <a:rPr sz="1200" i="1" spc="277" baseline="27777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0" dirty="0">
                <a:latin typeface="Lucida Sans Unicode"/>
                <a:cs typeface="Lucida Sans Unicode"/>
              </a:rPr>
              <a:t> </a:t>
            </a:r>
            <a:r>
              <a:rPr sz="1100" i="1" spc="-10" dirty="0">
                <a:latin typeface="Verdana"/>
                <a:cs typeface="Verdana"/>
              </a:rPr>
              <a:t>λ</a:t>
            </a:r>
            <a:r>
              <a:rPr sz="1050" spc="-10" dirty="0">
                <a:latin typeface="Times New Roman"/>
                <a:cs typeface="Times New Roman"/>
              </a:rPr>
              <a:t>I</a:t>
            </a:r>
            <a:r>
              <a:rPr sz="1050" spc="-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ahoma"/>
                <a:cs typeface="Tahoma"/>
              </a:rPr>
              <a:t>).</a:t>
            </a:r>
            <a:r>
              <a:rPr sz="1100" spc="1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The</a:t>
            </a:r>
            <a:r>
              <a:rPr sz="1100" spc="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last </a:t>
            </a:r>
            <a:r>
              <a:rPr sz="1100" spc="-55" dirty="0">
                <a:latin typeface="Tahoma"/>
                <a:cs typeface="Tahoma"/>
              </a:rPr>
              <a:t>expression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chain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equalities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characteristic </a:t>
            </a:r>
            <a:r>
              <a:rPr sz="1650" spc="-44" baseline="2525" dirty="0">
                <a:latin typeface="Tahoma"/>
                <a:cs typeface="Tahoma"/>
              </a:rPr>
              <a:t>polynomial</a:t>
            </a:r>
            <a:r>
              <a:rPr sz="1650" spc="7" baseline="2525" dirty="0">
                <a:latin typeface="Tahoma"/>
                <a:cs typeface="Tahoma"/>
              </a:rPr>
              <a:t> </a:t>
            </a:r>
            <a:r>
              <a:rPr sz="1650" spc="-30" baseline="2525" dirty="0">
                <a:latin typeface="Tahoma"/>
                <a:cs typeface="Tahoma"/>
              </a:rPr>
              <a:t>for</a:t>
            </a:r>
            <a:r>
              <a:rPr sz="1650" spc="7" baseline="2525" dirty="0">
                <a:latin typeface="Tahoma"/>
                <a:cs typeface="Tahoma"/>
              </a:rPr>
              <a:t> </a:t>
            </a:r>
            <a:r>
              <a:rPr sz="1650" i="1" baseline="2525" dirty="0">
                <a:latin typeface="Arial"/>
                <a:cs typeface="Arial"/>
              </a:rPr>
              <a:t>p</a:t>
            </a:r>
            <a:r>
              <a:rPr sz="1125" baseline="-18518" dirty="0">
                <a:latin typeface="Times New Roman"/>
                <a:cs typeface="Times New Roman"/>
              </a:rPr>
              <a:t>A</a:t>
            </a:r>
            <a:r>
              <a:rPr sz="600" i="1" dirty="0">
                <a:latin typeface="Arial"/>
                <a:cs typeface="Arial"/>
              </a:rPr>
              <a:t>T</a:t>
            </a:r>
            <a:r>
              <a:rPr sz="600" i="1" spc="5" dirty="0">
                <a:latin typeface="Arial"/>
                <a:cs typeface="Arial"/>
              </a:rPr>
              <a:t> </a:t>
            </a:r>
            <a:r>
              <a:rPr sz="1650" baseline="2525" dirty="0">
                <a:latin typeface="Tahoma"/>
                <a:cs typeface="Tahoma"/>
              </a:rPr>
              <a:t>(</a:t>
            </a:r>
            <a:r>
              <a:rPr sz="1650" i="1" baseline="2525" dirty="0">
                <a:latin typeface="Verdana"/>
                <a:cs typeface="Verdana"/>
              </a:rPr>
              <a:t>λ</a:t>
            </a:r>
            <a:r>
              <a:rPr sz="1650" baseline="2525" dirty="0">
                <a:latin typeface="Tahoma"/>
                <a:cs typeface="Tahoma"/>
              </a:rPr>
              <a:t>).</a:t>
            </a:r>
            <a:r>
              <a:rPr sz="1650" spc="179" baseline="2525" dirty="0">
                <a:latin typeface="Tahoma"/>
                <a:cs typeface="Tahoma"/>
              </a:rPr>
              <a:t> </a:t>
            </a:r>
            <a:r>
              <a:rPr sz="1650" baseline="2525" dirty="0">
                <a:latin typeface="Tahoma"/>
                <a:cs typeface="Tahoma"/>
              </a:rPr>
              <a:t>Thus</a:t>
            </a:r>
            <a:r>
              <a:rPr sz="1650" spc="15" baseline="2525" dirty="0">
                <a:latin typeface="Tahoma"/>
                <a:cs typeface="Tahoma"/>
              </a:rPr>
              <a:t> </a:t>
            </a:r>
            <a:r>
              <a:rPr sz="1650" spc="-142" baseline="2525" dirty="0">
                <a:latin typeface="Tahoma"/>
                <a:cs typeface="Tahoma"/>
              </a:rPr>
              <a:t>we</a:t>
            </a:r>
            <a:r>
              <a:rPr sz="1650" spc="7" baseline="2525" dirty="0">
                <a:latin typeface="Tahoma"/>
                <a:cs typeface="Tahoma"/>
              </a:rPr>
              <a:t> </a:t>
            </a:r>
            <a:r>
              <a:rPr sz="1650" spc="-82" baseline="2525" dirty="0">
                <a:latin typeface="Tahoma"/>
                <a:cs typeface="Tahoma"/>
              </a:rPr>
              <a:t>have</a:t>
            </a:r>
            <a:r>
              <a:rPr sz="1650" spc="15" baseline="2525" dirty="0">
                <a:latin typeface="Tahoma"/>
                <a:cs typeface="Tahoma"/>
              </a:rPr>
              <a:t> </a:t>
            </a:r>
            <a:r>
              <a:rPr sz="1650" i="1" baseline="2525" dirty="0">
                <a:latin typeface="Arial"/>
                <a:cs typeface="Arial"/>
              </a:rPr>
              <a:t>p</a:t>
            </a:r>
            <a:r>
              <a:rPr sz="1125" baseline="-11111" dirty="0">
                <a:latin typeface="Times New Roman"/>
                <a:cs typeface="Times New Roman"/>
              </a:rPr>
              <a:t>A</a:t>
            </a:r>
            <a:r>
              <a:rPr sz="1650" baseline="2525" dirty="0">
                <a:latin typeface="Tahoma"/>
                <a:cs typeface="Tahoma"/>
              </a:rPr>
              <a:t>(</a:t>
            </a:r>
            <a:r>
              <a:rPr sz="1650" i="1" baseline="2525" dirty="0">
                <a:latin typeface="Verdana"/>
                <a:cs typeface="Verdana"/>
              </a:rPr>
              <a:t>λ</a:t>
            </a:r>
            <a:r>
              <a:rPr sz="1650" baseline="2525" dirty="0">
                <a:latin typeface="Tahoma"/>
                <a:cs typeface="Tahoma"/>
              </a:rPr>
              <a:t>)</a:t>
            </a:r>
            <a:r>
              <a:rPr sz="1650" spc="-75" baseline="2525" dirty="0">
                <a:latin typeface="Tahoma"/>
                <a:cs typeface="Tahoma"/>
              </a:rPr>
              <a:t> </a:t>
            </a:r>
            <a:r>
              <a:rPr sz="1650" baseline="2525" dirty="0">
                <a:latin typeface="Tahoma"/>
                <a:cs typeface="Tahoma"/>
              </a:rPr>
              <a:t>=</a:t>
            </a:r>
            <a:r>
              <a:rPr sz="1650" spc="-82" baseline="2525" dirty="0">
                <a:latin typeface="Tahoma"/>
                <a:cs typeface="Tahoma"/>
              </a:rPr>
              <a:t> </a:t>
            </a:r>
            <a:r>
              <a:rPr sz="1650" i="1" baseline="2525" dirty="0">
                <a:latin typeface="Arial"/>
                <a:cs typeface="Arial"/>
              </a:rPr>
              <a:t>p</a:t>
            </a:r>
            <a:r>
              <a:rPr sz="1125" baseline="-18518" dirty="0">
                <a:latin typeface="Times New Roman"/>
                <a:cs typeface="Times New Roman"/>
              </a:rPr>
              <a:t>A</a:t>
            </a:r>
            <a:r>
              <a:rPr sz="600" i="1" dirty="0">
                <a:latin typeface="Arial"/>
                <a:cs typeface="Arial"/>
              </a:rPr>
              <a:t>T</a:t>
            </a:r>
            <a:r>
              <a:rPr sz="600" i="1" spc="5" dirty="0">
                <a:latin typeface="Arial"/>
                <a:cs typeface="Arial"/>
              </a:rPr>
              <a:t> </a:t>
            </a:r>
            <a:r>
              <a:rPr sz="1650" baseline="2525" dirty="0">
                <a:latin typeface="Tahoma"/>
                <a:cs typeface="Tahoma"/>
              </a:rPr>
              <a:t>(</a:t>
            </a:r>
            <a:r>
              <a:rPr sz="1650" i="1" baseline="2525" dirty="0">
                <a:latin typeface="Verdana"/>
                <a:cs typeface="Verdana"/>
              </a:rPr>
              <a:t>λ</a:t>
            </a:r>
            <a:r>
              <a:rPr sz="1650" baseline="2525" dirty="0">
                <a:latin typeface="Tahoma"/>
                <a:cs typeface="Tahoma"/>
              </a:rPr>
              <a:t>)</a:t>
            </a:r>
            <a:r>
              <a:rPr sz="1650" spc="7" baseline="2525" dirty="0">
                <a:latin typeface="Tahoma"/>
                <a:cs typeface="Tahoma"/>
              </a:rPr>
              <a:t> </a:t>
            </a:r>
            <a:r>
              <a:rPr sz="1650" spc="-15" baseline="2525" dirty="0">
                <a:latin typeface="Tahoma"/>
                <a:cs typeface="Tahoma"/>
              </a:rPr>
              <a:t>which </a:t>
            </a:r>
            <a:r>
              <a:rPr sz="1100" spc="-65" dirty="0">
                <a:latin typeface="Tahoma"/>
                <a:cs typeface="Tahoma"/>
              </a:rPr>
              <a:t>means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characteristic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polynomials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equal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so</a:t>
            </a:r>
            <a:r>
              <a:rPr sz="1100" spc="-25" dirty="0">
                <a:latin typeface="Tahoma"/>
                <a:cs typeface="Tahoma"/>
              </a:rPr>
              <a:t> the </a:t>
            </a:r>
            <a:r>
              <a:rPr sz="1100" spc="-20" dirty="0">
                <a:latin typeface="Tahoma"/>
                <a:cs typeface="Tahoma"/>
              </a:rPr>
              <a:t>roots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polynomials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or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eigenvalues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must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equal.</a:t>
            </a:r>
            <a:endParaRPr sz="1100">
              <a:latin typeface="Tahoma"/>
              <a:cs typeface="Tahoma"/>
            </a:endParaRPr>
          </a:p>
          <a:p>
            <a:pPr marL="265430" indent="-177165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Font typeface="Lucida Sans Unicode"/>
              <a:buChar char="►"/>
              <a:tabLst>
                <a:tab pos="265430" algn="l"/>
              </a:tabLst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eigenspace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E</a:t>
            </a:r>
            <a:r>
              <a:rPr sz="1200" i="1" baseline="-13888" dirty="0">
                <a:latin typeface="Calibri"/>
                <a:cs typeface="Calibri"/>
              </a:rPr>
              <a:t>λ</a:t>
            </a:r>
            <a:r>
              <a:rPr sz="1200" i="1" spc="284" baseline="-13888" dirty="0">
                <a:latin typeface="Calibri"/>
                <a:cs typeface="Calibri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 </a:t>
            </a:r>
            <a:r>
              <a:rPr sz="1100" spc="-40" dirty="0">
                <a:latin typeface="Tahoma"/>
                <a:cs typeface="Tahoma"/>
              </a:rPr>
              <a:t>nullspace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A</a:t>
            </a:r>
            <a:r>
              <a:rPr sz="1050" spc="-45" dirty="0">
                <a:latin typeface="Times New Roman"/>
                <a:cs typeface="Times New Roman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spc="-10" dirty="0">
                <a:latin typeface="Verdana"/>
                <a:cs typeface="Verdana"/>
              </a:rPr>
              <a:t>λ</a:t>
            </a:r>
            <a:r>
              <a:rPr sz="1050" spc="-10" dirty="0">
                <a:latin typeface="Times New Roman"/>
                <a:cs typeface="Times New Roman"/>
              </a:rPr>
              <a:t>I</a:t>
            </a:r>
            <a:r>
              <a:rPr sz="1050" spc="-120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  <a:p>
            <a:pPr marL="265430" marR="278765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65430" algn="l"/>
              </a:tabLst>
            </a:pPr>
            <a:r>
              <a:rPr sz="1100" spc="-30" dirty="0">
                <a:latin typeface="Tahoma"/>
                <a:cs typeface="Tahoma"/>
              </a:rPr>
              <a:t>Symmetric,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positive-</a:t>
            </a:r>
            <a:r>
              <a:rPr sz="1100" spc="-30" dirty="0">
                <a:latin typeface="Tahoma"/>
                <a:cs typeface="Tahoma"/>
              </a:rPr>
              <a:t>definite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matrices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always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have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positive, </a:t>
            </a:r>
            <a:r>
              <a:rPr sz="1100" spc="-20" dirty="0">
                <a:latin typeface="Tahoma"/>
                <a:cs typeface="Tahoma"/>
              </a:rPr>
              <a:t>real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eigenvalues.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Some</a:t>
            </a:r>
            <a:r>
              <a:rPr spc="-75" dirty="0"/>
              <a:t> </a:t>
            </a:r>
            <a:r>
              <a:rPr spc="-65" dirty="0"/>
              <a:t>theorems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74556" y="1652701"/>
            <a:ext cx="34925" cy="1397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27680" y="1652701"/>
            <a:ext cx="34925" cy="1397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58457" y="707896"/>
            <a:ext cx="3990975" cy="21609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7165" marR="309880" indent="-177165" algn="ctr">
              <a:lnSpc>
                <a:spcPct val="100000"/>
              </a:lnSpc>
              <a:spcBef>
                <a:spcPts val="90"/>
              </a:spcBef>
              <a:buClr>
                <a:srgbClr val="3333B2"/>
              </a:buClr>
              <a:buFont typeface="Lucida Sans Unicode"/>
              <a:buChar char="►"/>
              <a:tabLst>
                <a:tab pos="177165" algn="l"/>
              </a:tabLst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eigenvectors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050" spc="-25" dirty="0">
                <a:latin typeface="Times New Roman"/>
                <a:cs typeface="Times New Roman"/>
              </a:rPr>
              <a:t>x</a:t>
            </a:r>
            <a:r>
              <a:rPr sz="1200" spc="-37" baseline="-10416" dirty="0">
                <a:latin typeface="Tahoma"/>
                <a:cs typeface="Tahoma"/>
              </a:rPr>
              <a:t>1</a:t>
            </a:r>
            <a:r>
              <a:rPr sz="1100" i="1" spc="-25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x</a:t>
            </a:r>
            <a:r>
              <a:rPr sz="1200" baseline="-10416" dirty="0">
                <a:latin typeface="Tahoma"/>
                <a:cs typeface="Tahoma"/>
              </a:rPr>
              <a:t>2</a:t>
            </a:r>
            <a:r>
              <a:rPr sz="1200" spc="-52" baseline="-10416" dirty="0">
                <a:latin typeface="Tahoma"/>
                <a:cs typeface="Tahom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.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.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.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x</a:t>
            </a:r>
            <a:r>
              <a:rPr sz="1200" i="1" baseline="-10416" dirty="0">
                <a:latin typeface="Arial"/>
                <a:cs typeface="Arial"/>
              </a:rPr>
              <a:t>n</a:t>
            </a:r>
            <a:r>
              <a:rPr sz="1200" i="1" spc="262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i="1" spc="-60" dirty="0">
                <a:latin typeface="Arial"/>
                <a:cs typeface="Arial"/>
              </a:rPr>
              <a:t>n</a:t>
            </a:r>
            <a:r>
              <a:rPr sz="1100" i="1" spc="-45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×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100" i="1" spc="50" dirty="0">
                <a:latin typeface="Arial"/>
                <a:cs typeface="Arial"/>
              </a:rPr>
              <a:t> </a:t>
            </a:r>
            <a:r>
              <a:rPr sz="1100" spc="-10" dirty="0">
                <a:latin typeface="Tahoma"/>
                <a:cs typeface="Tahoma"/>
              </a:rPr>
              <a:t>matrix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A</a:t>
            </a:r>
            <a:r>
              <a:rPr sz="105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Arial"/>
                <a:cs typeface="Arial"/>
              </a:rPr>
              <a:t>n</a:t>
            </a:r>
            <a:endParaRPr sz="1100">
              <a:latin typeface="Arial"/>
              <a:cs typeface="Arial"/>
            </a:endParaRPr>
          </a:p>
          <a:p>
            <a:pPr marR="323850" algn="ctr">
              <a:lnSpc>
                <a:spcPct val="100000"/>
              </a:lnSpc>
              <a:spcBef>
                <a:spcPts val="35"/>
              </a:spcBef>
            </a:pPr>
            <a:r>
              <a:rPr sz="1100" b="1" spc="-20" dirty="0">
                <a:latin typeface="Trebuchet MS"/>
                <a:cs typeface="Trebuchet MS"/>
              </a:rPr>
              <a:t>distinct</a:t>
            </a:r>
            <a:r>
              <a:rPr sz="1100" b="1" spc="5" dirty="0">
                <a:latin typeface="Trebuchet MS"/>
                <a:cs typeface="Trebuchet MS"/>
              </a:rPr>
              <a:t> </a:t>
            </a:r>
            <a:r>
              <a:rPr sz="1100" spc="-55" dirty="0">
                <a:latin typeface="Tahoma"/>
                <a:cs typeface="Tahoma"/>
              </a:rPr>
              <a:t>eigenvalues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linearly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independent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→</a:t>
            </a:r>
            <a:r>
              <a:rPr sz="1100" spc="-10" dirty="0">
                <a:latin typeface="Lucida Sans Unicode"/>
                <a:cs typeface="Lucida Sans Unicode"/>
              </a:rPr>
              <a:t> </a:t>
            </a:r>
            <a:r>
              <a:rPr sz="1100" spc="-20" dirty="0">
                <a:latin typeface="Tahoma"/>
                <a:cs typeface="Tahoma"/>
              </a:rPr>
              <a:t>why?</a:t>
            </a:r>
            <a:endParaRPr sz="1100">
              <a:latin typeface="Tahoma"/>
              <a:cs typeface="Tahoma"/>
            </a:endParaRPr>
          </a:p>
          <a:p>
            <a:pPr marL="278130" marR="9398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78130" algn="l"/>
              </a:tabLst>
            </a:pPr>
            <a:r>
              <a:rPr sz="1100" spc="-25" dirty="0">
                <a:latin typeface="Tahoma"/>
                <a:cs typeface="Tahoma"/>
              </a:rPr>
              <a:t>Given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matrix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A</a:t>
            </a:r>
            <a:r>
              <a:rPr sz="1050" spc="25" dirty="0">
                <a:latin typeface="Times New Roman"/>
                <a:cs typeface="Times New Roman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 MT"/>
                <a:cs typeface="Arial MT"/>
              </a:rPr>
              <a:t>R</a:t>
            </a:r>
            <a:r>
              <a:rPr sz="1200" i="1" baseline="27777" dirty="0">
                <a:latin typeface="Arial"/>
                <a:cs typeface="Arial"/>
              </a:rPr>
              <a:t>m</a:t>
            </a:r>
            <a:r>
              <a:rPr sz="1200" i="1" baseline="27777" dirty="0">
                <a:latin typeface="Verdana"/>
                <a:cs typeface="Verdana"/>
              </a:rPr>
              <a:t>×</a:t>
            </a:r>
            <a:r>
              <a:rPr sz="1200" i="1" baseline="27777" dirty="0">
                <a:latin typeface="Arial"/>
                <a:cs typeface="Arial"/>
              </a:rPr>
              <a:t>n</a:t>
            </a:r>
            <a:r>
              <a:rPr sz="1200" i="1" spc="262" baseline="27777" dirty="0">
                <a:latin typeface="Arial"/>
                <a:cs typeface="Arial"/>
              </a:rPr>
              <a:t> </a:t>
            </a:r>
            <a:r>
              <a:rPr sz="1100" spc="-110" dirty="0">
                <a:latin typeface="Tahoma"/>
                <a:cs typeface="Tahoma"/>
              </a:rPr>
              <a:t>we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can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show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050" spc="55" dirty="0">
                <a:latin typeface="Times New Roman"/>
                <a:cs typeface="Times New Roman"/>
              </a:rPr>
              <a:t>A</a:t>
            </a:r>
            <a:r>
              <a:rPr sz="1200" i="1" spc="82" baseline="27777" dirty="0">
                <a:latin typeface="Arial"/>
                <a:cs typeface="Arial"/>
              </a:rPr>
              <a:t>T</a:t>
            </a:r>
            <a:r>
              <a:rPr sz="1200" i="1" spc="-104" baseline="27777" dirty="0">
                <a:latin typeface="Arial"/>
                <a:cs typeface="Arial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A</a:t>
            </a:r>
            <a:r>
              <a:rPr sz="1050" spc="20" dirty="0">
                <a:latin typeface="Times New Roman"/>
                <a:cs typeface="Times New Roman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 MT"/>
                <a:cs typeface="Arial MT"/>
              </a:rPr>
              <a:t>R</a:t>
            </a:r>
            <a:r>
              <a:rPr sz="1200" i="1" baseline="27777" dirty="0">
                <a:latin typeface="Arial"/>
                <a:cs typeface="Arial"/>
              </a:rPr>
              <a:t>n</a:t>
            </a:r>
            <a:r>
              <a:rPr sz="1200" i="1" baseline="27777" dirty="0">
                <a:latin typeface="Verdana"/>
                <a:cs typeface="Verdana"/>
              </a:rPr>
              <a:t>×</a:t>
            </a:r>
            <a:r>
              <a:rPr sz="1200" i="1" baseline="27777" dirty="0">
                <a:latin typeface="Arial"/>
                <a:cs typeface="Arial"/>
              </a:rPr>
              <a:t>n</a:t>
            </a:r>
            <a:r>
              <a:rPr sz="1200" i="1" spc="262" baseline="27777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 </a:t>
            </a:r>
            <a:r>
              <a:rPr sz="1100" spc="-40" dirty="0">
                <a:latin typeface="Tahoma"/>
                <a:cs typeface="Tahoma"/>
              </a:rPr>
              <a:t>symmetric,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positive-</a:t>
            </a:r>
            <a:r>
              <a:rPr sz="1100" spc="-30" dirty="0">
                <a:latin typeface="Tahoma"/>
                <a:cs typeface="Tahoma"/>
              </a:rPr>
              <a:t>definite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matrix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when</a:t>
            </a:r>
            <a:r>
              <a:rPr sz="1100" spc="-10" dirty="0">
                <a:latin typeface="Tahoma"/>
                <a:cs typeface="Tahoma"/>
              </a:rPr>
              <a:t> the </a:t>
            </a:r>
            <a:r>
              <a:rPr sz="1100" spc="-20" dirty="0">
                <a:latin typeface="Tahoma"/>
                <a:cs typeface="Tahoma"/>
              </a:rPr>
              <a:t>rank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A</a:t>
            </a:r>
            <a:r>
              <a:rPr sz="105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Arial"/>
                <a:cs typeface="Arial"/>
              </a:rPr>
              <a:t>n</a:t>
            </a:r>
            <a:r>
              <a:rPr sz="1100" spc="-25" dirty="0">
                <a:latin typeface="Tahoma"/>
                <a:cs typeface="Tahoma"/>
              </a:rPr>
              <a:t>. </a:t>
            </a:r>
            <a:r>
              <a:rPr sz="1100" dirty="0">
                <a:latin typeface="Tahoma"/>
                <a:cs typeface="Tahoma"/>
              </a:rPr>
              <a:t>Why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this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true?</a:t>
            </a:r>
            <a:r>
              <a:rPr sz="1100" spc="7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Clearly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050" spc="55" dirty="0">
                <a:latin typeface="Times New Roman"/>
                <a:cs typeface="Times New Roman"/>
              </a:rPr>
              <a:t>A</a:t>
            </a:r>
            <a:r>
              <a:rPr sz="1200" i="1" spc="82" baseline="27777" dirty="0">
                <a:latin typeface="Arial"/>
                <a:cs typeface="Arial"/>
              </a:rPr>
              <a:t>T</a:t>
            </a:r>
            <a:r>
              <a:rPr sz="1200" i="1" spc="-104" baseline="27777" dirty="0">
                <a:latin typeface="Arial"/>
                <a:cs typeface="Arial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A</a:t>
            </a:r>
            <a:r>
              <a:rPr sz="105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symmetric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matrix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 </a:t>
            </a:r>
            <a:r>
              <a:rPr sz="1100" dirty="0">
                <a:latin typeface="Tahoma"/>
                <a:cs typeface="Tahoma"/>
              </a:rPr>
              <a:t>it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is positive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definite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since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x</a:t>
            </a:r>
            <a:r>
              <a:rPr sz="1050" spc="-160" dirty="0">
                <a:latin typeface="Times New Roman"/>
                <a:cs typeface="Times New Roman"/>
              </a:rPr>
              <a:t> </a:t>
            </a:r>
            <a:r>
              <a:rPr sz="1200" i="1" spc="127" baseline="27777" dirty="0">
                <a:latin typeface="Arial"/>
                <a:cs typeface="Arial"/>
              </a:rPr>
              <a:t>T</a:t>
            </a:r>
            <a:r>
              <a:rPr sz="1200" i="1" spc="-104" baseline="27777" dirty="0">
                <a:latin typeface="Arial"/>
                <a:cs typeface="Arial"/>
              </a:rPr>
              <a:t> </a:t>
            </a:r>
            <a:r>
              <a:rPr sz="1050" spc="55" dirty="0">
                <a:latin typeface="Times New Roman"/>
                <a:cs typeface="Times New Roman"/>
              </a:rPr>
              <a:t>A</a:t>
            </a:r>
            <a:r>
              <a:rPr sz="1200" i="1" spc="82" baseline="27777" dirty="0">
                <a:latin typeface="Arial"/>
                <a:cs typeface="Arial"/>
              </a:rPr>
              <a:t>T</a:t>
            </a:r>
            <a:r>
              <a:rPr sz="1200" i="1" spc="-104" baseline="27777" dirty="0">
                <a:latin typeface="Arial"/>
                <a:cs typeface="Arial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Ax</a:t>
            </a:r>
            <a:r>
              <a:rPr sz="105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75" dirty="0">
                <a:latin typeface="Tahoma"/>
                <a:cs typeface="Tahoma"/>
              </a:rPr>
              <a:t>  </a:t>
            </a:r>
            <a:r>
              <a:rPr sz="1050" dirty="0">
                <a:latin typeface="Times New Roman"/>
                <a:cs typeface="Times New Roman"/>
              </a:rPr>
              <a:t>Ax</a:t>
            </a:r>
            <a:r>
              <a:rPr sz="1050" spc="370" dirty="0">
                <a:latin typeface="Times New Roman"/>
                <a:cs typeface="Times New Roman"/>
              </a:rPr>
              <a:t> </a:t>
            </a:r>
            <a:r>
              <a:rPr sz="1200" baseline="27777" dirty="0">
                <a:latin typeface="Tahoma"/>
                <a:cs typeface="Tahoma"/>
              </a:rPr>
              <a:t>2</a:t>
            </a:r>
            <a:r>
              <a:rPr sz="1200" spc="142" baseline="27777" dirty="0">
                <a:latin typeface="Tahoma"/>
                <a:cs typeface="Tahom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&gt;</a:t>
            </a:r>
            <a:r>
              <a:rPr sz="1100" i="1" spc="-85" dirty="0">
                <a:latin typeface="Verdana"/>
                <a:cs typeface="Verdana"/>
              </a:rPr>
              <a:t> </a:t>
            </a:r>
            <a:r>
              <a:rPr sz="1100" dirty="0">
                <a:latin typeface="Tahoma"/>
                <a:cs typeface="Tahoma"/>
              </a:rPr>
              <a:t>0</a:t>
            </a:r>
            <a:r>
              <a:rPr sz="1100" spc="254" dirty="0">
                <a:latin typeface="Tahoma"/>
                <a:cs typeface="Tahoma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∀</a:t>
            </a:r>
            <a:r>
              <a:rPr sz="1050" spc="-155" dirty="0">
                <a:latin typeface="Times New Roman"/>
                <a:cs typeface="Times New Roman"/>
              </a:rPr>
              <a:t>x</a:t>
            </a:r>
            <a:r>
              <a:rPr sz="1050" spc="135" dirty="0">
                <a:latin typeface="Times New Roman"/>
                <a:cs typeface="Times New Roman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 MT"/>
                <a:cs typeface="Arial MT"/>
              </a:rPr>
              <a:t>R</a:t>
            </a:r>
            <a:r>
              <a:rPr sz="1200" i="1" baseline="27777" dirty="0">
                <a:latin typeface="Arial"/>
                <a:cs typeface="Arial"/>
              </a:rPr>
              <a:t>n</a:t>
            </a:r>
            <a:r>
              <a:rPr sz="1200" i="1" spc="112" baseline="27777" dirty="0">
                <a:latin typeface="Arial"/>
                <a:cs typeface="Arial"/>
              </a:rPr>
              <a:t> </a:t>
            </a:r>
            <a:r>
              <a:rPr sz="1100" spc="-40" dirty="0">
                <a:latin typeface="Lucida Sans Unicode"/>
                <a:cs typeface="Lucida Sans Unicode"/>
              </a:rPr>
              <a:t>\</a:t>
            </a:r>
            <a:r>
              <a:rPr sz="1100" spc="-110" dirty="0">
                <a:latin typeface="Lucida Sans Unicode"/>
                <a:cs typeface="Lucida Sans Unicode"/>
              </a:rPr>
              <a:t> </a:t>
            </a:r>
            <a:r>
              <a:rPr sz="1100" spc="-50" dirty="0">
                <a:latin typeface="Tahoma"/>
                <a:cs typeface="Tahoma"/>
              </a:rPr>
              <a:t>0 </a:t>
            </a:r>
            <a:r>
              <a:rPr sz="1100" spc="-35" dirty="0">
                <a:latin typeface="Tahoma"/>
                <a:cs typeface="Tahoma"/>
              </a:rPr>
              <a:t>since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nullspaces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050" spc="55" dirty="0">
                <a:latin typeface="Times New Roman"/>
                <a:cs typeface="Times New Roman"/>
              </a:rPr>
              <a:t>A</a:t>
            </a:r>
            <a:r>
              <a:rPr sz="1200" i="1" spc="82" baseline="27777" dirty="0">
                <a:latin typeface="Arial"/>
                <a:cs typeface="Arial"/>
              </a:rPr>
              <a:t>T</a:t>
            </a:r>
            <a:r>
              <a:rPr sz="1200" i="1" spc="-104" baseline="27777" dirty="0">
                <a:latin typeface="Arial"/>
                <a:cs typeface="Arial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A</a:t>
            </a:r>
            <a:r>
              <a:rPr sz="1050" spc="60" dirty="0">
                <a:latin typeface="Times New Roman"/>
                <a:cs typeface="Times New Roman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A</a:t>
            </a:r>
            <a:r>
              <a:rPr sz="1050" spc="65" dirty="0">
                <a:latin typeface="Times New Roman"/>
                <a:cs typeface="Times New Roman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same,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A</a:t>
            </a:r>
            <a:r>
              <a:rPr sz="105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 </a:t>
            </a:r>
            <a:r>
              <a:rPr sz="1100" dirty="0">
                <a:latin typeface="Tahoma"/>
                <a:cs typeface="Tahoma"/>
              </a:rPr>
              <a:t>full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column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rank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matrix.</a:t>
            </a:r>
            <a:endParaRPr sz="1100">
              <a:latin typeface="Tahoma"/>
              <a:cs typeface="Tahoma"/>
            </a:endParaRPr>
          </a:p>
          <a:p>
            <a:pPr marL="278130" marR="240665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78130" algn="l"/>
              </a:tabLst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matrix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050" spc="55" dirty="0">
                <a:latin typeface="Times New Roman"/>
                <a:cs typeface="Times New Roman"/>
              </a:rPr>
              <a:t>A</a:t>
            </a:r>
            <a:r>
              <a:rPr sz="1200" i="1" spc="82" baseline="27777" dirty="0">
                <a:latin typeface="Arial"/>
                <a:cs typeface="Arial"/>
              </a:rPr>
              <a:t>T</a:t>
            </a:r>
            <a:r>
              <a:rPr sz="1200" i="1" spc="-104" baseline="27777" dirty="0">
                <a:latin typeface="Arial"/>
                <a:cs typeface="Arial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A</a:t>
            </a:r>
            <a:r>
              <a:rPr sz="105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important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machine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learning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since</a:t>
            </a:r>
            <a:r>
              <a:rPr sz="1100" spc="-25" dirty="0">
                <a:latin typeface="Tahoma"/>
                <a:cs typeface="Tahoma"/>
              </a:rPr>
              <a:t> it </a:t>
            </a:r>
            <a:r>
              <a:rPr sz="1100" spc="-40" dirty="0">
                <a:latin typeface="Tahoma"/>
                <a:cs typeface="Tahoma"/>
              </a:rPr>
              <a:t>figures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least-</a:t>
            </a:r>
            <a:r>
              <a:rPr sz="1100" spc="-55" dirty="0">
                <a:latin typeface="Tahoma"/>
                <a:cs typeface="Tahoma"/>
              </a:rPr>
              <a:t>squares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solution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matrix </a:t>
            </a:r>
            <a:r>
              <a:rPr sz="1100" spc="-60" dirty="0">
                <a:latin typeface="Tahoma"/>
                <a:cs typeface="Tahoma"/>
              </a:rPr>
              <a:t>represented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as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A</a:t>
            </a:r>
            <a:r>
              <a:rPr sz="1050" spc="55" dirty="0">
                <a:latin typeface="Times New Roman"/>
                <a:cs typeface="Times New Roman"/>
              </a:rPr>
              <a:t> </a:t>
            </a:r>
            <a:r>
              <a:rPr sz="1100" spc="-60" dirty="0">
                <a:latin typeface="Tahoma"/>
                <a:cs typeface="Tahoma"/>
              </a:rPr>
              <a:t>where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100" i="1" spc="30" dirty="0">
                <a:latin typeface="Arial"/>
                <a:cs typeface="Arial"/>
              </a:rPr>
              <a:t> </a:t>
            </a:r>
            <a:r>
              <a:rPr sz="1100" spc="-55" dirty="0">
                <a:latin typeface="Tahoma"/>
                <a:cs typeface="Tahoma"/>
              </a:rPr>
              <a:t>represents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number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features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m</a:t>
            </a:r>
            <a:r>
              <a:rPr sz="1100" i="1" spc="1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number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vectors.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Spectral</a:t>
            </a:r>
            <a:r>
              <a:rPr spc="-45" dirty="0"/>
              <a:t> </a:t>
            </a:r>
            <a:r>
              <a:rPr spc="-55" dirty="0"/>
              <a:t>theorem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1450" y="892176"/>
            <a:ext cx="4101414" cy="1038489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50800" marR="140970">
              <a:lnSpc>
                <a:spcPct val="102600"/>
              </a:lnSpc>
              <a:spcBef>
                <a:spcPts val="55"/>
              </a:spcBef>
            </a:pPr>
            <a:r>
              <a:rPr sz="1100" b="1" spc="-25" dirty="0">
                <a:latin typeface="Trebuchet MS"/>
                <a:cs typeface="Trebuchet MS"/>
              </a:rPr>
              <a:t>Theorem</a:t>
            </a:r>
            <a:r>
              <a:rPr sz="1100" spc="-25" dirty="0">
                <a:latin typeface="Tahoma"/>
                <a:cs typeface="Tahoma"/>
              </a:rPr>
              <a:t>:</a:t>
            </a:r>
            <a:r>
              <a:rPr sz="1100" spc="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If </a:t>
            </a:r>
            <a:r>
              <a:rPr sz="1050" dirty="0">
                <a:latin typeface="Times New Roman"/>
                <a:cs typeface="Times New Roman"/>
              </a:rPr>
              <a:t>A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 MT"/>
                <a:cs typeface="Arial MT"/>
              </a:rPr>
              <a:t>R</a:t>
            </a:r>
            <a:r>
              <a:rPr sz="1200" i="1" baseline="27777" dirty="0">
                <a:latin typeface="Arial"/>
                <a:cs typeface="Arial"/>
              </a:rPr>
              <a:t>n</a:t>
            </a:r>
            <a:r>
              <a:rPr sz="1200" i="1" baseline="27777" dirty="0">
                <a:latin typeface="Verdana"/>
                <a:cs typeface="Verdana"/>
              </a:rPr>
              <a:t>×</a:t>
            </a:r>
            <a:r>
              <a:rPr sz="1200" i="1" baseline="27777" dirty="0">
                <a:latin typeface="Arial"/>
                <a:cs typeface="Arial"/>
              </a:rPr>
              <a:t>n</a:t>
            </a:r>
            <a:r>
              <a:rPr sz="1200" i="1" spc="225" baseline="27777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5" dirty="0">
                <a:latin typeface="Tahoma"/>
                <a:cs typeface="Tahoma"/>
              </a:rPr>
              <a:t> symmetric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there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exists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orthonormal </a:t>
            </a:r>
            <a:r>
              <a:rPr sz="1100" spc="-35" dirty="0">
                <a:latin typeface="Tahoma"/>
                <a:cs typeface="Tahoma"/>
              </a:rPr>
              <a:t>basis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corresponding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vector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space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V</a:t>
            </a:r>
            <a:r>
              <a:rPr sz="1100" i="1" spc="160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consisting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 </a:t>
            </a:r>
            <a:r>
              <a:rPr sz="1100" spc="-55" dirty="0">
                <a:latin typeface="Tahoma"/>
                <a:cs typeface="Tahoma"/>
              </a:rPr>
              <a:t>eigenvectors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A</a:t>
            </a:r>
            <a:r>
              <a:rPr sz="1100" dirty="0">
                <a:latin typeface="Tahoma"/>
                <a:cs typeface="Tahoma"/>
              </a:rPr>
              <a:t>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each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eigenvalue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real.</a:t>
            </a:r>
            <a:endParaRPr sz="1100" dirty="0">
              <a:latin typeface="Tahoma"/>
              <a:cs typeface="Tahoma"/>
            </a:endParaRPr>
          </a:p>
          <a:p>
            <a:pPr marL="50800" marR="17780">
              <a:lnSpc>
                <a:spcPct val="102600"/>
              </a:lnSpc>
            </a:pPr>
            <a:r>
              <a:rPr sz="1100" b="1" dirty="0">
                <a:latin typeface="Trebuchet MS"/>
                <a:cs typeface="Trebuchet MS"/>
              </a:rPr>
              <a:t>Proof</a:t>
            </a:r>
            <a:r>
              <a:rPr sz="1100" dirty="0">
                <a:latin typeface="Tahoma"/>
                <a:cs typeface="Tahoma"/>
              </a:rPr>
              <a:t>:</a:t>
            </a:r>
            <a:r>
              <a:rPr sz="1100" spc="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will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not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attempt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full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proof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theorem</a:t>
            </a:r>
            <a:r>
              <a:rPr sz="1100" spc="-25" dirty="0">
                <a:latin typeface="Tahoma"/>
                <a:cs typeface="Tahoma"/>
              </a:rPr>
              <a:t> but </a:t>
            </a:r>
            <a:r>
              <a:rPr sz="1100" spc="-45" dirty="0">
                <a:latin typeface="Tahoma"/>
                <a:cs typeface="Tahoma"/>
              </a:rPr>
              <a:t>provide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some</a:t>
            </a:r>
            <a:r>
              <a:rPr sz="1100" spc="-20" dirty="0">
                <a:latin typeface="Tahoma"/>
                <a:cs typeface="Tahoma"/>
              </a:rPr>
              <a:t> intuitions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about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why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true.</a:t>
            </a:r>
            <a:r>
              <a:rPr sz="1100" spc="8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theorem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relies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on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following </a:t>
            </a:r>
            <a:r>
              <a:rPr sz="1100" spc="-45" dirty="0">
                <a:latin typeface="Tahoma"/>
                <a:cs typeface="Tahoma"/>
              </a:rPr>
              <a:t>three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statements,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shown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next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slide.</a:t>
            </a:r>
            <a:endParaRPr sz="1100" dirty="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Spectral</a:t>
            </a:r>
            <a:r>
              <a:rPr spc="-45" dirty="0"/>
              <a:t> </a:t>
            </a:r>
            <a:r>
              <a:rPr spc="-55" dirty="0"/>
              <a:t>theorem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1957" y="706994"/>
            <a:ext cx="3754120" cy="207010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15265" indent="-177165">
              <a:lnSpc>
                <a:spcPct val="100000"/>
              </a:lnSpc>
              <a:spcBef>
                <a:spcPts val="434"/>
              </a:spcBef>
              <a:buClr>
                <a:srgbClr val="3333B2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sz="1100" dirty="0">
                <a:latin typeface="Tahoma"/>
                <a:cs typeface="Tahoma"/>
              </a:rPr>
              <a:t>All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roots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10" dirty="0">
                <a:latin typeface="Tahoma"/>
                <a:cs typeface="Tahoma"/>
              </a:rPr>
              <a:t> the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characteristic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polynomial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p</a:t>
            </a:r>
            <a:r>
              <a:rPr sz="1125" baseline="-14814" dirty="0">
                <a:latin typeface="Times New Roman"/>
                <a:cs typeface="Times New Roman"/>
              </a:rPr>
              <a:t>A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Verdana"/>
                <a:cs typeface="Verdana"/>
              </a:rPr>
              <a:t>λ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10" dirty="0">
                <a:latin typeface="Tahoma"/>
                <a:cs typeface="Tahoma"/>
              </a:rPr>
              <a:t> real.</a:t>
            </a:r>
            <a:endParaRPr sz="1100">
              <a:latin typeface="Tahoma"/>
              <a:cs typeface="Tahoma"/>
            </a:endParaRPr>
          </a:p>
          <a:p>
            <a:pPr marL="214629" marR="3048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spc="-10" dirty="0">
                <a:latin typeface="Tahoma"/>
                <a:cs typeface="Tahoma"/>
              </a:rPr>
              <a:t>For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each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eigenvalue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dirty="0">
                <a:latin typeface="Verdana"/>
                <a:cs typeface="Verdana"/>
              </a:rPr>
              <a:t>λ</a:t>
            </a:r>
            <a:r>
              <a:rPr sz="1100" i="1" spc="-80" dirty="0">
                <a:latin typeface="Verdana"/>
                <a:cs typeface="Verdana"/>
              </a:rPr>
              <a:t>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compute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orthonormal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basis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its</a:t>
            </a:r>
            <a:r>
              <a:rPr sz="1100" spc="-50" dirty="0">
                <a:latin typeface="Tahoma"/>
                <a:cs typeface="Tahoma"/>
              </a:rPr>
              <a:t> eigenspace.</a:t>
            </a:r>
            <a:r>
              <a:rPr sz="1100" spc="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string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together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orthonormal </a:t>
            </a:r>
            <a:r>
              <a:rPr sz="1100" spc="-70" dirty="0">
                <a:latin typeface="Tahoma"/>
                <a:cs typeface="Tahoma"/>
              </a:rPr>
              <a:t>bases</a:t>
            </a:r>
            <a:r>
              <a:rPr sz="1100" spc="-20" dirty="0">
                <a:latin typeface="Tahoma"/>
                <a:cs typeface="Tahoma"/>
              </a:rPr>
              <a:t> for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different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eigenvalues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A</a:t>
            </a:r>
            <a:r>
              <a:rPr sz="105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come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up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 </a:t>
            </a:r>
            <a:r>
              <a:rPr sz="1100" spc="-50" dirty="0">
                <a:latin typeface="Tahoma"/>
                <a:cs typeface="Tahoma"/>
              </a:rPr>
              <a:t>vectors</a:t>
            </a:r>
            <a:r>
              <a:rPr sz="1100" spc="35" dirty="0">
                <a:latin typeface="Tahoma"/>
                <a:cs typeface="Tahoma"/>
              </a:rPr>
              <a:t> </a:t>
            </a:r>
            <a:r>
              <a:rPr sz="1050" spc="-25" dirty="0">
                <a:latin typeface="Times New Roman"/>
                <a:cs typeface="Times New Roman"/>
              </a:rPr>
              <a:t>v</a:t>
            </a:r>
            <a:r>
              <a:rPr sz="1200" spc="-37" baseline="-10416" dirty="0">
                <a:latin typeface="Tahoma"/>
                <a:cs typeface="Tahoma"/>
              </a:rPr>
              <a:t>1</a:t>
            </a:r>
            <a:r>
              <a:rPr sz="1100" i="1" spc="-25" dirty="0">
                <a:latin typeface="Verdana"/>
                <a:cs typeface="Verdana"/>
              </a:rPr>
              <a:t>,</a:t>
            </a:r>
            <a:r>
              <a:rPr sz="1100" i="1" spc="-200" dirty="0">
                <a:latin typeface="Verdana"/>
                <a:cs typeface="Verdana"/>
              </a:rPr>
              <a:t> </a:t>
            </a:r>
            <a:r>
              <a:rPr sz="1050" spc="-10" dirty="0">
                <a:latin typeface="Times New Roman"/>
                <a:cs typeface="Times New Roman"/>
              </a:rPr>
              <a:t>v</a:t>
            </a:r>
            <a:r>
              <a:rPr sz="1200" spc="-15" baseline="-10416" dirty="0">
                <a:latin typeface="Tahoma"/>
                <a:cs typeface="Tahoma"/>
              </a:rPr>
              <a:t>2</a:t>
            </a:r>
            <a:r>
              <a:rPr sz="1100" i="1" spc="-10" dirty="0">
                <a:latin typeface="Verdana"/>
                <a:cs typeface="Verdana"/>
              </a:rPr>
              <a:t>...</a:t>
            </a:r>
            <a:endParaRPr sz="1100">
              <a:latin typeface="Verdana"/>
              <a:cs typeface="Verdana"/>
            </a:endParaRPr>
          </a:p>
          <a:p>
            <a:pPr marL="214629" marR="234315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dimension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eigenspace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E</a:t>
            </a:r>
            <a:r>
              <a:rPr sz="1200" i="1" baseline="-13888" dirty="0">
                <a:latin typeface="Calibri"/>
                <a:cs typeface="Calibri"/>
              </a:rPr>
              <a:t>λ</a:t>
            </a:r>
            <a:r>
              <a:rPr sz="1100" dirty="0">
                <a:latin typeface="Tahoma"/>
                <a:cs typeface="Tahoma"/>
              </a:rPr>
              <a:t>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called </a:t>
            </a:r>
            <a:r>
              <a:rPr sz="1100" dirty="0">
                <a:latin typeface="Tahoma"/>
                <a:cs typeface="Tahoma"/>
              </a:rPr>
              <a:t>its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geometric </a:t>
            </a:r>
            <a:r>
              <a:rPr sz="1100" spc="-25" dirty="0">
                <a:latin typeface="Tahoma"/>
                <a:cs typeface="Tahoma"/>
              </a:rPr>
              <a:t>multiplicity,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same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algebraic </a:t>
            </a:r>
            <a:r>
              <a:rPr sz="1100" spc="-10" dirty="0">
                <a:latin typeface="Tahoma"/>
                <a:cs typeface="Tahoma"/>
              </a:rPr>
              <a:t>multiplicity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λ </a:t>
            </a:r>
            <a:r>
              <a:rPr sz="1100" spc="-25" dirty="0">
                <a:latin typeface="Tahoma"/>
                <a:cs typeface="Tahoma"/>
              </a:rPr>
              <a:t>which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number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times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i="1" dirty="0">
                <a:latin typeface="Verdana"/>
                <a:cs typeface="Verdana"/>
              </a:rPr>
              <a:t>λ</a:t>
            </a:r>
            <a:r>
              <a:rPr sz="1100" i="1" spc="-90" dirty="0">
                <a:latin typeface="Verdana"/>
                <a:cs typeface="Verdana"/>
              </a:rPr>
              <a:t> </a:t>
            </a:r>
            <a:r>
              <a:rPr sz="1100" spc="-55" dirty="0">
                <a:latin typeface="Tahoma"/>
                <a:cs typeface="Tahoma"/>
              </a:rPr>
              <a:t>appears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root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 </a:t>
            </a:r>
            <a:r>
              <a:rPr sz="1100" spc="-30" dirty="0">
                <a:latin typeface="Tahoma"/>
                <a:cs typeface="Tahoma"/>
              </a:rPr>
              <a:t>characteristic</a:t>
            </a:r>
            <a:r>
              <a:rPr sz="1100" spc="-10" dirty="0">
                <a:latin typeface="Tahoma"/>
                <a:cs typeface="Tahoma"/>
              </a:rPr>
              <a:t> polynomial.</a:t>
            </a:r>
            <a:endParaRPr sz="1100">
              <a:latin typeface="Tahoma"/>
              <a:cs typeface="Tahoma"/>
            </a:endParaRPr>
          </a:p>
          <a:p>
            <a:pPr marL="214629" marR="4572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dirty="0">
                <a:latin typeface="Tahoma"/>
                <a:cs typeface="Tahoma"/>
              </a:rPr>
              <a:t>All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basis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vectors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from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different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Eigenspaces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combine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provide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orthonormal</a:t>
            </a:r>
            <a:r>
              <a:rPr sz="1100" spc="-35" dirty="0">
                <a:latin typeface="Tahoma"/>
                <a:cs typeface="Tahoma"/>
              </a:rPr>
              <a:t> basis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Arial MT"/>
                <a:cs typeface="Arial MT"/>
              </a:rPr>
              <a:t>R</a:t>
            </a:r>
            <a:r>
              <a:rPr sz="1200" i="1" spc="-37" baseline="27777" dirty="0">
                <a:latin typeface="Arial"/>
                <a:cs typeface="Arial"/>
              </a:rPr>
              <a:t>n</a:t>
            </a:r>
            <a:r>
              <a:rPr sz="1100" spc="-25" dirty="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Spectral</a:t>
            </a:r>
            <a:r>
              <a:rPr spc="-45" dirty="0"/>
              <a:t> </a:t>
            </a:r>
            <a:r>
              <a:rPr spc="-55" dirty="0"/>
              <a:t>theorem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1957" y="613104"/>
            <a:ext cx="3864610" cy="23704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4629" marR="70485" indent="-177165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dirty="0">
                <a:latin typeface="Tahoma"/>
                <a:cs typeface="Tahoma"/>
              </a:rPr>
              <a:t>So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90" dirty="0">
                <a:latin typeface="Tahoma"/>
                <a:cs typeface="Tahoma"/>
              </a:rPr>
              <a:t>we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85" dirty="0">
                <a:latin typeface="Tahoma"/>
                <a:cs typeface="Tahoma"/>
              </a:rPr>
              <a:t>see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eigenvalues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symmetric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matrix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real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eigenvectors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belonging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different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eigenvalues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are </a:t>
            </a:r>
            <a:r>
              <a:rPr sz="1100" spc="-10" dirty="0">
                <a:latin typeface="Tahoma"/>
                <a:cs typeface="Tahoma"/>
              </a:rPr>
              <a:t>orthogonal.</a:t>
            </a:r>
            <a:endParaRPr sz="1100">
              <a:latin typeface="Tahoma"/>
              <a:cs typeface="Tahoma"/>
            </a:endParaRPr>
          </a:p>
          <a:p>
            <a:pPr marL="214629" marR="33655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dirty="0">
                <a:latin typeface="Tahoma"/>
                <a:cs typeface="Tahoma"/>
              </a:rPr>
              <a:t>This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suggests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one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string</a:t>
            </a:r>
            <a:r>
              <a:rPr sz="1100" spc="-35" dirty="0">
                <a:latin typeface="Tahoma"/>
                <a:cs typeface="Tahoma"/>
              </a:rPr>
              <a:t> together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all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orthonormal </a:t>
            </a:r>
            <a:r>
              <a:rPr sz="1100" spc="-70" dirty="0">
                <a:latin typeface="Tahoma"/>
                <a:cs typeface="Tahoma"/>
              </a:rPr>
              <a:t>bases</a:t>
            </a:r>
            <a:r>
              <a:rPr sz="1100" spc="-20" dirty="0">
                <a:latin typeface="Tahoma"/>
                <a:cs typeface="Tahoma"/>
              </a:rPr>
              <a:t> for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different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eigenvalues</a:t>
            </a:r>
            <a:r>
              <a:rPr sz="1100" spc="-35" dirty="0">
                <a:latin typeface="Tahoma"/>
                <a:cs typeface="Tahoma"/>
              </a:rPr>
              <a:t> and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get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orthonormal </a:t>
            </a:r>
            <a:r>
              <a:rPr sz="1100" spc="-35" dirty="0">
                <a:latin typeface="Tahoma"/>
                <a:cs typeface="Tahoma"/>
              </a:rPr>
              <a:t>basis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25" dirty="0">
                <a:latin typeface="Arial MT"/>
                <a:cs typeface="Arial MT"/>
              </a:rPr>
              <a:t>R</a:t>
            </a:r>
            <a:r>
              <a:rPr sz="1200" i="1" spc="-37" baseline="27777" dirty="0">
                <a:latin typeface="Arial"/>
                <a:cs typeface="Arial"/>
              </a:rPr>
              <a:t>n</a:t>
            </a:r>
            <a:r>
              <a:rPr sz="1100" spc="-25" dirty="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  <a:p>
            <a:pPr marL="214629" marR="7239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dirty="0">
                <a:latin typeface="Tahoma"/>
                <a:cs typeface="Tahoma"/>
              </a:rPr>
              <a:t>But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who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say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when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90" dirty="0">
                <a:latin typeface="Tahoma"/>
                <a:cs typeface="Tahoma"/>
              </a:rPr>
              <a:t>we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string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together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basis </a:t>
            </a:r>
            <a:r>
              <a:rPr sz="1100" spc="-50" dirty="0">
                <a:latin typeface="Tahoma"/>
                <a:cs typeface="Tahoma"/>
              </a:rPr>
              <a:t>vectors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all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 </a:t>
            </a:r>
            <a:r>
              <a:rPr sz="1100" spc="-55" dirty="0">
                <a:latin typeface="Tahoma"/>
                <a:cs typeface="Tahoma"/>
              </a:rPr>
              <a:t>eigenvalues,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will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have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enough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vectors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to </a:t>
            </a:r>
            <a:r>
              <a:rPr sz="1100" spc="-40" dirty="0">
                <a:latin typeface="Tahoma"/>
                <a:cs typeface="Tahoma"/>
              </a:rPr>
              <a:t>describe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Arial MT"/>
                <a:cs typeface="Arial MT"/>
              </a:rPr>
              <a:t>R</a:t>
            </a:r>
            <a:r>
              <a:rPr sz="1200" i="1" baseline="27777" dirty="0">
                <a:latin typeface="Arial"/>
                <a:cs typeface="Arial"/>
              </a:rPr>
              <a:t>n</a:t>
            </a:r>
            <a:r>
              <a:rPr sz="1100" dirty="0">
                <a:latin typeface="Tahoma"/>
                <a:cs typeface="Tahoma"/>
              </a:rPr>
              <a:t>?</a:t>
            </a:r>
            <a:r>
              <a:rPr sz="1100" spc="7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need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100" i="1" spc="30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basis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vectors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might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end</a:t>
            </a:r>
            <a:r>
              <a:rPr sz="1100" spc="-25" dirty="0">
                <a:latin typeface="Tahoma"/>
                <a:cs typeface="Tahoma"/>
              </a:rPr>
              <a:t> up </a:t>
            </a:r>
            <a:r>
              <a:rPr sz="1100" spc="-35" dirty="0">
                <a:latin typeface="Tahoma"/>
                <a:cs typeface="Tahoma"/>
              </a:rPr>
              <a:t>having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fewer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than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100" i="1" spc="20" dirty="0">
                <a:latin typeface="Arial"/>
                <a:cs typeface="Arial"/>
              </a:rPr>
              <a:t> </a:t>
            </a:r>
            <a:r>
              <a:rPr sz="1100" spc="-10" dirty="0">
                <a:latin typeface="Tahoma"/>
                <a:cs typeface="Tahoma"/>
              </a:rPr>
              <a:t>vectors.</a:t>
            </a:r>
            <a:endParaRPr sz="1100">
              <a:latin typeface="Tahoma"/>
              <a:cs typeface="Tahoma"/>
            </a:endParaRPr>
          </a:p>
          <a:p>
            <a:pPr marL="214629" marR="3048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spc="-30" dirty="0">
                <a:latin typeface="Tahoma"/>
                <a:cs typeface="Tahoma"/>
              </a:rPr>
              <a:t>If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eigenvalues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all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different,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85" dirty="0">
                <a:latin typeface="Tahoma"/>
                <a:cs typeface="Tahoma"/>
              </a:rPr>
              <a:t>see</a:t>
            </a:r>
            <a:r>
              <a:rPr sz="1100" dirty="0">
                <a:latin typeface="Tahoma"/>
                <a:cs typeface="Tahoma"/>
              </a:rPr>
              <a:t> that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will </a:t>
            </a:r>
            <a:r>
              <a:rPr sz="1100" spc="-55" dirty="0">
                <a:latin typeface="Tahoma"/>
                <a:cs typeface="Tahoma"/>
              </a:rPr>
              <a:t>indeed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have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enough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basis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vectors.</a:t>
            </a:r>
            <a:r>
              <a:rPr sz="1100" spc="10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But</a:t>
            </a:r>
            <a:r>
              <a:rPr sz="1100" spc="-20" dirty="0">
                <a:latin typeface="Tahoma"/>
                <a:cs typeface="Tahoma"/>
              </a:rPr>
              <a:t> what about </a:t>
            </a:r>
            <a:r>
              <a:rPr sz="1100" spc="-60" dirty="0">
                <a:latin typeface="Tahoma"/>
                <a:cs typeface="Tahoma"/>
              </a:rPr>
              <a:t>when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there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repeating</a:t>
            </a:r>
            <a:r>
              <a:rPr sz="1100" spc="-10" dirty="0">
                <a:latin typeface="Tahoma"/>
                <a:cs typeface="Tahoma"/>
              </a:rPr>
              <a:t> eignevalues?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Spectral</a:t>
            </a:r>
            <a:r>
              <a:rPr spc="-45" dirty="0"/>
              <a:t> </a:t>
            </a:r>
            <a:r>
              <a:rPr spc="-55" dirty="0"/>
              <a:t>theorem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4629" marR="225425" indent="-177165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dirty="0"/>
              <a:t>We</a:t>
            </a:r>
            <a:r>
              <a:rPr sz="1100" spc="-45" dirty="0"/>
              <a:t> </a:t>
            </a:r>
            <a:r>
              <a:rPr sz="1100" spc="-60" dirty="0"/>
              <a:t>need</a:t>
            </a:r>
            <a:r>
              <a:rPr sz="1100" spc="-30" dirty="0"/>
              <a:t> </a:t>
            </a:r>
            <a:r>
              <a:rPr sz="1100" spc="-45" dirty="0"/>
              <a:t>one</a:t>
            </a:r>
            <a:r>
              <a:rPr sz="1100" spc="-30" dirty="0"/>
              <a:t> </a:t>
            </a:r>
            <a:r>
              <a:rPr sz="1100" spc="-60" dirty="0"/>
              <a:t>more</a:t>
            </a:r>
            <a:r>
              <a:rPr sz="1100" spc="-30" dirty="0"/>
              <a:t> </a:t>
            </a:r>
            <a:r>
              <a:rPr sz="1100" spc="-45" dirty="0"/>
              <a:t>piece</a:t>
            </a:r>
            <a:r>
              <a:rPr sz="1100" spc="-30" dirty="0"/>
              <a:t> </a:t>
            </a:r>
            <a:r>
              <a:rPr sz="1100" dirty="0"/>
              <a:t>to</a:t>
            </a:r>
            <a:r>
              <a:rPr sz="1100" spc="-35" dirty="0"/>
              <a:t> </a:t>
            </a:r>
            <a:r>
              <a:rPr sz="1100" spc="-40" dirty="0"/>
              <a:t>complete</a:t>
            </a:r>
            <a:r>
              <a:rPr sz="1100" spc="-30" dirty="0"/>
              <a:t> </a:t>
            </a:r>
            <a:r>
              <a:rPr sz="1100" spc="-10" dirty="0"/>
              <a:t>the</a:t>
            </a:r>
            <a:r>
              <a:rPr sz="1100" spc="-35" dirty="0"/>
              <a:t> </a:t>
            </a:r>
            <a:r>
              <a:rPr sz="1100" spc="-30" dirty="0"/>
              <a:t>puzzle</a:t>
            </a:r>
            <a:r>
              <a:rPr sz="1100" spc="-35" dirty="0"/>
              <a:t> and</a:t>
            </a:r>
            <a:r>
              <a:rPr sz="1100" spc="-30" dirty="0"/>
              <a:t> </a:t>
            </a:r>
            <a:r>
              <a:rPr sz="1100" spc="-65" dirty="0"/>
              <a:t>show </a:t>
            </a:r>
            <a:r>
              <a:rPr sz="1100" dirty="0"/>
              <a:t>that</a:t>
            </a:r>
            <a:r>
              <a:rPr sz="1100" spc="-25" dirty="0"/>
              <a:t> </a:t>
            </a:r>
            <a:r>
              <a:rPr sz="1100" spc="-90" dirty="0"/>
              <a:t>we</a:t>
            </a:r>
            <a:r>
              <a:rPr sz="1100" dirty="0"/>
              <a:t> will</a:t>
            </a:r>
            <a:r>
              <a:rPr sz="1100" spc="-5" dirty="0"/>
              <a:t> </a:t>
            </a:r>
            <a:r>
              <a:rPr sz="1100" spc="-55" dirty="0"/>
              <a:t>have</a:t>
            </a:r>
            <a:r>
              <a:rPr sz="1100" spc="-10" dirty="0"/>
              <a:t> </a:t>
            </a:r>
            <a:r>
              <a:rPr sz="1100" spc="-60" dirty="0"/>
              <a:t>enough</a:t>
            </a:r>
            <a:r>
              <a:rPr sz="1100" spc="-5" dirty="0"/>
              <a:t> </a:t>
            </a:r>
            <a:r>
              <a:rPr sz="1100" spc="-55" dirty="0"/>
              <a:t>eigenvectors</a:t>
            </a:r>
            <a:r>
              <a:rPr sz="1100" spc="-10" dirty="0"/>
              <a:t> </a:t>
            </a:r>
            <a:r>
              <a:rPr sz="1100" dirty="0"/>
              <a:t>to</a:t>
            </a:r>
            <a:r>
              <a:rPr sz="1100" spc="-10" dirty="0"/>
              <a:t> </a:t>
            </a:r>
            <a:r>
              <a:rPr sz="1100" spc="-40" dirty="0"/>
              <a:t>complete</a:t>
            </a:r>
            <a:r>
              <a:rPr sz="1100" spc="-10" dirty="0"/>
              <a:t> </a:t>
            </a:r>
            <a:r>
              <a:rPr sz="1100" spc="-25" dirty="0"/>
              <a:t>the </a:t>
            </a:r>
            <a:r>
              <a:rPr sz="1100" spc="-40" dirty="0"/>
              <a:t>orthonormal</a:t>
            </a:r>
            <a:r>
              <a:rPr sz="1100" spc="-50" dirty="0"/>
              <a:t> </a:t>
            </a:r>
            <a:r>
              <a:rPr sz="1100" spc="-35" dirty="0"/>
              <a:t>basis</a:t>
            </a:r>
            <a:r>
              <a:rPr sz="1100" spc="-50" dirty="0"/>
              <a:t> </a:t>
            </a:r>
            <a:r>
              <a:rPr sz="1100" dirty="0"/>
              <a:t>-</a:t>
            </a:r>
            <a:r>
              <a:rPr sz="1100" spc="-55" dirty="0"/>
              <a:t> </a:t>
            </a:r>
            <a:r>
              <a:rPr sz="1100" dirty="0"/>
              <a:t>this</a:t>
            </a:r>
            <a:r>
              <a:rPr sz="1100" spc="-35" dirty="0"/>
              <a:t> </a:t>
            </a:r>
            <a:r>
              <a:rPr sz="1100" spc="-20" dirty="0"/>
              <a:t>part</a:t>
            </a:r>
            <a:r>
              <a:rPr sz="1100" spc="-40" dirty="0"/>
              <a:t> </a:t>
            </a:r>
            <a:r>
              <a:rPr sz="1100" spc="-95" dirty="0"/>
              <a:t>we</a:t>
            </a:r>
            <a:r>
              <a:rPr sz="1100" spc="10" dirty="0"/>
              <a:t> </a:t>
            </a:r>
            <a:r>
              <a:rPr sz="1100" spc="-20" dirty="0"/>
              <a:t>shall</a:t>
            </a:r>
            <a:r>
              <a:rPr sz="1100" spc="-35" dirty="0"/>
              <a:t> </a:t>
            </a:r>
            <a:r>
              <a:rPr sz="1100" dirty="0"/>
              <a:t>not</a:t>
            </a:r>
            <a:r>
              <a:rPr sz="1100" spc="-40" dirty="0"/>
              <a:t> </a:t>
            </a:r>
            <a:r>
              <a:rPr sz="1100" spc="-10" dirty="0"/>
              <a:t>prove!</a:t>
            </a:r>
            <a:endParaRPr sz="1100"/>
          </a:p>
          <a:p>
            <a:pPr marL="214629" marR="3048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dirty="0"/>
              <a:t>As</a:t>
            </a:r>
            <a:r>
              <a:rPr sz="1100" spc="-85" dirty="0"/>
              <a:t> </a:t>
            </a:r>
            <a:r>
              <a:rPr sz="1100" dirty="0"/>
              <a:t>a</a:t>
            </a:r>
            <a:r>
              <a:rPr sz="1100" spc="-30" dirty="0"/>
              <a:t> </a:t>
            </a:r>
            <a:r>
              <a:rPr sz="1100" spc="-60" dirty="0"/>
              <a:t>consequence</a:t>
            </a:r>
            <a:r>
              <a:rPr sz="1100" spc="-30" dirty="0"/>
              <a:t> </a:t>
            </a:r>
            <a:r>
              <a:rPr sz="1100" dirty="0"/>
              <a:t>of</a:t>
            </a:r>
            <a:r>
              <a:rPr sz="1100" spc="-35" dirty="0"/>
              <a:t> </a:t>
            </a:r>
            <a:r>
              <a:rPr sz="1100" spc="-10" dirty="0"/>
              <a:t>the</a:t>
            </a:r>
            <a:r>
              <a:rPr sz="1100" spc="-30" dirty="0"/>
              <a:t> </a:t>
            </a:r>
            <a:r>
              <a:rPr sz="1100" spc="-25" dirty="0"/>
              <a:t>spectral</a:t>
            </a:r>
            <a:r>
              <a:rPr sz="1100" spc="-35" dirty="0"/>
              <a:t> </a:t>
            </a:r>
            <a:r>
              <a:rPr sz="1100" spc="-50" dirty="0"/>
              <a:t>theorem</a:t>
            </a:r>
            <a:r>
              <a:rPr sz="1100" spc="-35" dirty="0"/>
              <a:t> </a:t>
            </a:r>
            <a:r>
              <a:rPr sz="1100" spc="-90" dirty="0"/>
              <a:t>we</a:t>
            </a:r>
            <a:r>
              <a:rPr sz="1100" spc="5" dirty="0"/>
              <a:t> </a:t>
            </a:r>
            <a:r>
              <a:rPr sz="1100" spc="-20" dirty="0"/>
              <a:t>can</a:t>
            </a:r>
            <a:r>
              <a:rPr sz="1100" spc="-35" dirty="0"/>
              <a:t> </a:t>
            </a:r>
            <a:r>
              <a:rPr sz="1100" spc="-20" dirty="0"/>
              <a:t>write</a:t>
            </a:r>
            <a:r>
              <a:rPr sz="1100" spc="-35" dirty="0"/>
              <a:t> </a:t>
            </a:r>
            <a:r>
              <a:rPr sz="1100" dirty="0"/>
              <a:t>a</a:t>
            </a:r>
            <a:r>
              <a:rPr sz="1100" spc="-30" dirty="0"/>
              <a:t> real </a:t>
            </a:r>
            <a:r>
              <a:rPr sz="1100" spc="-35" dirty="0"/>
              <a:t>symmetric</a:t>
            </a:r>
            <a:r>
              <a:rPr sz="1100" spc="5" dirty="0"/>
              <a:t> </a:t>
            </a:r>
            <a:r>
              <a:rPr sz="1100" spc="-20" dirty="0"/>
              <a:t>matrix</a:t>
            </a:r>
            <a:r>
              <a:rPr sz="1100" spc="5" dirty="0"/>
              <a:t> </a:t>
            </a:r>
            <a:r>
              <a:rPr sz="1050" dirty="0">
                <a:latin typeface="Times New Roman"/>
                <a:cs typeface="Times New Roman"/>
              </a:rPr>
              <a:t>A</a:t>
            </a:r>
            <a:r>
              <a:rPr sz="1050" spc="85" dirty="0">
                <a:latin typeface="Times New Roman"/>
                <a:cs typeface="Times New Roman"/>
              </a:rPr>
              <a:t> </a:t>
            </a:r>
            <a:r>
              <a:rPr sz="1100" spc="-20" dirty="0"/>
              <a:t>as</a:t>
            </a:r>
            <a:r>
              <a:rPr sz="1100" spc="10" dirty="0"/>
              <a:t> </a:t>
            </a:r>
            <a:r>
              <a:rPr sz="1050" dirty="0">
                <a:latin typeface="Times New Roman"/>
                <a:cs typeface="Times New Roman"/>
              </a:rPr>
              <a:t>A</a:t>
            </a:r>
            <a:r>
              <a:rPr sz="1050" spc="25" dirty="0">
                <a:latin typeface="Times New Roman"/>
                <a:cs typeface="Times New Roman"/>
              </a:rPr>
              <a:t> </a:t>
            </a:r>
            <a:r>
              <a:rPr sz="1100" dirty="0"/>
              <a:t>=</a:t>
            </a:r>
            <a:r>
              <a:rPr sz="1100" spc="-50" dirty="0"/>
              <a:t> </a:t>
            </a:r>
            <a:r>
              <a:rPr sz="1050" spc="105" dirty="0">
                <a:latin typeface="Times New Roman"/>
                <a:cs typeface="Times New Roman"/>
              </a:rPr>
              <a:t>Q</a:t>
            </a:r>
            <a:r>
              <a:rPr sz="1100" spc="105" dirty="0"/>
              <a:t>Λ</a:t>
            </a:r>
            <a:r>
              <a:rPr sz="1050" spc="105" dirty="0">
                <a:latin typeface="Times New Roman"/>
                <a:cs typeface="Times New Roman"/>
              </a:rPr>
              <a:t>Q</a:t>
            </a:r>
            <a:r>
              <a:rPr sz="1200" i="1" spc="157" baseline="27777" dirty="0">
                <a:latin typeface="Arial"/>
                <a:cs typeface="Arial"/>
              </a:rPr>
              <a:t>T</a:t>
            </a:r>
            <a:r>
              <a:rPr sz="1200" i="1" spc="419" baseline="27777" dirty="0">
                <a:latin typeface="Arial"/>
                <a:cs typeface="Arial"/>
              </a:rPr>
              <a:t> </a:t>
            </a:r>
            <a:r>
              <a:rPr sz="1100" spc="-60" dirty="0"/>
              <a:t>where</a:t>
            </a:r>
            <a:r>
              <a:rPr sz="1100" spc="10" dirty="0"/>
              <a:t> </a:t>
            </a:r>
            <a:r>
              <a:rPr sz="1050" spc="95" dirty="0">
                <a:latin typeface="Times New Roman"/>
                <a:cs typeface="Times New Roman"/>
              </a:rPr>
              <a:t>Q</a:t>
            </a:r>
            <a:r>
              <a:rPr sz="1050" spc="155" dirty="0">
                <a:latin typeface="Times New Roman"/>
                <a:cs typeface="Times New Roman"/>
              </a:rPr>
              <a:t> </a:t>
            </a:r>
            <a:r>
              <a:rPr sz="1100" dirty="0"/>
              <a:t>is</a:t>
            </a:r>
            <a:r>
              <a:rPr sz="1100" spc="5" dirty="0"/>
              <a:t> </a:t>
            </a:r>
            <a:r>
              <a:rPr sz="1100" spc="-25" dirty="0"/>
              <a:t>an </a:t>
            </a:r>
            <a:r>
              <a:rPr sz="1100" spc="-40" dirty="0"/>
              <a:t>orthonormal</a:t>
            </a:r>
            <a:r>
              <a:rPr sz="1100" spc="-30" dirty="0"/>
              <a:t> </a:t>
            </a:r>
            <a:r>
              <a:rPr sz="1100" spc="-35" dirty="0"/>
              <a:t>basis </a:t>
            </a:r>
            <a:r>
              <a:rPr sz="1100" dirty="0"/>
              <a:t>(think</a:t>
            </a:r>
            <a:r>
              <a:rPr sz="1100" spc="-30" dirty="0"/>
              <a:t> </a:t>
            </a:r>
            <a:r>
              <a:rPr sz="1100" spc="-40" dirty="0"/>
              <a:t>orthonormal</a:t>
            </a:r>
            <a:r>
              <a:rPr sz="1100" spc="-30" dirty="0"/>
              <a:t> </a:t>
            </a:r>
            <a:r>
              <a:rPr sz="1100" spc="-35" dirty="0"/>
              <a:t>basis </a:t>
            </a:r>
            <a:r>
              <a:rPr sz="1100" spc="-50" dirty="0"/>
              <a:t>vectors</a:t>
            </a:r>
            <a:r>
              <a:rPr sz="1100" spc="-30" dirty="0"/>
              <a:t> </a:t>
            </a:r>
            <a:r>
              <a:rPr sz="1100" spc="-25" dirty="0"/>
              <a:t>for </a:t>
            </a:r>
            <a:r>
              <a:rPr sz="1100" spc="-45" dirty="0"/>
              <a:t>example),</a:t>
            </a:r>
            <a:r>
              <a:rPr sz="1100" spc="-25" dirty="0"/>
              <a:t> </a:t>
            </a:r>
            <a:r>
              <a:rPr sz="1100" spc="-35" dirty="0"/>
              <a:t>and</a:t>
            </a:r>
            <a:r>
              <a:rPr sz="1100" spc="-20" dirty="0"/>
              <a:t> </a:t>
            </a:r>
            <a:r>
              <a:rPr sz="1100" dirty="0"/>
              <a:t>Λ</a:t>
            </a:r>
            <a:r>
              <a:rPr sz="1100" spc="-25" dirty="0"/>
              <a:t> </a:t>
            </a:r>
            <a:r>
              <a:rPr sz="1100" dirty="0"/>
              <a:t>is</a:t>
            </a:r>
            <a:r>
              <a:rPr sz="1100" spc="-25" dirty="0"/>
              <a:t> </a:t>
            </a:r>
            <a:r>
              <a:rPr sz="1100" dirty="0"/>
              <a:t>a</a:t>
            </a:r>
            <a:r>
              <a:rPr sz="1100" spc="-25" dirty="0"/>
              <a:t> </a:t>
            </a:r>
            <a:r>
              <a:rPr sz="1100" spc="-35" dirty="0"/>
              <a:t>diagonal</a:t>
            </a:r>
            <a:r>
              <a:rPr sz="1100" spc="-20" dirty="0"/>
              <a:t> matrix</a:t>
            </a:r>
            <a:r>
              <a:rPr sz="1100" spc="-25" dirty="0"/>
              <a:t> </a:t>
            </a:r>
            <a:r>
              <a:rPr sz="1100" spc="-35" dirty="0"/>
              <a:t>consisting</a:t>
            </a:r>
            <a:r>
              <a:rPr sz="1100" spc="-25" dirty="0"/>
              <a:t> </a:t>
            </a:r>
            <a:r>
              <a:rPr sz="1100" dirty="0"/>
              <a:t>of</a:t>
            </a:r>
            <a:r>
              <a:rPr sz="1100" spc="-25" dirty="0"/>
              <a:t> </a:t>
            </a:r>
            <a:r>
              <a:rPr sz="1100" spc="-60" dirty="0"/>
              <a:t>non-</a:t>
            </a:r>
            <a:r>
              <a:rPr sz="1100" spc="-20" dirty="0"/>
              <a:t>zero </a:t>
            </a:r>
            <a:r>
              <a:rPr sz="1100" spc="-35" dirty="0"/>
              <a:t>entries</a:t>
            </a:r>
            <a:r>
              <a:rPr sz="1100" spc="-55" dirty="0"/>
              <a:t> </a:t>
            </a:r>
            <a:r>
              <a:rPr sz="1100" spc="-20" dirty="0"/>
              <a:t>only</a:t>
            </a:r>
            <a:r>
              <a:rPr sz="1100" spc="-60" dirty="0"/>
              <a:t> </a:t>
            </a:r>
            <a:r>
              <a:rPr sz="1100" spc="-35" dirty="0"/>
              <a:t>along</a:t>
            </a:r>
            <a:r>
              <a:rPr sz="1100" spc="-50" dirty="0"/>
              <a:t> </a:t>
            </a:r>
            <a:r>
              <a:rPr sz="1100" spc="-10" dirty="0"/>
              <a:t>the</a:t>
            </a:r>
            <a:r>
              <a:rPr sz="1100" spc="-55" dirty="0"/>
              <a:t> </a:t>
            </a:r>
            <a:r>
              <a:rPr sz="1100" spc="-10" dirty="0"/>
              <a:t>diagonal.</a:t>
            </a:r>
            <a:endParaRPr sz="1100">
              <a:latin typeface="Times New Roman"/>
              <a:cs typeface="Times New Roman"/>
            </a:endParaRPr>
          </a:p>
          <a:p>
            <a:pPr marL="214629" marR="117475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dirty="0"/>
              <a:t>The</a:t>
            </a:r>
            <a:r>
              <a:rPr sz="1100" spc="-40" dirty="0"/>
              <a:t> </a:t>
            </a:r>
            <a:r>
              <a:rPr sz="1100" spc="-25" dirty="0"/>
              <a:t>spectral</a:t>
            </a:r>
            <a:r>
              <a:rPr sz="1100" spc="-35" dirty="0"/>
              <a:t> </a:t>
            </a:r>
            <a:r>
              <a:rPr sz="1100" spc="-50" dirty="0"/>
              <a:t>theorem</a:t>
            </a:r>
            <a:r>
              <a:rPr sz="1100" spc="-30" dirty="0"/>
              <a:t> </a:t>
            </a:r>
            <a:r>
              <a:rPr sz="1100" spc="-20" dirty="0"/>
              <a:t>can</a:t>
            </a:r>
            <a:r>
              <a:rPr sz="1100" spc="-35" dirty="0"/>
              <a:t> </a:t>
            </a:r>
            <a:r>
              <a:rPr sz="1100" spc="-10" dirty="0"/>
              <a:t>be</a:t>
            </a:r>
            <a:r>
              <a:rPr sz="1100" spc="-30" dirty="0"/>
              <a:t> </a:t>
            </a:r>
            <a:r>
              <a:rPr sz="1100" spc="-60" dirty="0"/>
              <a:t>used</a:t>
            </a:r>
            <a:r>
              <a:rPr sz="1100" spc="-30" dirty="0"/>
              <a:t> </a:t>
            </a:r>
            <a:r>
              <a:rPr sz="1100" dirty="0"/>
              <a:t>in</a:t>
            </a:r>
            <a:r>
              <a:rPr sz="1100" spc="-35" dirty="0"/>
              <a:t> </a:t>
            </a:r>
            <a:r>
              <a:rPr sz="1100" dirty="0"/>
              <a:t>a</a:t>
            </a:r>
            <a:r>
              <a:rPr sz="1100" spc="-30" dirty="0"/>
              <a:t> </a:t>
            </a:r>
            <a:r>
              <a:rPr sz="1100" spc="-40" dirty="0"/>
              <a:t>machine</a:t>
            </a:r>
            <a:r>
              <a:rPr sz="1100" spc="-35" dirty="0"/>
              <a:t> </a:t>
            </a:r>
            <a:r>
              <a:rPr sz="1100" spc="-10" dirty="0"/>
              <a:t>learning </a:t>
            </a:r>
            <a:r>
              <a:rPr sz="1100" spc="-25" dirty="0"/>
              <a:t>context</a:t>
            </a:r>
            <a:r>
              <a:rPr sz="1100" spc="-65" dirty="0"/>
              <a:t> </a:t>
            </a:r>
            <a:r>
              <a:rPr sz="1100" spc="-35" dirty="0"/>
              <a:t>since</a:t>
            </a:r>
            <a:r>
              <a:rPr sz="1100" spc="-50" dirty="0"/>
              <a:t> </a:t>
            </a:r>
            <a:r>
              <a:rPr sz="1100" spc="-95" dirty="0"/>
              <a:t>we</a:t>
            </a:r>
            <a:r>
              <a:rPr sz="1100" spc="5" dirty="0"/>
              <a:t> </a:t>
            </a:r>
            <a:r>
              <a:rPr sz="1100" spc="-20" dirty="0"/>
              <a:t>can</a:t>
            </a:r>
            <a:r>
              <a:rPr sz="1100" spc="-50" dirty="0"/>
              <a:t> </a:t>
            </a:r>
            <a:r>
              <a:rPr sz="1100" spc="-20" dirty="0"/>
              <a:t>take</a:t>
            </a:r>
            <a:r>
              <a:rPr sz="1100" spc="-40" dirty="0"/>
              <a:t> </a:t>
            </a:r>
            <a:r>
              <a:rPr sz="1100" spc="-10" dirty="0"/>
              <a:t>the</a:t>
            </a:r>
            <a:r>
              <a:rPr sz="1100" spc="-40" dirty="0"/>
              <a:t> </a:t>
            </a:r>
            <a:r>
              <a:rPr sz="1100" spc="-10" dirty="0"/>
              <a:t>data</a:t>
            </a:r>
            <a:r>
              <a:rPr sz="1100" spc="-35" dirty="0"/>
              <a:t> </a:t>
            </a:r>
            <a:r>
              <a:rPr sz="1100" spc="-10" dirty="0"/>
              <a:t>matrix</a:t>
            </a:r>
            <a:r>
              <a:rPr sz="1100" spc="-40" dirty="0"/>
              <a:t> </a:t>
            </a:r>
            <a:r>
              <a:rPr sz="1050" dirty="0">
                <a:latin typeface="Times New Roman"/>
                <a:cs typeface="Times New Roman"/>
              </a:rPr>
              <a:t>A</a:t>
            </a:r>
            <a:r>
              <a:rPr sz="1050" spc="45" dirty="0">
                <a:latin typeface="Times New Roman"/>
                <a:cs typeface="Times New Roman"/>
              </a:rPr>
              <a:t> </a:t>
            </a:r>
            <a:r>
              <a:rPr sz="1100" spc="-35" dirty="0"/>
              <a:t>and</a:t>
            </a:r>
            <a:r>
              <a:rPr sz="1100" spc="-40" dirty="0"/>
              <a:t> </a:t>
            </a:r>
            <a:r>
              <a:rPr sz="1100" spc="-35" dirty="0"/>
              <a:t>create</a:t>
            </a:r>
            <a:r>
              <a:rPr sz="1100" spc="-40" dirty="0"/>
              <a:t> </a:t>
            </a:r>
            <a:r>
              <a:rPr sz="1100" spc="-50" dirty="0"/>
              <a:t>a </a:t>
            </a:r>
            <a:r>
              <a:rPr sz="1100" spc="-35" dirty="0"/>
              <a:t>symmetric</a:t>
            </a:r>
            <a:r>
              <a:rPr sz="1100" spc="-10" dirty="0"/>
              <a:t> </a:t>
            </a:r>
            <a:r>
              <a:rPr sz="1100" spc="-20" dirty="0"/>
              <a:t>matrix</a:t>
            </a:r>
            <a:r>
              <a:rPr sz="1100" dirty="0"/>
              <a:t> out</a:t>
            </a:r>
            <a:r>
              <a:rPr sz="1100" spc="-5" dirty="0"/>
              <a:t> </a:t>
            </a:r>
            <a:r>
              <a:rPr sz="1100" dirty="0"/>
              <a:t>of it - </a:t>
            </a:r>
            <a:r>
              <a:rPr sz="1050" spc="55" dirty="0">
                <a:latin typeface="Times New Roman"/>
                <a:cs typeface="Times New Roman"/>
              </a:rPr>
              <a:t>A</a:t>
            </a:r>
            <a:r>
              <a:rPr sz="1200" i="1" spc="82" baseline="27777" dirty="0">
                <a:latin typeface="Arial"/>
                <a:cs typeface="Arial"/>
              </a:rPr>
              <a:t>T</a:t>
            </a:r>
            <a:r>
              <a:rPr sz="1200" i="1" spc="-104" baseline="27777" dirty="0">
                <a:latin typeface="Arial"/>
                <a:cs typeface="Arial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A</a:t>
            </a:r>
            <a:r>
              <a:rPr sz="1050" spc="80" dirty="0">
                <a:latin typeface="Times New Roman"/>
                <a:cs typeface="Times New Roman"/>
              </a:rPr>
              <a:t> </a:t>
            </a:r>
            <a:r>
              <a:rPr sz="1100" spc="-35" dirty="0"/>
              <a:t>and</a:t>
            </a:r>
            <a:r>
              <a:rPr sz="1100" dirty="0"/>
              <a:t> </a:t>
            </a:r>
            <a:r>
              <a:rPr sz="1050" dirty="0">
                <a:latin typeface="Times New Roman"/>
                <a:cs typeface="Times New Roman"/>
              </a:rPr>
              <a:t>AA</a:t>
            </a:r>
            <a:r>
              <a:rPr sz="1200" i="1" baseline="27777" dirty="0">
                <a:latin typeface="Arial"/>
                <a:cs typeface="Arial"/>
              </a:rPr>
              <a:t>T</a:t>
            </a:r>
            <a:r>
              <a:rPr sz="1200" i="1" spc="405" baseline="27777" dirty="0">
                <a:latin typeface="Arial"/>
                <a:cs typeface="Arial"/>
              </a:rPr>
              <a:t> </a:t>
            </a:r>
            <a:r>
              <a:rPr sz="1100" spc="-25" dirty="0"/>
              <a:t>which</a:t>
            </a:r>
            <a:r>
              <a:rPr sz="1100" dirty="0"/>
              <a:t> </a:t>
            </a:r>
            <a:r>
              <a:rPr sz="1100" spc="-50" dirty="0"/>
              <a:t>are</a:t>
            </a:r>
            <a:r>
              <a:rPr sz="1100" dirty="0"/>
              <a:t> </a:t>
            </a:r>
            <a:r>
              <a:rPr sz="1100" spc="-20" dirty="0"/>
              <a:t>both </a:t>
            </a:r>
            <a:r>
              <a:rPr sz="1100" spc="-60" dirty="0"/>
              <a:t>used</a:t>
            </a:r>
            <a:r>
              <a:rPr sz="1100" dirty="0"/>
              <a:t> in </a:t>
            </a:r>
            <a:r>
              <a:rPr sz="1100" spc="-40" dirty="0"/>
              <a:t>Singular-</a:t>
            </a:r>
            <a:r>
              <a:rPr sz="1100" spc="-35" dirty="0"/>
              <a:t>Value</a:t>
            </a:r>
            <a:r>
              <a:rPr sz="1100" dirty="0"/>
              <a:t> </a:t>
            </a:r>
            <a:r>
              <a:rPr sz="1100" spc="-35" dirty="0"/>
              <a:t>Decomposition</a:t>
            </a:r>
            <a:r>
              <a:rPr sz="1100" spc="5" dirty="0"/>
              <a:t> </a:t>
            </a:r>
            <a:r>
              <a:rPr sz="1100" spc="-35" dirty="0"/>
              <a:t>and</a:t>
            </a:r>
            <a:r>
              <a:rPr sz="1100" dirty="0"/>
              <a:t> </a:t>
            </a:r>
            <a:r>
              <a:rPr sz="1100" spc="-20" dirty="0"/>
              <a:t>PCA.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8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A75E3588147654284604D4E812B6D70" ma:contentTypeVersion="32" ma:contentTypeDescription="Create a new document." ma:contentTypeScope="" ma:versionID="62c7be92337541b430aa89ae92170225">
  <xsd:schema xmlns:xsd="http://www.w3.org/2001/XMLSchema" xmlns:xs="http://www.w3.org/2001/XMLSchema" xmlns:p="http://schemas.microsoft.com/office/2006/metadata/properties" xmlns:ns2="0a2451e9-b2b7-43a3-aada-52e3e0c35c47" xmlns:ns3="7007aa70-762f-4b31-aded-bfa7aca65826" targetNamespace="http://schemas.microsoft.com/office/2006/metadata/properties" ma:root="true" ma:fieldsID="6bf9aa7f290f016ad30c1f432a629028" ns2:_="" ns3:_="">
    <xsd:import namespace="0a2451e9-b2b7-43a3-aada-52e3e0c35c47"/>
    <xsd:import namespace="7007aa70-762f-4b31-aded-bfa7aca65826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2451e9-b2b7-43a3-aada-52e3e0c35c47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17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8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9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2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3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5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Teams_Channel_Section_Location" ma:index="28" nillable="true" ma:displayName="Teams Channel Section Location" ma:internalName="Teams_Channel_Section_Location">
      <xsd:simpleType>
        <xsd:restriction base="dms:Text"/>
      </xsd:simpleType>
    </xsd:element>
    <xsd:element name="MediaServiceMetadata" ma:index="2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3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3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3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34" nillable="true" ma:taxonomy="true" ma:internalName="lcf76f155ced4ddcb4097134ff3c332f" ma:taxonomyFieldName="MediaServiceImageTags" ma:displayName="Image Tags" ma:readOnly="false" ma:fieldId="{5cf76f15-5ced-4ddc-b409-7134ff3c332f}" ma:taxonomyMulti="true" ma:sspId="eb8cb680-6a83-4177-80f4-b15e2230c4d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3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3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3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07aa70-762f-4b31-aded-bfa7aca65826" elementFormDefault="qualified">
    <xsd:import namespace="http://schemas.microsoft.com/office/2006/documentManagement/types"/>
    <xsd:import namespace="http://schemas.microsoft.com/office/infopath/2007/PartnerControls"/>
    <xsd:element name="TaxCatchAll" ma:index="35" nillable="true" ma:displayName="Taxonomy Catch All Column" ma:hidden="true" ma:list="{61294dec-a7db-4640-b18d-273187c9ed97}" ma:internalName="TaxCatchAll" ma:showField="CatchAllData" ma:web="7007aa70-762f-4b31-aded-bfa7aca6582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FolderType xmlns="0a2451e9-b2b7-43a3-aada-52e3e0c35c47" xsi:nil="true"/>
    <CultureName xmlns="0a2451e9-b2b7-43a3-aada-52e3e0c35c47" xsi:nil="true"/>
    <LMS_Mappings xmlns="0a2451e9-b2b7-43a3-aada-52e3e0c35c47" xsi:nil="true"/>
    <Invited_Students xmlns="0a2451e9-b2b7-43a3-aada-52e3e0c35c47" xsi:nil="true"/>
    <IsNotebookLocked xmlns="0a2451e9-b2b7-43a3-aada-52e3e0c35c47" xsi:nil="true"/>
    <Math_Settings xmlns="0a2451e9-b2b7-43a3-aada-52e3e0c35c47" xsi:nil="true"/>
    <Self_Registration_Enabled xmlns="0a2451e9-b2b7-43a3-aada-52e3e0c35c47" xsi:nil="true"/>
    <Teachers xmlns="0a2451e9-b2b7-43a3-aada-52e3e0c35c47">
      <UserInfo>
        <DisplayName/>
        <AccountId xsi:nil="true"/>
        <AccountType/>
      </UserInfo>
    </Teachers>
    <Students xmlns="0a2451e9-b2b7-43a3-aada-52e3e0c35c47">
      <UserInfo>
        <DisplayName/>
        <AccountId xsi:nil="true"/>
        <AccountType/>
      </UserInfo>
    </Students>
    <Student_Groups xmlns="0a2451e9-b2b7-43a3-aada-52e3e0c35c47">
      <UserInfo>
        <DisplayName/>
        <AccountId xsi:nil="true"/>
        <AccountType/>
      </UserInfo>
    </Student_Groups>
    <Templates xmlns="0a2451e9-b2b7-43a3-aada-52e3e0c35c47" xsi:nil="true"/>
    <Has_Teacher_Only_SectionGroup xmlns="0a2451e9-b2b7-43a3-aada-52e3e0c35c47" xsi:nil="true"/>
    <NotebookType xmlns="0a2451e9-b2b7-43a3-aada-52e3e0c35c47" xsi:nil="true"/>
    <Distribution_Groups xmlns="0a2451e9-b2b7-43a3-aada-52e3e0c35c47" xsi:nil="true"/>
    <lcf76f155ced4ddcb4097134ff3c332f xmlns="0a2451e9-b2b7-43a3-aada-52e3e0c35c47">
      <Terms xmlns="http://schemas.microsoft.com/office/infopath/2007/PartnerControls"/>
    </lcf76f155ced4ddcb4097134ff3c332f>
    <TaxCatchAll xmlns="7007aa70-762f-4b31-aded-bfa7aca65826" xsi:nil="true"/>
    <AppVersion xmlns="0a2451e9-b2b7-43a3-aada-52e3e0c35c47" xsi:nil="true"/>
    <Invited_Teachers xmlns="0a2451e9-b2b7-43a3-aada-52e3e0c35c47" xsi:nil="true"/>
    <Teams_Channel_Section_Location xmlns="0a2451e9-b2b7-43a3-aada-52e3e0c35c47" xsi:nil="true"/>
    <Owner xmlns="0a2451e9-b2b7-43a3-aada-52e3e0c35c47">
      <UserInfo>
        <DisplayName/>
        <AccountId xsi:nil="true"/>
        <AccountType/>
      </UserInfo>
    </Owner>
    <DefaultSectionNames xmlns="0a2451e9-b2b7-43a3-aada-52e3e0c35c47" xsi:nil="true"/>
    <TeamsChannelId xmlns="0a2451e9-b2b7-43a3-aada-52e3e0c35c47" xsi:nil="true"/>
    <Is_Collaboration_Space_Locked xmlns="0a2451e9-b2b7-43a3-aada-52e3e0c35c47" xsi:nil="true"/>
  </documentManagement>
</p:properties>
</file>

<file path=customXml/itemProps1.xml><?xml version="1.0" encoding="utf-8"?>
<ds:datastoreItem xmlns:ds="http://schemas.openxmlformats.org/officeDocument/2006/customXml" ds:itemID="{62F672DA-1DC7-4772-A598-149F7896A881}"/>
</file>

<file path=customXml/itemProps2.xml><?xml version="1.0" encoding="utf-8"?>
<ds:datastoreItem xmlns:ds="http://schemas.openxmlformats.org/officeDocument/2006/customXml" ds:itemID="{74264A55-9E2B-420C-AFBA-37E8A634C0CF}"/>
</file>

<file path=customXml/itemProps3.xml><?xml version="1.0" encoding="utf-8"?>
<ds:datastoreItem xmlns:ds="http://schemas.openxmlformats.org/officeDocument/2006/customXml" ds:itemID="{6AAE29A9-F5F8-4A05-85EC-43A94A209D2F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438</TotalTime>
  <Words>1517</Words>
  <Application>Microsoft Office PowerPoint</Application>
  <PresentationFormat>Custom</PresentationFormat>
  <Paragraphs>102</Paragraphs>
  <Slides>30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30</vt:i4>
      </vt:variant>
    </vt:vector>
  </HeadingPairs>
  <TitlesOfParts>
    <vt:vector size="47" baseType="lpstr">
      <vt:lpstr>Arial</vt:lpstr>
      <vt:lpstr>Arial MT</vt:lpstr>
      <vt:lpstr>Calibri</vt:lpstr>
      <vt:lpstr>Cambria Math</vt:lpstr>
      <vt:lpstr>Lucida Sans Unicode</vt:lpstr>
      <vt:lpstr>Nunito</vt:lpstr>
      <vt:lpstr>Tahoma</vt:lpstr>
      <vt:lpstr>Times New Roman</vt:lpstr>
      <vt:lpstr>Trebuchet MS</vt:lpstr>
      <vt:lpstr>Tw Cen MT</vt:lpstr>
      <vt:lpstr>Tw Cen MT Condensed</vt:lpstr>
      <vt:lpstr>Verdana</vt:lpstr>
      <vt:lpstr>Wingdings 3</vt:lpstr>
      <vt:lpstr>Office Theme</vt:lpstr>
      <vt:lpstr>1_Office Theme</vt:lpstr>
      <vt:lpstr>2_Office Theme</vt:lpstr>
      <vt:lpstr>Integral</vt:lpstr>
      <vt:lpstr>PowerPoint Presentation</vt:lpstr>
      <vt:lpstr>Matrix decompositions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Minor and cofactor</vt:lpstr>
      <vt:lpstr>Definition of Determinant</vt:lpstr>
      <vt:lpstr>Determinant of a 2x2 matrix</vt:lpstr>
      <vt:lpstr>Theorem</vt:lpstr>
      <vt:lpstr>Determinant of 3x3 matrix</vt:lpstr>
      <vt:lpstr>Determinant and Elementary Row operations</vt:lpstr>
      <vt:lpstr>PowerPoint Presentation</vt:lpstr>
      <vt:lpstr>Theorem (Equivalent conditions of det(A) ≠ 0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Some additional properties</vt:lpstr>
      <vt:lpstr>Some theorems</vt:lpstr>
      <vt:lpstr>Spectral theorem</vt:lpstr>
      <vt:lpstr>Spectral theorem</vt:lpstr>
      <vt:lpstr>Spectral theorem</vt:lpstr>
      <vt:lpstr>Spectral theorem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whiteLecture 4</dc:title>
  <dc:creator>white Math Foundations Team</dc:creator>
  <cp:lastModifiedBy>Michael Alphonse</cp:lastModifiedBy>
  <cp:revision>7</cp:revision>
  <dcterms:created xsi:type="dcterms:W3CDTF">2025-05-20T07:25:30Z</dcterms:created>
  <dcterms:modified xsi:type="dcterms:W3CDTF">2025-09-04T13:09:57Z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2023-12-11T00:00:00Z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2025-05-20T00:00:00Z</vt:filetime>
  </property>
  <property fmtid="{D5CDD505-2E9C-101B-9397-08002B2CF9AE}" pid="5" name="PTEX.Fullbanner">
    <vt:lpwstr>This is MiKTeX-pdfTeX 4.11.0 (1.40.24)</vt:lpwstr>
  </property>
  <property fmtid="{D5CDD505-2E9C-101B-9397-08002B2CF9AE}" pid="6" name="Producer">
    <vt:lpwstr>MiKTeX pdfTeX-1.40.24</vt:lpwstr>
  </property>
  <property fmtid="{D5CDD505-2E9C-101B-9397-08002B2CF9AE}" pid="7" name="ContentTypeId">
    <vt:lpwstr>0x0101000A75E3588147654284604D4E812B6D70</vt:lpwstr>
  </property>
</Properties>
</file>