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8" r:id="rId19"/>
    <p:sldId id="271" r:id="rId20"/>
    <p:sldId id="272" r:id="rId21"/>
    <p:sldId id="273" r:id="rId22"/>
    <p:sldId id="274" r:id="rId23"/>
    <p:sldId id="275" r:id="rId24"/>
    <p:sldId id="276" r:id="rId25"/>
    <p:sldId id="283" r:id="rId26"/>
    <p:sldId id="284" r:id="rId27"/>
    <p:sldId id="285" r:id="rId28"/>
    <p:sldId id="286" r:id="rId29"/>
    <p:sldId id="290" r:id="rId30"/>
    <p:sldId id="291" r:id="rId31"/>
    <p:sldId id="292" r:id="rId32"/>
    <p:sldId id="288" r:id="rId33"/>
    <p:sldId id="294" r:id="rId34"/>
    <p:sldId id="296" r:id="rId35"/>
    <p:sldId id="297" r:id="rId36"/>
    <p:sldId id="299" r:id="rId37"/>
    <p:sldId id="300" r:id="rId38"/>
    <p:sldId id="302" r:id="rId39"/>
    <p:sldId id="301" r:id="rId40"/>
    <p:sldId id="304" r:id="rId41"/>
    <p:sldId id="305" r:id="rId42"/>
    <p:sldId id="306" r:id="rId43"/>
    <p:sldId id="307" r:id="rId44"/>
    <p:sldId id="308" r:id="rId45"/>
    <p:sldId id="309" r:id="rId46"/>
    <p:sldId id="310" r:id="rId4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customXml" Target="../customXml/item2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72527"/>
            <a:ext cx="16700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2328492"/>
            <a:ext cx="3914140" cy="36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72527"/>
            <a:ext cx="13423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2526333"/>
            <a:ext cx="3855720" cy="36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84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563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944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714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7636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8" y="1072832"/>
            <a:ext cx="3918585" cy="1474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8" b="0" i="0">
                <a:solidFill>
                  <a:srgbClr val="6F2F9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163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598" y="316828"/>
            <a:ext cx="1116668" cy="147413"/>
          </a:xfrm>
        </p:spPr>
        <p:txBody>
          <a:bodyPr lIns="0" tIns="0" rIns="0" bIns="0"/>
          <a:lstStyle>
            <a:lvl1pPr>
              <a:defRPr sz="958" b="0" i="0">
                <a:solidFill>
                  <a:srgbClr val="6F2F9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718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598" y="316828"/>
            <a:ext cx="1116668" cy="147413"/>
          </a:xfrm>
        </p:spPr>
        <p:txBody>
          <a:bodyPr lIns="0" tIns="0" rIns="0" bIns="0"/>
          <a:lstStyle>
            <a:lvl1pPr>
              <a:defRPr sz="958" b="0" i="0">
                <a:solidFill>
                  <a:srgbClr val="6F2F9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3"/>
            <a:ext cx="20053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3"/>
            <a:ext cx="20053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4424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598" y="316828"/>
            <a:ext cx="1116668" cy="147413"/>
          </a:xfrm>
        </p:spPr>
        <p:txBody>
          <a:bodyPr lIns="0" tIns="0" rIns="0" bIns="0"/>
          <a:lstStyle>
            <a:lvl1pPr>
              <a:defRPr sz="958" b="0" i="0">
                <a:solidFill>
                  <a:srgbClr val="6F2F9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843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516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32359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921828"/>
            <a:ext cx="3864610" cy="156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28987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6494" y="1018449"/>
            <a:ext cx="4017111" cy="1330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60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598" y="316828"/>
            <a:ext cx="1116668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6F2F9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3"/>
            <a:ext cx="41490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51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30520">
        <a:defRPr>
          <a:latin typeface="+mn-lt"/>
          <a:ea typeface="+mn-ea"/>
          <a:cs typeface="+mn-cs"/>
        </a:defRPr>
      </a:lvl2pPr>
      <a:lvl3pPr marL="461040">
        <a:defRPr>
          <a:latin typeface="+mn-lt"/>
          <a:ea typeface="+mn-ea"/>
          <a:cs typeface="+mn-cs"/>
        </a:defRPr>
      </a:lvl3pPr>
      <a:lvl4pPr marL="691561">
        <a:defRPr>
          <a:latin typeface="+mn-lt"/>
          <a:ea typeface="+mn-ea"/>
          <a:cs typeface="+mn-cs"/>
        </a:defRPr>
      </a:lvl4pPr>
      <a:lvl5pPr marL="922081">
        <a:defRPr>
          <a:latin typeface="+mn-lt"/>
          <a:ea typeface="+mn-ea"/>
          <a:cs typeface="+mn-cs"/>
        </a:defRPr>
      </a:lvl5pPr>
      <a:lvl6pPr marL="1152601">
        <a:defRPr>
          <a:latin typeface="+mn-lt"/>
          <a:ea typeface="+mn-ea"/>
          <a:cs typeface="+mn-cs"/>
        </a:defRPr>
      </a:lvl6pPr>
      <a:lvl7pPr marL="1383121">
        <a:defRPr>
          <a:latin typeface="+mn-lt"/>
          <a:ea typeface="+mn-ea"/>
          <a:cs typeface="+mn-cs"/>
        </a:defRPr>
      </a:lvl7pPr>
      <a:lvl8pPr marL="1613642">
        <a:defRPr>
          <a:latin typeface="+mn-lt"/>
          <a:ea typeface="+mn-ea"/>
          <a:cs typeface="+mn-cs"/>
        </a:defRPr>
      </a:lvl8pPr>
      <a:lvl9pPr marL="184416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30520">
        <a:defRPr>
          <a:latin typeface="+mn-lt"/>
          <a:ea typeface="+mn-ea"/>
          <a:cs typeface="+mn-cs"/>
        </a:defRPr>
      </a:lvl2pPr>
      <a:lvl3pPr marL="461040">
        <a:defRPr>
          <a:latin typeface="+mn-lt"/>
          <a:ea typeface="+mn-ea"/>
          <a:cs typeface="+mn-cs"/>
        </a:defRPr>
      </a:lvl3pPr>
      <a:lvl4pPr marL="691561">
        <a:defRPr>
          <a:latin typeface="+mn-lt"/>
          <a:ea typeface="+mn-ea"/>
          <a:cs typeface="+mn-cs"/>
        </a:defRPr>
      </a:lvl4pPr>
      <a:lvl5pPr marL="922081">
        <a:defRPr>
          <a:latin typeface="+mn-lt"/>
          <a:ea typeface="+mn-ea"/>
          <a:cs typeface="+mn-cs"/>
        </a:defRPr>
      </a:lvl5pPr>
      <a:lvl6pPr marL="1152601">
        <a:defRPr>
          <a:latin typeface="+mn-lt"/>
          <a:ea typeface="+mn-ea"/>
          <a:cs typeface="+mn-cs"/>
        </a:defRPr>
      </a:lvl6pPr>
      <a:lvl7pPr marL="1383121">
        <a:defRPr>
          <a:latin typeface="+mn-lt"/>
          <a:ea typeface="+mn-ea"/>
          <a:cs typeface="+mn-cs"/>
        </a:defRPr>
      </a:lvl7pPr>
      <a:lvl8pPr marL="1613642">
        <a:defRPr>
          <a:latin typeface="+mn-lt"/>
          <a:ea typeface="+mn-ea"/>
          <a:cs typeface="+mn-cs"/>
        </a:defRPr>
      </a:lvl8pPr>
      <a:lvl9pPr marL="184416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96973" y="1772688"/>
            <a:ext cx="814069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3333B2"/>
                </a:solidFill>
                <a:latin typeface="Tahoma"/>
                <a:cs typeface="Tahoma"/>
              </a:rPr>
              <a:t>14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marL="24765">
              <a:lnSpc>
                <a:spcPct val="100000"/>
              </a:lnSpc>
            </a:pPr>
            <a:r>
              <a:rPr sz="1100" spc="70" dirty="0">
                <a:solidFill>
                  <a:srgbClr val="FFFFFF"/>
                </a:solidFill>
                <a:latin typeface="Tahoma"/>
                <a:cs typeface="Tahoma"/>
              </a:rPr>
              <a:t>MFML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1008771"/>
            <a:ext cx="3886835" cy="18101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Tahoma"/>
                <a:cs typeface="Tahoma"/>
              </a:rPr>
              <a:t>Mathematical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preliminaries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25" dirty="0">
                <a:latin typeface="Tahoma"/>
                <a:cs typeface="Tahoma"/>
              </a:rPr>
              <a:t>Support </a:t>
            </a:r>
            <a:r>
              <a:rPr sz="1100" spc="-20" dirty="0">
                <a:latin typeface="Tahoma"/>
                <a:cs typeface="Tahoma"/>
              </a:rPr>
              <a:t>Vector </a:t>
            </a:r>
            <a:r>
              <a:rPr sz="1100" spc="-10" dirty="0">
                <a:latin typeface="Tahoma"/>
                <a:cs typeface="Tahoma"/>
              </a:rPr>
              <a:t>Machines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5" dirty="0">
                <a:latin typeface="Tahoma"/>
                <a:cs typeface="Tahoma"/>
              </a:rPr>
              <a:t>Constrained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optimization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Lagrange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multipliers.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Primal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30" dirty="0">
                <a:latin typeface="Tahoma"/>
                <a:cs typeface="Tahoma"/>
              </a:rPr>
              <a:t> solutions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related</a:t>
            </a:r>
            <a:r>
              <a:rPr lang="en-IN" sz="1100" spc="-10" dirty="0">
                <a:latin typeface="Tahoma"/>
                <a:cs typeface="Tahoma"/>
              </a:rPr>
              <a:t>, strong duality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Karash-</a:t>
            </a:r>
            <a:r>
              <a:rPr sz="1100" spc="-30" dirty="0">
                <a:latin typeface="Tahoma"/>
                <a:cs typeface="Tahoma"/>
              </a:rPr>
              <a:t>Kuhn-</a:t>
            </a:r>
            <a:r>
              <a:rPr sz="1100" spc="-60" dirty="0">
                <a:latin typeface="Tahoma"/>
                <a:cs typeface="Tahoma"/>
              </a:rPr>
              <a:t>Tucker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conditions.</a:t>
            </a:r>
            <a:endParaRPr lang="en-IN" sz="1100" spc="-1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spc="-10" dirty="0">
                <a:latin typeface="Tahoma"/>
                <a:cs typeface="Tahoma"/>
              </a:rPr>
              <a:t>Introduction to classification Problem</a:t>
            </a: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spc="-10" dirty="0">
                <a:latin typeface="Tahoma"/>
                <a:cs typeface="Tahoma"/>
              </a:rPr>
              <a:t>Setting SVM Primal problem</a:t>
            </a: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spc="-10" dirty="0">
                <a:latin typeface="Tahoma"/>
                <a:cs typeface="Tahoma"/>
              </a:rPr>
              <a:t>Deriving solution of SVM primal problem using duality(If </a:t>
            </a:r>
            <a:r>
              <a:rPr lang="en-IN" sz="1100" spc="-10">
                <a:latin typeface="Tahoma"/>
                <a:cs typeface="Tahoma"/>
              </a:rPr>
              <a:t>time permits)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16376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Optimization</a:t>
            </a:r>
            <a:r>
              <a:rPr spc="-85" dirty="0"/>
              <a:t> </a:t>
            </a:r>
            <a:r>
              <a:rPr spc="-4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1123072"/>
            <a:ext cx="3253740" cy="923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shall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work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 </a:t>
            </a:r>
            <a:r>
              <a:rPr sz="1100" spc="-25" dirty="0">
                <a:latin typeface="Tahoma"/>
                <a:cs typeface="Tahoma"/>
              </a:rPr>
              <a:t>optimization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problem:</a:t>
            </a:r>
            <a:endParaRPr sz="1100">
              <a:latin typeface="Tahoma"/>
              <a:cs typeface="Tahoma"/>
            </a:endParaRPr>
          </a:p>
          <a:p>
            <a:pPr marR="866775" algn="r">
              <a:lnSpc>
                <a:spcPct val="100000"/>
              </a:lnSpc>
              <a:spcBef>
                <a:spcPts val="1130"/>
              </a:spcBef>
            </a:pPr>
            <a:r>
              <a:rPr sz="1100" spc="-45" dirty="0">
                <a:latin typeface="Tahoma"/>
                <a:cs typeface="Tahoma"/>
              </a:rPr>
              <a:t>min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subject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  <a:p>
            <a:pPr marR="820419" algn="r">
              <a:lnSpc>
                <a:spcPct val="100000"/>
              </a:lnSpc>
              <a:spcBef>
                <a:spcPts val="335"/>
              </a:spcBef>
            </a:pPr>
            <a:r>
              <a:rPr sz="1100" i="1" spc="-30" dirty="0">
                <a:latin typeface="Arial"/>
                <a:cs typeface="Arial"/>
              </a:rPr>
              <a:t>g</a:t>
            </a:r>
            <a:r>
              <a:rPr sz="1200" i="1" spc="-44" baseline="-10416" dirty="0">
                <a:latin typeface="Arial"/>
                <a:cs typeface="Arial"/>
              </a:rPr>
              <a:t>i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85" dirty="0">
                <a:latin typeface="Lucida Sans Unicode"/>
                <a:cs typeface="Lucida Sans Unicode"/>
              </a:rPr>
              <a:t>∀</a:t>
            </a:r>
            <a:r>
              <a:rPr sz="1100" i="1" spc="-185" dirty="0">
                <a:latin typeface="Arial"/>
                <a:cs typeface="Arial"/>
              </a:rPr>
              <a:t>i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[</a:t>
            </a:r>
            <a:r>
              <a:rPr sz="1100" i="1" spc="-25" dirty="0">
                <a:latin typeface="Arial"/>
                <a:cs typeface="Arial"/>
              </a:rPr>
              <a:t>m</a:t>
            </a:r>
            <a:r>
              <a:rPr sz="1100" spc="-25" dirty="0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  <a:p>
            <a:pPr marR="820419" algn="r">
              <a:lnSpc>
                <a:spcPct val="100000"/>
              </a:lnSpc>
              <a:spcBef>
                <a:spcPts val="334"/>
              </a:spcBef>
            </a:pPr>
            <a:r>
              <a:rPr sz="1100" i="1" spc="-10" dirty="0">
                <a:latin typeface="Arial"/>
                <a:cs typeface="Arial"/>
              </a:rPr>
              <a:t>h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70" dirty="0">
                <a:latin typeface="Lucida Sans Unicode"/>
                <a:cs typeface="Lucida Sans Unicode"/>
              </a:rPr>
              <a:t>∀</a:t>
            </a:r>
            <a:r>
              <a:rPr sz="1100" i="1" spc="-170" dirty="0">
                <a:latin typeface="Arial"/>
                <a:cs typeface="Arial"/>
              </a:rPr>
              <a:t>j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[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Optimization</a:t>
            </a:r>
            <a:r>
              <a:rPr spc="-50" dirty="0"/>
              <a:t> </a:t>
            </a:r>
            <a:r>
              <a:rPr spc="-60" dirty="0"/>
              <a:t>problem</a:t>
            </a:r>
            <a:r>
              <a:rPr spc="-45" dirty="0"/>
              <a:t> </a:t>
            </a:r>
            <a:r>
              <a:rPr dirty="0"/>
              <a:t>:</a:t>
            </a:r>
            <a:r>
              <a:rPr spc="85" dirty="0"/>
              <a:t> </a:t>
            </a:r>
            <a:r>
              <a:rPr spc="-30" dirty="0"/>
              <a:t>Lagrangian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7773"/>
            <a:ext cx="3526154" cy="4140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Lagrangian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associated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optimization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 dirty="0">
              <a:latin typeface="Tahoma"/>
              <a:cs typeface="Tahoma"/>
            </a:endParaRPr>
          </a:p>
          <a:p>
            <a:pPr marL="112395">
              <a:lnSpc>
                <a:spcPct val="100000"/>
              </a:lnSpc>
              <a:spcBef>
                <a:spcPts val="210"/>
              </a:spcBef>
            </a:pP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705" y="1515515"/>
            <a:ext cx="1008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7880" algn="l"/>
              </a:tabLst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105" dirty="0">
                <a:latin typeface="Calibri"/>
                <a:cs typeface="Calibri"/>
              </a:rPr>
              <a:t>=</a:t>
            </a:r>
            <a:r>
              <a:rPr sz="800" i="1" spc="105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1200" i="1" spc="142" baseline="3472" dirty="0">
                <a:latin typeface="Arial"/>
                <a:cs typeface="Arial"/>
              </a:rPr>
              <a:t>j</a:t>
            </a:r>
            <a:r>
              <a:rPr sz="1200" spc="142" baseline="3472" dirty="0">
                <a:latin typeface="Calibri"/>
                <a:cs typeface="Calibri"/>
              </a:rPr>
              <a:t>=</a:t>
            </a:r>
            <a:r>
              <a:rPr sz="1200" i="1" spc="142" baseline="3472" dirty="0">
                <a:latin typeface="Arial"/>
                <a:cs typeface="Arial"/>
              </a:rPr>
              <a:t>p</a:t>
            </a:r>
            <a:endParaRPr sz="1200" baseline="3472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5043" y="1669423"/>
            <a:ext cx="10185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05180" algn="l"/>
              </a:tabLst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8004" y="1710333"/>
            <a:ext cx="9474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994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j</a:t>
            </a:r>
            <a:r>
              <a:rPr sz="800" i="1" spc="145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160" y="1651367"/>
            <a:ext cx="21101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8365" algn="l"/>
                <a:tab pos="1678305" algn="l"/>
              </a:tabLst>
            </a:pPr>
            <a:r>
              <a:rPr sz="1100" spc="-25" dirty="0">
                <a:latin typeface="Tahoma"/>
                <a:cs typeface="Tahoma"/>
              </a:rPr>
              <a:t>min</a:t>
            </a:r>
            <a:r>
              <a:rPr sz="1100" i="1" spc="-25" dirty="0">
                <a:latin typeface="Arial"/>
                <a:cs typeface="Arial"/>
              </a:rPr>
              <a:t>f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+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95" dirty="0">
                <a:latin typeface="Arial"/>
                <a:cs typeface="Arial"/>
              </a:rPr>
              <a:t>λ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spc="-75" dirty="0">
                <a:latin typeface="Arial"/>
                <a:cs typeface="Arial"/>
              </a:rPr>
              <a:t>g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+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ν h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050" spc="-25" dirty="0">
                <a:latin typeface="Arial MT"/>
                <a:cs typeface="Arial MT"/>
              </a:rPr>
              <a:t>x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257" y="1857348"/>
            <a:ext cx="3123565" cy="436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7175">
              <a:lnSpc>
                <a:spcPct val="100000"/>
              </a:lnSpc>
              <a:spcBef>
                <a:spcPts val="95"/>
              </a:spcBef>
              <a:tabLst>
                <a:tab pos="2319020" algn="l"/>
              </a:tabLst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114" dirty="0">
                <a:latin typeface="Calibri"/>
                <a:cs typeface="Calibri"/>
              </a:rPr>
              <a:t>=1</a:t>
            </a:r>
            <a:r>
              <a:rPr sz="800" dirty="0">
                <a:latin typeface="Calibri"/>
                <a:cs typeface="Calibri"/>
              </a:rPr>
              <a:t>	</a:t>
            </a:r>
            <a:r>
              <a:rPr sz="800" i="1" spc="105" dirty="0">
                <a:latin typeface="Arial"/>
                <a:cs typeface="Arial"/>
              </a:rPr>
              <a:t>j</a:t>
            </a:r>
            <a:r>
              <a:rPr sz="800" spc="105" dirty="0">
                <a:latin typeface="Calibri"/>
                <a:cs typeface="Calibri"/>
              </a:rPr>
              <a:t>=1</a:t>
            </a:r>
            <a:endParaRPr sz="8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960"/>
              </a:spcBef>
              <a:buClr>
                <a:srgbClr val="3333B2"/>
              </a:buClr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60" dirty="0" err="1">
                <a:latin typeface="Arial"/>
                <a:cs typeface="Arial"/>
              </a:rPr>
              <a:t>λ</a:t>
            </a:r>
            <a:r>
              <a:rPr sz="1200" i="1" spc="89" baseline="-10416" dirty="0" err="1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lang="el-GR" sz="1100" i="1" dirty="0">
                <a:latin typeface="Arial"/>
                <a:cs typeface="Arial"/>
              </a:rPr>
              <a:t>ν</a:t>
            </a:r>
            <a:r>
              <a:rPr lang="en-IN" sz="1100" i="1" baseline="-25000" dirty="0">
                <a:latin typeface="Arial"/>
                <a:cs typeface="Arial"/>
              </a:rPr>
              <a:t>j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Lagrange</a:t>
            </a:r>
            <a:r>
              <a:rPr sz="1100" spc="-10" dirty="0">
                <a:latin typeface="Tahoma"/>
                <a:cs typeface="Tahoma"/>
              </a:rPr>
              <a:t> multipliers.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Quadratic</a:t>
            </a:r>
            <a:r>
              <a:rPr spc="-30" dirty="0"/>
              <a:t> </a:t>
            </a:r>
            <a:r>
              <a:rPr spc="-5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885238"/>
            <a:ext cx="3783329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primal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problem:</a:t>
            </a:r>
            <a:endParaRPr sz="1100" dirty="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quadratic</a:t>
            </a:r>
            <a:r>
              <a:rPr sz="1100" spc="-35" dirty="0">
                <a:latin typeface="Tahoma"/>
                <a:cs typeface="Tahoma"/>
              </a:rPr>
              <a:t> objective </a:t>
            </a:r>
            <a:r>
              <a:rPr sz="1100" spc="-30" dirty="0">
                <a:latin typeface="Tahoma"/>
                <a:cs typeface="Tahoma"/>
              </a:rPr>
              <a:t>function </a:t>
            </a: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lang="en-IN" sz="1100" spc="-35" dirty="0">
                <a:latin typeface="Tahoma"/>
                <a:cs typeface="Tahoma"/>
              </a:rPr>
              <a:t>linear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constraints: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27643" y="179105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89633" y="1779078"/>
            <a:ext cx="44577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50" spc="-10" dirty="0">
                <a:latin typeface="Palatino Linotype"/>
                <a:cs typeface="Palatino Linotype"/>
              </a:rPr>
              <a:t> </a:t>
            </a:r>
            <a:r>
              <a:rPr lang="en-IN" sz="350" spc="-10" dirty="0">
                <a:latin typeface="Palatino Linotype"/>
                <a:cs typeface="Palatino Linotype"/>
              </a:rPr>
              <a:t> </a:t>
            </a:r>
            <a:r>
              <a:rPr lang="en-IN" sz="800" spc="55" dirty="0">
                <a:latin typeface="Arial MT"/>
                <a:cs typeface="Arial MT"/>
              </a:rPr>
              <a:t>x</a:t>
            </a:r>
            <a:r>
              <a:rPr sz="800" dirty="0">
                <a:latin typeface="Cambria"/>
                <a:cs typeface="Cambria"/>
              </a:rPr>
              <a:t>∈</a:t>
            </a:r>
            <a:r>
              <a:rPr sz="800" dirty="0">
                <a:latin typeface="Arial MT"/>
                <a:cs typeface="Arial MT"/>
              </a:rPr>
              <a:t>R</a:t>
            </a:r>
            <a:r>
              <a:rPr sz="900" i="1" baseline="23148" dirty="0">
                <a:latin typeface="Arial"/>
                <a:cs typeface="Arial"/>
              </a:rPr>
              <a:t>d</a:t>
            </a:r>
            <a:r>
              <a:rPr sz="900" i="1" spc="412" baseline="23148" dirty="0">
                <a:latin typeface="Arial"/>
                <a:cs typeface="Arial"/>
              </a:rPr>
              <a:t> </a:t>
            </a:r>
            <a:r>
              <a:rPr sz="1650" spc="-75" baseline="5050" dirty="0">
                <a:latin typeface="Tahoma"/>
                <a:cs typeface="Tahoma"/>
              </a:rPr>
              <a:t>2</a:t>
            </a:r>
            <a:endParaRPr sz="1650" baseline="505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3077" y="1580716"/>
            <a:ext cx="121666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4325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ts val="1030"/>
              </a:lnSpc>
              <a:tabLst>
                <a:tab pos="398780" algn="l"/>
              </a:tabLst>
            </a:pPr>
            <a:r>
              <a:rPr sz="1100" spc="-25" dirty="0">
                <a:latin typeface="Tahoma"/>
                <a:cs typeface="Tahoma"/>
              </a:rPr>
              <a:t>min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80" dirty="0">
                <a:latin typeface="Arial MT"/>
                <a:cs typeface="Arial MT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75" baseline="3125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Qx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-190" dirty="0">
                <a:latin typeface="Arial MT"/>
                <a:cs typeface="Arial MT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75" baseline="31250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x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257" y="1949817"/>
            <a:ext cx="251650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25575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spc="55" dirty="0">
                <a:latin typeface="Arial MT"/>
                <a:cs typeface="Arial MT"/>
              </a:rPr>
              <a:t>Ax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050" spc="-50" dirty="0">
                <a:latin typeface="Arial MT"/>
                <a:cs typeface="Arial MT"/>
              </a:rPr>
              <a:t>b</a:t>
            </a:r>
            <a:endParaRPr sz="1050" dirty="0">
              <a:latin typeface="Arial MT"/>
              <a:cs typeface="Arial MT"/>
            </a:endParaRPr>
          </a:p>
          <a:p>
            <a:pPr marL="227965" indent="-177165">
              <a:lnSpc>
                <a:spcPct val="100000"/>
              </a:lnSpc>
              <a:spcBef>
                <a:spcPts val="11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-35" dirty="0">
                <a:latin typeface="Tahoma"/>
                <a:cs typeface="Tahoma"/>
              </a:rPr>
              <a:t>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050" spc="90" dirty="0">
                <a:latin typeface="Arial MT"/>
                <a:cs typeface="Arial MT"/>
              </a:rPr>
              <a:t>A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50" dirty="0">
                <a:latin typeface="Arial MT"/>
                <a:cs typeface="Arial MT"/>
              </a:rPr>
              <a:t>R</a:t>
            </a:r>
            <a:r>
              <a:rPr sz="1200" i="1" spc="75" baseline="27777" dirty="0">
                <a:latin typeface="Arial"/>
                <a:cs typeface="Arial"/>
              </a:rPr>
              <a:t>m</a:t>
            </a:r>
            <a:r>
              <a:rPr sz="1200" spc="75" baseline="27777" dirty="0">
                <a:latin typeface="Cambria"/>
                <a:cs typeface="Cambria"/>
              </a:rPr>
              <a:t>×</a:t>
            </a:r>
            <a:r>
              <a:rPr sz="1200" i="1" spc="75" baseline="27777" dirty="0">
                <a:latin typeface="Arial"/>
                <a:cs typeface="Arial"/>
              </a:rPr>
              <a:t>d</a:t>
            </a:r>
            <a:r>
              <a:rPr sz="1200" i="1" spc="-150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d</a:t>
            </a:r>
            <a:endParaRPr sz="1200" baseline="27777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Quadratic</a:t>
            </a:r>
            <a:r>
              <a:rPr spc="-30" dirty="0"/>
              <a:t> </a:t>
            </a:r>
            <a:r>
              <a:rPr spc="-5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1107019"/>
            <a:ext cx="2277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Lagrangian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dirty="0">
                <a:latin typeface="Verdana"/>
                <a:cs typeface="Verdana"/>
              </a:rPr>
              <a:t>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9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172" y="1279091"/>
            <a:ext cx="1875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1200" spc="-82" baseline="31250" dirty="0">
                <a:latin typeface="Calibri"/>
                <a:cs typeface="Calibri"/>
              </a:rPr>
              <a:t> 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75" dirty="0">
                <a:latin typeface="Arial MT"/>
                <a:cs typeface="Arial MT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Qx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-190" dirty="0">
                <a:latin typeface="Arial MT"/>
                <a:cs typeface="Arial MT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i="1" spc="100" dirty="0">
                <a:latin typeface="Arial"/>
                <a:cs typeface="Arial"/>
              </a:rPr>
              <a:t>λ</a:t>
            </a:r>
            <a:r>
              <a:rPr sz="1200" i="1" spc="150" baseline="27777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Ax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050" spc="-25" dirty="0">
                <a:latin typeface="Arial MT"/>
                <a:cs typeface="Arial MT"/>
              </a:rPr>
              <a:t>b</a:t>
            </a:r>
            <a:r>
              <a:rPr sz="1100" spc="-25" dirty="0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1364194"/>
            <a:ext cx="2063750" cy="31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marL="215265" indent="-177165"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45" dirty="0">
                <a:latin typeface="Tahoma"/>
                <a:cs typeface="Tahoma"/>
              </a:rPr>
              <a:t>Rearranging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have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995" y="1661196"/>
            <a:ext cx="2572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Verdana"/>
                <a:cs typeface="Verdana"/>
              </a:rPr>
              <a:t>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8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1200" spc="-82" baseline="31250" dirty="0">
                <a:latin typeface="Calibri"/>
                <a:cs typeface="Calibri"/>
              </a:rPr>
              <a:t> 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80" dirty="0">
                <a:latin typeface="Arial MT"/>
                <a:cs typeface="Arial MT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Qx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050" spc="85" dirty="0">
                <a:latin typeface="Arial MT"/>
                <a:cs typeface="Arial MT"/>
              </a:rPr>
              <a:t>A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100" b="1" i="1" spc="65" dirty="0">
                <a:latin typeface="Arial"/>
                <a:cs typeface="Arial"/>
              </a:rPr>
              <a:t>λ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200" i="1" spc="97" baseline="27777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1" i="1" spc="100" dirty="0">
                <a:latin typeface="Arial"/>
                <a:cs typeface="Arial"/>
              </a:rPr>
              <a:t>λ</a:t>
            </a:r>
            <a:r>
              <a:rPr sz="1200" i="1" spc="150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b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957" y="1746299"/>
            <a:ext cx="3733800" cy="48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marL="214629" marR="30480" indent="-177165">
              <a:lnSpc>
                <a:spcPts val="1360"/>
              </a:lnSpc>
              <a:spcBef>
                <a:spcPts val="3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Taking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derivative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Verdana"/>
                <a:cs typeface="Verdana"/>
              </a:rPr>
              <a:t>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9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setting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zero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Qx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050" spc="85" dirty="0">
                <a:latin typeface="Arial MT"/>
                <a:cs typeface="Arial MT"/>
              </a:rPr>
              <a:t>A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Quadratic</a:t>
            </a:r>
            <a:r>
              <a:rPr spc="-30" dirty="0"/>
              <a:t> </a:t>
            </a:r>
            <a:r>
              <a:rPr spc="-5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962772"/>
            <a:ext cx="381571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derive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take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Q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invertible,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lang="en-IN" sz="1100" spc="-50" dirty="0">
                <a:latin typeface="Tahoma"/>
                <a:cs typeface="Tahoma"/>
              </a:rPr>
              <a:t>-</a:t>
            </a:r>
            <a:r>
              <a:rPr sz="1050" spc="80" dirty="0">
                <a:latin typeface="Arial MT"/>
                <a:cs typeface="Arial MT"/>
              </a:rPr>
              <a:t>Q</a:t>
            </a:r>
            <a:r>
              <a:rPr sz="1200" spc="120" baseline="27777" dirty="0">
                <a:latin typeface="Cambria"/>
                <a:cs typeface="Cambria"/>
              </a:rPr>
              <a:t>−</a:t>
            </a:r>
            <a:r>
              <a:rPr sz="1200" spc="120" baseline="27777" dirty="0">
                <a:latin typeface="Calibri"/>
                <a:cs typeface="Calibri"/>
              </a:rPr>
              <a:t>1</a:t>
            </a:r>
            <a:r>
              <a:rPr sz="1100" spc="80" dirty="0">
                <a:latin typeface="Tahoma"/>
                <a:cs typeface="Tahoma"/>
              </a:rPr>
              <a:t>(</a:t>
            </a:r>
            <a:r>
              <a:rPr sz="1050" spc="80" dirty="0">
                <a:latin typeface="Arial MT"/>
                <a:cs typeface="Arial MT"/>
              </a:rPr>
              <a:t>c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050" spc="85" dirty="0">
                <a:latin typeface="Arial MT"/>
                <a:cs typeface="Arial MT"/>
              </a:rPr>
              <a:t>A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spc="-25" dirty="0">
                <a:latin typeface="Arial"/>
                <a:cs typeface="Arial"/>
              </a:rPr>
              <a:t>λ</a:t>
            </a:r>
            <a:r>
              <a:rPr sz="1100" spc="-25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Plugging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value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13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Verdana"/>
                <a:cs typeface="Verdana"/>
              </a:rPr>
              <a:t>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9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995" y="1598687"/>
            <a:ext cx="2797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Verdana"/>
                <a:cs typeface="Verdana"/>
              </a:rPr>
              <a:t>D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λ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215" dirty="0">
                <a:latin typeface="Lucida Sans Unicode"/>
                <a:cs typeface="Lucida Sans Unicode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1200" spc="-82" baseline="3125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050" spc="85" dirty="0">
                <a:latin typeface="Arial MT"/>
                <a:cs typeface="Arial MT"/>
              </a:rPr>
              <a:t>A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100" b="1" i="1" spc="75" dirty="0">
                <a:latin typeface="Arial"/>
                <a:cs typeface="Arial"/>
              </a:rPr>
              <a:t>λ</a:t>
            </a:r>
            <a:r>
              <a:rPr sz="1100" spc="75" dirty="0">
                <a:latin typeface="Tahoma"/>
                <a:cs typeface="Tahoma"/>
              </a:rPr>
              <a:t>)</a:t>
            </a:r>
            <a:r>
              <a:rPr sz="1050" spc="75" dirty="0">
                <a:latin typeface="Arial MT"/>
                <a:cs typeface="Arial MT"/>
              </a:rPr>
              <a:t>Q</a:t>
            </a:r>
            <a:r>
              <a:rPr sz="1200" spc="112" baseline="27777" dirty="0">
                <a:latin typeface="Cambria"/>
                <a:cs typeface="Cambria"/>
              </a:rPr>
              <a:t>−</a:t>
            </a:r>
            <a:r>
              <a:rPr sz="1200" spc="112" baseline="27777" dirty="0">
                <a:latin typeface="Calibri"/>
                <a:cs typeface="Calibri"/>
              </a:rPr>
              <a:t>1</a:t>
            </a:r>
            <a:r>
              <a:rPr sz="1100" spc="75" dirty="0">
                <a:latin typeface="Tahoma"/>
                <a:cs typeface="Tahoma"/>
              </a:rPr>
              <a:t>(</a:t>
            </a:r>
            <a:r>
              <a:rPr sz="1050" spc="75" dirty="0">
                <a:latin typeface="Arial MT"/>
                <a:cs typeface="Arial MT"/>
              </a:rPr>
              <a:t>c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050" spc="85" dirty="0">
                <a:latin typeface="Arial MT"/>
                <a:cs typeface="Arial MT"/>
              </a:rPr>
              <a:t>A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1" i="1" spc="100" dirty="0">
                <a:latin typeface="Arial"/>
                <a:cs typeface="Arial"/>
              </a:rPr>
              <a:t>λ</a:t>
            </a:r>
            <a:r>
              <a:rPr sz="1200" i="1" spc="150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050" spc="-25" dirty="0">
                <a:latin typeface="Arial MT"/>
                <a:cs typeface="Arial MT"/>
              </a:rPr>
              <a:t>b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1683790"/>
            <a:ext cx="2832100" cy="31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marL="215265" indent="-177165"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25" dirty="0">
                <a:latin typeface="Tahoma"/>
                <a:cs typeface="Tahoma"/>
              </a:rPr>
              <a:t> optimization </a:t>
            </a:r>
            <a:r>
              <a:rPr sz="1100" spc="-20" dirty="0">
                <a:latin typeface="Tahoma"/>
                <a:cs typeface="Tahoma"/>
              </a:rPr>
              <a:t>problem: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980805"/>
            <a:ext cx="266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max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4920" y="2040698"/>
            <a:ext cx="24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i="1" spc="30" dirty="0">
                <a:latin typeface="Arial"/>
                <a:cs typeface="Arial"/>
              </a:rPr>
              <a:t>λ</a:t>
            </a:r>
            <a:r>
              <a:rPr sz="800" spc="30" dirty="0">
                <a:latin typeface="Cambria"/>
                <a:cs typeface="Cambria"/>
              </a:rPr>
              <a:t>∈</a:t>
            </a:r>
            <a:r>
              <a:rPr sz="800" spc="30" dirty="0">
                <a:latin typeface="Arial MT"/>
                <a:cs typeface="Arial MT"/>
              </a:rPr>
              <a:t>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6055" y="206589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6055" y="1967851"/>
            <a:ext cx="1983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5775" algn="l"/>
                <a:tab pos="845819" algn="l"/>
                <a:tab pos="1393825" algn="l"/>
                <a:tab pos="1896110" algn="l"/>
              </a:tabLst>
            </a:pPr>
            <a:r>
              <a:rPr sz="1200" u="sng" spc="-75" baseline="347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1200" baseline="3472" dirty="0">
                <a:latin typeface="Calibri"/>
                <a:cs typeface="Calibri"/>
              </a:rPr>
              <a:t>	</a:t>
            </a:r>
            <a:r>
              <a:rPr sz="800" i="1" spc="35" dirty="0">
                <a:latin typeface="Arial"/>
                <a:cs typeface="Arial"/>
              </a:rPr>
              <a:t>T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spc="80" dirty="0">
                <a:latin typeface="Cambria"/>
                <a:cs typeface="Cambria"/>
              </a:rPr>
              <a:t>−</a:t>
            </a:r>
            <a:r>
              <a:rPr sz="800" spc="80" dirty="0">
                <a:latin typeface="Calibri"/>
                <a:cs typeface="Calibri"/>
              </a:rPr>
              <a:t>1</a:t>
            </a:r>
            <a:r>
              <a:rPr sz="800" dirty="0">
                <a:latin typeface="Calibri"/>
                <a:cs typeface="Calibri"/>
              </a:rPr>
              <a:t>	</a:t>
            </a:r>
            <a:r>
              <a:rPr sz="800" i="1" spc="35" dirty="0">
                <a:latin typeface="Arial"/>
                <a:cs typeface="Arial"/>
              </a:rPr>
              <a:t>T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2052" y="1980805"/>
            <a:ext cx="2926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13485" algn="l"/>
              </a:tabLst>
            </a:pPr>
            <a:r>
              <a:rPr sz="900" i="1" baseline="4629" dirty="0">
                <a:latin typeface="Arial"/>
                <a:cs typeface="Arial"/>
              </a:rPr>
              <a:t>m</a:t>
            </a:r>
            <a:r>
              <a:rPr sz="900" i="1" spc="172" baseline="4629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spc="3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050" spc="90" dirty="0">
                <a:latin typeface="Arial MT"/>
                <a:cs typeface="Arial MT"/>
              </a:rPr>
              <a:t>A</a:t>
            </a:r>
            <a:r>
              <a:rPr sz="1050" spc="434" dirty="0">
                <a:latin typeface="Arial MT"/>
                <a:cs typeface="Arial MT"/>
              </a:rPr>
              <a:t> </a:t>
            </a:r>
            <a:r>
              <a:rPr sz="1100" b="1" i="1" spc="25" dirty="0">
                <a:latin typeface="Arial"/>
                <a:cs typeface="Arial"/>
              </a:rPr>
              <a:t>λ</a:t>
            </a:r>
            <a:r>
              <a:rPr sz="1100" spc="25" dirty="0">
                <a:latin typeface="Tahoma"/>
                <a:cs typeface="Tahoma"/>
              </a:rPr>
              <a:t>)</a:t>
            </a:r>
            <a:r>
              <a:rPr sz="1050" spc="25" dirty="0">
                <a:latin typeface="Arial MT"/>
                <a:cs typeface="Arial MT"/>
              </a:rPr>
              <a:t>Q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050" spc="90" dirty="0">
                <a:latin typeface="Arial MT"/>
                <a:cs typeface="Arial MT"/>
              </a:rPr>
              <a:t>A</a:t>
            </a:r>
            <a:r>
              <a:rPr sz="1050" spc="434" dirty="0">
                <a:latin typeface="Arial MT"/>
                <a:cs typeface="Arial MT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1" i="1" spc="114" dirty="0">
                <a:latin typeface="Arial"/>
                <a:cs typeface="Arial"/>
              </a:rPr>
              <a:t>λ</a:t>
            </a:r>
            <a:r>
              <a:rPr sz="1100" b="1" i="1" spc="43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b</a:t>
            </a:r>
            <a:r>
              <a:rPr sz="1050" spc="1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395" y="2152877"/>
            <a:ext cx="417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spc="114" dirty="0">
                <a:latin typeface="Arial"/>
                <a:cs typeface="Arial"/>
              </a:rPr>
              <a:t>λ</a:t>
            </a:r>
            <a:r>
              <a:rPr sz="1100" b="1" i="1" spc="-2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1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2" y="72527"/>
            <a:ext cx="721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57096"/>
            <a:ext cx="1442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89099" y="1337030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51089" y="1325053"/>
            <a:ext cx="445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50" spc="220" dirty="0">
                <a:latin typeface="Palatino Linotype"/>
                <a:cs typeface="Palatino Linotype"/>
              </a:rPr>
              <a:t>x</a:t>
            </a:r>
            <a:r>
              <a:rPr sz="350" spc="-10" dirty="0">
                <a:latin typeface="Palatino Linotype"/>
                <a:cs typeface="Palatino Linotype"/>
              </a:rPr>
              <a:t> </a:t>
            </a:r>
            <a:r>
              <a:rPr sz="800" dirty="0">
                <a:latin typeface="Cambria"/>
                <a:cs typeface="Cambria"/>
              </a:rPr>
              <a:t>∈</a:t>
            </a:r>
            <a:r>
              <a:rPr sz="800" dirty="0">
                <a:latin typeface="Arial MT"/>
                <a:cs typeface="Arial MT"/>
              </a:rPr>
              <a:t>R</a:t>
            </a:r>
            <a:r>
              <a:rPr sz="900" i="1" baseline="23148" dirty="0">
                <a:latin typeface="Arial"/>
                <a:cs typeface="Arial"/>
              </a:rPr>
              <a:t>d</a:t>
            </a:r>
            <a:r>
              <a:rPr sz="900" i="1" spc="412" baseline="23148" dirty="0">
                <a:latin typeface="Arial"/>
                <a:cs typeface="Arial"/>
              </a:rPr>
              <a:t> </a:t>
            </a:r>
            <a:r>
              <a:rPr sz="1650" spc="-75" baseline="5050" dirty="0">
                <a:latin typeface="Tahoma"/>
                <a:cs typeface="Tahoma"/>
              </a:rPr>
              <a:t>2</a:t>
            </a:r>
            <a:endParaRPr sz="1650" baseline="50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4533" y="1126691"/>
            <a:ext cx="121666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4325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ts val="1030"/>
              </a:lnSpc>
              <a:tabLst>
                <a:tab pos="398780" algn="l"/>
              </a:tabLst>
            </a:pPr>
            <a:r>
              <a:rPr sz="1100" spc="-25" dirty="0">
                <a:latin typeface="Tahoma"/>
                <a:cs typeface="Tahoma"/>
              </a:rPr>
              <a:t>min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180" dirty="0">
                <a:latin typeface="Arial MT"/>
                <a:cs typeface="Arial MT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75" baseline="3125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Qx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-190" dirty="0">
                <a:latin typeface="Arial MT"/>
                <a:cs typeface="Arial MT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75" baseline="31250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x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495792"/>
            <a:ext cx="2426970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49375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spc="55" dirty="0">
                <a:latin typeface="Arial MT"/>
                <a:cs typeface="Arial MT"/>
              </a:rPr>
              <a:t>Ax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050" spc="-50" dirty="0">
                <a:latin typeface="Arial MT"/>
                <a:cs typeface="Arial MT"/>
              </a:rPr>
              <a:t>b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5" dirty="0">
                <a:latin typeface="Tahoma"/>
                <a:cs typeface="Tahoma"/>
              </a:rPr>
              <a:t> is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59877" y="2286978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76007" y="2265399"/>
            <a:ext cx="466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3540" algn="l"/>
              </a:tabLst>
            </a:pPr>
            <a:r>
              <a:rPr sz="800" b="1" i="1" spc="90" dirty="0">
                <a:latin typeface="Arial"/>
                <a:cs typeface="Arial"/>
              </a:rPr>
              <a:t>λ</a:t>
            </a:r>
            <a:r>
              <a:rPr sz="800" spc="90" dirty="0">
                <a:latin typeface="Cambria"/>
                <a:cs typeface="Cambria"/>
              </a:rPr>
              <a:t>≥</a:t>
            </a:r>
            <a:r>
              <a:rPr sz="800" spc="90" dirty="0">
                <a:latin typeface="Calibri"/>
                <a:cs typeface="Calibri"/>
              </a:rPr>
              <a:t>0</a:t>
            </a:r>
            <a:r>
              <a:rPr sz="800" dirty="0">
                <a:latin typeface="Calibri"/>
                <a:cs typeface="Calibri"/>
              </a:rPr>
              <a:t>	</a:t>
            </a:r>
            <a:r>
              <a:rPr sz="1100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5215" y="2170365"/>
            <a:ext cx="2533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max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225" dirty="0">
                <a:latin typeface="Lucida Sans Unicode"/>
                <a:cs typeface="Lucida Sans Unicode"/>
              </a:rPr>
              <a:t> </a:t>
            </a:r>
            <a:r>
              <a:rPr sz="1650" spc="-89" baseline="37878" dirty="0">
                <a:latin typeface="Tahoma"/>
                <a:cs typeface="Tahoma"/>
              </a:rPr>
              <a:t>1</a:t>
            </a:r>
            <a:r>
              <a:rPr sz="1650" spc="-330" baseline="37878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050" spc="85" dirty="0">
                <a:latin typeface="Arial MT"/>
                <a:cs typeface="Arial MT"/>
              </a:rPr>
              <a:t>A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89" baseline="31250" dirty="0">
                <a:latin typeface="Arial"/>
                <a:cs typeface="Arial"/>
              </a:rPr>
              <a:t> </a:t>
            </a:r>
            <a:r>
              <a:rPr sz="1100" b="1" i="1" spc="75" dirty="0">
                <a:latin typeface="Arial"/>
                <a:cs typeface="Arial"/>
              </a:rPr>
              <a:t>λ</a:t>
            </a:r>
            <a:r>
              <a:rPr sz="1100" spc="75" dirty="0">
                <a:latin typeface="Tahoma"/>
                <a:cs typeface="Tahoma"/>
              </a:rPr>
              <a:t>)</a:t>
            </a:r>
            <a:r>
              <a:rPr sz="1050" spc="75" dirty="0">
                <a:latin typeface="Arial MT"/>
                <a:cs typeface="Arial MT"/>
              </a:rPr>
              <a:t>Q</a:t>
            </a:r>
            <a:r>
              <a:rPr sz="1200" spc="112" baseline="31250" dirty="0">
                <a:latin typeface="Cambria"/>
                <a:cs typeface="Cambria"/>
              </a:rPr>
              <a:t>−</a:t>
            </a:r>
            <a:r>
              <a:rPr sz="1200" spc="112" baseline="31250" dirty="0">
                <a:latin typeface="Calibri"/>
                <a:cs typeface="Calibri"/>
              </a:rPr>
              <a:t>1</a:t>
            </a:r>
            <a:r>
              <a:rPr sz="1100" spc="75" dirty="0">
                <a:latin typeface="Tahoma"/>
                <a:cs typeface="Tahoma"/>
              </a:rPr>
              <a:t>(</a:t>
            </a:r>
            <a:r>
              <a:rPr sz="1050" spc="75" dirty="0">
                <a:latin typeface="Arial MT"/>
                <a:cs typeface="Arial MT"/>
              </a:rPr>
              <a:t>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050" spc="85" dirty="0">
                <a:latin typeface="Arial MT"/>
                <a:cs typeface="Arial MT"/>
              </a:rPr>
              <a:t>A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1" i="1" spc="100" dirty="0">
                <a:latin typeface="Arial"/>
                <a:cs typeface="Arial"/>
              </a:rPr>
              <a:t>λ</a:t>
            </a:r>
            <a:r>
              <a:rPr sz="1200" i="1" spc="150" baseline="31250" dirty="0">
                <a:latin typeface="Arial"/>
                <a:cs typeface="Arial"/>
              </a:rPr>
              <a:t>T</a:t>
            </a:r>
            <a:r>
              <a:rPr sz="1200" i="1" spc="-89" baseline="31250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b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9925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Weak</a:t>
            </a:r>
            <a:r>
              <a:rPr spc="-80" dirty="0"/>
              <a:t> </a:t>
            </a:r>
            <a:r>
              <a:rPr spc="-25" dirty="0"/>
              <a:t>duality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41271"/>
            <a:ext cx="3845560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0350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Weak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establishes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inequality</a:t>
            </a:r>
            <a:r>
              <a:rPr sz="1100" spc="-40" dirty="0">
                <a:latin typeface="Tahoma"/>
                <a:cs typeface="Tahoma"/>
              </a:rPr>
              <a:t> connecting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primal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problems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Weak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duality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condition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states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primal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greater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equal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 </a:t>
            </a:r>
            <a:r>
              <a:rPr sz="1100" spc="-10" dirty="0">
                <a:latin typeface="Tahoma"/>
                <a:cs typeface="Tahoma"/>
              </a:rPr>
              <a:t>problem.</a:t>
            </a:r>
            <a:endParaRPr sz="1100">
              <a:latin typeface="Tahoma"/>
              <a:cs typeface="Tahoma"/>
            </a:endParaRPr>
          </a:p>
          <a:p>
            <a:pPr marL="214629" marR="9017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Quadratic </a:t>
            </a:r>
            <a:r>
              <a:rPr sz="1100" spc="-10" dirty="0">
                <a:latin typeface="Tahoma"/>
                <a:cs typeface="Tahoma"/>
              </a:rPr>
              <a:t>Optimization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discussed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previously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, </a:t>
            </a:r>
            <a:r>
              <a:rPr sz="1100" spc="-60" dirty="0">
                <a:latin typeface="Tahoma"/>
                <a:cs typeface="Tahoma"/>
              </a:rPr>
              <a:t>weak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duality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exists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Strong</a:t>
            </a:r>
            <a:r>
              <a:rPr spc="-55" dirty="0"/>
              <a:t> </a:t>
            </a:r>
            <a:r>
              <a:rPr spc="-25" dirty="0"/>
              <a:t>duality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26082"/>
            <a:ext cx="381444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6764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Strong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condition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states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primal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</a:t>
            </a:r>
            <a:endParaRPr sz="1100">
              <a:latin typeface="Tahoma"/>
              <a:cs typeface="Tahoma"/>
            </a:endParaRPr>
          </a:p>
          <a:p>
            <a:pPr marL="214629" marR="13462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One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as </a:t>
            </a:r>
            <a:r>
              <a:rPr sz="1100" spc="-30" dirty="0">
                <a:latin typeface="Tahoma"/>
                <a:cs typeface="Tahoma"/>
              </a:rPr>
              <a:t>solving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primal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optimization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problems,</a:t>
            </a:r>
            <a:r>
              <a:rPr sz="1100" spc="-30" dirty="0">
                <a:latin typeface="Tahoma"/>
                <a:cs typeface="Tahoma"/>
              </a:rPr>
              <a:t> solving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0" dirty="0">
                <a:latin typeface="Tahoma"/>
                <a:cs typeface="Tahoma"/>
              </a:rPr>
              <a:t> may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easier.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Question: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strong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duality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hold?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Slater’s</a:t>
            </a:r>
            <a:r>
              <a:rPr spc="-70" dirty="0"/>
              <a:t> </a:t>
            </a:r>
            <a:r>
              <a:rPr spc="-25" dirty="0"/>
              <a:t>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vert="horz" wrap="square" lIns="0" tIns="29209" rIns="0" bIns="0" rtlCol="0">
                <a:spAutoFit/>
              </a:bodyPr>
              <a:lstStyle/>
              <a:p>
                <a:pPr marL="214629" marR="457200" indent="-177165">
                  <a:lnSpc>
                    <a:spcPts val="1200"/>
                  </a:lnSpc>
                  <a:spcBef>
                    <a:spcPts val="229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14629" algn="l"/>
                  </a:tabLst>
                </a:pPr>
                <a:r>
                  <a:rPr lang="en-IN" sz="1100" spc="-10" dirty="0"/>
                  <a:t>For</a:t>
                </a:r>
                <a:r>
                  <a:rPr lang="en-IN" sz="1100" spc="-45" dirty="0"/>
                  <a:t> </a:t>
                </a:r>
                <a:r>
                  <a:rPr lang="en-IN" sz="1100" dirty="0"/>
                  <a:t>a</a:t>
                </a:r>
                <a:r>
                  <a:rPr lang="en-IN" sz="1100" spc="-20" dirty="0"/>
                  <a:t> </a:t>
                </a:r>
                <a:r>
                  <a:rPr lang="en-IN" sz="1100" spc="-25" dirty="0"/>
                  <a:t>primal</a:t>
                </a:r>
                <a:r>
                  <a:rPr lang="en-IN" sz="1100" spc="-20" dirty="0"/>
                  <a:t> optimization</a:t>
                </a:r>
                <a:r>
                  <a:rPr lang="en-IN" sz="1100" spc="-15" dirty="0"/>
                  <a:t> </a:t>
                </a:r>
                <a:r>
                  <a:rPr lang="en-IN" sz="1100" spc="-50" dirty="0"/>
                  <a:t>problem</a:t>
                </a:r>
                <a:r>
                  <a:rPr lang="en-IN" sz="1100" spc="-20" dirty="0"/>
                  <a:t> </a:t>
                </a:r>
                <a:r>
                  <a:rPr lang="en-IN" sz="1100" spc="-90" dirty="0"/>
                  <a:t>we</a:t>
                </a:r>
                <a:r>
                  <a:rPr lang="en-IN" sz="1100" dirty="0"/>
                  <a:t> </a:t>
                </a:r>
                <a:r>
                  <a:rPr lang="en-IN" sz="1100" spc="-50" dirty="0"/>
                  <a:t>say</a:t>
                </a:r>
                <a:r>
                  <a:rPr lang="en-IN" sz="1100" spc="-20" dirty="0"/>
                  <a:t> </a:t>
                </a:r>
                <a:r>
                  <a:rPr lang="en-IN" sz="1100" dirty="0"/>
                  <a:t>that</a:t>
                </a:r>
                <a:r>
                  <a:rPr lang="en-IN" sz="1100" spc="-20" dirty="0"/>
                  <a:t> </a:t>
                </a:r>
                <a:r>
                  <a:rPr lang="en-IN" sz="1100" dirty="0"/>
                  <a:t>it</a:t>
                </a:r>
                <a:r>
                  <a:rPr lang="en-IN" sz="1100" spc="-20" dirty="0"/>
                  <a:t> </a:t>
                </a:r>
                <a:r>
                  <a:rPr lang="en-IN" sz="1100" spc="-50" dirty="0"/>
                  <a:t>obeys </a:t>
                </a:r>
                <a:r>
                  <a:rPr lang="en-IN" sz="1100" spc="-20" dirty="0"/>
                  <a:t>Slater’s</a:t>
                </a:r>
                <a:r>
                  <a:rPr lang="en-IN" sz="1100" spc="-15" dirty="0"/>
                  <a:t> </a:t>
                </a:r>
                <a:r>
                  <a:rPr lang="en-IN" sz="1100" spc="-25" dirty="0"/>
                  <a:t>condition</a:t>
                </a:r>
                <a:r>
                  <a:rPr lang="en-IN" sz="1100" spc="-5" dirty="0"/>
                  <a:t> </a:t>
                </a:r>
                <a:r>
                  <a:rPr lang="en-IN" sz="1100" spc="-25" dirty="0"/>
                  <a:t>if</a:t>
                </a:r>
                <a:endParaRPr lang="en-IN" sz="1100" dirty="0"/>
              </a:p>
              <a:p>
                <a:pPr marL="490855" marR="222885" lvl="1" indent="-167005">
                  <a:lnSpc>
                    <a:spcPct val="100000"/>
                  </a:lnSpc>
                  <a:spcBef>
                    <a:spcPts val="150"/>
                  </a:spcBef>
                  <a:buClr>
                    <a:srgbClr val="3333B2"/>
                  </a:buClr>
                  <a:buAutoNum type="arabicPeriod"/>
                  <a:tabLst>
                    <a:tab pos="492125" algn="l"/>
                  </a:tabLst>
                </a:pPr>
                <a:r>
                  <a:rPr lang="en-IN" sz="1000" spc="-10" dirty="0">
                    <a:latin typeface="Tahoma"/>
                    <a:cs typeface="Tahoma"/>
                  </a:rPr>
                  <a:t>the</a:t>
                </a:r>
                <a:r>
                  <a:rPr lang="en-IN" sz="1000" spc="-15" dirty="0">
                    <a:latin typeface="Tahoma"/>
                    <a:cs typeface="Tahoma"/>
                  </a:rPr>
                  <a:t> </a:t>
                </a:r>
                <a:r>
                  <a:rPr lang="en-IN" sz="1000" spc="-30" dirty="0">
                    <a:latin typeface="Tahoma"/>
                    <a:cs typeface="Tahoma"/>
                  </a:rPr>
                  <a:t>objective</a:t>
                </a:r>
                <a:r>
                  <a:rPr lang="en-IN" sz="1000" spc="-20" dirty="0">
                    <a:latin typeface="Tahoma"/>
                    <a:cs typeface="Tahoma"/>
                  </a:rPr>
                  <a:t> </a:t>
                </a:r>
                <a:r>
                  <a:rPr lang="en-IN" sz="1000" spc="-25" dirty="0">
                    <a:latin typeface="Tahoma"/>
                    <a:cs typeface="Tahoma"/>
                  </a:rPr>
                  <a:t>function</a:t>
                </a:r>
                <a:r>
                  <a:rPr lang="en-IN" sz="1000" spc="-20" dirty="0">
                    <a:latin typeface="Tahoma"/>
                    <a:cs typeface="Tahom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f</a:t>
                </a:r>
                <a:r>
                  <a:rPr lang="en-IN" sz="1000" i="1" spc="210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is</a:t>
                </a:r>
                <a:r>
                  <a:rPr lang="en-IN" sz="1000" spc="-20" dirty="0">
                    <a:latin typeface="Tahoma"/>
                    <a:cs typeface="Tahoma"/>
                  </a:rPr>
                  <a:t> </a:t>
                </a:r>
                <a:r>
                  <a:rPr lang="en-IN" sz="1000" spc="-35" dirty="0">
                    <a:latin typeface="Tahoma"/>
                    <a:cs typeface="Tahoma"/>
                  </a:rPr>
                  <a:t>convex,</a:t>
                </a:r>
                <a:r>
                  <a:rPr lang="en-IN" sz="1000" spc="-15" dirty="0">
                    <a:latin typeface="Tahoma"/>
                    <a:cs typeface="Tahoma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the </a:t>
                </a:r>
                <a:r>
                  <a:rPr lang="en-IN" sz="1000" spc="-30" dirty="0">
                    <a:latin typeface="Tahoma"/>
                    <a:cs typeface="Tahoma"/>
                  </a:rPr>
                  <a:t>constraints</a:t>
                </a:r>
                <a:r>
                  <a:rPr lang="en-IN" sz="1000" spc="-15" dirty="0">
                    <a:latin typeface="Tahoma"/>
                    <a:cs typeface="Tahom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g</a:t>
                </a:r>
                <a:r>
                  <a:rPr lang="en-IN" sz="1050" i="1" baseline="-11904" dirty="0">
                    <a:latin typeface="Arial"/>
                    <a:cs typeface="Arial"/>
                  </a:rPr>
                  <a:t>i</a:t>
                </a:r>
                <a:r>
                  <a:rPr lang="en-IN" sz="1050" i="1" spc="315" baseline="-11904" dirty="0">
                    <a:latin typeface="Arial"/>
                    <a:cs typeface="Arial"/>
                  </a:rPr>
                  <a:t> </a:t>
                </a:r>
                <a:r>
                  <a:rPr lang="en-IN" sz="1000" spc="-45" dirty="0">
                    <a:latin typeface="Tahoma"/>
                    <a:cs typeface="Tahoma"/>
                  </a:rPr>
                  <a:t>are</a:t>
                </a:r>
                <a:r>
                  <a:rPr lang="en-IN" sz="1000" spc="-15" dirty="0">
                    <a:latin typeface="Tahoma"/>
                    <a:cs typeface="Tahoma"/>
                  </a:rPr>
                  <a:t> </a:t>
                </a:r>
                <a:r>
                  <a:rPr lang="en-IN" sz="1000" spc="-25" dirty="0">
                    <a:latin typeface="Tahoma"/>
                    <a:cs typeface="Tahoma"/>
                  </a:rPr>
                  <a:t>all 	</a:t>
                </a:r>
                <a:r>
                  <a:rPr lang="en-IN" sz="1000" spc="-40" dirty="0">
                    <a:latin typeface="Tahoma"/>
                    <a:cs typeface="Tahoma"/>
                  </a:rPr>
                  <a:t>convex</a:t>
                </a:r>
                <a:r>
                  <a:rPr lang="en-IN" sz="1000" spc="-20" dirty="0">
                    <a:latin typeface="Tahoma"/>
                    <a:cs typeface="Tahoma"/>
                  </a:rPr>
                  <a:t>, the</a:t>
                </a:r>
                <a:r>
                  <a:rPr lang="en-IN" sz="1000" spc="-15" dirty="0">
                    <a:latin typeface="Tahoma"/>
                    <a:cs typeface="Tahoma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contraint</a:t>
                </a:r>
                <a:r>
                  <a:rPr lang="en-IN" sz="1000" spc="-15" dirty="0">
                    <a:latin typeface="Tahoma"/>
                    <a:cs typeface="Tahoma"/>
                  </a:rPr>
                  <a:t> </a:t>
                </a:r>
                <a:r>
                  <a:rPr lang="en-IN" sz="1000" spc="-25" dirty="0">
                    <a:latin typeface="Tahoma"/>
                    <a:cs typeface="Tahoma"/>
                  </a:rPr>
                  <a:t>functions</a:t>
                </a:r>
                <a:r>
                  <a:rPr lang="en-IN" sz="1000" spc="-10" dirty="0">
                    <a:latin typeface="Tahoma"/>
                    <a:cs typeface="Tahoma"/>
                  </a:rPr>
                  <a:t> </a:t>
                </a:r>
                <a:r>
                  <a:rPr lang="en-IN" sz="1000" i="1" dirty="0">
                    <a:latin typeface="Arial"/>
                    <a:cs typeface="Arial"/>
                  </a:rPr>
                  <a:t>h</a:t>
                </a:r>
                <a:r>
                  <a:rPr lang="en-IN" sz="1050" i="1" baseline="-11904" dirty="0">
                    <a:latin typeface="Arial"/>
                    <a:cs typeface="Arial"/>
                  </a:rPr>
                  <a:t>i</a:t>
                </a:r>
                <a:r>
                  <a:rPr lang="en-IN" sz="1050" i="1" spc="322" baseline="-11904" dirty="0">
                    <a:latin typeface="Arial"/>
                    <a:cs typeface="Arial"/>
                  </a:rPr>
                  <a:t> </a:t>
                </a:r>
                <a:r>
                  <a:rPr lang="en-IN" sz="1000" spc="-50" dirty="0">
                    <a:latin typeface="Tahoma"/>
                    <a:cs typeface="Tahoma"/>
                  </a:rPr>
                  <a:t>are</a:t>
                </a:r>
                <a:r>
                  <a:rPr lang="en-IN" sz="1000" spc="-2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all</a:t>
                </a:r>
                <a:r>
                  <a:rPr lang="en-IN" sz="1000" spc="-10" dirty="0">
                    <a:latin typeface="Tahoma"/>
                    <a:cs typeface="Tahoma"/>
                  </a:rPr>
                  <a:t> linear</a:t>
                </a:r>
                <a:endParaRPr lang="en-IN" sz="1000" dirty="0">
                  <a:latin typeface="Tahoma"/>
                  <a:cs typeface="Tahoma"/>
                </a:endParaRPr>
              </a:p>
              <a:p>
                <a:pPr marL="490855" marR="30480" lvl="1" indent="-167005">
                  <a:lnSpc>
                    <a:spcPts val="1200"/>
                  </a:lnSpc>
                  <a:spcBef>
                    <a:spcPts val="30"/>
                  </a:spcBef>
                  <a:buClr>
                    <a:srgbClr val="3333B2"/>
                  </a:buClr>
                  <a:buAutoNum type="arabicPeriod"/>
                  <a:tabLst>
                    <a:tab pos="492125" algn="l"/>
                  </a:tabLst>
                </a:pPr>
                <a:r>
                  <a:rPr lang="en-IN" sz="1000" spc="-40" dirty="0">
                    <a:latin typeface="Tahoma"/>
                    <a:cs typeface="Tahoma"/>
                  </a:rPr>
                  <a:t>there </a:t>
                </a:r>
                <a:r>
                  <a:rPr lang="en-IN" sz="1000" spc="-35" dirty="0">
                    <a:latin typeface="Tahoma"/>
                    <a:cs typeface="Tahoma"/>
                  </a:rPr>
                  <a:t>exists</a:t>
                </a:r>
                <a:r>
                  <a:rPr lang="en-IN" sz="1000" spc="-45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a</a:t>
                </a:r>
                <a:r>
                  <a:rPr lang="en-IN" sz="1000" spc="-65" dirty="0">
                    <a:latin typeface="Tahoma"/>
                    <a:cs typeface="Tahoma"/>
                  </a:rPr>
                  <a:t> </a:t>
                </a:r>
                <a:r>
                  <a:rPr lang="en-IN" sz="1000" spc="-10" dirty="0">
                    <a:latin typeface="Tahoma"/>
                    <a:cs typeface="Tahoma"/>
                  </a:rPr>
                  <a:t>point</a:t>
                </a:r>
                <a:r>
                  <a:rPr lang="en-IN" sz="1000" spc="-3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000" i="1" spc="-55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ar-AE" sz="1000" i="1" spc="-55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IN" sz="1000" b="1" spc="5" dirty="0">
                    <a:latin typeface="Arial"/>
                    <a:cs typeface="Arial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in</a:t>
                </a:r>
                <a:r>
                  <a:rPr lang="en-IN" sz="1000" spc="-30" dirty="0">
                    <a:latin typeface="Tahoma"/>
                    <a:cs typeface="Tahoma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the</a:t>
                </a:r>
                <a:r>
                  <a:rPr lang="en-IN" sz="1000" spc="-30" dirty="0">
                    <a:latin typeface="Tahoma"/>
                    <a:cs typeface="Tahoma"/>
                  </a:rPr>
                  <a:t> </a:t>
                </a:r>
                <a:r>
                  <a:rPr lang="en-IN" sz="1000" spc="-25" dirty="0">
                    <a:latin typeface="Tahoma"/>
                    <a:cs typeface="Tahoma"/>
                  </a:rPr>
                  <a:t>interior</a:t>
                </a:r>
                <a:r>
                  <a:rPr lang="en-IN" sz="1000" spc="-3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of</a:t>
                </a:r>
                <a:r>
                  <a:rPr lang="en-IN" sz="1000" spc="-25" dirty="0">
                    <a:latin typeface="Tahoma"/>
                    <a:cs typeface="Tahoma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the</a:t>
                </a:r>
                <a:r>
                  <a:rPr lang="en-IN" sz="1000" spc="-30" dirty="0">
                    <a:latin typeface="Tahoma"/>
                    <a:cs typeface="Tahoma"/>
                  </a:rPr>
                  <a:t> </a:t>
                </a:r>
                <a:r>
                  <a:rPr lang="en-IN" sz="1000" spc="-35" dirty="0">
                    <a:latin typeface="Tahoma"/>
                    <a:cs typeface="Tahoma"/>
                  </a:rPr>
                  <a:t>region,</a:t>
                </a:r>
                <a:r>
                  <a:rPr lang="en-IN" sz="1000" spc="-25" dirty="0">
                    <a:latin typeface="Tahoma"/>
                    <a:cs typeface="Tahoma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i.e</a:t>
                </a:r>
                <a:r>
                  <a:rPr lang="en-IN" sz="1000" spc="-30" dirty="0">
                    <a:latin typeface="Tahoma"/>
                    <a:cs typeface="Tahoma"/>
                  </a:rPr>
                  <a:t> </a:t>
                </a:r>
                <a:r>
                  <a:rPr lang="en-IN" sz="1000" i="1" spc="-20" dirty="0" err="1">
                    <a:latin typeface="Arial"/>
                    <a:cs typeface="Arial"/>
                  </a:rPr>
                  <a:t>g</a:t>
                </a:r>
                <a:r>
                  <a:rPr lang="en-IN" sz="1050" i="1" spc="-30" baseline="-11904" dirty="0" err="1">
                    <a:latin typeface="Arial"/>
                    <a:cs typeface="Arial"/>
                  </a:rPr>
                  <a:t>i</a:t>
                </a:r>
                <a:r>
                  <a:rPr lang="en-IN" sz="1050" i="1" spc="-120" baseline="-11904" dirty="0">
                    <a:latin typeface="Arial"/>
                    <a:cs typeface="Arial"/>
                  </a:rPr>
                  <a:t> </a:t>
                </a:r>
                <a:r>
                  <a:rPr lang="en-IN" sz="1000" spc="-55" dirty="0">
                    <a:latin typeface="Tahoma"/>
                    <a:cs typeface="Tahom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000" i="1" spc="-55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ar-AE" sz="1000" i="1" spc="-55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IN" sz="1000" spc="-55" dirty="0">
                    <a:latin typeface="Tahoma"/>
                    <a:cs typeface="Tahoma"/>
                  </a:rPr>
                  <a:t>)</a:t>
                </a:r>
                <a:r>
                  <a:rPr lang="en-IN" sz="1000" spc="-35" dirty="0">
                    <a:latin typeface="Tahoma"/>
                    <a:cs typeface="Tahoma"/>
                  </a:rPr>
                  <a:t> </a:t>
                </a:r>
                <a:r>
                  <a:rPr lang="en-IN" sz="1000" i="1" spc="180" dirty="0">
                    <a:latin typeface="Arial"/>
                    <a:cs typeface="Arial"/>
                  </a:rPr>
                  <a:t>&lt;</a:t>
                </a:r>
                <a:r>
                  <a:rPr lang="en-IN" sz="1000" i="1" spc="-30" dirty="0">
                    <a:latin typeface="Arial"/>
                    <a:cs typeface="Arial"/>
                  </a:rPr>
                  <a:t> </a:t>
                </a:r>
                <a:r>
                  <a:rPr lang="en-IN" sz="1000" spc="-50" dirty="0">
                    <a:latin typeface="Tahoma"/>
                    <a:cs typeface="Tahoma"/>
                  </a:rPr>
                  <a:t>0 	</a:t>
                </a:r>
                <a:r>
                  <a:rPr lang="en-IN" sz="1000" spc="-10" dirty="0">
                    <a:latin typeface="Tahoma"/>
                    <a:cs typeface="Tahoma"/>
                  </a:rPr>
                  <a:t>for</a:t>
                </a:r>
                <a:r>
                  <a:rPr lang="en-IN" sz="1000" spc="-50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all </a:t>
                </a:r>
                <a:r>
                  <a:rPr lang="en-IN" sz="1000" i="1" dirty="0">
                    <a:latin typeface="Arial"/>
                    <a:cs typeface="Arial"/>
                  </a:rPr>
                  <a:t>i</a:t>
                </a:r>
                <a:r>
                  <a:rPr lang="en-IN" sz="1000" i="1" spc="75" dirty="0">
                    <a:latin typeface="Arial"/>
                    <a:cs typeface="Arial"/>
                  </a:rPr>
                  <a:t> </a:t>
                </a:r>
                <a:r>
                  <a:rPr lang="en-IN" sz="1000" spc="-150" dirty="0">
                    <a:latin typeface="Lucida Sans Unicode"/>
                    <a:cs typeface="Lucida Sans Unicode"/>
                  </a:rPr>
                  <a:t>∈</a:t>
                </a:r>
                <a:r>
                  <a:rPr lang="en-IN" sz="1000" spc="-4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70" dirty="0">
                    <a:latin typeface="Tahoma"/>
                    <a:cs typeface="Tahoma"/>
                  </a:rPr>
                  <a:t>[</a:t>
                </a:r>
                <a:r>
                  <a:rPr lang="en-IN" sz="1000" i="1" spc="-70" dirty="0">
                    <a:latin typeface="Arial"/>
                    <a:cs typeface="Arial"/>
                  </a:rPr>
                  <a:t>m</a:t>
                </a:r>
                <a:r>
                  <a:rPr lang="en-IN" sz="1000" spc="-70" dirty="0">
                    <a:latin typeface="Tahoma"/>
                    <a:cs typeface="Tahoma"/>
                  </a:rPr>
                  <a:t>]</a:t>
                </a:r>
                <a:r>
                  <a:rPr lang="en-IN" sz="1000" dirty="0">
                    <a:latin typeface="Tahoma"/>
                    <a:cs typeface="Tahoma"/>
                  </a:rPr>
                  <a:t> </a:t>
                </a:r>
                <a:r>
                  <a:rPr lang="en-IN" sz="1000" spc="-25" dirty="0">
                    <a:latin typeface="Tahoma"/>
                    <a:cs typeface="Tahoma"/>
                  </a:rPr>
                  <a:t>and</a:t>
                </a:r>
                <a:r>
                  <a:rPr lang="en-IN" sz="1000" spc="5" dirty="0">
                    <a:latin typeface="Tahoma"/>
                    <a:cs typeface="Tahoma"/>
                  </a:rPr>
                  <a:t> </a:t>
                </a:r>
                <a:r>
                  <a:rPr lang="en-IN" sz="1000" i="1" dirty="0" err="1">
                    <a:latin typeface="Arial"/>
                    <a:cs typeface="Arial"/>
                  </a:rPr>
                  <a:t>h</a:t>
                </a:r>
                <a:r>
                  <a:rPr lang="en-IN" sz="1050" i="1" baseline="-11904" dirty="0" err="1">
                    <a:latin typeface="Arial"/>
                    <a:cs typeface="Arial"/>
                  </a:rPr>
                  <a:t>j</a:t>
                </a:r>
                <a:r>
                  <a:rPr lang="en-IN" sz="1050" i="1" spc="-120" baseline="-11904" dirty="0">
                    <a:latin typeface="Arial"/>
                    <a:cs typeface="Arial"/>
                  </a:rPr>
                  <a:t> </a:t>
                </a:r>
                <a:r>
                  <a:rPr lang="en-IN" sz="1000" spc="-55" dirty="0">
                    <a:latin typeface="Tahoma"/>
                    <a:cs typeface="Tahom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000" i="1" spc="-55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ar-AE" sz="1000" b="0" i="1" spc="-55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r>
                      <a:rPr lang="en-IN" sz="1000" b="0" i="0" spc="-55" smtClean="0">
                        <a:latin typeface="Cambria Math" panose="02040503050406030204" pitchFamily="18" charset="0"/>
                        <a:cs typeface="Tahoma"/>
                      </a:rPr>
                      <m:t>)=</m:t>
                    </m:r>
                    <m:r>
                      <a:rPr lang="en-IN" sz="1000" b="0" i="0" spc="-55" smtClean="0">
                        <a:latin typeface="Cambria Math" panose="02040503050406030204" pitchFamily="18" charset="0"/>
                        <a:cs typeface="Tahoma"/>
                      </a:rPr>
                      <m:t>0</m:t>
                    </m:r>
                  </m:oMath>
                </a14:m>
                <a:r>
                  <a:rPr lang="ar-AE" sz="1000" spc="-50" dirty="0">
                    <a:latin typeface="Tahoma"/>
                    <a:cs typeface="Tahoma"/>
                  </a:rPr>
                  <a:t> </a:t>
                </a:r>
                <a:r>
                  <a:rPr lang="ar-AE" sz="1000" spc="-5" dirty="0">
                    <a:latin typeface="Tahoma"/>
                    <a:cs typeface="Tahoma"/>
                  </a:rPr>
                  <a:t> </a:t>
                </a:r>
                <a:r>
                  <a:rPr lang="en-IN" sz="1000" spc="-10" dirty="0">
                    <a:latin typeface="Tahoma"/>
                    <a:cs typeface="Tahoma"/>
                  </a:rPr>
                  <a:t>for</a:t>
                </a:r>
                <a:r>
                  <a:rPr lang="en-IN" sz="1000" spc="5" dirty="0">
                    <a:latin typeface="Tahoma"/>
                    <a:cs typeface="Tahoma"/>
                  </a:rPr>
                  <a:t> </a:t>
                </a:r>
                <a:r>
                  <a:rPr lang="en-IN" sz="1000" dirty="0">
                    <a:latin typeface="Tahoma"/>
                    <a:cs typeface="Tahoma"/>
                  </a:rPr>
                  <a:t>all </a:t>
                </a:r>
                <a:r>
                  <a:rPr lang="en-IN" sz="1000" i="1" dirty="0">
                    <a:latin typeface="Arial"/>
                    <a:cs typeface="Arial"/>
                  </a:rPr>
                  <a:t>j</a:t>
                </a:r>
                <a:r>
                  <a:rPr lang="en-IN" sz="1000" i="1" spc="70" dirty="0">
                    <a:latin typeface="Arial"/>
                    <a:cs typeface="Arial"/>
                  </a:rPr>
                  <a:t> </a:t>
                </a:r>
                <a:r>
                  <a:rPr lang="en-IN" sz="1000" spc="-150" dirty="0">
                    <a:latin typeface="Lucida Sans Unicode"/>
                    <a:cs typeface="Lucida Sans Unicode"/>
                  </a:rPr>
                  <a:t>∈</a:t>
                </a:r>
                <a:r>
                  <a:rPr lang="en-IN" sz="1000" spc="-40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000" spc="-20" dirty="0">
                    <a:latin typeface="Tahoma"/>
                    <a:cs typeface="Tahoma"/>
                  </a:rPr>
                  <a:t>[</a:t>
                </a:r>
                <a:r>
                  <a:rPr lang="en-IN" sz="1000" i="1" spc="-20" dirty="0">
                    <a:latin typeface="Arial"/>
                    <a:cs typeface="Arial"/>
                  </a:rPr>
                  <a:t>p</a:t>
                </a:r>
                <a:r>
                  <a:rPr lang="en-IN" sz="1000" spc="-20" dirty="0">
                    <a:latin typeface="Tahoma"/>
                    <a:cs typeface="Tahoma"/>
                  </a:rPr>
                  <a:t>].</a:t>
                </a:r>
                <a:endParaRPr lang="en-IN" sz="1000" dirty="0">
                  <a:latin typeface="Tahoma"/>
                  <a:cs typeface="Tahoma"/>
                </a:endParaRPr>
              </a:p>
              <a:p>
                <a:pPr marL="215265" indent="-177165">
                  <a:lnSpc>
                    <a:spcPct val="100000"/>
                  </a:lnSpc>
                  <a:spcBef>
                    <a:spcPts val="310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15265" algn="l"/>
                  </a:tabLst>
                </a:pPr>
                <a:r>
                  <a:rPr lang="en-IN" sz="1100" spc="-45" dirty="0"/>
                  <a:t>Suppose </a:t>
                </a:r>
                <a:r>
                  <a:rPr lang="en-IN" sz="1100" spc="-20" dirty="0"/>
                  <a:t>Slater’s</a:t>
                </a:r>
                <a:r>
                  <a:rPr lang="en-IN" sz="1100" spc="-45" dirty="0"/>
                  <a:t> </a:t>
                </a:r>
                <a:r>
                  <a:rPr lang="en-IN" sz="1100" spc="-25" dirty="0"/>
                  <a:t>condition</a:t>
                </a:r>
                <a:r>
                  <a:rPr lang="en-IN" sz="1100" spc="-20" dirty="0"/>
                  <a:t> </a:t>
                </a:r>
                <a:r>
                  <a:rPr lang="en-IN" sz="1100" spc="-30" dirty="0"/>
                  <a:t>holds</a:t>
                </a:r>
                <a:r>
                  <a:rPr lang="en-IN" sz="1100" spc="-25" dirty="0"/>
                  <a:t> then </a:t>
                </a:r>
                <a:r>
                  <a:rPr lang="en-IN" sz="1100" spc="-95" dirty="0"/>
                  <a:t>we</a:t>
                </a:r>
                <a:r>
                  <a:rPr lang="en-IN" sz="1100" spc="5" dirty="0"/>
                  <a:t> </a:t>
                </a:r>
                <a:r>
                  <a:rPr lang="en-IN" sz="1100" spc="-55" dirty="0"/>
                  <a:t>have</a:t>
                </a:r>
                <a:r>
                  <a:rPr lang="en-IN" sz="1100" spc="-25" dirty="0"/>
                  <a:t> </a:t>
                </a:r>
                <a:r>
                  <a:rPr lang="en-IN" sz="1100" spc="-30" dirty="0"/>
                  <a:t>strong</a:t>
                </a:r>
                <a:r>
                  <a:rPr lang="en-IN" sz="1100" spc="-25" dirty="0"/>
                  <a:t> </a:t>
                </a:r>
                <a:r>
                  <a:rPr lang="en-IN" sz="1100" spc="-10" dirty="0"/>
                  <a:t>duality.</a:t>
                </a:r>
                <a:endParaRPr lang="en-IN" sz="1100" dirty="0"/>
              </a:p>
              <a:p>
                <a:pPr marL="214629" marR="217804" indent="-177165">
                  <a:lnSpc>
                    <a:spcPct val="102699"/>
                  </a:lnSpc>
                  <a:spcBef>
                    <a:spcPts val="300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14629" algn="l"/>
                  </a:tabLst>
                </a:pPr>
                <a:r>
                  <a:rPr lang="en-IN" sz="1100" spc="-20" dirty="0"/>
                  <a:t>Strong</a:t>
                </a:r>
                <a:r>
                  <a:rPr lang="en-IN" sz="1100" spc="-45" dirty="0"/>
                  <a:t> </a:t>
                </a:r>
                <a:r>
                  <a:rPr lang="en-IN" sz="1100" spc="-20" dirty="0"/>
                  <a:t>duality</a:t>
                </a:r>
                <a:r>
                  <a:rPr lang="en-IN" sz="1100" spc="-40" dirty="0"/>
                  <a:t> </a:t>
                </a:r>
                <a:r>
                  <a:rPr lang="en-IN" sz="1100" spc="-25" dirty="0"/>
                  <a:t>condition</a:t>
                </a:r>
                <a:r>
                  <a:rPr lang="en-IN" sz="1100" spc="-35" dirty="0"/>
                  <a:t> </a:t>
                </a:r>
                <a:r>
                  <a:rPr lang="en-IN" sz="1100" spc="-30" dirty="0"/>
                  <a:t>states</a:t>
                </a:r>
                <a:r>
                  <a:rPr lang="en-IN" sz="1100" spc="-45" dirty="0"/>
                  <a:t> </a:t>
                </a:r>
                <a:r>
                  <a:rPr lang="en-IN" sz="1100" dirty="0"/>
                  <a:t>that</a:t>
                </a:r>
                <a:r>
                  <a:rPr lang="en-IN" sz="1100" spc="-40" dirty="0"/>
                  <a:t> </a:t>
                </a:r>
                <a:r>
                  <a:rPr lang="en-IN" sz="1100" spc="-10" dirty="0"/>
                  <a:t>the</a:t>
                </a:r>
                <a:r>
                  <a:rPr lang="en-IN" sz="1100" spc="-35" dirty="0"/>
                  <a:t> </a:t>
                </a:r>
                <a:r>
                  <a:rPr lang="en-IN" sz="1100" spc="-20" dirty="0"/>
                  <a:t>optimal</a:t>
                </a:r>
                <a:r>
                  <a:rPr lang="en-IN" sz="1100" spc="-40" dirty="0"/>
                  <a:t> </a:t>
                </a:r>
                <a:r>
                  <a:rPr lang="en-IN" sz="1100" spc="-25" dirty="0"/>
                  <a:t>solution</a:t>
                </a:r>
                <a:r>
                  <a:rPr lang="en-IN" sz="1100" spc="-40" dirty="0"/>
                  <a:t> </a:t>
                </a:r>
                <a:r>
                  <a:rPr lang="en-IN" sz="1100" spc="-25" dirty="0"/>
                  <a:t>of </a:t>
                </a:r>
                <a:r>
                  <a:rPr lang="en-IN" sz="1100" spc="-10" dirty="0"/>
                  <a:t>the</a:t>
                </a:r>
                <a:r>
                  <a:rPr lang="en-IN" sz="1100" spc="-55" dirty="0"/>
                  <a:t> </a:t>
                </a:r>
                <a:r>
                  <a:rPr lang="en-IN" sz="1100" spc="-25" dirty="0"/>
                  <a:t>primal</a:t>
                </a:r>
                <a:r>
                  <a:rPr lang="en-IN" sz="1100" spc="-45" dirty="0"/>
                  <a:t> </a:t>
                </a:r>
                <a:r>
                  <a:rPr lang="en-IN" sz="1100" spc="-50" dirty="0"/>
                  <a:t>problem</a:t>
                </a:r>
                <a:r>
                  <a:rPr lang="en-IN" sz="1100" spc="-40" dirty="0"/>
                  <a:t> </a:t>
                </a:r>
                <a:r>
                  <a:rPr lang="en-IN" sz="1100" dirty="0"/>
                  <a:t>is</a:t>
                </a:r>
                <a:r>
                  <a:rPr lang="en-IN" sz="1100" spc="-45" dirty="0"/>
                  <a:t> </a:t>
                </a:r>
                <a:r>
                  <a:rPr lang="en-IN" sz="1100" spc="-35" dirty="0"/>
                  <a:t>equal</a:t>
                </a:r>
                <a:r>
                  <a:rPr lang="en-IN" sz="1100" spc="-45" dirty="0"/>
                  <a:t> </a:t>
                </a:r>
                <a:r>
                  <a:rPr lang="en-IN" sz="1100" dirty="0"/>
                  <a:t>to</a:t>
                </a:r>
                <a:r>
                  <a:rPr lang="en-IN" sz="1100" spc="-50" dirty="0"/>
                  <a:t> </a:t>
                </a:r>
                <a:r>
                  <a:rPr lang="en-IN" sz="1100" dirty="0"/>
                  <a:t>that</a:t>
                </a:r>
                <a:r>
                  <a:rPr lang="en-IN" sz="1100" spc="-45" dirty="0"/>
                  <a:t> </a:t>
                </a:r>
                <a:r>
                  <a:rPr lang="en-IN" sz="1100" dirty="0"/>
                  <a:t>of</a:t>
                </a:r>
                <a:r>
                  <a:rPr lang="en-IN" sz="1100" spc="-45" dirty="0"/>
                  <a:t> </a:t>
                </a:r>
                <a:r>
                  <a:rPr lang="en-IN" sz="1100" spc="-10" dirty="0"/>
                  <a:t>the</a:t>
                </a:r>
                <a:r>
                  <a:rPr lang="en-IN" sz="1100" spc="-45" dirty="0"/>
                  <a:t> </a:t>
                </a:r>
                <a:r>
                  <a:rPr lang="en-IN" sz="1100" spc="-20" dirty="0"/>
                  <a:t>dual</a:t>
                </a:r>
                <a:r>
                  <a:rPr lang="en-IN" sz="1100" spc="-50" dirty="0"/>
                  <a:t> </a:t>
                </a:r>
                <a:r>
                  <a:rPr lang="en-IN" sz="1100" spc="-10" dirty="0"/>
                  <a:t>problem</a:t>
                </a:r>
                <a:endParaRPr sz="1100" dirty="0"/>
              </a:p>
            </p:txBody>
          </p:sp>
        </mc:Choice>
        <mc:Fallback xmlns="">
          <p:sp>
            <p:nvSpPr>
              <p:cNvPr id="3" name="object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893" t="-3488" r="-473" b="-4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Example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Slater’s</a:t>
            </a:r>
            <a:r>
              <a:rPr spc="-65" dirty="0"/>
              <a:t> </a:t>
            </a:r>
            <a:r>
              <a:rPr spc="-25" dirty="0"/>
              <a:t>condition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665885"/>
            <a:ext cx="3338829" cy="8963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40" dirty="0">
                <a:latin typeface="Tahoma"/>
                <a:cs typeface="Tahoma"/>
              </a:rPr>
              <a:t> consider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optimization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given </a:t>
            </a:r>
            <a:r>
              <a:rPr sz="1100" spc="-10" dirty="0">
                <a:latin typeface="Tahoma"/>
                <a:cs typeface="Tahoma"/>
              </a:rPr>
              <a:t>below</a:t>
            </a:r>
            <a:r>
              <a:rPr lang="en-IN" sz="1100" spc="-10" dirty="0">
                <a:latin typeface="Tahoma"/>
                <a:cs typeface="Tahoma"/>
              </a:rPr>
              <a:t>. Let us check whether the strong duality holds for this optimization problem</a:t>
            </a:r>
            <a:endParaRPr sz="1100" dirty="0">
              <a:latin typeface="Tahoma"/>
              <a:cs typeface="Tahoma"/>
            </a:endParaRPr>
          </a:p>
          <a:p>
            <a:pPr marL="221615" algn="ctr">
              <a:lnSpc>
                <a:spcPct val="100000"/>
              </a:lnSpc>
            </a:pPr>
            <a:r>
              <a:rPr sz="1100" dirty="0">
                <a:latin typeface="Tahoma"/>
                <a:cs typeface="Tahoma"/>
              </a:rPr>
              <a:t>min</a:t>
            </a:r>
            <a:r>
              <a:rPr sz="1100" spc="23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31250" dirty="0">
                <a:latin typeface="Calibri"/>
                <a:cs typeface="Calibri"/>
              </a:rPr>
              <a:t>2</a:t>
            </a:r>
            <a:r>
              <a:rPr sz="1200" spc="142" baseline="3125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spc="-75" baseline="31250" dirty="0">
                <a:latin typeface="Calibri"/>
                <a:cs typeface="Calibri"/>
              </a:rPr>
              <a:t>2</a:t>
            </a:r>
            <a:endParaRPr sz="1200" baseline="31250" dirty="0">
              <a:latin typeface="Calibri"/>
              <a:cs typeface="Calibri"/>
            </a:endParaRPr>
          </a:p>
          <a:p>
            <a:pPr marL="742315" algn="ctr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594" y="1739725"/>
            <a:ext cx="3875456" cy="9733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Here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libri"/>
                <a:cs typeface="Calibri"/>
              </a:rPr>
              <a:t>2</a:t>
            </a:r>
            <a:r>
              <a:rPr sz="1200" spc="157" baseline="27777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libri"/>
                <a:cs typeface="Calibri"/>
              </a:rPr>
              <a:t>2</a:t>
            </a:r>
            <a:r>
              <a:rPr sz="1200" spc="337" baseline="27777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convex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 dirty="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i="1" spc="-75" dirty="0">
                <a:latin typeface="Arial"/>
                <a:cs typeface="Arial"/>
              </a:rPr>
              <a:t>g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3 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convex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</a:t>
            </a:r>
            <a:endParaRPr sz="110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satisfies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condition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200" dirty="0">
                <a:latin typeface="Arial"/>
                <a:cs typeface="Arial"/>
              </a:rPr>
              <a:t>&lt;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5" dirty="0">
                <a:latin typeface="Tahoma"/>
                <a:cs typeface="Tahoma"/>
              </a:rPr>
              <a:t>Slaters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condition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satisfied</a:t>
            </a:r>
            <a:endParaRPr lang="en-IN" sz="1100" spc="-1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lang="en-IN" sz="1100" spc="-10" dirty="0">
                <a:latin typeface="Tahoma"/>
                <a:cs typeface="Tahoma"/>
              </a:rPr>
              <a:t>Hence Strong duality holds for this optimization problem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135" dirty="0"/>
              <a:t>KKT</a:t>
            </a:r>
            <a:r>
              <a:rPr spc="40" dirty="0"/>
              <a:t> </a:t>
            </a:r>
            <a:r>
              <a:rPr spc="-35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944" y="822234"/>
            <a:ext cx="3919906" cy="90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356235">
              <a:lnSpc>
                <a:spcPct val="151700"/>
              </a:lnSpc>
              <a:spcBef>
                <a:spcPts val="100"/>
              </a:spcBef>
              <a:tabLst>
                <a:tab pos="2520315" algn="l"/>
              </a:tabLst>
            </a:pPr>
            <a:r>
              <a:rPr sz="1100" dirty="0">
                <a:latin typeface="Tahoma"/>
                <a:cs typeface="Tahoma"/>
              </a:rPr>
              <a:t>min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lang="en-IN" sz="1100" spc="150" dirty="0">
                <a:latin typeface="Tahoma"/>
                <a:cs typeface="Tahoma"/>
              </a:rPr>
              <a:t>sub to</a:t>
            </a:r>
            <a:r>
              <a:rPr sz="1100" spc="155" dirty="0">
                <a:latin typeface="Tahoma"/>
                <a:cs typeface="Tahoma"/>
              </a:rPr>
              <a:t> </a:t>
            </a:r>
            <a:r>
              <a:rPr sz="1100" i="1" spc="-30" dirty="0" err="1">
                <a:latin typeface="Arial"/>
                <a:cs typeface="Arial"/>
              </a:rPr>
              <a:t>g</a:t>
            </a:r>
            <a:r>
              <a:rPr sz="1200" i="1" spc="-44" baseline="-10416" dirty="0" err="1">
                <a:latin typeface="Arial"/>
                <a:cs typeface="Arial"/>
              </a:rPr>
              <a:t>i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0 </a:t>
            </a:r>
            <a:r>
              <a:rPr sz="1100" spc="-185" dirty="0">
                <a:latin typeface="Lucida Sans Unicode"/>
                <a:cs typeface="Lucida Sans Unicode"/>
              </a:rPr>
              <a:t>∀</a:t>
            </a:r>
            <a:r>
              <a:rPr sz="1100" i="1" spc="-185" dirty="0">
                <a:latin typeface="Arial"/>
                <a:cs typeface="Arial"/>
              </a:rPr>
              <a:t>i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[</a:t>
            </a:r>
            <a:r>
              <a:rPr sz="1100" i="1" spc="-20" dirty="0">
                <a:latin typeface="Arial"/>
                <a:cs typeface="Arial"/>
              </a:rPr>
              <a:t>m</a:t>
            </a:r>
            <a:r>
              <a:rPr sz="1100" spc="-20" dirty="0">
                <a:latin typeface="Tahoma"/>
                <a:cs typeface="Tahoma"/>
              </a:rPr>
              <a:t>]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10" dirty="0">
                <a:latin typeface="Arial"/>
                <a:cs typeface="Arial"/>
              </a:rPr>
              <a:t>h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70" dirty="0">
                <a:latin typeface="Lucida Sans Unicode"/>
                <a:cs typeface="Lucida Sans Unicode"/>
              </a:rPr>
              <a:t>∀</a:t>
            </a:r>
            <a:r>
              <a:rPr sz="1100" i="1" spc="-170" dirty="0">
                <a:latin typeface="Arial"/>
                <a:cs typeface="Arial"/>
              </a:rPr>
              <a:t>j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spc="-85" dirty="0">
                <a:latin typeface="Tahoma"/>
                <a:cs typeface="Tahoma"/>
              </a:rPr>
              <a:t>[</a:t>
            </a:r>
            <a:r>
              <a:rPr sz="1100" i="1" spc="-85" dirty="0">
                <a:latin typeface="Arial"/>
                <a:cs typeface="Arial"/>
              </a:rPr>
              <a:t>p</a:t>
            </a:r>
            <a:r>
              <a:rPr sz="1100" spc="-85" dirty="0">
                <a:latin typeface="Tahoma"/>
                <a:cs typeface="Tahoma"/>
              </a:rPr>
              <a:t>]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050" spc="75" dirty="0">
                <a:latin typeface="Arial MT"/>
                <a:cs typeface="Arial MT"/>
              </a:rPr>
              <a:t>x</a:t>
            </a:r>
            <a:r>
              <a:rPr sz="1200" spc="112" baseline="27777" dirty="0">
                <a:latin typeface="Cambria"/>
                <a:cs typeface="Cambria"/>
              </a:rPr>
              <a:t>∗</a:t>
            </a:r>
            <a:r>
              <a:rPr sz="1200" spc="352" baseline="27777" dirty="0">
                <a:latin typeface="Cambria"/>
                <a:cs typeface="Cambri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λ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ν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spc="120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p</a:t>
            </a:r>
            <a:r>
              <a:rPr sz="1200" i="1" spc="337" baseline="27777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respect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latin typeface="Tahoma"/>
                <a:cs typeface="Tahoma"/>
              </a:rPr>
              <a:t>Karash-</a:t>
            </a:r>
            <a:r>
              <a:rPr sz="1100" spc="-30" dirty="0">
                <a:latin typeface="Tahoma"/>
                <a:cs typeface="Tahoma"/>
              </a:rPr>
              <a:t>Kuhn-</a:t>
            </a:r>
            <a:r>
              <a:rPr sz="1100" spc="-60" dirty="0">
                <a:latin typeface="Tahoma"/>
                <a:cs typeface="Tahoma"/>
              </a:rPr>
              <a:t>Tucker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conditions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if:</a:t>
            </a:r>
            <a:endParaRPr sz="1100" dirty="0">
              <a:latin typeface="Tahoma"/>
              <a:cs typeface="Tahoma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lang="en-IN" sz="1100" dirty="0">
                <a:solidFill>
                  <a:srgbClr val="3333B2"/>
                </a:solidFill>
                <a:latin typeface="Tahoma"/>
                <a:cs typeface="Tahoma"/>
              </a:rPr>
              <a:t>  </a:t>
            </a:r>
            <a:r>
              <a:rPr sz="1100" dirty="0">
                <a:solidFill>
                  <a:srgbClr val="3333B2"/>
                </a:solidFill>
                <a:latin typeface="Tahoma"/>
                <a:cs typeface="Tahoma"/>
              </a:rPr>
              <a:t>1.</a:t>
            </a:r>
            <a:r>
              <a:rPr sz="1100" spc="2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g</a:t>
            </a:r>
            <a:r>
              <a:rPr sz="1200" i="1" spc="-44" baseline="-10416" dirty="0">
                <a:latin typeface="Arial"/>
                <a:cs typeface="Arial"/>
              </a:rPr>
              <a:t>i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85" dirty="0">
                <a:latin typeface="Lucida Sans Unicode"/>
                <a:cs typeface="Lucida Sans Unicode"/>
              </a:rPr>
              <a:t>∀</a:t>
            </a:r>
            <a:r>
              <a:rPr sz="1100" i="1" spc="-185" dirty="0">
                <a:latin typeface="Arial"/>
                <a:cs typeface="Arial"/>
              </a:rPr>
              <a:t>i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70" dirty="0">
                <a:latin typeface="Tahoma"/>
                <a:cs typeface="Tahoma"/>
              </a:rPr>
              <a:t>[</a:t>
            </a:r>
            <a:r>
              <a:rPr sz="1100" i="1" spc="-70" dirty="0">
                <a:latin typeface="Arial"/>
                <a:cs typeface="Arial"/>
              </a:rPr>
              <a:t>m</a:t>
            </a:r>
            <a:r>
              <a:rPr sz="1100" spc="-70" dirty="0">
                <a:latin typeface="Tahoma"/>
                <a:cs typeface="Tahoma"/>
              </a:rPr>
              <a:t>],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h</a:t>
            </a:r>
            <a:r>
              <a:rPr sz="1200" i="1" spc="-30" baseline="-10416" dirty="0">
                <a:latin typeface="Arial"/>
                <a:cs typeface="Arial"/>
              </a:rPr>
              <a:t>i</a:t>
            </a:r>
            <a:r>
              <a:rPr sz="1200" i="1" spc="-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85" dirty="0">
                <a:latin typeface="Lucida Sans Unicode"/>
                <a:cs typeface="Lucida Sans Unicode"/>
              </a:rPr>
              <a:t>∀</a:t>
            </a:r>
            <a:r>
              <a:rPr sz="1100" i="1" spc="-185" dirty="0">
                <a:latin typeface="Arial"/>
                <a:cs typeface="Arial"/>
              </a:rPr>
              <a:t>i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[</a:t>
            </a:r>
            <a:r>
              <a:rPr sz="1100" i="1" spc="-20" dirty="0">
                <a:latin typeface="Arial"/>
                <a:cs typeface="Arial"/>
              </a:rPr>
              <a:t>p</a:t>
            </a:r>
            <a:r>
              <a:rPr sz="1100" spc="-20" dirty="0">
                <a:latin typeface="Tahoma"/>
                <a:cs typeface="Tahoma"/>
              </a:rPr>
              <a:t>].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205" y="1835326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1756751"/>
            <a:ext cx="1208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</a:rPr>
              <a:t>2.</a:t>
            </a:r>
            <a:r>
              <a:rPr sz="1100" spc="12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i="1" spc="65" dirty="0">
                <a:latin typeface="Arial"/>
                <a:cs typeface="Arial"/>
              </a:rPr>
              <a:t>λ</a:t>
            </a:r>
            <a:r>
              <a:rPr sz="1200" spc="97" baseline="27777" dirty="0">
                <a:latin typeface="Cambria"/>
                <a:cs typeface="Cambria"/>
              </a:rPr>
              <a:t>∗</a:t>
            </a:r>
            <a:r>
              <a:rPr sz="1200" spc="232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85" dirty="0">
                <a:latin typeface="Lucida Sans Unicode"/>
                <a:cs typeface="Lucida Sans Unicode"/>
              </a:rPr>
              <a:t>∀</a:t>
            </a:r>
            <a:r>
              <a:rPr sz="1100" i="1" spc="-185" dirty="0">
                <a:latin typeface="Arial"/>
                <a:cs typeface="Arial"/>
              </a:rPr>
              <a:t>i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[</a:t>
            </a:r>
            <a:r>
              <a:rPr sz="1100" i="1" spc="-20" dirty="0">
                <a:latin typeface="Arial"/>
                <a:cs typeface="Arial"/>
              </a:rPr>
              <a:t>m</a:t>
            </a:r>
            <a:r>
              <a:rPr sz="1100" spc="-20" dirty="0">
                <a:latin typeface="Tahoma"/>
                <a:cs typeface="Tahoma"/>
              </a:rPr>
              <a:t>].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205" y="2045359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957" y="1966784"/>
            <a:ext cx="1569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</a:rPr>
              <a:t>3.</a:t>
            </a:r>
            <a:r>
              <a:rPr sz="1100" spc="27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λ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-11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85" dirty="0">
                <a:latin typeface="Lucida Sans Unicode"/>
                <a:cs typeface="Lucida Sans Unicode"/>
              </a:rPr>
              <a:t>∀</a:t>
            </a:r>
            <a:r>
              <a:rPr sz="1100" i="1" spc="-185" dirty="0">
                <a:latin typeface="Arial"/>
                <a:cs typeface="Arial"/>
              </a:rPr>
              <a:t>i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[</a:t>
            </a:r>
            <a:r>
              <a:rPr sz="1100" i="1" spc="-20" dirty="0">
                <a:latin typeface="Arial"/>
                <a:cs typeface="Arial"/>
              </a:rPr>
              <a:t>m</a:t>
            </a:r>
            <a:r>
              <a:rPr sz="1100" spc="-20" dirty="0">
                <a:latin typeface="Tahoma"/>
                <a:cs typeface="Tahoma"/>
              </a:rPr>
              <a:t>].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8423" y="218246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57" y="2195409"/>
            <a:ext cx="779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</a:rPr>
              <a:t>4.</a:t>
            </a:r>
            <a:r>
              <a:rPr sz="1100" spc="16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∇</a:t>
            </a:r>
            <a:r>
              <a:rPr sz="1100" i="1" spc="-25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254" dirty="0">
                <a:latin typeface="Arial MT"/>
                <a:cs typeface="Arial MT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7975" y="2168892"/>
            <a:ext cx="23050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105" dirty="0">
                <a:latin typeface="Calibri"/>
                <a:cs typeface="Calibri"/>
              </a:rPr>
              <a:t>=</a:t>
            </a:r>
            <a:r>
              <a:rPr sz="800" i="1" spc="105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4611" y="2182455"/>
            <a:ext cx="50228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50" dirty="0">
                <a:latin typeface="Cambria"/>
                <a:cs typeface="Cambria"/>
              </a:rPr>
              <a:t>∗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3788" y="2195409"/>
            <a:ext cx="781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95" dirty="0">
                <a:latin typeface="Arial"/>
                <a:cs typeface="Arial"/>
              </a:rPr>
              <a:t>λ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∇</a:t>
            </a:r>
            <a:r>
              <a:rPr sz="1100" i="1" spc="-50" dirty="0">
                <a:latin typeface="Arial"/>
                <a:cs typeface="Arial"/>
              </a:rPr>
              <a:t>g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2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1734" y="2217520"/>
            <a:ext cx="134499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81735" algn="l"/>
              </a:tabLst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7150" y="2165336"/>
            <a:ext cx="200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95" dirty="0">
                <a:latin typeface="Calibri"/>
                <a:cs typeface="Calibri"/>
              </a:rPr>
              <a:t>=</a:t>
            </a:r>
            <a:r>
              <a:rPr sz="800" i="1" spc="95" dirty="0">
                <a:latin typeface="Arial"/>
                <a:cs typeface="Arial"/>
              </a:rPr>
              <a:t>p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7975" y="2276549"/>
            <a:ext cx="1497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8930" algn="l"/>
                <a:tab pos="1181735" algn="l"/>
              </a:tabLst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114" dirty="0">
                <a:latin typeface="Calibri"/>
                <a:cs typeface="Calibri"/>
              </a:rPr>
              <a:t>=1</a:t>
            </a:r>
            <a:r>
              <a:rPr sz="800" dirty="0">
                <a:latin typeface="Calibri"/>
                <a:cs typeface="Calibri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i</a:t>
            </a:r>
            <a:r>
              <a:rPr sz="800" i="1" spc="-145" dirty="0">
                <a:latin typeface="Arial"/>
                <a:cs typeface="Arial"/>
              </a:rPr>
              <a:t> </a:t>
            </a:r>
            <a:r>
              <a:rPr sz="800" spc="140" dirty="0">
                <a:latin typeface="Calibri"/>
                <a:cs typeface="Calibri"/>
              </a:rPr>
              <a:t>=1</a:t>
            </a:r>
            <a:r>
              <a:rPr sz="800" spc="229" dirty="0">
                <a:latin typeface="Calibri"/>
                <a:cs typeface="Calibri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39442" y="2254375"/>
            <a:ext cx="11918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2525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60" y="2182455"/>
            <a:ext cx="5048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7515" algn="l"/>
              </a:tabLst>
            </a:pPr>
            <a:r>
              <a:rPr sz="800" spc="-50" dirty="0">
                <a:latin typeface="Cambria"/>
                <a:cs typeface="Cambria"/>
              </a:rPr>
              <a:t>∗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55493" y="2195409"/>
            <a:ext cx="9347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ν</a:t>
            </a:r>
            <a:r>
              <a:rPr sz="1100" i="1" spc="220" dirty="0">
                <a:latin typeface="Arial"/>
                <a:cs typeface="Arial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∇</a:t>
            </a:r>
            <a:r>
              <a:rPr sz="1100" i="1" spc="-30" dirty="0">
                <a:latin typeface="Arial"/>
                <a:cs typeface="Arial"/>
              </a:rPr>
              <a:t>h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265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1894" y="2405442"/>
            <a:ext cx="37160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If strong </a:t>
            </a:r>
            <a:r>
              <a:rPr sz="1100" spc="-20" dirty="0">
                <a:latin typeface="Tahoma"/>
                <a:cs typeface="Tahoma"/>
              </a:rPr>
              <a:t>duality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holds </a:t>
            </a:r>
            <a:r>
              <a:rPr sz="1100" spc="-25" dirty="0">
                <a:latin typeface="Tahoma"/>
                <a:cs typeface="Tahoma"/>
              </a:rPr>
              <a:t>then </a:t>
            </a:r>
            <a:r>
              <a:rPr sz="1100" spc="-35" dirty="0">
                <a:latin typeface="Tahoma"/>
                <a:cs typeface="Tahoma"/>
              </a:rPr>
              <a:t>any </a:t>
            </a:r>
            <a:r>
              <a:rPr sz="1100" spc="-25" dirty="0">
                <a:latin typeface="Tahoma"/>
                <a:cs typeface="Tahoma"/>
              </a:rPr>
              <a:t>primal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050" spc="75" dirty="0">
                <a:latin typeface="Arial MT"/>
                <a:cs typeface="Arial MT"/>
              </a:rPr>
              <a:t>x</a:t>
            </a:r>
            <a:r>
              <a:rPr sz="1200" spc="112" baseline="27777" dirty="0">
                <a:latin typeface="Cambria"/>
                <a:cs typeface="Cambria"/>
              </a:rPr>
              <a:t>∗</a:t>
            </a:r>
            <a:r>
              <a:rPr sz="1200" spc="277" baseline="27777" dirty="0">
                <a:latin typeface="Cambria"/>
                <a:cs typeface="Cambria"/>
              </a:rPr>
              <a:t> </a:t>
            </a:r>
            <a:r>
              <a:rPr sz="1100" spc="-30" dirty="0">
                <a:latin typeface="Tahoma"/>
                <a:cs typeface="Tahoma"/>
              </a:rPr>
              <a:t>and </a:t>
            </a:r>
            <a:r>
              <a:rPr sz="1100" spc="-20" dirty="0">
                <a:latin typeface="Tahoma"/>
                <a:cs typeface="Tahoma"/>
              </a:rPr>
              <a:t>dual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λ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ν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satisfy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100" dirty="0">
                <a:latin typeface="Tahoma"/>
                <a:cs typeface="Tahoma"/>
              </a:rPr>
              <a:t>KKT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conditions.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35" dirty="0"/>
              <a:t>KKT</a:t>
            </a:r>
            <a:r>
              <a:rPr spc="40" dirty="0"/>
              <a:t> </a:t>
            </a:r>
            <a:r>
              <a:rPr spc="-30" dirty="0"/>
              <a:t>condition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650" y="739775"/>
            <a:ext cx="3882339" cy="87382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7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lang="en-IN" sz="1100" spc="-35" dirty="0">
                <a:latin typeface="Tahoma"/>
                <a:cs typeface="Tahoma"/>
              </a:rPr>
              <a:t>the 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lang="en-IN" sz="1100" spc="-30" dirty="0">
                <a:latin typeface="Tahoma"/>
                <a:cs typeface="Tahoma"/>
              </a:rPr>
              <a:t>previous </a:t>
            </a:r>
            <a:r>
              <a:rPr sz="1100" spc="-25" dirty="0">
                <a:latin typeface="Tahoma"/>
                <a:cs typeface="Tahoma"/>
              </a:rPr>
              <a:t>optimization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lang="en-IN" sz="1100" spc="-30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KKT </a:t>
            </a:r>
            <a:r>
              <a:rPr sz="1100" spc="-10" dirty="0">
                <a:latin typeface="Tahoma"/>
                <a:cs typeface="Tahoma"/>
              </a:rPr>
              <a:t>conditions</a:t>
            </a:r>
            <a:r>
              <a:rPr lang="en-IN"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R="227329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min</a:t>
            </a:r>
            <a:r>
              <a:rPr sz="1100" spc="23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31250" dirty="0">
                <a:latin typeface="Calibri"/>
                <a:cs typeface="Calibri"/>
              </a:rPr>
              <a:t>2</a:t>
            </a:r>
            <a:r>
              <a:rPr sz="1200" spc="142" baseline="3125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spc="-75" baseline="31250" dirty="0">
                <a:latin typeface="Calibri"/>
                <a:cs typeface="Calibri"/>
              </a:rPr>
              <a:t>2</a:t>
            </a:r>
            <a:endParaRPr sz="1200" baseline="31250" dirty="0">
              <a:latin typeface="Calibri"/>
              <a:cs typeface="Calibri"/>
            </a:endParaRPr>
          </a:p>
          <a:p>
            <a:pPr marL="285750" algn="ctr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264" y="1569085"/>
            <a:ext cx="3054985" cy="115189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7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Here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libri"/>
                <a:cs typeface="Calibri"/>
              </a:rPr>
              <a:t>2</a:t>
            </a:r>
            <a:r>
              <a:rPr sz="1200" spc="172" baseline="27777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libri"/>
                <a:cs typeface="Calibri"/>
              </a:rPr>
              <a:t>2</a:t>
            </a:r>
            <a:r>
              <a:rPr sz="1200" spc="352" baseline="27777" dirty="0">
                <a:latin typeface="Calibri"/>
                <a:cs typeface="Calibri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i="1" spc="-75" dirty="0">
                <a:latin typeface="Arial"/>
                <a:cs typeface="Arial"/>
              </a:rPr>
              <a:t>g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  <a:p>
            <a:pPr marL="215900" indent="-177800">
              <a:lnSpc>
                <a:spcPct val="100000"/>
              </a:lnSpc>
              <a:spcBef>
                <a:spcPts val="630"/>
              </a:spcBef>
              <a:buClr>
                <a:srgbClr val="3333B2"/>
              </a:buClr>
              <a:buFont typeface="Tahoma"/>
              <a:buAutoNum type="arabicPeriod"/>
              <a:tabLst>
                <a:tab pos="215900" algn="l"/>
              </a:tabLst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  <a:p>
            <a:pPr marL="21590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AutoNum type="arabicPeriod"/>
              <a:tabLst>
                <a:tab pos="215900" algn="l"/>
              </a:tabLst>
            </a:pPr>
            <a:r>
              <a:rPr sz="1100" i="1" spc="95" dirty="0">
                <a:latin typeface="Arial"/>
                <a:cs typeface="Arial"/>
              </a:rPr>
              <a:t>λ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  <a:p>
            <a:pPr marL="21590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ahoma"/>
              <a:buAutoNum type="arabicPeriod"/>
              <a:tabLst>
                <a:tab pos="215900" algn="l"/>
              </a:tabLst>
            </a:pPr>
            <a:r>
              <a:rPr sz="1100" i="1" dirty="0">
                <a:latin typeface="Arial"/>
                <a:cs typeface="Arial"/>
              </a:rPr>
              <a:t>λ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3)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  <a:p>
            <a:pPr marL="21590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AutoNum type="arabicPeriod"/>
              <a:tabLst>
                <a:tab pos="215900" algn="l"/>
              </a:tabLst>
            </a:pPr>
            <a:r>
              <a:rPr sz="1100" dirty="0">
                <a:latin typeface="Lucida Sans Unicode"/>
                <a:cs typeface="Lucida Sans Unicode"/>
              </a:rPr>
              <a:t>∇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λ</a:t>
            </a:r>
            <a:r>
              <a:rPr sz="1100" dirty="0">
                <a:latin typeface="Lucida Sans Unicode"/>
                <a:cs typeface="Lucida Sans Unicode"/>
              </a:rPr>
              <a:t>∇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0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05E98-32C3-B5C8-D531-4790265D4AC8}"/>
              </a:ext>
            </a:extLst>
          </p:cNvPr>
          <p:cNvSpPr txBox="1"/>
          <p:nvPr/>
        </p:nvSpPr>
        <p:spPr>
          <a:xfrm>
            <a:off x="186711" y="272097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Think: What are the values x, y and </a:t>
            </a:r>
            <a:r>
              <a:rPr lang="el-GR" sz="800" dirty="0">
                <a:latin typeface="Cambria Math" panose="02040503050406030204" pitchFamily="18" charset="0"/>
                <a:ea typeface="Cambria Math" panose="02040503050406030204" pitchFamily="18" charset="0"/>
              </a:rPr>
              <a:t>λ</a:t>
            </a:r>
            <a:r>
              <a:rPr lang="en-IN" sz="800" dirty="0">
                <a:latin typeface="Cambria Math" panose="02040503050406030204" pitchFamily="18" charset="0"/>
                <a:ea typeface="Cambria Math" panose="02040503050406030204" pitchFamily="18" charset="0"/>
              </a:rPr>
              <a:t> that satisfy conditions 1, 2, 3, and 4.</a:t>
            </a:r>
          </a:p>
          <a:p>
            <a:r>
              <a:rPr lang="en-IN" sz="800" dirty="0">
                <a:latin typeface="Cambria Math" panose="02040503050406030204" pitchFamily="18" charset="0"/>
                <a:ea typeface="Cambria Math" panose="02040503050406030204" pitchFamily="18" charset="0"/>
              </a:rPr>
              <a:t>Write the KKT condition for the same optimization problem where the constraint have equality instead of inequality.</a:t>
            </a:r>
            <a:endParaRPr lang="en-IN" sz="80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Classification</a:t>
            </a:r>
            <a:r>
              <a:rPr spc="-35" dirty="0"/>
              <a:t> </a:t>
            </a:r>
            <a:r>
              <a:rPr spc="-20" dirty="0"/>
              <a:t>Problem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0" dirty="0"/>
              <a:t>Machine</a:t>
            </a:r>
            <a:r>
              <a:rPr spc="-35" dirty="0"/>
              <a:t> </a:t>
            </a:r>
            <a:r>
              <a:rPr spc="-3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10906"/>
            <a:ext cx="3652520" cy="13760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22606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Classification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50" dirty="0">
                <a:latin typeface="Tahoma"/>
                <a:cs typeface="Tahoma"/>
              </a:rPr>
              <a:t> classes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primary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machine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</a:t>
            </a:r>
            <a:endParaRPr sz="110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Binary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classification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involves</a:t>
            </a:r>
            <a:r>
              <a:rPr sz="1100" spc="-35" dirty="0">
                <a:latin typeface="Tahoma"/>
                <a:cs typeface="Tahoma"/>
              </a:rPr>
              <a:t> classifying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 </a:t>
            </a:r>
            <a:r>
              <a:rPr sz="1100" spc="-10" dirty="0">
                <a:latin typeface="Tahoma"/>
                <a:cs typeface="Tahoma"/>
              </a:rPr>
              <a:t>classes</a:t>
            </a:r>
            <a:endParaRPr sz="110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lang="en-IN" sz="1100" spc="-30" dirty="0">
                <a:latin typeface="Tahoma"/>
                <a:cs typeface="Tahoma"/>
              </a:rPr>
              <a:t>are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algorithms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binary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classification</a:t>
            </a:r>
            <a:endParaRPr sz="110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discuss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model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Support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Vector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Machine.</a:t>
            </a:r>
            <a:endParaRPr sz="110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SVM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classifer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binary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classification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D614-DEDB-B53E-E194-0C617425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35960" cy="215444"/>
          </a:xfrm>
        </p:spPr>
        <p:txBody>
          <a:bodyPr/>
          <a:lstStyle/>
          <a:p>
            <a:r>
              <a:rPr lang="en-IN" dirty="0"/>
              <a:t>Linearly Sparable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8BE2A-9BFC-ACDD-5335-B434DE17B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921827"/>
            <a:ext cx="4343350" cy="1015663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dirty="0"/>
              <a:t>We always assume that the given data is linearly separable data.</a:t>
            </a:r>
          </a:p>
          <a:p>
            <a:endParaRPr lang="en-IN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Linear separability refers to the ability to separate data points of different classes using a linear decision boundary, such as a line in two dimensions or a hyperplane in higher dimensions. If such a boundary exists, the data is said to be linearly separable.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015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762" y="72527"/>
            <a:ext cx="11918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Linear</a:t>
            </a:r>
            <a:r>
              <a:rPr sz="1400" spc="-5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Classifier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06" y="819107"/>
            <a:ext cx="2880045" cy="186762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Linear</a:t>
            </a:r>
            <a:r>
              <a:rPr spc="-50" dirty="0"/>
              <a:t> </a:t>
            </a:r>
            <a:r>
              <a:rPr spc="-30" dirty="0"/>
              <a:t>Classifier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45" dirty="0"/>
              <a:t> </a:t>
            </a:r>
            <a:r>
              <a:rPr spc="-40" dirty="0"/>
              <a:t>Hyperplane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8528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40" dirty="0"/>
              <a:t>Consider</a:t>
            </a:r>
            <a:r>
              <a:rPr sz="1100" spc="-50" dirty="0"/>
              <a:t> </a:t>
            </a:r>
            <a:r>
              <a:rPr sz="1100" spc="-20" dirty="0"/>
              <a:t>line</a:t>
            </a:r>
            <a:r>
              <a:rPr sz="1100" spc="-65" dirty="0"/>
              <a:t>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/>
              <a:t>+</a:t>
            </a:r>
            <a:r>
              <a:rPr sz="1100" spc="-145" dirty="0"/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85" dirty="0"/>
              <a:t> </a:t>
            </a:r>
            <a:r>
              <a:rPr sz="1100" dirty="0"/>
              <a:t>0.</a:t>
            </a:r>
            <a:r>
              <a:rPr sz="1100" spc="60" dirty="0"/>
              <a:t> </a:t>
            </a:r>
            <a:r>
              <a:rPr sz="1100" dirty="0"/>
              <a:t>Let</a:t>
            </a:r>
            <a:r>
              <a:rPr sz="1100" spc="245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a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dirty="0"/>
              <a:t>and</a:t>
            </a:r>
            <a:r>
              <a:rPr sz="1100" spc="245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202" baseline="-13888" dirty="0">
                <a:latin typeface="Arial"/>
                <a:cs typeface="Arial"/>
              </a:rPr>
              <a:t> </a:t>
            </a:r>
            <a:r>
              <a:rPr sz="1100" dirty="0"/>
              <a:t>lie</a:t>
            </a:r>
            <a:r>
              <a:rPr sz="1100" spc="-55" dirty="0"/>
              <a:t> </a:t>
            </a:r>
            <a:r>
              <a:rPr sz="1100" spc="-30" dirty="0"/>
              <a:t>on</a:t>
            </a:r>
            <a:r>
              <a:rPr sz="1100" spc="-55" dirty="0"/>
              <a:t> </a:t>
            </a:r>
            <a:r>
              <a:rPr sz="1100" dirty="0"/>
              <a:t>this</a:t>
            </a:r>
            <a:r>
              <a:rPr sz="1100" spc="-50" dirty="0"/>
              <a:t> </a:t>
            </a:r>
            <a:r>
              <a:rPr sz="1100" dirty="0"/>
              <a:t>line.</a:t>
            </a:r>
            <a:r>
              <a:rPr sz="1100" spc="65" dirty="0"/>
              <a:t> </a:t>
            </a:r>
            <a:r>
              <a:rPr sz="1100" spc="-25" dirty="0"/>
              <a:t>So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i="1" spc="-65" dirty="0">
                <a:latin typeface="Arial"/>
                <a:cs typeface="Arial"/>
              </a:rPr>
              <a:t>w</a:t>
            </a:r>
            <a:r>
              <a:rPr i="1" spc="-19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a </a:t>
            </a:r>
            <a:r>
              <a:rPr sz="1100" dirty="0"/>
              <a:t>+</a:t>
            </a:r>
            <a:r>
              <a:rPr sz="1100" spc="-105" dirty="0"/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55" dirty="0"/>
              <a:t> </a:t>
            </a:r>
            <a:r>
              <a:rPr sz="1100" dirty="0"/>
              <a:t>0</a:t>
            </a:r>
            <a:r>
              <a:rPr sz="1100" spc="-5" dirty="0"/>
              <a:t> </a:t>
            </a:r>
            <a:r>
              <a:rPr sz="1100" spc="-35" dirty="0"/>
              <a:t>and</a:t>
            </a:r>
            <a:r>
              <a:rPr sz="1100" dirty="0"/>
              <a:t>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112" baseline="-13888" dirty="0">
                <a:latin typeface="Arial"/>
                <a:cs typeface="Arial"/>
              </a:rPr>
              <a:t> </a:t>
            </a:r>
            <a:r>
              <a:rPr sz="1100" dirty="0"/>
              <a:t>+</a:t>
            </a:r>
            <a:r>
              <a:rPr sz="1100" spc="-105" dirty="0"/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60" dirty="0"/>
              <a:t> </a:t>
            </a:r>
            <a:r>
              <a:rPr sz="1100" spc="-25" dirty="0"/>
              <a:t>0.</a:t>
            </a:r>
            <a:endParaRPr sz="1100">
              <a:latin typeface="Arial"/>
              <a:cs typeface="Arial"/>
            </a:endParaRPr>
          </a:p>
          <a:p>
            <a:pPr marL="214629" marR="10350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This</a:t>
            </a:r>
            <a:r>
              <a:rPr sz="1100" spc="-90" dirty="0"/>
              <a:t> </a:t>
            </a:r>
            <a:r>
              <a:rPr sz="1100" spc="-65" dirty="0"/>
              <a:t>means</a:t>
            </a:r>
            <a:r>
              <a:rPr sz="1100" spc="-20" dirty="0"/>
              <a:t>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/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a</a:t>
            </a:r>
            <a:r>
              <a:rPr sz="1200" i="1" spc="-22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40" dirty="0">
                <a:latin typeface="Arial"/>
                <a:cs typeface="Arial"/>
              </a:rPr>
              <a:t>x</a:t>
            </a:r>
            <a:r>
              <a:rPr sz="1200" i="1" spc="-60" baseline="-13888" dirty="0">
                <a:latin typeface="Arial"/>
                <a:cs typeface="Arial"/>
              </a:rPr>
              <a:t>b</a:t>
            </a:r>
            <a:r>
              <a:rPr sz="1200" i="1" spc="-225" baseline="-13888" dirty="0">
                <a:latin typeface="Arial"/>
                <a:cs typeface="Arial"/>
              </a:rPr>
              <a:t> </a:t>
            </a:r>
            <a:r>
              <a:rPr sz="1100" dirty="0"/>
              <a:t>)</a:t>
            </a:r>
            <a:r>
              <a:rPr sz="1100" spc="-80" dirty="0"/>
              <a:t> </a:t>
            </a:r>
            <a:r>
              <a:rPr sz="1100" dirty="0"/>
              <a:t>=</a:t>
            </a:r>
            <a:r>
              <a:rPr sz="1100" spc="-85" dirty="0"/>
              <a:t> </a:t>
            </a:r>
            <a:r>
              <a:rPr sz="1100" dirty="0"/>
              <a:t>0.</a:t>
            </a:r>
            <a:r>
              <a:rPr sz="1100" spc="80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a</a:t>
            </a:r>
            <a:r>
              <a:rPr sz="1200" i="1" spc="60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719" baseline="-13888" dirty="0">
                <a:latin typeface="Arial"/>
                <a:cs typeface="Arial"/>
              </a:rPr>
              <a:t> </a:t>
            </a:r>
            <a:r>
              <a:rPr sz="1100" spc="-20" dirty="0"/>
              <a:t>lies</a:t>
            </a:r>
            <a:r>
              <a:rPr sz="1100" spc="-30" dirty="0"/>
              <a:t> </a:t>
            </a:r>
            <a:r>
              <a:rPr sz="1100" spc="-10" dirty="0"/>
              <a:t>on</a:t>
            </a:r>
            <a:r>
              <a:rPr sz="1100" spc="-25" dirty="0"/>
              <a:t>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10" dirty="0"/>
              <a:t>line</a:t>
            </a:r>
            <a:r>
              <a:rPr sz="1100" spc="-25" dirty="0"/>
              <a:t> </a:t>
            </a:r>
            <a:r>
              <a:rPr sz="1100" spc="-35" dirty="0"/>
              <a:t>and</a:t>
            </a:r>
            <a:r>
              <a:rPr sz="1100" spc="-30" dirty="0"/>
              <a:t> </a:t>
            </a:r>
            <a:r>
              <a:rPr sz="1100" spc="-25" dirty="0"/>
              <a:t>is </a:t>
            </a:r>
            <a:r>
              <a:rPr sz="1100" spc="-35" dirty="0"/>
              <a:t>directed</a:t>
            </a:r>
            <a:r>
              <a:rPr sz="1100" spc="-30" dirty="0"/>
              <a:t> </a:t>
            </a:r>
            <a:r>
              <a:rPr sz="1100" spc="-20" dirty="0"/>
              <a:t>from</a:t>
            </a:r>
            <a:r>
              <a:rPr sz="1100" spc="-35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240" baseline="-13888" dirty="0">
                <a:latin typeface="Arial"/>
                <a:cs typeface="Arial"/>
              </a:rPr>
              <a:t> </a:t>
            </a:r>
            <a:r>
              <a:rPr sz="1100" dirty="0"/>
              <a:t>to</a:t>
            </a:r>
            <a:r>
              <a:rPr sz="1100" spc="-30" dirty="0"/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a</a:t>
            </a:r>
            <a:r>
              <a:rPr sz="1100" spc="-25" dirty="0"/>
              <a:t>.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/>
              <a:t>Hence</a:t>
            </a:r>
            <a:r>
              <a:rPr sz="1100" spc="-55" dirty="0"/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405" dirty="0">
                <a:latin typeface="Arial"/>
                <a:cs typeface="Arial"/>
              </a:rPr>
              <a:t> </a:t>
            </a:r>
            <a:r>
              <a:rPr sz="1100" dirty="0"/>
              <a:t>is</a:t>
            </a:r>
            <a:r>
              <a:rPr sz="1100" spc="-35" dirty="0"/>
              <a:t> </a:t>
            </a:r>
            <a:r>
              <a:rPr sz="1100" spc="-40" dirty="0"/>
              <a:t>orthogonal</a:t>
            </a:r>
            <a:r>
              <a:rPr sz="1100" spc="-30" dirty="0"/>
              <a:t> </a:t>
            </a:r>
            <a:r>
              <a:rPr sz="1100" dirty="0"/>
              <a:t>to</a:t>
            </a:r>
            <a:r>
              <a:rPr sz="1100" spc="290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a</a:t>
            </a:r>
            <a:r>
              <a:rPr sz="1200" i="1" spc="52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232" baseline="-13888" dirty="0">
                <a:latin typeface="Arial"/>
                <a:cs typeface="Arial"/>
              </a:rPr>
              <a:t> </a:t>
            </a:r>
            <a:r>
              <a:rPr sz="1100" spc="-35" dirty="0"/>
              <a:t>and</a:t>
            </a:r>
            <a:r>
              <a:rPr sz="1100" spc="-30" dirty="0"/>
              <a:t> </a:t>
            </a:r>
            <a:r>
              <a:rPr sz="1100" dirty="0"/>
              <a:t>in</a:t>
            </a:r>
            <a:r>
              <a:rPr sz="1100" spc="-30" dirty="0"/>
              <a:t> </a:t>
            </a:r>
            <a:r>
              <a:rPr sz="1100" spc="-10" dirty="0"/>
              <a:t>turn,</a:t>
            </a:r>
            <a:r>
              <a:rPr sz="1100" spc="-30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spc="-10" dirty="0"/>
              <a:t>the</a:t>
            </a:r>
            <a:r>
              <a:rPr sz="1100" spc="-30" dirty="0"/>
              <a:t> </a:t>
            </a:r>
            <a:r>
              <a:rPr sz="1100" spc="-10" dirty="0"/>
              <a:t>line.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762" y="72527"/>
            <a:ext cx="29705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Linear</a:t>
            </a:r>
            <a:r>
              <a:rPr sz="1400" spc="-7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Classifer</a:t>
            </a:r>
            <a:r>
              <a:rPr sz="1400" spc="-6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for</a:t>
            </a:r>
            <a:r>
              <a:rPr sz="1400" spc="-6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Binary</a:t>
            </a:r>
            <a:r>
              <a:rPr sz="1400" spc="-6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333B2"/>
                </a:solidFill>
                <a:latin typeface="Tahoma"/>
                <a:cs typeface="Tahoma"/>
              </a:rPr>
              <a:t>Classification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405" y="703275"/>
            <a:ext cx="3499104" cy="196824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Two</a:t>
            </a:r>
            <a:r>
              <a:rPr spc="-35" dirty="0"/>
              <a:t> </a:t>
            </a:r>
            <a:r>
              <a:rPr spc="-65" dirty="0"/>
              <a:t>examples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21676"/>
            <a:ext cx="2973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Dataset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separable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noise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405" y="1126390"/>
            <a:ext cx="3499326" cy="5581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294" y="1819273"/>
            <a:ext cx="1870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Dataset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separable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05" y="2123983"/>
            <a:ext cx="3499277" cy="40036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2979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Mapping</a:t>
            </a:r>
            <a:r>
              <a:rPr sz="1400" spc="-6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of</a:t>
            </a:r>
            <a:r>
              <a:rPr sz="1400" spc="-5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788084"/>
            <a:ext cx="2620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higher-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space: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405" y="1092795"/>
            <a:ext cx="3499332" cy="148193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Mapping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89519"/>
            <a:ext cx="12014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space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17" y="1044575"/>
            <a:ext cx="3499294" cy="109956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xfrm>
            <a:off x="347294" y="2328492"/>
            <a:ext cx="3914140" cy="29136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900" spc="-35" dirty="0"/>
              <a:t>If</a:t>
            </a:r>
            <a:r>
              <a:rPr sz="900" spc="-55" dirty="0"/>
              <a:t> </a:t>
            </a:r>
            <a:r>
              <a:rPr sz="900" spc="-60" dirty="0"/>
              <a:t>every</a:t>
            </a:r>
            <a:r>
              <a:rPr sz="900" spc="-25" dirty="0"/>
              <a:t> </a:t>
            </a:r>
            <a:r>
              <a:rPr sz="900" spc="-10" dirty="0"/>
              <a:t>data</a:t>
            </a:r>
            <a:r>
              <a:rPr sz="900" spc="-40" dirty="0"/>
              <a:t> </a:t>
            </a:r>
            <a:r>
              <a:rPr sz="900" spc="-10" dirty="0"/>
              <a:t>point</a:t>
            </a:r>
            <a:r>
              <a:rPr sz="900" spc="-40" dirty="0"/>
              <a:t> </a:t>
            </a:r>
            <a:r>
              <a:rPr sz="900" dirty="0"/>
              <a:t>is</a:t>
            </a:r>
            <a:r>
              <a:rPr sz="900" spc="-35" dirty="0"/>
              <a:t> </a:t>
            </a:r>
            <a:r>
              <a:rPr sz="900" spc="-55" dirty="0"/>
              <a:t>mapped</a:t>
            </a:r>
            <a:r>
              <a:rPr sz="900" spc="-35" dirty="0"/>
              <a:t> </a:t>
            </a:r>
            <a:r>
              <a:rPr sz="900" dirty="0"/>
              <a:t>into</a:t>
            </a:r>
            <a:r>
              <a:rPr sz="900" spc="-35" dirty="0"/>
              <a:t> </a:t>
            </a:r>
            <a:r>
              <a:rPr sz="900" spc="-45" dirty="0"/>
              <a:t>high-</a:t>
            </a:r>
            <a:r>
              <a:rPr sz="900" spc="-40" dirty="0"/>
              <a:t>dimensional </a:t>
            </a:r>
            <a:r>
              <a:rPr sz="900" spc="-60" dirty="0"/>
              <a:t>space</a:t>
            </a:r>
            <a:r>
              <a:rPr sz="900" spc="-25" dirty="0"/>
              <a:t> </a:t>
            </a:r>
            <a:r>
              <a:rPr sz="900" dirty="0"/>
              <a:t>via</a:t>
            </a:r>
            <a:r>
              <a:rPr sz="900" spc="-35" dirty="0"/>
              <a:t> </a:t>
            </a:r>
            <a:r>
              <a:rPr sz="900" spc="-60" dirty="0"/>
              <a:t>some </a:t>
            </a:r>
            <a:r>
              <a:rPr sz="900" spc="-40" dirty="0"/>
              <a:t>transformation</a:t>
            </a:r>
            <a:r>
              <a:rPr sz="900" spc="30" dirty="0"/>
              <a:t> </a:t>
            </a:r>
            <a:r>
              <a:rPr sz="900" i="1" dirty="0">
                <a:latin typeface="Arial"/>
                <a:cs typeface="Arial"/>
              </a:rPr>
              <a:t>ϕ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spc="-90" dirty="0"/>
              <a:t>:</a:t>
            </a:r>
            <a:r>
              <a:rPr sz="900" spc="-30" dirty="0"/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→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i="1" spc="-10" dirty="0">
                <a:latin typeface="Arial"/>
                <a:cs typeface="Arial"/>
              </a:rPr>
              <a:t>ϕ</a:t>
            </a:r>
            <a:r>
              <a:rPr sz="900" spc="-10" dirty="0"/>
              <a:t>(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204" dirty="0">
                <a:latin typeface="Arial"/>
                <a:cs typeface="Arial"/>
              </a:rPr>
              <a:t> </a:t>
            </a:r>
            <a:r>
              <a:rPr sz="900" spc="-5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43689-5C47-B7C4-A2B7-4834FF248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58" y="2619854"/>
            <a:ext cx="4017612" cy="47552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762" y="72527"/>
            <a:ext cx="19818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Linear</a:t>
            </a:r>
            <a:r>
              <a:rPr sz="1400" spc="-35" dirty="0">
                <a:solidFill>
                  <a:srgbClr val="3333B2"/>
                </a:solidFill>
                <a:latin typeface="Tahoma"/>
                <a:cs typeface="Tahoma"/>
              </a:rPr>
              <a:t> Classifiers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1044575"/>
            <a:ext cx="3276600" cy="1905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1918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Linear</a:t>
            </a:r>
            <a:r>
              <a:rPr sz="1400" spc="-5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Classifier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707171"/>
            <a:ext cx="4248010" cy="240564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1918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Linear</a:t>
            </a:r>
            <a:r>
              <a:rPr sz="1400" spc="-5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Classifier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707171"/>
            <a:ext cx="4248010" cy="240564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1918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Linear</a:t>
            </a:r>
            <a:r>
              <a:rPr sz="1400" spc="-5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Classifier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707171"/>
            <a:ext cx="4248010" cy="240564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0479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dirty="0"/>
              <a:t>Definition of Margin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1957" y="1041271"/>
            <a:ext cx="3859529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lvl="0" indent="-177165" defTabSz="914400" eaLnBrk="1" fontAlgn="auto" latinLnBrk="0" hangingPunct="1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dataset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{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0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200" b="0" i="0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}</a:t>
            </a:r>
            <a:r>
              <a:rPr kumimoji="0" sz="1100" b="0" i="0" u="none" strike="noStrike" kern="0" cap="none" spc="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linearly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separable, there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are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infintely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many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hyperplanes.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4629" marR="81280" lvl="0" indent="-177165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find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unique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solution,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choose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separating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hyperplane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maximizes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margin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between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positive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and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negative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examples.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4629" marR="242570" lvl="0" indent="-177165" defTabSz="914400" eaLnBrk="1" fontAlgn="auto" latinLnBrk="0" hangingPunct="1">
              <a:lnSpc>
                <a:spcPct val="102699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Margin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distance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separating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hyperplane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closest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example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1" u="none" strike="noStrike" kern="0" cap="none" spc="209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dataset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linearly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separable.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87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45" dirty="0"/>
              <a:t>Setting Primal SVM Problem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989" y="758013"/>
            <a:ext cx="1620032" cy="5399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7650" y="1322894"/>
            <a:ext cx="3878529" cy="68980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 lvl="0" indent="0" defTabSz="914400" eaLnBrk="1" fontAlgn="auto" latinLnBrk="0" hangingPunct="1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WLOG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let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1" u="none" strike="noStrike" kern="0" cap="none" spc="202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positive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side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hyperplane,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1100" b="0" i="1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distance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1" u="none" strike="noStrike" kern="0" cap="none" spc="202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from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hyperplane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‘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orthogonal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projection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1" u="none" strike="noStrike" kern="0" cap="none" spc="187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onto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hyperplane</a:t>
            </a:r>
            <a:r>
              <a:rPr kumimoji="0" lang="en-IN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. Using the fact that both w and  x</a:t>
            </a:r>
            <a:r>
              <a:rPr kumimoji="0" lang="en-IN" sz="1100" b="0" i="0" u="none" strike="noStrike" kern="0" cap="none" spc="-45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lang="en-IN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– x</a:t>
            </a:r>
            <a:r>
              <a:rPr kumimoji="0" lang="en-IN" sz="1100" b="0" i="0" u="none" strike="noStrike" kern="0" cap="none" spc="-45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lang="en-IN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’ are orthogonal to the hyper plane we get,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6260" y="2169031"/>
            <a:ext cx="774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8347" y="2182506"/>
            <a:ext cx="774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6979" y="2110929"/>
            <a:ext cx="7232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100" b="0" i="1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−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′</a:t>
            </a:r>
            <a:r>
              <a:rPr kumimoji="0" sz="1200" b="0" i="1" u="none" strike="noStrike" kern="0" cap="none" spc="225" normalizeH="0" baseline="3125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49322" y="2224684"/>
            <a:ext cx="254000" cy="167640"/>
            <a:chOff x="2449322" y="2224684"/>
            <a:chExt cx="254000" cy="167640"/>
          </a:xfrm>
        </p:grpSpPr>
        <p:sp>
          <p:nvSpPr>
            <p:cNvPr id="9" name="object 9"/>
            <p:cNvSpPr/>
            <p:nvPr/>
          </p:nvSpPr>
          <p:spPr>
            <a:xfrm>
              <a:off x="2452179" y="2227542"/>
              <a:ext cx="248285" cy="0"/>
            </a:xfrm>
            <a:custGeom>
              <a:avLst/>
              <a:gdLst/>
              <a:ahLst/>
              <a:cxnLst/>
              <a:rect l="l" t="t" r="r" b="b"/>
              <a:pathLst>
                <a:path w="248285">
                  <a:moveTo>
                    <a:pt x="0" y="0"/>
                  </a:moveTo>
                  <a:lnTo>
                    <a:pt x="24823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8054" y="2252434"/>
              <a:ext cx="34925" cy="1397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508757" y="1994697"/>
            <a:ext cx="12065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125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 w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7010" y="2252434"/>
            <a:ext cx="34925" cy="1397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8755" y="2752839"/>
            <a:ext cx="34925" cy="1397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7711" y="2752839"/>
            <a:ext cx="34925" cy="1397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34594" y="2395117"/>
            <a:ext cx="3727450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4018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⇒</a:t>
            </a:r>
            <a:r>
              <a:rPr kumimoji="0" sz="11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⟨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⟩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1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1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assume</a:t>
            </a:r>
            <a:r>
              <a:rPr kumimoji="0" sz="1100" b="0" i="0" u="none" strike="noStrike" kern="0" cap="none" spc="4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4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our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interest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direction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6928" y="769825"/>
            <a:ext cx="114707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Together,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get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3269" y="772263"/>
            <a:ext cx="326583" cy="270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" marR="0" lvl="0" indent="0" defTabSz="914400" eaLnBrk="1" fontAlgn="auto" latinLnBrk="0" hangingPunct="1">
              <a:lnSpc>
                <a:spcPts val="118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max</a:t>
            </a:r>
            <a:r>
              <a:rPr kumimoji="0" sz="11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itka Text"/>
                <a:cs typeface="Sitka Text"/>
              </a:rPr>
              <a:t>,</a:t>
            </a:r>
            <a:r>
              <a:rPr kumimoji="0" sz="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itka Text"/>
                <a:cs typeface="Sitka Text"/>
              </a:rPr>
              <a:t>,</a:t>
            </a:r>
            <a:r>
              <a:rPr kumimoji="0" sz="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0" y="1107528"/>
            <a:ext cx="34925" cy="139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650" y="1119340"/>
            <a:ext cx="34925" cy="139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6579" y="1081493"/>
            <a:ext cx="2913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79295" algn="l"/>
              </a:tabLst>
              <a:defRPr/>
            </a:pP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subject</a:t>
            </a:r>
            <a:r>
              <a:rPr kumimoji="0" sz="11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⟨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⟩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1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1100" b="0" i="1" u="none" strike="noStrike" kern="0" cap="none" spc="-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100" b="0" i="1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1100" b="0" i="1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1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sz="1100" b="0" i="1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007" y="1407971"/>
            <a:ext cx="1439997" cy="540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5FCE9D-A7E4-AFAE-55D0-B3E0BC400E0D}"/>
              </a:ext>
            </a:extLst>
          </p:cNvPr>
          <p:cNvSpPr txBox="1"/>
          <p:nvPr/>
        </p:nvSpPr>
        <p:spPr>
          <a:xfrm>
            <a:off x="168366" y="138457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Setting Primal SVM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3F95FD-4BD4-970A-4766-1A518075A9F1}"/>
              </a:ext>
            </a:extLst>
          </p:cNvPr>
          <p:cNvSpPr txBox="1"/>
          <p:nvPr/>
        </p:nvSpPr>
        <p:spPr>
          <a:xfrm>
            <a:off x="247650" y="2187575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In the following theorem (next slide) we will see that we can rescale the data such that the closest example is of distance1to the hyperplane.</a:t>
            </a:r>
          </a:p>
          <a:p>
            <a:r>
              <a:rPr lang="en-IN" sz="900" dirty="0"/>
              <a:t>We state here without proof.</a:t>
            </a:r>
          </a:p>
          <a:p>
            <a:r>
              <a:rPr lang="en-IN" sz="900" dirty="0"/>
              <a:t>For the proof refer the text book </a:t>
            </a:r>
            <a:r>
              <a:rPr lang="en-IN" sz="900" dirty="0" err="1"/>
              <a:t>pno</a:t>
            </a:r>
            <a:r>
              <a:rPr lang="en-IN" sz="900" dirty="0"/>
              <a:t> 378. 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3CF96-EAFA-29AF-7D6A-5A81D01E3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710899"/>
            <a:ext cx="4200525" cy="231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2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87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25" dirty="0"/>
              <a:t>How max r is turned into min ½ ||w||</a:t>
            </a:r>
            <a:r>
              <a:rPr lang="en-IN" spc="-25" baseline="30000" dirty="0"/>
              <a:t>2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29374" y="740023"/>
            <a:ext cx="35858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As,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‘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orthogonal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projection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1" u="none" strike="noStrike" kern="0" cap="none" spc="202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hyperplane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,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9347" y="900530"/>
            <a:ext cx="120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19923" y="1107998"/>
            <a:ext cx="254000" cy="167640"/>
            <a:chOff x="1319923" y="1107998"/>
            <a:chExt cx="254000" cy="167640"/>
          </a:xfrm>
        </p:grpSpPr>
        <p:sp>
          <p:nvSpPr>
            <p:cNvPr id="6" name="object 6"/>
            <p:cNvSpPr/>
            <p:nvPr/>
          </p:nvSpPr>
          <p:spPr>
            <a:xfrm>
              <a:off x="1322781" y="1110856"/>
              <a:ext cx="248285" cy="0"/>
            </a:xfrm>
            <a:custGeom>
              <a:avLst/>
              <a:gdLst/>
              <a:ahLst/>
              <a:cxnLst/>
              <a:rect l="l" t="t" r="r" b="b"/>
              <a:pathLst>
                <a:path w="248284">
                  <a:moveTo>
                    <a:pt x="0" y="0"/>
                  </a:moveTo>
                  <a:lnTo>
                    <a:pt x="24823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656" y="1135761"/>
              <a:ext cx="34925" cy="1397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79347" y="1089290"/>
            <a:ext cx="120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611" y="1135761"/>
            <a:ext cx="34925" cy="139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9914" y="994256"/>
            <a:ext cx="24466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89598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⟨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1" u="none" strike="noStrike" kern="0" cap="none" spc="12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−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⟩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1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1100" b="0" i="1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‘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1" u="none" strike="noStrike" kern="0" cap="none" spc="97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−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25571" y="1107998"/>
            <a:ext cx="254000" cy="167640"/>
            <a:chOff x="3125571" y="1107998"/>
            <a:chExt cx="254000" cy="167640"/>
          </a:xfrm>
        </p:grpSpPr>
        <p:sp>
          <p:nvSpPr>
            <p:cNvPr id="12" name="object 12"/>
            <p:cNvSpPr/>
            <p:nvPr/>
          </p:nvSpPr>
          <p:spPr>
            <a:xfrm>
              <a:off x="3128429" y="1110856"/>
              <a:ext cx="248285" cy="0"/>
            </a:xfrm>
            <a:custGeom>
              <a:avLst/>
              <a:gdLst/>
              <a:ahLst/>
              <a:cxnLst/>
              <a:rect l="l" t="t" r="r" b="b"/>
              <a:pathLst>
                <a:path w="248285">
                  <a:moveTo>
                    <a:pt x="0" y="0"/>
                  </a:moveTo>
                  <a:lnTo>
                    <a:pt x="24823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4304" y="1135761"/>
              <a:ext cx="34925" cy="1397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185007" y="878024"/>
            <a:ext cx="12065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125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 w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259" y="1135761"/>
            <a:ext cx="34925" cy="1397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417633" y="994256"/>
            <a:ext cx="41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⇒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1100" b="0" i="1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66756" y="1107998"/>
            <a:ext cx="254000" cy="167640"/>
            <a:chOff x="3866756" y="1107998"/>
            <a:chExt cx="254000" cy="167640"/>
          </a:xfrm>
        </p:grpSpPr>
        <p:sp>
          <p:nvSpPr>
            <p:cNvPr id="18" name="object 18"/>
            <p:cNvSpPr/>
            <p:nvPr/>
          </p:nvSpPr>
          <p:spPr>
            <a:xfrm>
              <a:off x="3869613" y="1110856"/>
              <a:ext cx="248285" cy="0"/>
            </a:xfrm>
            <a:custGeom>
              <a:avLst/>
              <a:gdLst/>
              <a:ahLst/>
              <a:cxnLst/>
              <a:rect l="l" t="t" r="r" b="b"/>
              <a:pathLst>
                <a:path w="248285">
                  <a:moveTo>
                    <a:pt x="0" y="0"/>
                  </a:moveTo>
                  <a:lnTo>
                    <a:pt x="24823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5488" y="1135761"/>
              <a:ext cx="34925" cy="1397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926192" y="878024"/>
            <a:ext cx="1206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2384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444" y="1135761"/>
            <a:ext cx="34925" cy="1397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15314" y="1359089"/>
            <a:ext cx="626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Thus</a:t>
            </a:r>
            <a:r>
              <a:rPr kumimoji="0" sz="110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max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3443" y="126536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63802" y="1472831"/>
            <a:ext cx="254000" cy="167640"/>
            <a:chOff x="1363802" y="1472831"/>
            <a:chExt cx="254000" cy="167640"/>
          </a:xfrm>
        </p:grpSpPr>
        <p:sp>
          <p:nvSpPr>
            <p:cNvPr id="25" name="object 25"/>
            <p:cNvSpPr/>
            <p:nvPr/>
          </p:nvSpPr>
          <p:spPr>
            <a:xfrm>
              <a:off x="1366659" y="1475689"/>
              <a:ext cx="248285" cy="0"/>
            </a:xfrm>
            <a:custGeom>
              <a:avLst/>
              <a:gdLst/>
              <a:ahLst/>
              <a:cxnLst/>
              <a:rect l="l" t="t" r="r" b="b"/>
              <a:pathLst>
                <a:path w="248284">
                  <a:moveTo>
                    <a:pt x="0" y="0"/>
                  </a:moveTo>
                  <a:lnTo>
                    <a:pt x="24823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2534" y="1500594"/>
              <a:ext cx="34925" cy="1397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08862" y="1454123"/>
            <a:ext cx="434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326390" algn="l"/>
              </a:tabLst>
              <a:defRPr/>
            </a:pP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itka Text"/>
                <a:cs typeface="Sitka Text"/>
              </a:rPr>
              <a:t>,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1490" y="1500593"/>
            <a:ext cx="34925" cy="1397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34594" y="1643277"/>
            <a:ext cx="376237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065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subject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⟨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⟩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1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1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∀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1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It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written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as,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where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violations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margins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are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allowed,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16088" y="2364320"/>
            <a:ext cx="135255" cy="139700"/>
            <a:chOff x="1416088" y="2364320"/>
            <a:chExt cx="135255" cy="139700"/>
          </a:xfrm>
        </p:grpSpPr>
        <p:sp>
          <p:nvSpPr>
            <p:cNvPr id="31" name="object 31"/>
            <p:cNvSpPr/>
            <p:nvPr/>
          </p:nvSpPr>
          <p:spPr>
            <a:xfrm>
              <a:off x="1416088" y="2434463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278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6418" y="2364320"/>
              <a:ext cx="34925" cy="139700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373" y="2364320"/>
            <a:ext cx="34925" cy="1397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124966" y="2224124"/>
            <a:ext cx="190690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0830" marR="0" lvl="0" indent="0" defTabSz="914400" eaLnBrk="1" fontAlgn="auto" latinLnBrk="0" hangingPunct="1">
              <a:lnSpc>
                <a:spcPts val="103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623570" algn="l"/>
              </a:tabLst>
              <a:defRPr/>
            </a:pP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sz="1200" b="0" i="0" u="none" strike="noStrike" kern="0" cap="none" spc="-7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200" b="0" i="0" u="none" strike="noStrike" kern="0" cap="none" spc="0" normalizeH="0" baseline="-20833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810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44500" algn="l"/>
                <a:tab pos="729615" algn="l"/>
              </a:tabLst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min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(hard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margin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SVM)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78788" y="2392741"/>
            <a:ext cx="2692400" cy="3987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04775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itka Text"/>
                <a:cs typeface="Sitka Text"/>
              </a:rPr>
              <a:t>,</a:t>
            </a: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800" b="0" i="1" u="none" strike="noStrike" kern="0" cap="none" spc="3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subject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⟨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⟩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1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1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∀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1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-40" dirty="0"/>
              <a:t> </a:t>
            </a:r>
            <a:r>
              <a:rPr spc="-10" dirty="0"/>
              <a:t>Margin</a:t>
            </a:r>
            <a:r>
              <a:rPr spc="-35" dirty="0"/>
              <a:t> </a:t>
            </a:r>
            <a:r>
              <a:rPr spc="-25" dirty="0"/>
              <a:t>SVM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62773"/>
            <a:ext cx="3843654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When</a:t>
            </a: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data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not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linearly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separable,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maywish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allow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some points</a:t>
            </a: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fall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within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region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or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even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wrong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side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hyperplane.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4023" y="1311628"/>
            <a:ext cx="1799957" cy="10799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xfrm>
            <a:off x="347294" y="2434122"/>
            <a:ext cx="38557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spc="-35" dirty="0"/>
              <a:t>model</a:t>
            </a:r>
            <a:r>
              <a:rPr spc="-25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spc="-45" dirty="0"/>
              <a:t>allows</a:t>
            </a:r>
            <a:r>
              <a:rPr spc="-30" dirty="0"/>
              <a:t> </a:t>
            </a:r>
            <a:r>
              <a:rPr spc="-60" dirty="0"/>
              <a:t>some</a:t>
            </a:r>
            <a:r>
              <a:rPr spc="-25" dirty="0"/>
              <a:t> </a:t>
            </a:r>
            <a:r>
              <a:rPr spc="-30" dirty="0"/>
              <a:t>classifications </a:t>
            </a:r>
            <a:r>
              <a:rPr spc="-60" dirty="0"/>
              <a:t>errors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called </a:t>
            </a:r>
            <a:r>
              <a:rPr spc="-10" dirty="0"/>
              <a:t>the</a:t>
            </a:r>
            <a:r>
              <a:rPr spc="-25" dirty="0"/>
              <a:t> </a:t>
            </a:r>
            <a:r>
              <a:rPr spc="-20" dirty="0"/>
              <a:t>soft </a:t>
            </a:r>
            <a:r>
              <a:rPr spc="-40" dirty="0"/>
              <a:t>margin </a:t>
            </a:r>
            <a:r>
              <a:rPr spc="-20" dirty="0"/>
              <a:t>SVM.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850" y="739775"/>
            <a:ext cx="3827094" cy="68980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00"/>
                </a:solidFill>
                <a:latin typeface="Tahoma"/>
                <a:cs typeface="Tahoma"/>
              </a:rPr>
              <a:t>key</a:t>
            </a:r>
            <a:r>
              <a:rPr sz="110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00"/>
                </a:solidFill>
                <a:latin typeface="Tahoma"/>
                <a:cs typeface="Tahoma"/>
              </a:rPr>
              <a:t>geometric</a:t>
            </a:r>
            <a:r>
              <a:rPr sz="110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00"/>
                </a:solidFill>
                <a:latin typeface="Tahoma"/>
                <a:cs typeface="Tahoma"/>
              </a:rPr>
              <a:t>idea</a:t>
            </a:r>
            <a:r>
              <a:rPr sz="1100" spc="-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is</a:t>
            </a:r>
            <a:r>
              <a:rPr sz="110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to</a:t>
            </a:r>
            <a:r>
              <a:rPr sz="110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00"/>
                </a:solidFill>
                <a:latin typeface="Tahoma"/>
                <a:cs typeface="Tahoma"/>
              </a:rPr>
              <a:t>introduce</a:t>
            </a:r>
            <a:r>
              <a:rPr sz="1100" spc="-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r>
              <a:rPr sz="1100" spc="-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slack</a:t>
            </a:r>
            <a:r>
              <a:rPr sz="1100" spc="-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00"/>
                </a:solidFill>
                <a:latin typeface="Tahoma"/>
                <a:cs typeface="Tahoma"/>
              </a:rPr>
              <a:t>variable</a:t>
            </a:r>
            <a:r>
              <a:rPr sz="1100" spc="-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i="1" spc="-25" dirty="0">
                <a:solidFill>
                  <a:srgbClr val="000000"/>
                </a:solidFill>
                <a:latin typeface="Calibri"/>
                <a:cs typeface="Calibri"/>
              </a:rPr>
              <a:t>ξ</a:t>
            </a:r>
            <a:r>
              <a:rPr sz="1200" i="1" spc="-37" baseline="-10416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sz="1200" i="1" spc="750" baseline="-1041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000000"/>
                </a:solidFill>
                <a:latin typeface="Tahoma"/>
                <a:cs typeface="Tahoma"/>
              </a:rPr>
              <a:t>corresponding</a:t>
            </a:r>
            <a:r>
              <a:rPr sz="110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00"/>
                </a:solidFill>
                <a:latin typeface="Tahoma"/>
                <a:cs typeface="Tahoma"/>
              </a:rPr>
              <a:t>each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00"/>
                </a:solidFill>
                <a:latin typeface="Tahoma"/>
                <a:cs typeface="Tahoma"/>
              </a:rPr>
              <a:t>example</a:t>
            </a:r>
            <a:r>
              <a:rPr sz="110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-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 lable</a:t>
            </a:r>
            <a:r>
              <a:rPr sz="110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pair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sz="1200" i="1" baseline="-10416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sz="1100" i="1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1100" i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sz="1200" i="1" baseline="-10416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)</a:t>
            </a:r>
            <a:r>
              <a:rPr sz="110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that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allows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00"/>
                </a:solidFill>
                <a:latin typeface="Tahoma"/>
                <a:cs typeface="Tahoma"/>
              </a:rPr>
              <a:t>a </a:t>
            </a:r>
            <a:r>
              <a:rPr sz="1100" spc="-30" dirty="0">
                <a:solidFill>
                  <a:srgbClr val="000000"/>
                </a:solidFill>
                <a:latin typeface="Tahoma"/>
                <a:cs typeface="Tahoma"/>
              </a:rPr>
              <a:t>particular</a:t>
            </a:r>
            <a:r>
              <a:rPr sz="1100" spc="-6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00"/>
                </a:solidFill>
                <a:latin typeface="Tahoma"/>
                <a:cs typeface="Tahoma"/>
              </a:rPr>
              <a:t>example</a:t>
            </a:r>
            <a:r>
              <a:rPr sz="110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to</a:t>
            </a:r>
            <a:r>
              <a:rPr sz="1100" spc="-7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be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within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00"/>
                </a:solidFill>
                <a:latin typeface="Tahoma"/>
                <a:cs typeface="Tahoma"/>
              </a:rPr>
              <a:t>margin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or</a:t>
            </a:r>
            <a:r>
              <a:rPr sz="1100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00"/>
                </a:solidFill>
                <a:latin typeface="Tahoma"/>
                <a:cs typeface="Tahoma"/>
              </a:rPr>
              <a:t>even</a:t>
            </a: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on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1100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wrong </a:t>
            </a:r>
            <a:r>
              <a:rPr sz="1100" spc="-35" dirty="0">
                <a:solidFill>
                  <a:srgbClr val="000000"/>
                </a:solidFill>
                <a:latin typeface="Tahoma"/>
                <a:cs typeface="Tahoma"/>
              </a:rPr>
              <a:t>side</a:t>
            </a:r>
            <a:r>
              <a:rPr sz="1100" spc="-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of</a:t>
            </a:r>
            <a:r>
              <a:rPr sz="1100" spc="-7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1100" spc="-6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hyperplane.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34464" y="171805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9557" y="1696490"/>
            <a:ext cx="327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itka Text"/>
                <a:cs typeface="Sitka Text"/>
              </a:rPr>
              <a:t>,</a:t>
            </a: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800" b="0" i="1" u="none" strike="noStrike" kern="0" cap="none" spc="3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794" y="1647926"/>
            <a:ext cx="34925" cy="139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749" y="1647926"/>
            <a:ext cx="34925" cy="1397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10053" y="1465591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1988" y="1612911"/>
            <a:ext cx="38550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86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Σ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4732" y="1804491"/>
            <a:ext cx="220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8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4220" y="1519307"/>
            <a:ext cx="1192530" cy="2714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5430" marR="0" lvl="0" indent="0" defTabSz="914400" eaLnBrk="1" fontAlgn="auto" latinLnBrk="0" hangingPunct="1">
              <a:lnSpc>
                <a:spcPts val="103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lang="en-IN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            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1270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100" algn="l"/>
                <a:tab pos="1118870" algn="l"/>
              </a:tabLst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min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1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100" b="0" i="1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ξ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5821" y="1659558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6253" y="1891764"/>
            <a:ext cx="212090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lvl="0" indent="0" defTabSz="914400" eaLnBrk="1" fontAlgn="auto" latinLnBrk="0" hangingPunct="1">
              <a:lnSpc>
                <a:spcPct val="1252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subject</a:t>
            </a:r>
            <a:r>
              <a:rPr kumimoji="0" sz="11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⟨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⟩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1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1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−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ξ</a:t>
            </a:r>
            <a:r>
              <a:rPr kumimoji="0" sz="1200" b="0" i="1" u="none" strike="noStrike" kern="0" cap="none" spc="-37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ξ</a:t>
            </a:r>
            <a:r>
              <a:rPr kumimoji="0" sz="1200" b="0" i="1" u="none" strike="noStrike" kern="0" cap="none" spc="0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200" b="0" i="1" u="none" strike="noStrike" kern="0" cap="none" spc="225" normalizeH="0" baseline="-1041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100" b="0" i="1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·</a:t>
            </a:r>
            <a:r>
              <a:rPr kumimoji="0" sz="110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1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0B05A6-8895-801E-BD7C-F785A0FC0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9" y="75062"/>
            <a:ext cx="1511939" cy="38408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596416-2AFE-BC3F-1B53-C29472F97958}"/>
              </a:ext>
            </a:extLst>
          </p:cNvPr>
          <p:cNvSpPr txBox="1"/>
          <p:nvPr/>
        </p:nvSpPr>
        <p:spPr>
          <a:xfrm>
            <a:off x="476250" y="89217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let us attention to how we solve the SVM primal problem?</a:t>
            </a:r>
          </a:p>
        </p:txBody>
      </p:sp>
    </p:spTree>
    <p:extLst>
      <p:ext uri="{BB962C8B-B14F-4D97-AF65-F5344CB8AC3E}">
        <p14:creationId xmlns:p14="http://schemas.microsoft.com/office/powerpoint/2010/main" val="8429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77B0CA-5574-46DB-1BCC-2343E989C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8"/>
            <a:ext cx="4610100" cy="342991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2991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197"/>
            <a:ext cx="4610099" cy="34322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0a2451e9-b2b7-43a3-aada-52e3e0c35c47" xsi:nil="true"/>
    <Invited_Teachers xmlns="0a2451e9-b2b7-43a3-aada-52e3e0c35c47" xsi:nil="true"/>
    <FolderType xmlns="0a2451e9-b2b7-43a3-aada-52e3e0c35c47" xsi:nil="true"/>
    <Teachers xmlns="0a2451e9-b2b7-43a3-aada-52e3e0c35c47">
      <UserInfo>
        <DisplayName/>
        <AccountId xsi:nil="true"/>
        <AccountType/>
      </UserInfo>
    </Teachers>
    <Student_Groups xmlns="0a2451e9-b2b7-43a3-aada-52e3e0c35c47">
      <UserInfo>
        <DisplayName/>
        <AccountId xsi:nil="true"/>
        <AccountType/>
      </UserInfo>
    </Student_Groups>
    <Teams_Channel_Section_Location xmlns="0a2451e9-b2b7-43a3-aada-52e3e0c35c47" xsi:nil="true"/>
    <NotebookType xmlns="0a2451e9-b2b7-43a3-aada-52e3e0c35c47" xsi:nil="true"/>
    <Students xmlns="0a2451e9-b2b7-43a3-aada-52e3e0c35c47">
      <UserInfo>
        <DisplayName/>
        <AccountId xsi:nil="true"/>
        <AccountType/>
      </UserInfo>
    </Students>
    <Math_Settings xmlns="0a2451e9-b2b7-43a3-aada-52e3e0c35c47" xsi:nil="true"/>
    <DefaultSectionNames xmlns="0a2451e9-b2b7-43a3-aada-52e3e0c35c47" xsi:nil="true"/>
    <TeamsChannelId xmlns="0a2451e9-b2b7-43a3-aada-52e3e0c35c47" xsi:nil="true"/>
    <Invited_Students xmlns="0a2451e9-b2b7-43a3-aada-52e3e0c35c47" xsi:nil="true"/>
    <IsNotebookLocked xmlns="0a2451e9-b2b7-43a3-aada-52e3e0c35c47" xsi:nil="true"/>
    <Owner xmlns="0a2451e9-b2b7-43a3-aada-52e3e0c35c47">
      <UserInfo>
        <DisplayName/>
        <AccountId xsi:nil="true"/>
        <AccountType/>
      </UserInfo>
    </Owner>
    <Has_Teacher_Only_SectionGroup xmlns="0a2451e9-b2b7-43a3-aada-52e3e0c35c47" xsi:nil="true"/>
    <Is_Collaboration_Space_Locked xmlns="0a2451e9-b2b7-43a3-aada-52e3e0c35c47" xsi:nil="true"/>
    <Templates xmlns="0a2451e9-b2b7-43a3-aada-52e3e0c35c47" xsi:nil="true"/>
    <LMS_Mappings xmlns="0a2451e9-b2b7-43a3-aada-52e3e0c35c47" xsi:nil="true"/>
    <CultureName xmlns="0a2451e9-b2b7-43a3-aada-52e3e0c35c47" xsi:nil="true"/>
    <Distribution_Groups xmlns="0a2451e9-b2b7-43a3-aada-52e3e0c35c47" xsi:nil="true"/>
    <Self_Registration_Enabled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</documentManagement>
</p:properties>
</file>

<file path=customXml/itemProps1.xml><?xml version="1.0" encoding="utf-8"?>
<ds:datastoreItem xmlns:ds="http://schemas.openxmlformats.org/officeDocument/2006/customXml" ds:itemID="{90DEE534-C945-4135-96F4-52D7E48FC907}"/>
</file>

<file path=customXml/itemProps2.xml><?xml version="1.0" encoding="utf-8"?>
<ds:datastoreItem xmlns:ds="http://schemas.openxmlformats.org/officeDocument/2006/customXml" ds:itemID="{8F66FA56-1554-4319-B983-C885B8FD4FA4}"/>
</file>

<file path=customXml/itemProps3.xml><?xml version="1.0" encoding="utf-8"?>
<ds:datastoreItem xmlns:ds="http://schemas.openxmlformats.org/officeDocument/2006/customXml" ds:itemID="{79AE5447-8F9C-448A-8F7F-8C2906A168C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</TotalTime>
  <Words>1924</Words>
  <Application>Microsoft Office PowerPoint</Application>
  <PresentationFormat>Custom</PresentationFormat>
  <Paragraphs>197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Arial</vt:lpstr>
      <vt:lpstr>Arial Black</vt:lpstr>
      <vt:lpstr>Arial MT</vt:lpstr>
      <vt:lpstr>Calibri</vt:lpstr>
      <vt:lpstr>Cambria</vt:lpstr>
      <vt:lpstr>Cambria Math</vt:lpstr>
      <vt:lpstr>Lucida Sans Unicode</vt:lpstr>
      <vt:lpstr>Palatino Linotype</vt:lpstr>
      <vt:lpstr>Sitka Text</vt:lpstr>
      <vt:lpstr>Tahoma</vt:lpstr>
      <vt:lpstr>Verdana</vt:lpstr>
      <vt:lpstr>Wingdings</vt:lpstr>
      <vt:lpstr>Office Theme</vt:lpstr>
      <vt:lpstr>1_Office Theme</vt:lpstr>
      <vt:lpstr>2_Office Theme</vt:lpstr>
      <vt:lpstr>PowerPoint Presentation</vt:lpstr>
      <vt:lpstr>Agenda</vt:lpstr>
      <vt:lpstr>Optimization problem</vt:lpstr>
      <vt:lpstr>Optimization problem : Lagrangian</vt:lpstr>
      <vt:lpstr>Quadratic programming</vt:lpstr>
      <vt:lpstr>Quadratic programming</vt:lpstr>
      <vt:lpstr>Quadratic programming</vt:lpstr>
      <vt:lpstr>Summary</vt:lpstr>
      <vt:lpstr>Weak duality</vt:lpstr>
      <vt:lpstr>Strong duality</vt:lpstr>
      <vt:lpstr>Slater’s condition</vt:lpstr>
      <vt:lpstr>Example of Slater’s condition</vt:lpstr>
      <vt:lpstr>KKT conditions</vt:lpstr>
      <vt:lpstr>KKT condition</vt:lpstr>
      <vt:lpstr>Classification Problem in Machine Learning</vt:lpstr>
      <vt:lpstr>Linearly Sparable Data</vt:lpstr>
      <vt:lpstr>PowerPoint Presentation</vt:lpstr>
      <vt:lpstr>Linear Classifier and Hyperplane</vt:lpstr>
      <vt:lpstr>PowerPoint Presentation</vt:lpstr>
      <vt:lpstr>Two examples of data</vt:lpstr>
      <vt:lpstr>PowerPoint Presentation</vt:lpstr>
      <vt:lpstr>Mapping of Data</vt:lpstr>
      <vt:lpstr>PowerPoint Presentation</vt:lpstr>
      <vt:lpstr>PowerPoint Presentation</vt:lpstr>
      <vt:lpstr>PowerPoint Presentation</vt:lpstr>
      <vt:lpstr>PowerPoint Presentation</vt:lpstr>
      <vt:lpstr>Definition of Margin</vt:lpstr>
      <vt:lpstr>Setting Primal SVM Problem</vt:lpstr>
      <vt:lpstr>PowerPoint Presentation</vt:lpstr>
      <vt:lpstr>PowerPoint Presentation</vt:lpstr>
      <vt:lpstr>How max r is turned into min ½ ||w||2</vt:lpstr>
      <vt:lpstr>Soft Margin SVM</vt:lpstr>
      <vt:lpstr>The key geometric idea is to introduce a slack variable ξn corresponding to each example - lable pair (xn, yn) that allows a particular example to be within the margin or even on the wrong side of the hyperplane.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</dc:title>
  <dc:creator>white MFML Team</dc:creator>
  <cp:lastModifiedBy>Michael Alphonse</cp:lastModifiedBy>
  <cp:revision>5</cp:revision>
  <dcterms:created xsi:type="dcterms:W3CDTF">2025-08-13T05:26:57Z</dcterms:created>
  <dcterms:modified xsi:type="dcterms:W3CDTF">2025-08-14T07:18:27Z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2025-08-13T00:00:00Z</vt:filetime>
  </property>
  <property fmtid="{D5CDD505-2E9C-101B-9397-08002B2CF9AE}" pid="5" name="PTEX.Fullbanner">
    <vt:lpwstr>This is MiKTeX-pdfTeX 4.12.0 (1.40.24)</vt:lpwstr>
  </property>
  <property fmtid="{D5CDD505-2E9C-101B-9397-08002B2CF9AE}" pid="6" name="Producer">
    <vt:lpwstr>MiKTeX pdfTeX-1.40.24</vt:lpwstr>
  </property>
  <property fmtid="{D5CDD505-2E9C-101B-9397-08002B2CF9AE}" pid="7" name="ContentTypeId">
    <vt:lpwstr>0x0101000A75E3588147654284604D4E812B6D70</vt:lpwstr>
  </property>
</Properties>
</file>